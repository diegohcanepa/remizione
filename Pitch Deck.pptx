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9"/>
  </p:notesMasterIdLst>
  <p:sldIdLst>
    <p:sldId id="330" r:id="rId2"/>
    <p:sldId id="260" r:id="rId3"/>
    <p:sldId id="350" r:id="rId4"/>
    <p:sldId id="360" r:id="rId5"/>
    <p:sldId id="351" r:id="rId6"/>
    <p:sldId id="345" r:id="rId7"/>
    <p:sldId id="355" r:id="rId8"/>
    <p:sldId id="357" r:id="rId9"/>
    <p:sldId id="359" r:id="rId10"/>
    <p:sldId id="349" r:id="rId11"/>
    <p:sldId id="333" r:id="rId12"/>
    <p:sldId id="323" r:id="rId13"/>
    <p:sldId id="324" r:id="rId14"/>
    <p:sldId id="320" r:id="rId15"/>
    <p:sldId id="358" r:id="rId16"/>
    <p:sldId id="343" r:id="rId17"/>
    <p:sldId id="321" r:id="rId18"/>
  </p:sldIdLst>
  <p:sldSz cx="9144000" cy="5143500" type="screen16x9"/>
  <p:notesSz cx="6858000" cy="9144000"/>
  <p:embeddedFontLst>
    <p:embeddedFont>
      <p:font typeface="Maven Pro" panose="020B0604020202020204" charset="0"/>
      <p:regular r:id="rId20"/>
      <p:bold r:id="rId21"/>
    </p:embeddedFont>
    <p:embeddedFont>
      <p:font typeface="Press Start 2P" panose="00000500000000000000" pitchFamily="2" charset="0"/>
      <p:regular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2293B"/>
    <a:srgbClr val="862536"/>
    <a:srgbClr val="3B7D4F"/>
    <a:srgbClr val="BD6A62"/>
    <a:srgbClr val="000000"/>
    <a:srgbClr val="8F4D57"/>
    <a:srgbClr val="AB5130"/>
    <a:srgbClr val="B73C05"/>
    <a:srgbClr val="800000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610FACEB-0C26-484F-57DF-B20FCC648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0AFB87AD-8EC9-6F96-32B1-B4631F4602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342A4196-67A8-DD01-C482-955E723DC9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321876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BFD44D77-5B9D-6F28-C4D9-3E104C1D9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B50D407-7A4B-492D-FE81-A914EA310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73DE1C2E-2ADA-AC79-2815-BED275C9AE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13315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BBC480F-1BDD-CF52-A0AD-F5C92504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B9373A4-F5BE-B7AC-B93F-CCF5D3E1A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B19FCD1-F79A-3F1F-80A1-83C58A497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2898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microsoft.com/office/2007/relationships/hdphoto" Target="../media/hdphoto2.wdp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0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16.png"/><Relationship Id="rId4" Type="http://schemas.openxmlformats.org/officeDocument/2006/relationships/image" Target="../media/image9.png"/><Relationship Id="rId9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microsoft.com/office/2007/relationships/hdphoto" Target="../media/hdphoto3.wdp"/><Relationship Id="rId3" Type="http://schemas.openxmlformats.org/officeDocument/2006/relationships/image" Target="../media/image10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17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11" Type="http://schemas.openxmlformats.org/officeDocument/2006/relationships/image" Target="../media/image25.png"/><Relationship Id="rId5" Type="http://schemas.openxmlformats.org/officeDocument/2006/relationships/image" Target="../media/image20.png"/><Relationship Id="rId15" Type="http://schemas.openxmlformats.org/officeDocument/2006/relationships/image" Target="../media/image16.png"/><Relationship Id="rId10" Type="http://schemas.openxmlformats.org/officeDocument/2006/relationships/image" Target="../media/image24.png"/><Relationship Id="rId4" Type="http://schemas.openxmlformats.org/officeDocument/2006/relationships/image" Target="../media/image2.png"/><Relationship Id="rId9" Type="http://schemas.openxmlformats.org/officeDocument/2006/relationships/image" Target="../media/image23.png"/><Relationship Id="rId1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0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png"/><Relationship Id="rId11" Type="http://schemas.openxmlformats.org/officeDocument/2006/relationships/image" Target="../media/image35.png"/><Relationship Id="rId5" Type="http://schemas.openxmlformats.org/officeDocument/2006/relationships/image" Target="../media/image30.png"/><Relationship Id="rId10" Type="http://schemas.microsoft.com/office/2007/relationships/hdphoto" Target="../media/hdphoto4.wdp"/><Relationship Id="rId4" Type="http://schemas.openxmlformats.org/officeDocument/2006/relationships/image" Target="../media/image2.png"/><Relationship Id="rId9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microsoft.com/office/2007/relationships/hdphoto" Target="../media/hdphoto5.wdp"/><Relationship Id="rId5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microsoft.com/office/2007/relationships/hdphoto" Target="../media/hdphoto6.wdp"/><Relationship Id="rId5" Type="http://schemas.openxmlformats.org/officeDocument/2006/relationships/image" Target="../media/image39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41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42.jpeg"/><Relationship Id="rId7" Type="http://schemas.openxmlformats.org/officeDocument/2006/relationships/image" Target="../media/image45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4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43.jpeg"/><Relationship Id="rId9" Type="http://schemas.openxmlformats.org/officeDocument/2006/relationships/image" Target="../media/image4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jpeg"/><Relationship Id="rId13" Type="http://schemas.openxmlformats.org/officeDocument/2006/relationships/image" Target="../media/image52.pn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5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8.jpeg"/><Relationship Id="rId11" Type="http://schemas.microsoft.com/office/2007/relationships/hdphoto" Target="../media/hdphoto7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50.png"/><Relationship Id="rId4" Type="http://schemas.openxmlformats.org/officeDocument/2006/relationships/image" Target="../media/image47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284ABEA-9A73-5284-D8EE-8AA83578D2F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dark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640123" y="3231373"/>
            <a:ext cx="428511" cy="128553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4378" y="4384623"/>
            <a:ext cx="2077161" cy="57121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3" name="Picture 2" descr="A red dragon with yellow eyes and teeth&#10;&#10;AI-generated content may be incorrect.">
            <a:extLst>
              <a:ext uri="{FF2B5EF4-FFF2-40B4-BE49-F238E27FC236}">
                <a16:creationId xmlns:a16="http://schemas.microsoft.com/office/drawing/2014/main" id="{E86C6A3E-1646-1903-1C05-6C5476FF914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6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2786" y="3019738"/>
            <a:ext cx="518991" cy="94523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0BC3029-CF0E-7C89-B59F-BEE6CE5D597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7818184" y="538260"/>
            <a:ext cx="581212" cy="353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-28599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E0B97F6-64F4-EF3B-9E86-673E4277FB65}"/>
              </a:ext>
            </a:extLst>
          </p:cNvPr>
          <p:cNvSpPr txBox="1">
            <a:spLocks/>
          </p:cNvSpPr>
          <p:nvPr/>
        </p:nvSpPr>
        <p:spPr>
          <a:xfrm>
            <a:off x="2463150" y="4581117"/>
            <a:ext cx="4217698" cy="325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ts val="16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Action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+ </a:t>
            </a:r>
            <a:r>
              <a:rPr lang="en-US" sz="11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Exploration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+ </a:t>
            </a:r>
            <a:r>
              <a:rPr lang="en-US" sz="1100" dirty="0">
                <a:solidFill>
                  <a:schemeClr val="accent6">
                    <a:lumMod val="5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Story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D8F51A-20A0-3869-4A8E-03B81A4DBF97}"/>
              </a:ext>
            </a:extLst>
          </p:cNvPr>
          <p:cNvSpPr/>
          <p:nvPr/>
        </p:nvSpPr>
        <p:spPr>
          <a:xfrm>
            <a:off x="1116767" y="510784"/>
            <a:ext cx="6910465" cy="906288"/>
          </a:xfrm>
          <a:prstGeom prst="rect">
            <a:avLst/>
          </a:prstGeom>
          <a:solidFill>
            <a:schemeClr val="accent4">
              <a:lumMod val="95000"/>
              <a:lumOff val="5000"/>
            </a:schemeClr>
          </a:solidFill>
          <a:ln>
            <a:noFill/>
          </a:ln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006761" y="600724"/>
            <a:ext cx="7130476" cy="8163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ctr">
              <a:lnSpc>
                <a:spcPts val="16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Arial"/>
              </a:rPr>
              <a:t>A 2D pixel-art roguelite action-adventure with procedural runs, where bizarre comedy collides with creepy monsters and absurd challenges.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video game screen with a building and a gate">
            <a:extLst>
              <a:ext uri="{FF2B5EF4-FFF2-40B4-BE49-F238E27FC236}">
                <a16:creationId xmlns:a16="http://schemas.microsoft.com/office/drawing/2014/main" id="{347FFDA7-1F6A-BC1D-DF51-86F43ADFFC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801974" y="968315"/>
            <a:ext cx="3530162" cy="87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retro atmosphere fused with pixel art, roguelite tension and absurd/acid humor.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636991" y="968315"/>
            <a:ext cx="3630083" cy="10237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cursed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procedural horror attraction with bizarre creatures, hidden secrets, hell rings, captive celebrities and unpredictable surprises.</a:t>
            </a: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50778920-B19E-2C1C-6175-A1083A3288C3}"/>
              </a:ext>
            </a:extLst>
          </p:cNvPr>
          <p:cNvSpPr txBox="1">
            <a:spLocks/>
          </p:cNvSpPr>
          <p:nvPr/>
        </p:nvSpPr>
        <p:spPr>
          <a:xfrm>
            <a:off x="801973" y="1997238"/>
            <a:ext cx="3530162" cy="821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twins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sibling has unique perks and flaws adding variety and humor to every playthrough.</a:t>
            </a:r>
          </a:p>
        </p:txBody>
      </p:sp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FB5A7B89-34D9-4A72-CB2B-D26EB177519F}"/>
              </a:ext>
            </a:extLst>
          </p:cNvPr>
          <p:cNvSpPr txBox="1">
            <a:spLocks/>
          </p:cNvSpPr>
          <p:nvPr/>
        </p:nvSpPr>
        <p:spPr>
          <a:xfrm>
            <a:off x="4636991" y="2306251"/>
            <a:ext cx="3540144" cy="1025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run fuels a bizarre telenovela where twisted relationships and absurd drama unfold the deeper you go.</a:t>
            </a: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D50014C-EF5D-87E6-56D2-DAB9C28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video game screen with a building and a gate">
            <a:extLst>
              <a:ext uri="{FF2B5EF4-FFF2-40B4-BE49-F238E27FC236}">
                <a16:creationId xmlns:a16="http://schemas.microsoft.com/office/drawing/2014/main" id="{EFDD7D7A-9433-1F0D-9EBB-C2560300F82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2152CDD0-8A55-9B2A-6BB6-8E7396BBC1F9}"/>
              </a:ext>
            </a:extLst>
          </p:cNvPr>
          <p:cNvSpPr txBox="1">
            <a:spLocks/>
          </p:cNvSpPr>
          <p:nvPr/>
        </p:nvSpPr>
        <p:spPr>
          <a:xfrm>
            <a:off x="1540366" y="1088549"/>
            <a:ext cx="6063267" cy="2360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Binding of Isaac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structure, replayability, and run-driven progression.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South Park / Day of the Tentacle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Absurd, irreverent humor with eccentric characters and surreal situations.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Cult of the Lamb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Dark-comedy aesthetic and a playful contrast between cute art and sinister themes.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77CB2AA3-EF84-1617-5E58-9F29B9876314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INSPIRATIONS &amp; POSITIONING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976AAC8-E755-1048-679A-3A94C6642F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EA0F6D9-36E8-86EA-2DDE-BEDB8A8BB8C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889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364104" y="296673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SPECIFICATIONS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86D841F6-FB8E-4465-6E30-7C6E9B7E1BAD}"/>
              </a:ext>
            </a:extLst>
          </p:cNvPr>
          <p:cNvSpPr txBox="1">
            <a:spLocks/>
          </p:cNvSpPr>
          <p:nvPr/>
        </p:nvSpPr>
        <p:spPr>
          <a:xfrm>
            <a:off x="1520497" y="1137475"/>
            <a:ext cx="6103001" cy="1375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Genre:    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Roguelite/action-adventure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Graphics: 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Pixel art/retro style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Rating:   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Mature humor, mild blood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Playtime: 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20-26 hours</a:t>
            </a: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Technology: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MonoGame/Proprietary engine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Platform: 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Steam (PC)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Business model: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Premium + (DLCs/expansions)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Price point: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USD 14.99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8" name="Picture 7" descr="A pixelated image of a dog&#10;&#10;AI-generated content may be incorrect.">
            <a:extLst>
              <a:ext uri="{FF2B5EF4-FFF2-40B4-BE49-F238E27FC236}">
                <a16:creationId xmlns:a16="http://schemas.microsoft.com/office/drawing/2014/main" id="{04495AA6-FD25-DEAE-6B39-1715871E12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5053" y="3771271"/>
            <a:ext cx="664023" cy="901174"/>
          </a:xfrm>
          <a:prstGeom prst="rect">
            <a:avLst/>
          </a:prstGeom>
        </p:spPr>
      </p:pic>
      <p:pic>
        <p:nvPicPr>
          <p:cNvPr id="9" name="Picture 8" descr="A pixelated image of a dog&#10;&#10;AI-generated content may be incorrect.">
            <a:extLst>
              <a:ext uri="{FF2B5EF4-FFF2-40B4-BE49-F238E27FC236}">
                <a16:creationId xmlns:a16="http://schemas.microsoft.com/office/drawing/2014/main" id="{68A93E69-E461-0C0D-BD03-91E8067061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337132" y="3430724"/>
            <a:ext cx="501859" cy="6810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B963E86-3304-C63F-E681-2BE5FC3034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34924" y="500393"/>
            <a:ext cx="685800" cy="457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B32B4E-EF58-3837-BAD1-C038CB9BC7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7164225" y="328140"/>
            <a:ext cx="508195" cy="3445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D37DD80-10CD-85E4-85F2-BAD1FF587B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254" y="201855"/>
            <a:ext cx="409927" cy="252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833441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dark ride.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the ride’s designer and a group of celebrity guests stepped into the attraction… and never came out. The park was deemed haunted and soon went bankrupt.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sneak inside to investigate chasing the story that could finally make their magazine famous.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 is now ruled by Mandinga — the Devil’s only son and heir.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120103" y="4681778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5567" y="3981286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874" y="4681778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679671" y="4053098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>
            <a:off x="6526519" y="380990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876" y="1071501"/>
            <a:ext cx="430155" cy="645233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2084" y="1057818"/>
            <a:ext cx="430150" cy="645226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285" y="3728776"/>
            <a:ext cx="944004" cy="85818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06285" y="1778033"/>
            <a:ext cx="524298" cy="940814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561910" y="887780"/>
            <a:ext cx="6567589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&amp; Berta Idle (41)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Identical twins with different fathers — their perennial family scandal. They run Mysterious Mysteries and still live with their mom, chasing a scoop that finally matters.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1561909" y="2854426"/>
            <a:ext cx="6465323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order 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1555795" y="1863060"/>
            <a:ext cx="6735147" cy="850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Devil’s only son and heir. His father died in a gas-leak accident while roasting a sinner. As a child he dreamed of running a horror attraction. Now he has one — and no one leaves.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561909" y="3629805"/>
            <a:ext cx="6735147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famed designer of horror attractions. His masterpiece, Remizione, was inspired by a journey through purgatory. On opening day, he and several celebrities entered the ride… and never came out.</a:t>
            </a:r>
          </a:p>
        </p:txBody>
      </p:sp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5213" y="2894102"/>
            <a:ext cx="533742" cy="762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248256" y="2600704"/>
            <a:ext cx="168067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A5E139-6594-409D-CCED-9B11EBC45229}"/>
              </a:ext>
            </a:extLst>
          </p:cNvPr>
          <p:cNvSpPr/>
          <p:nvPr/>
        </p:nvSpPr>
        <p:spPr>
          <a:xfrm>
            <a:off x="572053" y="1309874"/>
            <a:ext cx="3272329" cy="2965603"/>
          </a:xfrm>
          <a:prstGeom prst="rect">
            <a:avLst/>
          </a:prstGeom>
          <a:noFill/>
          <a:ln w="28575">
            <a:solidFill>
              <a:schemeClr val="accent1">
                <a:lumMod val="50000"/>
              </a:schemeClr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347393" y="1297250"/>
            <a:ext cx="4227923" cy="2965603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B83EB26-17A9-E978-1ED1-09AA5A8852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/>
          </p:cNvSpPr>
          <p:nvPr/>
        </p:nvSpPr>
        <p:spPr>
          <a:xfrm>
            <a:off x="2847539" y="208880"/>
            <a:ext cx="3439188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GAME STRUCTURE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6BDAF4-DBDB-DF16-475D-7FD1290F59B6}"/>
              </a:ext>
            </a:extLst>
          </p:cNvPr>
          <p:cNvSpPr txBox="1"/>
          <p:nvPr/>
        </p:nvSpPr>
        <p:spPr>
          <a:xfrm>
            <a:off x="1126328" y="1448654"/>
            <a:ext cx="9479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Choose twin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046685" y="2265872"/>
            <a:ext cx="1263403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Ride Entrance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015265" y="3231861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238875" y="2381161"/>
            <a:ext cx="2440657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200" y="3330605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5633594" y="2205072"/>
            <a:ext cx="916501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Ride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5351488" y="1516625"/>
            <a:ext cx="196110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r">
              <a:defRPr sz="70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defRPr>
            </a:lvl1pPr>
          </a:lstStyle>
          <a:p>
            <a:r>
              <a:rPr lang="en-US" sz="900" dirty="0"/>
              <a:t>Find the coin.</a:t>
            </a:r>
            <a:endParaRPr lang="en-US" sz="900" dirty="0">
              <a:sym typeface="Maven Pro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6454435" y="2872300"/>
            <a:ext cx="2055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Intense action, tunnels, dungeons, strange rooms and captive celebrities.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>
            <a:off x="6413345" y="2324648"/>
            <a:ext cx="907144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4264883" y="978665"/>
            <a:ext cx="3222864" cy="309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 Ride (procedural)</a:t>
            </a:r>
            <a:endParaRPr lang="en-US" sz="1100" dirty="0">
              <a:solidFill>
                <a:srgbClr val="92293B"/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4597" y="3693532"/>
            <a:ext cx="435758" cy="2905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956DBE-EED0-A484-F48D-AA71498BABFC}"/>
              </a:ext>
            </a:extLst>
          </p:cNvPr>
          <p:cNvSpPr txBox="1"/>
          <p:nvPr/>
        </p:nvSpPr>
        <p:spPr>
          <a:xfrm>
            <a:off x="1416910" y="2798495"/>
            <a:ext cx="1895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ATM connected to Percival’s computer</a:t>
            </a:r>
          </a:p>
        </p:txBody>
      </p:sp>
      <p:pic>
        <p:nvPicPr>
          <p:cNvPr id="12" name="Picture 11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FE30F52E-2163-0C02-084F-F9C225EB415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96216" y="2046435"/>
            <a:ext cx="545063" cy="45027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71E629F-0182-F3F7-84BD-DCC9334D4400}"/>
              </a:ext>
            </a:extLst>
          </p:cNvPr>
          <p:cNvSpPr txBox="1"/>
          <p:nvPr/>
        </p:nvSpPr>
        <p:spPr>
          <a:xfrm>
            <a:off x="4273903" y="4352225"/>
            <a:ext cx="336409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Lose all run progress on death.</a:t>
            </a:r>
          </a:p>
        </p:txBody>
      </p:sp>
      <p:pic>
        <p:nvPicPr>
          <p:cNvPr id="13" name="Picture 12" descr="A pixelated character holding a stick&#10;&#10;AI-generated content may be incorrect.">
            <a:extLst>
              <a:ext uri="{FF2B5EF4-FFF2-40B4-BE49-F238E27FC236}">
                <a16:creationId xmlns:a16="http://schemas.microsoft.com/office/drawing/2014/main" id="{26B23D96-1EE3-3EAD-B6AB-1C0DF306AA4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6312" y="1038190"/>
            <a:ext cx="610736" cy="992046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E40F8379-3EB2-FE63-08A6-F25A19BB70F1}"/>
              </a:ext>
            </a:extLst>
          </p:cNvPr>
          <p:cNvSpPr txBox="1"/>
          <p:nvPr/>
        </p:nvSpPr>
        <p:spPr>
          <a:xfrm>
            <a:off x="5035232" y="3673034"/>
            <a:ext cx="1594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Collect Tickets and buy items.</a:t>
            </a:r>
          </a:p>
        </p:txBody>
      </p:sp>
      <p:pic>
        <p:nvPicPr>
          <p:cNvPr id="53" name="Picture 52" descr="A pixelated video game of a red machine&#10;&#10;AI-generated content may be incorrect.">
            <a:extLst>
              <a:ext uri="{FF2B5EF4-FFF2-40B4-BE49-F238E27FC236}">
                <a16:creationId xmlns:a16="http://schemas.microsoft.com/office/drawing/2014/main" id="{88F7A0CA-6C05-5B02-271D-88CFCF2FBD6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2597" y="3536798"/>
            <a:ext cx="383759" cy="584776"/>
          </a:xfrm>
          <a:prstGeom prst="rect">
            <a:avLst/>
          </a:prstGeom>
        </p:spPr>
      </p:pic>
      <p:pic>
        <p:nvPicPr>
          <p:cNvPr id="54" name="Picture 53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AFC7C9FC-8591-0409-6A4E-3F73327A4B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0340975">
            <a:off x="6947474" y="3740353"/>
            <a:ext cx="379825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735E49C-2FDC-7F6C-6A71-A5D9FC72BA94}"/>
              </a:ext>
            </a:extLst>
          </p:cNvPr>
          <p:cNvSpPr txBox="1"/>
          <p:nvPr/>
        </p:nvSpPr>
        <p:spPr>
          <a:xfrm>
            <a:off x="4498522" y="2973934"/>
            <a:ext cx="2055597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Find memory chips to expand Percival’s computer RAM.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1BBAB1-0D66-527E-9B0E-BB559039143D}"/>
              </a:ext>
            </a:extLst>
          </p:cNvPr>
          <p:cNvSpPr txBox="1"/>
          <p:nvPr/>
        </p:nvSpPr>
        <p:spPr>
          <a:xfrm>
            <a:off x="1882960" y="3589436"/>
            <a:ext cx="18991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RAM improves, new tiers of benefits and places become available.</a:t>
            </a:r>
          </a:p>
        </p:txBody>
      </p:sp>
      <p:pic>
        <p:nvPicPr>
          <p:cNvPr id="4" name="Picture 3" descr="A pixelated coin with a black background&#10;&#10;AI-generated content may be incorrect.">
            <a:extLst>
              <a:ext uri="{FF2B5EF4-FFF2-40B4-BE49-F238E27FC236}">
                <a16:creationId xmlns:a16="http://schemas.microsoft.com/office/drawing/2014/main" id="{E0B8356C-3BBB-07AE-07BA-7C42FE25C70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91456" y="1483648"/>
            <a:ext cx="304710" cy="30471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47A4C5D-9C45-A11D-9B6F-1FC3B26F9F8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flipH="1">
            <a:off x="7329383" y="2205142"/>
            <a:ext cx="406290" cy="457200"/>
          </a:xfrm>
          <a:prstGeom prst="rect">
            <a:avLst/>
          </a:prstGeom>
        </p:spPr>
      </p:pic>
      <p:pic>
        <p:nvPicPr>
          <p:cNvPr id="20" name="Picture 1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4021958B-03FA-8C26-8E8B-AD07CD79C84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0223873">
            <a:off x="7532322" y="1599986"/>
            <a:ext cx="314495" cy="271930"/>
          </a:xfrm>
          <a:prstGeom prst="rect">
            <a:avLst/>
          </a:prstGeom>
          <a:effectLst/>
        </p:spPr>
      </p:pic>
      <p:pic>
        <p:nvPicPr>
          <p:cNvPr id="38" name="Picture 37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7F446D89-3FDA-7ABB-BB72-229634B1183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9570213" flipH="1">
            <a:off x="7675142" y="1971772"/>
            <a:ext cx="330686" cy="271930"/>
          </a:xfrm>
          <a:prstGeom prst="rect">
            <a:avLst/>
          </a:prstGeom>
          <a:effectLst/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928D0947-B869-6CE5-A83F-A50831FED34A}"/>
              </a:ext>
            </a:extLst>
          </p:cNvPr>
          <p:cNvSpPr txBox="1"/>
          <p:nvPr/>
        </p:nvSpPr>
        <p:spPr>
          <a:xfrm>
            <a:off x="7784153" y="2472274"/>
            <a:ext cx="11153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Run completed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7ADA7947-112C-0491-C958-850A72FB2BB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89273" y="2247190"/>
            <a:ext cx="406289" cy="457200"/>
          </a:xfrm>
          <a:prstGeom prst="rect">
            <a:avLst/>
          </a:prstGeom>
        </p:spPr>
      </p:pic>
      <p:pic>
        <p:nvPicPr>
          <p:cNvPr id="50" name="Picture 4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FB878227-670D-072A-D405-02DDB42A8BC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2747042">
            <a:off x="6306438" y="2556486"/>
            <a:ext cx="727223" cy="271930"/>
          </a:xfrm>
          <a:prstGeom prst="rect">
            <a:avLst/>
          </a:prstGeom>
          <a:effectLst/>
        </p:spPr>
      </p:pic>
      <p:pic>
        <p:nvPicPr>
          <p:cNvPr id="56" name="Picture 55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B49185EA-B50B-A504-17C3-EE7ECA528F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2453" y="2009403"/>
            <a:ext cx="501447" cy="414239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C717E3B2-75C9-84EE-0BDC-030E86FB1AE4}"/>
              </a:ext>
            </a:extLst>
          </p:cNvPr>
          <p:cNvSpPr/>
          <p:nvPr/>
        </p:nvSpPr>
        <p:spPr>
          <a:xfrm>
            <a:off x="5168479" y="2329839"/>
            <a:ext cx="397181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3D87AB-218E-6708-1FD7-542C6C8599EA}"/>
              </a:ext>
            </a:extLst>
          </p:cNvPr>
          <p:cNvSpPr txBox="1"/>
          <p:nvPr/>
        </p:nvSpPr>
        <p:spPr>
          <a:xfrm>
            <a:off x="426747" y="987485"/>
            <a:ext cx="1979173" cy="309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dirty="0">
                <a:solidFill>
                  <a:schemeClr val="tx2">
                    <a:lumMod val="5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Theme park</a:t>
            </a:r>
            <a:endParaRPr lang="en-US" sz="11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E5AD0A2D-C6E3-14E4-959C-9FECBBA6C10D}"/>
              </a:ext>
            </a:extLst>
          </p:cNvPr>
          <p:cNvSpPr/>
          <p:nvPr/>
        </p:nvSpPr>
        <p:spPr>
          <a:xfrm>
            <a:off x="5920056" y="2502193"/>
            <a:ext cx="197818" cy="467060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A306FCFC-405D-734A-4B3E-9D1240FEEDB8}"/>
              </a:ext>
            </a:extLst>
          </p:cNvPr>
          <p:cNvSpPr/>
          <p:nvPr/>
        </p:nvSpPr>
        <p:spPr>
          <a:xfrm>
            <a:off x="7780374" y="2324648"/>
            <a:ext cx="1096097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6FA3D1F-6BE1-C7A0-F748-E0572F99E3A0}"/>
              </a:ext>
            </a:extLst>
          </p:cNvPr>
          <p:cNvSpPr/>
          <p:nvPr/>
        </p:nvSpPr>
        <p:spPr>
          <a:xfrm>
            <a:off x="222192" y="2399874"/>
            <a:ext cx="712773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DEBE2C-C9DF-819C-0EE9-4097EA4D30EA}"/>
              </a:ext>
            </a:extLst>
          </p:cNvPr>
          <p:cNvSpPr txBox="1"/>
          <p:nvPr/>
        </p:nvSpPr>
        <p:spPr>
          <a:xfrm>
            <a:off x="62903" y="2128128"/>
            <a:ext cx="10342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US" sz="7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52" name="Picture 51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AF7C986D-AD4A-F358-5956-96DB9B5CCCA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40356" y="2030236"/>
            <a:ext cx="264652" cy="390524"/>
          </a:xfrm>
          <a:prstGeom prst="rect">
            <a:avLst/>
          </a:prstGeom>
          <a:effectLst/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CB79E76-645B-8464-B863-7E05A3B253A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95744" y="1875210"/>
            <a:ext cx="304582" cy="429223"/>
          </a:xfrm>
          <a:prstGeom prst="rect">
            <a:avLst/>
          </a:prstGeom>
          <a:effectLst/>
        </p:spPr>
      </p:pic>
      <p:pic>
        <p:nvPicPr>
          <p:cNvPr id="25" name="Picture 24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A45B1A07-F374-6352-7E81-E041B18FD2D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H="1">
            <a:off x="1649305" y="1862316"/>
            <a:ext cx="304582" cy="4495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0BFAF55-72FF-4658-AED9-BBD3C57CD1E4}"/>
              </a:ext>
            </a:extLst>
          </p:cNvPr>
          <p:cNvSpPr txBox="1"/>
          <p:nvPr/>
        </p:nvSpPr>
        <p:spPr>
          <a:xfrm>
            <a:off x="470254" y="4347618"/>
            <a:ext cx="32048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RAM = Metaprogression Tree.</a:t>
            </a:r>
          </a:p>
        </p:txBody>
      </p:sp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434B4B9-2F9D-C387-813A-2865AA29A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74C63A-9ABA-9EA7-050A-D8B048B4858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6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PILGRIM SACK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343165" y="1271698"/>
            <a:ext cx="322883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Left Hand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junk you can equip to whack, shoot, or do something questionably effective.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343165" y="32897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Single use items from healing snacks and chili-powered speed to bizarre holy cards.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408075" y="2280748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12716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powers, masks, hats.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948384" y="1325114"/>
            <a:ext cx="471718" cy="47171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6693" y="2330364"/>
            <a:ext cx="343409" cy="34340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53500" y="3274142"/>
            <a:ext cx="428907" cy="42890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 flipH="1">
            <a:off x="967116" y="1365825"/>
            <a:ext cx="350421" cy="35042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343165" y="2280748"/>
            <a:ext cx="3228835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contraptions for odd jobs — dig, plant, prank, or blow stuff up.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E53C2B-5FAD-273D-B325-62B09B901388}"/>
              </a:ext>
            </a:extLst>
          </p:cNvPr>
          <p:cNvSpPr txBox="1"/>
          <p:nvPr/>
        </p:nvSpPr>
        <p:spPr>
          <a:xfrm>
            <a:off x="1568346" y="716578"/>
            <a:ext cx="60073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Collect and adapt with whatever bizarre items you find along the way.</a:t>
            </a:r>
          </a:p>
        </p:txBody>
      </p:sp>
      <p:pic>
        <p:nvPicPr>
          <p:cNvPr id="13" name="Picture 12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2BD38C97-A01D-E2D2-E3F0-612A6544C56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188311" y="3393585"/>
            <a:ext cx="762607" cy="894163"/>
          </a:xfrm>
          <a:prstGeom prst="rect">
            <a:avLst/>
          </a:prstGeom>
        </p:spPr>
      </p:pic>
      <p:pic>
        <p:nvPicPr>
          <p:cNvPr id="14" name="Picture 13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784E6801-EB8F-12D5-8FBD-96C419F43D8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7263077" y="3521083"/>
            <a:ext cx="762607" cy="8941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B295FCA-C5E5-A0B2-3AA3-3B38A68FE371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92743" y="2312163"/>
            <a:ext cx="350422" cy="35042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109007E-70B1-6CDB-C4A6-18A68100C9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2485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61392" y="1130081"/>
            <a:ext cx="3916220" cy="876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Proprietary MonoGame/C# engine with scripting language and 2D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07670" y="2055696"/>
            <a:ext cx="3696685" cy="876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expand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364105" y="321936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DE70908F-3932-C13C-E841-8182090B7F2B}"/>
              </a:ext>
            </a:extLst>
          </p:cNvPr>
          <p:cNvSpPr txBox="1">
            <a:spLocks/>
          </p:cNvSpPr>
          <p:nvPr/>
        </p:nvSpPr>
        <p:spPr>
          <a:xfrm>
            <a:off x="761392" y="2055696"/>
            <a:ext cx="391622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core gameplay loop including procedural generation, basic combat and lighting system.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CB948FFE-95D3-EE8E-147F-E47694E0F66B}"/>
              </a:ext>
            </a:extLst>
          </p:cNvPr>
          <p:cNvSpPr txBox="1">
            <a:spLocks/>
          </p:cNvSpPr>
          <p:nvPr/>
        </p:nvSpPr>
        <p:spPr>
          <a:xfrm>
            <a:off x="4907670" y="1130081"/>
            <a:ext cx="3756645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Tone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and absurd humor already defined in the prototype.</a:t>
            </a:r>
          </a:p>
        </p:txBody>
      </p:sp>
      <p:pic>
        <p:nvPicPr>
          <p:cNvPr id="10" name="Picture 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AE43CDBC-F02F-38AD-2DE1-3D949F93AE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971486" y="3428954"/>
            <a:ext cx="1096097" cy="996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duotone>
              <a:prstClr val="black"/>
              <a:schemeClr val="accent6">
                <a:lumMod val="75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52843" y="947082"/>
            <a:ext cx="2951485" cy="2222036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produce the full adventure: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creatures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100+ items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10+ secondary cast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12 captive celebrities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8 bosses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New tunnels &amp; rooms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Story arc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Original soundtrack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72218" y="945261"/>
            <a:ext cx="3532333" cy="1940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Localization (*)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 to reach a wider audience.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porting (*)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game is easily portable. Our code is AOT-friendly. All porting would be done by the publisher or external teams.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 (*)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and additional promotional materials.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3886199" y="229306"/>
            <a:ext cx="137160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" name="Picture 4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71693FFB-ADE4-3EBC-B6CD-5BB70BBBA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240996" y="3612059"/>
            <a:ext cx="743248" cy="418077"/>
          </a:xfrm>
          <a:prstGeom prst="rect">
            <a:avLst/>
          </a:prstGeom>
        </p:spPr>
      </p:pic>
      <p:pic>
        <p:nvPicPr>
          <p:cNvPr id="8" name="Picture 7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A08857F8-BD63-FA8D-214F-E2427BEA4AC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 flipH="1">
            <a:off x="6063555" y="3903227"/>
            <a:ext cx="839449" cy="42566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2D85B4-DEBC-D9D2-75AC-4EA1B67C181E}"/>
              </a:ext>
            </a:extLst>
          </p:cNvPr>
          <p:cNvSpPr txBox="1"/>
          <p:nvPr/>
        </p:nvSpPr>
        <p:spPr>
          <a:xfrm>
            <a:off x="2477122" y="4473077"/>
            <a:ext cx="4189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(*) Handled by the publisher. Not included in the development budget.</a:t>
            </a:r>
          </a:p>
        </p:txBody>
      </p:sp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450503" y="1155238"/>
            <a:ext cx="4242992" cy="2113495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</a:t>
            </a:r>
            <a:b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1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195k USD (*)</a:t>
            </a:r>
            <a:b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1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 distribution: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 &amp; Writing: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Animation: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Programming &amp; Tools: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30%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 &amp; Music: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15%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QA/Misc: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5%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6DB6AC6-AD3B-C709-6996-1F000F8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521D29B5-C7F6-1F20-1200-9DDB9CBF46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B2E0ECE-E3C6-0307-BDD0-041A9A6115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052E82F6-CC2E-9851-4B04-145BE01BA38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EXPANSION POTENTIAL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4FE932DA-096D-E842-1AB1-CB0B8695D228}"/>
              </a:ext>
            </a:extLst>
          </p:cNvPr>
          <p:cNvSpPr txBox="1">
            <a:spLocks/>
          </p:cNvSpPr>
          <p:nvPr/>
        </p:nvSpPr>
        <p:spPr>
          <a:xfrm>
            <a:off x="1787580" y="1175894"/>
            <a:ext cx="5656306" cy="1334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procedural architecture allows the game to expand indefinitely with new post-launch content.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modular design enables cost-efficient updates and multiple sales cycles over time.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2" name="Picture 1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B57A6D10-C620-52BE-600A-C9F16DF70B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7615" y="3729147"/>
            <a:ext cx="2862470" cy="11131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D859C4-8368-588E-720E-A72CF71FE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890" y="2343150"/>
            <a:ext cx="685800" cy="457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23DAE3-A901-AEAA-51E2-3DCFB64C82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7749185" y="859949"/>
            <a:ext cx="770970" cy="4572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33BD65B2-FBA7-8812-7264-362591C673BD}"/>
              </a:ext>
            </a:extLst>
          </p:cNvPr>
          <p:cNvSpPr txBox="1">
            <a:spLocks/>
          </p:cNvSpPr>
          <p:nvPr/>
        </p:nvSpPr>
        <p:spPr>
          <a:xfrm>
            <a:off x="1409076" y="2760489"/>
            <a:ext cx="5656306" cy="1334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Aca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ponerlo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inspiracional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recorder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charla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con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mateo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todo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horizonte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de expansion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que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tiene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juego.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Que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lo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proyecte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que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lee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deck.</a:t>
            </a:r>
            <a:endParaRPr lang="en-US" sz="900" dirty="0">
              <a:solidFill>
                <a:schemeClr val="tx1">
                  <a:lumMod val="60000"/>
                  <a:lumOff val="40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70546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03" y="1277484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65" y="2776894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17" y="1272412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7419" y="2776894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204387" y="1272412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09969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197536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2023</a:t>
            </a: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117956" y="1024836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2025</a:t>
            </a: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730843" y="2096714"/>
            <a:ext cx="3253582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See you in hell!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7" y="466862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chemeClr val="accent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chemeClr val="accent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3383" y="2805821"/>
            <a:ext cx="802960" cy="802960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3064" y="2805820"/>
            <a:ext cx="802960" cy="802960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2745" y="2805821"/>
            <a:ext cx="802959" cy="802959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288935" y="3648135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840682" y="3648135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168300" y="3646989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58498" y="3493402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112" y="3493402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63792" y="3483165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231474" y="22830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  <p:pic>
        <p:nvPicPr>
          <p:cNvPr id="14" name="Picture 13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1429B171-F070-225A-6645-A09EB7F9A7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8210497" y="228305"/>
            <a:ext cx="603287" cy="8016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A75673-0B50-6F0B-7154-3F32894857F4}"/>
              </a:ext>
            </a:extLst>
          </p:cNvPr>
          <p:cNvSpPr txBox="1"/>
          <p:nvPr/>
        </p:nvSpPr>
        <p:spPr>
          <a:xfrm>
            <a:off x="5863029" y="344265"/>
            <a:ext cx="2384666" cy="4537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Celebrity found!</a:t>
            </a:r>
          </a:p>
          <a:p>
            <a:pPr algn="r">
              <a:lnSpc>
                <a:spcPct val="150000"/>
              </a:lnSpc>
            </a:pP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Bill Doors</a:t>
            </a:r>
            <a:endParaRPr lang="en-US" sz="1000" dirty="0">
              <a:solidFill>
                <a:srgbClr val="AB51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6161</TotalTime>
  <Words>971</Words>
  <Application>Microsoft Office PowerPoint</Application>
  <PresentationFormat>On-screen Show (16:9)</PresentationFormat>
  <Paragraphs>140</Paragraphs>
  <Slides>17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Maven Pro</vt:lpstr>
      <vt:lpstr>Press Start 2P</vt:lpstr>
      <vt:lpstr>Arial</vt:lpstr>
      <vt:lpstr>Super Pixel Vintage Gaming by Slidesgo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1235</cp:revision>
  <dcterms:modified xsi:type="dcterms:W3CDTF">2025-12-07T03:39:04Z</dcterms:modified>
</cp:coreProperties>
</file>