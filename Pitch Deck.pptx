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0"/>
  </p:notesMasterIdLst>
  <p:sldIdLst>
    <p:sldId id="330" r:id="rId2"/>
    <p:sldId id="260" r:id="rId3"/>
    <p:sldId id="345" r:id="rId4"/>
    <p:sldId id="346" r:id="rId5"/>
    <p:sldId id="347" r:id="rId6"/>
    <p:sldId id="342" r:id="rId7"/>
    <p:sldId id="348" r:id="rId8"/>
    <p:sldId id="331" r:id="rId9"/>
    <p:sldId id="333" r:id="rId10"/>
    <p:sldId id="335" r:id="rId11"/>
    <p:sldId id="337" r:id="rId12"/>
    <p:sldId id="323" r:id="rId13"/>
    <p:sldId id="324" r:id="rId14"/>
    <p:sldId id="340" r:id="rId15"/>
    <p:sldId id="326" r:id="rId16"/>
    <p:sldId id="320" r:id="rId17"/>
    <p:sldId id="343" r:id="rId18"/>
    <p:sldId id="321" r:id="rId19"/>
  </p:sldIdLst>
  <p:sldSz cx="9144000" cy="5143500" type="screen16x9"/>
  <p:notesSz cx="6858000" cy="9144000"/>
  <p:embeddedFontLst>
    <p:embeddedFont>
      <p:font typeface="Maven Pro" panose="020B0604020202020204" charset="0"/>
      <p:regular r:id="rId21"/>
      <p:bold r:id="rId22"/>
    </p:embeddedFont>
    <p:embeddedFont>
      <p:font typeface="Press Start 2P" panose="00000500000000000000" pitchFamily="2" charset="0"/>
      <p:regular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A15"/>
    <a:srgbClr val="AB5130"/>
    <a:srgbClr val="52333F"/>
    <a:srgbClr val="BD6A62"/>
    <a:srgbClr val="8F4D57"/>
    <a:srgbClr val="3B7D4F"/>
    <a:srgbClr val="800000"/>
    <a:srgbClr val="CCCC00"/>
    <a:srgbClr val="F0B541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36" d="100"/>
          <a:sy n="136" d="100"/>
        </p:scale>
        <p:origin x="894" y="2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5BD767A2-DF76-9A6F-EF00-C1384D1B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5030D183-3FC8-E9F2-C671-87BD79B546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4576BDF4-7607-36D0-1701-C3123593B5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4635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13670B1-C436-4FF0-EEED-6C23F1EF4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4C9A6B89-006F-BB09-A4BB-712C012DD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A731BE7-B1CB-83C3-4C46-98DDFB6CF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008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DCE523C-DE26-5190-B97C-FF87F49A9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707DD896-8C3B-1E11-4786-5F30C1622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91901726-2938-2326-9227-D4BA020AE4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7654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49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14.jpeg"/><Relationship Id="rId7" Type="http://schemas.openxmlformats.org/officeDocument/2006/relationships/image" Target="../media/image17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15.jpeg"/><Relationship Id="rId9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diesruption.com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cartoon of a town at night">
            <a:extLst>
              <a:ext uri="{FF2B5EF4-FFF2-40B4-BE49-F238E27FC236}">
                <a16:creationId xmlns:a16="http://schemas.microsoft.com/office/drawing/2014/main" id="{AE77E8E0-B2B7-8D41-74D5-BC6DB166D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382223">
            <a:off x="2501939" y="2157018"/>
            <a:ext cx="4657629" cy="573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6460B-88E5-EAAE-B0C1-B69450A87880}"/>
              </a:ext>
            </a:extLst>
          </p:cNvPr>
          <p:cNvSpPr txBox="1"/>
          <p:nvPr/>
        </p:nvSpPr>
        <p:spPr>
          <a:xfrm>
            <a:off x="6594558" y="4760446"/>
            <a:ext cx="2480166" cy="276999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>
              <a:buClr>
                <a:srgbClr val="FFFF00"/>
              </a:buClr>
              <a:buSzPts val="30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By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 </a:t>
            </a:r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Indiesruption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8470" y="750520"/>
            <a:ext cx="4446165" cy="15059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2983772" y="392612"/>
            <a:ext cx="3176449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24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241001" y="1007008"/>
            <a:ext cx="6661989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 art roguelite adventure with dark humor, twisted monsters, secret places and hundreds of bizarre items. </a:t>
            </a:r>
          </a:p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 where every cart is your only chance to survive.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1D5953C-9483-2273-2965-3304F29613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043566" y="362755"/>
            <a:ext cx="5067392" cy="52647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  <a:endParaRPr sz="24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58044" y="1005906"/>
            <a:ext cx="742791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 During its grand opening, twelve celebrities—and the designer himself—entered... and never came back.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 What they don’t know is that the ride is now ruled by Mandinga—a frustrated demon who, as a child, dreamed of having his very own horror ride, and isn’t about to give it up.</a:t>
            </a:r>
          </a:p>
        </p:txBody>
      </p:sp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7293" y="3924909"/>
            <a:ext cx="571500" cy="914400"/>
          </a:xfrm>
          <a:prstGeom prst="rect">
            <a:avLst/>
          </a:prstGeom>
        </p:spPr>
      </p:pic>
      <p:pic>
        <p:nvPicPr>
          <p:cNvPr id="13" name="Picture 12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021935B2-628F-0202-D0F8-B6FFA67C4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6825208" y="3983316"/>
            <a:ext cx="5715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D60F414-D0F2-BDA9-8358-1893CC061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8CDBB24F-3CC3-7E4F-7AE3-DDC51D8FF87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07E93653-10A2-DDDD-8FC0-AD8AB57737D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26015" y="1046257"/>
            <a:ext cx="7491970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an evil horror ride filled with ugly creatures, traps, puzzles, items and secrets.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2D bizarre action. Push carts and face grotesque monsters and bosses.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Permadeath - each death teaches something new and unlocks items.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 as either Idle twin, each with unique abilities and exclusive paths.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parodies of lost celebrities with bizarre rewards (Bill Fences, Donald Grump. Elon Husk).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twist with meta-goals to bring layers of mystery and long-term goals.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222FC448-A206-6ED2-5D02-283984CF433B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Gameplay</a:t>
            </a:r>
          </a:p>
        </p:txBody>
      </p:sp>
    </p:spTree>
    <p:extLst>
      <p:ext uri="{BB962C8B-B14F-4D97-AF65-F5344CB8AC3E}">
        <p14:creationId xmlns:p14="http://schemas.microsoft.com/office/powerpoint/2010/main" val="518475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69A2DC82-5308-B4D3-F2AB-4C5F2D8CA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10E48D33-20E2-8C9E-87A0-0ED6508539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BCFCE1A6-28CC-9EF8-2D9A-E51D0ABB963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48451" y="1085481"/>
            <a:ext cx="7447097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Unique blend of grotesque horror and comedy.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levels.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2D lighting – sometimes only your items can pierce it.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Earn tickets and exchange them for strange but useful souvenirs.</a:t>
            </a:r>
          </a:p>
          <a:p>
            <a:pPr marL="0" indent="0">
              <a:lnSpc>
                <a:spcPts val="1400"/>
              </a:lnSpc>
              <a:buClr>
                <a:srgbClr val="AB5130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’90s-inspired jazzy MIDI soundtrack.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can earn new content by defeating bosses, surviving runs, discovering secret areas, or completing bizarre hidden tasks.</a:t>
            </a: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9D51D7DF-2FB6-A59C-16D4-D49CA4CCDF04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Key Features</a:t>
            </a:r>
          </a:p>
        </p:txBody>
      </p:sp>
    </p:spTree>
    <p:extLst>
      <p:ext uri="{BB962C8B-B14F-4D97-AF65-F5344CB8AC3E}">
        <p14:creationId xmlns:p14="http://schemas.microsoft.com/office/powerpoint/2010/main" val="3923933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xel art of a building">
            <a:extLst>
              <a:ext uri="{FF2B5EF4-FFF2-40B4-BE49-F238E27FC236}">
                <a16:creationId xmlns:a16="http://schemas.microsoft.com/office/drawing/2014/main" id="{52402C60-77A7-1E25-F9F5-F14CED294C6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E68F2B-5464-E15A-128C-A410CB603FDD}"/>
              </a:ext>
            </a:extLst>
          </p:cNvPr>
          <p:cNvSpPr txBox="1"/>
          <p:nvPr/>
        </p:nvSpPr>
        <p:spPr>
          <a:xfrm>
            <a:off x="3674157" y="1320032"/>
            <a:ext cx="17956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8074A-0EA5-C0F0-87D6-C4519DD2C7EE}"/>
              </a:ext>
            </a:extLst>
          </p:cNvPr>
          <p:cNvSpPr txBox="1"/>
          <p:nvPr/>
        </p:nvSpPr>
        <p:spPr>
          <a:xfrm>
            <a:off x="5669681" y="2265852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Begin</a:t>
            </a:r>
          </a:p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B9801-8A0A-0CC6-FEE7-0E721EA1372B}"/>
              </a:ext>
            </a:extLst>
          </p:cNvPr>
          <p:cNvSpPr txBox="1"/>
          <p:nvPr/>
        </p:nvSpPr>
        <p:spPr>
          <a:xfrm>
            <a:off x="3634317" y="3302282"/>
            <a:ext cx="18753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ride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2D20E-03EE-53B7-81AD-6ABEE4E53BFC}"/>
              </a:ext>
            </a:extLst>
          </p:cNvPr>
          <p:cNvSpPr txBox="1"/>
          <p:nvPr/>
        </p:nvSpPr>
        <p:spPr>
          <a:xfrm>
            <a:off x="1523065" y="2243815"/>
            <a:ext cx="21510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</a:t>
            </a:r>
          </a:p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519C639E-FD6E-0639-E043-9475A0AE206F}"/>
              </a:ext>
            </a:extLst>
          </p:cNvPr>
          <p:cNvSpPr/>
          <p:nvPr/>
        </p:nvSpPr>
        <p:spPr>
          <a:xfrm rot="5400000">
            <a:off x="5688794" y="1486979"/>
            <a:ext cx="61137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BE208F65-1ACD-404F-5122-8FDC916CD14A}"/>
              </a:ext>
            </a:extLst>
          </p:cNvPr>
          <p:cNvSpPr/>
          <p:nvPr/>
        </p:nvSpPr>
        <p:spPr>
          <a:xfrm rot="10800000">
            <a:off x="5536659" y="2952522"/>
            <a:ext cx="69952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5A091DE-053F-722E-EBE5-6B30D094BEAD}"/>
              </a:ext>
            </a:extLst>
          </p:cNvPr>
          <p:cNvSpPr/>
          <p:nvPr/>
        </p:nvSpPr>
        <p:spPr>
          <a:xfrm rot="16200000">
            <a:off x="2799757" y="2861912"/>
            <a:ext cx="699520" cy="699519"/>
          </a:xfrm>
          <a:prstGeom prst="bentArrow">
            <a:avLst/>
          </a:prstGeom>
          <a:solidFill>
            <a:schemeClr val="accent4"/>
          </a:solidFill>
          <a:ln>
            <a:solidFill>
              <a:srgbClr val="8F4D57"/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ABF46C45-0C82-49E1-762D-07CB71828AA5}"/>
              </a:ext>
            </a:extLst>
          </p:cNvPr>
          <p:cNvSpPr/>
          <p:nvPr/>
        </p:nvSpPr>
        <p:spPr>
          <a:xfrm>
            <a:off x="2882175" y="1468783"/>
            <a:ext cx="617102" cy="680156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4"/>
          </a:solidFill>
          <a:ln>
            <a:solidFill>
              <a:srgbClr val="8F4D57"/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Google Shape;999;p37">
            <a:extLst>
              <a:ext uri="{FF2B5EF4-FFF2-40B4-BE49-F238E27FC236}">
                <a16:creationId xmlns:a16="http://schemas.microsoft.com/office/drawing/2014/main" id="{594AF7DC-4BBD-CDB6-4B10-1D65F8B679EB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Loop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5B1F6713-DDA4-AF52-CCA9-B624EC7B7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793762" y="3396877"/>
            <a:ext cx="607603" cy="857250"/>
          </a:xfrm>
          <a:prstGeom prst="rect">
            <a:avLst/>
          </a:prstGeom>
        </p:spPr>
      </p:pic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DF71DDA2-90BF-09BF-0A82-693DF3BBFF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082486" y="3561432"/>
            <a:ext cx="607603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125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168853" y="104932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015A17-98FF-7DD4-996D-009CB294E9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865542" y="1105137"/>
            <a:ext cx="5412916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engine, proven across 3 shipped titles.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and procedural generation already functional.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playable with established art direction and humor.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AC43E8CC-AFD0-67EF-0D7B-776F7B2D6E90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96373" y="1068634"/>
            <a:ext cx="6351254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 to produce the entire adventure: gameplay content, narrative, and the extensive set of assets needed for a deep procedural experience.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and trailers.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if needed. Our code is AOT-compatible which makes porting easy.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36C3F6EB-CBF1-BC90-2148-DB8DAF51A50E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475C2DD-0B55-73BB-627B-1375332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xel art of a building">
            <a:extLst>
              <a:ext uri="{FF2B5EF4-FFF2-40B4-BE49-F238E27FC236}">
                <a16:creationId xmlns:a16="http://schemas.microsoft.com/office/drawing/2014/main" id="{C77928D7-BDBB-2EE8-380A-3F50D150BD3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B6F1C17-A735-E874-93DD-AEAEEA9D8F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725793" y="1132021"/>
            <a:ext cx="5692356" cy="77787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Expandable world with DLCs: new creatures, items, and procedural environments.</a:t>
            </a:r>
          </a:p>
        </p:txBody>
      </p:sp>
      <p:pic>
        <p:nvPicPr>
          <p:cNvPr id="7" name="Picture 6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291CFB07-6019-4BA9-C919-6AAEC0AD6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918" y="3605893"/>
            <a:ext cx="3021047" cy="1174852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CC355999-B787-A7A1-5AC3-FF867872200D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Growth</a:t>
            </a:r>
          </a:p>
        </p:txBody>
      </p:sp>
    </p:spTree>
    <p:extLst>
      <p:ext uri="{BB962C8B-B14F-4D97-AF65-F5344CB8AC3E}">
        <p14:creationId xmlns:p14="http://schemas.microsoft.com/office/powerpoint/2010/main" val="7115662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34303" y="1085053"/>
            <a:ext cx="6285099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0" indent="0">
              <a:lnSpc>
                <a:spcPts val="1400"/>
              </a:lnSpc>
              <a:buClr>
                <a:srgbClr val="AB5130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9D666095-B9B5-D740-9CA3-FC46A3662514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pic>
        <p:nvPicPr>
          <p:cNvPr id="5" name="Picture 4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AFDED898-2CD0-5FD6-D6D5-0F23209D7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550" y="3792305"/>
            <a:ext cx="800100" cy="1143000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859352" y="4078055"/>
            <a:ext cx="577374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06490" y="1068230"/>
            <a:ext cx="581315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Estimated development time: 14 months.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Estimated budget: </a:t>
            </a:r>
            <a:r>
              <a:rPr lang="en-US" sz="1000" dirty="0" err="1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xxxK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USD (*)</a:t>
            </a:r>
          </a:p>
          <a:p>
            <a:pPr marL="285750" indent="-2857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Lead Designers (2), Programmer, Writer, Background Artist, 2D Animator, Composer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1390426" y="4362135"/>
            <a:ext cx="6245278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FCAD0BFC-A7C6-9B73-8427-C55E32DF295C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3056579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856F3467-6603-8DB2-81CB-15303D5894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17523" y="284058"/>
            <a:ext cx="7708900" cy="3333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rgbClr val="AB5130"/>
                </a:solidFill>
              </a:rPr>
              <a:t>Our Games</a:t>
            </a:r>
            <a:endParaRPr sz="3200" dirty="0">
              <a:solidFill>
                <a:srgbClr val="AB5130"/>
              </a:solidFill>
            </a:endParaRPr>
          </a:p>
        </p:txBody>
      </p:sp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297730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66710" y="2730560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24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766" y="831147"/>
            <a:ext cx="2948461" cy="189941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1898519" y="4543066"/>
            <a:ext cx="5346957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 algn="l">
              <a:buClr>
                <a:srgbClr val="8F4D57"/>
              </a:buClr>
              <a:buSzPts val="1100"/>
            </a:pPr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11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1848</TotalTime>
  <Words>534</Words>
  <Application>Microsoft Office PowerPoint</Application>
  <PresentationFormat>On-screen Show (16:9)</PresentationFormat>
  <Paragraphs>76</Paragraphs>
  <Slides>18</Slides>
  <Notes>10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Story &amp; Setting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Games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355</cp:revision>
  <dcterms:modified xsi:type="dcterms:W3CDTF">2025-09-04T21:21:52Z</dcterms:modified>
</cp:coreProperties>
</file>