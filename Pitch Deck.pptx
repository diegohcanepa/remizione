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8" r:id="rId1"/>
  </p:sldMasterIdLst>
  <p:notesMasterIdLst>
    <p:notesMasterId r:id="rId22"/>
  </p:notesMasterIdLst>
  <p:sldIdLst>
    <p:sldId id="330" r:id="rId2"/>
    <p:sldId id="260" r:id="rId3"/>
    <p:sldId id="350" r:id="rId4"/>
    <p:sldId id="351" r:id="rId5"/>
    <p:sldId id="345" r:id="rId6"/>
    <p:sldId id="352" r:id="rId7"/>
    <p:sldId id="353" r:id="rId8"/>
    <p:sldId id="349" r:id="rId9"/>
    <p:sldId id="333" r:id="rId10"/>
    <p:sldId id="354" r:id="rId11"/>
    <p:sldId id="348" r:id="rId12"/>
    <p:sldId id="331" r:id="rId13"/>
    <p:sldId id="335" r:id="rId14"/>
    <p:sldId id="337" r:id="rId15"/>
    <p:sldId id="323" r:id="rId16"/>
    <p:sldId id="324" r:id="rId17"/>
    <p:sldId id="320" r:id="rId18"/>
    <p:sldId id="326" r:id="rId19"/>
    <p:sldId id="343" r:id="rId20"/>
    <p:sldId id="321" r:id="rId21"/>
  </p:sldIdLst>
  <p:sldSz cx="9144000" cy="5143500" type="screen16x9"/>
  <p:notesSz cx="6858000" cy="9144000"/>
  <p:embeddedFontLst>
    <p:embeddedFont>
      <p:font typeface="Maven Pro" panose="020B0604020202020204" charset="0"/>
      <p:regular r:id="rId23"/>
      <p:bold r:id="rId24"/>
    </p:embeddedFont>
    <p:embeddedFont>
      <p:font typeface="Press Start 2P" panose="00000500000000000000" pitchFamily="2" charset="0"/>
      <p:regular r:id="rId2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B7D4F"/>
    <a:srgbClr val="AB5130"/>
    <a:srgbClr val="F6CA15"/>
    <a:srgbClr val="333300"/>
    <a:srgbClr val="8F4D57"/>
    <a:srgbClr val="52333F"/>
    <a:srgbClr val="BD6A62"/>
    <a:srgbClr val="FFFFFF"/>
    <a:srgbClr val="800000"/>
    <a:srgbClr val="CC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7D3D775-E612-4A68-ABBB-C3B02DE864C1}">
  <a:tblStyle styleId="{67D3D775-E612-4A68-ABBB-C3B02DE864C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8" d="100"/>
          <a:sy n="128" d="100"/>
        </p:scale>
        <p:origin x="480" y="33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3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1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85840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780F424A-984B-8DE7-A098-1F34836D91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835DCF18-8AFB-B827-9C96-C62B578BCB4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56662914-27BE-EECE-904C-10C6EDE4F1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5562326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933ADB03-200D-258B-C7C3-7908B84262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88312192-2B63-1398-952D-E6EC0E2DBFE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02890061-A834-5D1E-5E63-02581E059A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690594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0EAE9E16-E741-2AFC-528A-5D362D227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E9823407-3371-B2D4-9D7A-A39E9B64048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AC167794-BB93-5CE2-C42A-81372300372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1158166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ECC582F1-875B-7DBC-56D0-69B4298D6C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23DE2446-3686-79A4-B521-332AE46EF9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C86F04AE-24A5-AE20-9516-B53F10DC51A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9503458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D77629F1-C28F-E7BD-DF42-A3A4C61638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0F61061F-EBEF-2E37-5F82-0583EE2CBAC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61060E7-B052-DC81-16DD-BB929EE13C4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1667320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22717E27-6FB4-BC23-2466-5E75556A26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A183FEBC-059D-AB63-AF33-EAD32DED9D5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23BBDD17-5A60-0D6A-F8AE-B410259327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4688075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074B9D20-03E9-9419-86F2-50EF17F4CE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FAE5FF0C-BFBA-F92A-9C44-4B6A9AD6894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AB190A7B-7E94-3D7E-61E9-04A6B4738C8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2319568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C7A66D30-EEBA-D26C-B7E5-02FA0B754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2F2516FD-8C92-0365-481F-B95A12E7071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DBD48D3-210D-84C6-D120-2FBA89D216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1842973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4D07437F-E0EA-831F-F2B8-84F59181FE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A074959D-9AA7-D270-552C-3D655A2FDB8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63C974D2-18E8-8BEA-6DD5-A55D55F8709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9502484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21001038-85F5-AEA0-F926-4654015034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8FFEAD37-314D-447D-29C9-0AC7FDA245B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F7959833-3711-0A8D-C2A7-C09DBEA5F67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7255008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80B67A76-22B9-84A6-E145-6E495BB36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B5890F23-F67E-1640-6079-4989FAB6A9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035D575-CF13-4A7B-2B86-7A49D158055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305755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2359753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2949468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589725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825701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860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2"/>
          <p:cNvSpPr/>
          <p:nvPr/>
        </p:nvSpPr>
        <p:spPr>
          <a:xfrm>
            <a:off x="59057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118029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17700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/>
          <p:nvPr/>
        </p:nvSpPr>
        <p:spPr>
          <a:xfrm>
            <a:off x="2949468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2"/>
          <p:cNvSpPr/>
          <p:nvPr/>
        </p:nvSpPr>
        <p:spPr>
          <a:xfrm>
            <a:off x="3539183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2"/>
          <p:cNvSpPr/>
          <p:nvPr/>
        </p:nvSpPr>
        <p:spPr>
          <a:xfrm>
            <a:off x="5308360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"/>
          <p:cNvSpPr/>
          <p:nvPr/>
        </p:nvSpPr>
        <p:spPr>
          <a:xfrm>
            <a:off x="58981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2"/>
          <p:cNvSpPr/>
          <p:nvPr/>
        </p:nvSpPr>
        <p:spPr>
          <a:xfrm>
            <a:off x="648782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2"/>
          <p:cNvSpPr/>
          <p:nvPr/>
        </p:nvSpPr>
        <p:spPr>
          <a:xfrm>
            <a:off x="70775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2"/>
          <p:cNvSpPr/>
          <p:nvPr/>
        </p:nvSpPr>
        <p:spPr>
          <a:xfrm>
            <a:off x="860" y="363706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2"/>
          <p:cNvSpPr/>
          <p:nvPr/>
        </p:nvSpPr>
        <p:spPr>
          <a:xfrm>
            <a:off x="8257868" y="363727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2"/>
          <p:cNvSpPr/>
          <p:nvPr/>
        </p:nvSpPr>
        <p:spPr>
          <a:xfrm>
            <a:off x="8847625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2"/>
          <p:cNvSpPr/>
          <p:nvPr/>
        </p:nvSpPr>
        <p:spPr>
          <a:xfrm>
            <a:off x="591488" y="36370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2"/>
          <p:cNvSpPr/>
          <p:nvPr/>
        </p:nvSpPr>
        <p:spPr>
          <a:xfrm>
            <a:off x="801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2"/>
          <p:cNvSpPr/>
          <p:nvPr/>
        </p:nvSpPr>
        <p:spPr>
          <a:xfrm>
            <a:off x="591020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"/>
          <p:cNvSpPr/>
          <p:nvPr/>
        </p:nvSpPr>
        <p:spPr>
          <a:xfrm>
            <a:off x="118078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1769780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2"/>
          <p:cNvSpPr/>
          <p:nvPr/>
        </p:nvSpPr>
        <p:spPr>
          <a:xfrm>
            <a:off x="353919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2"/>
          <p:cNvSpPr/>
          <p:nvPr/>
        </p:nvSpPr>
        <p:spPr>
          <a:xfrm>
            <a:off x="412853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2"/>
          <p:cNvSpPr/>
          <p:nvPr/>
        </p:nvSpPr>
        <p:spPr>
          <a:xfrm>
            <a:off x="471780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2"/>
          <p:cNvSpPr/>
          <p:nvPr/>
        </p:nvSpPr>
        <p:spPr>
          <a:xfrm>
            <a:off x="530800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648696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707668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2"/>
          <p:cNvSpPr/>
          <p:nvPr/>
        </p:nvSpPr>
        <p:spPr>
          <a:xfrm>
            <a:off x="4128903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2"/>
          <p:cNvSpPr/>
          <p:nvPr/>
        </p:nvSpPr>
        <p:spPr>
          <a:xfrm>
            <a:off x="7668171" y="4238203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2"/>
          <p:cNvSpPr/>
          <p:nvPr/>
        </p:nvSpPr>
        <p:spPr>
          <a:xfrm>
            <a:off x="766639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2"/>
          <p:cNvSpPr/>
          <p:nvPr/>
        </p:nvSpPr>
        <p:spPr>
          <a:xfrm>
            <a:off x="8257900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2"/>
          <p:cNvSpPr/>
          <p:nvPr/>
        </p:nvSpPr>
        <p:spPr>
          <a:xfrm>
            <a:off x="884858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2"/>
          <p:cNvSpPr/>
          <p:nvPr/>
        </p:nvSpPr>
        <p:spPr>
          <a:xfrm>
            <a:off x="8848631" y="363729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2"/>
          <p:cNvSpPr txBox="1">
            <a:spLocks noGrp="1"/>
          </p:cNvSpPr>
          <p:nvPr>
            <p:ph type="ctrTitle"/>
          </p:nvPr>
        </p:nvSpPr>
        <p:spPr>
          <a:xfrm>
            <a:off x="1841100" y="2279225"/>
            <a:ext cx="5461800" cy="94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3500">
                <a:solidFill>
                  <a:srgbClr val="FFFFFF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2pPr>
            <a:lvl3pPr lvl="2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3pPr>
            <a:lvl4pPr lvl="3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4pPr>
            <a:lvl5pPr lvl="4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5pPr>
            <a:lvl6pPr lvl="5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6pPr>
            <a:lvl7pPr lvl="6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7pPr>
            <a:lvl8pPr lvl="7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8pPr>
            <a:lvl9pPr lvl="8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9pPr>
          </a:lstStyle>
          <a:p>
            <a:endParaRPr/>
          </a:p>
        </p:txBody>
      </p:sp>
      <p:sp>
        <p:nvSpPr>
          <p:cNvPr id="55" name="Google Shape;55;p2"/>
          <p:cNvSpPr txBox="1">
            <a:spLocks noGrp="1"/>
          </p:cNvSpPr>
          <p:nvPr>
            <p:ph type="subTitle" idx="1"/>
          </p:nvPr>
        </p:nvSpPr>
        <p:spPr>
          <a:xfrm>
            <a:off x="2358950" y="3281500"/>
            <a:ext cx="4283100" cy="52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 b="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56" name="Google Shape;56;p2"/>
          <p:cNvSpPr txBox="1">
            <a:spLocks noGrp="1"/>
          </p:cNvSpPr>
          <p:nvPr>
            <p:ph type="ctrTitle" idx="2"/>
          </p:nvPr>
        </p:nvSpPr>
        <p:spPr>
          <a:xfrm>
            <a:off x="713100" y="1323175"/>
            <a:ext cx="7717800" cy="73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4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preserve="1" userDrawn="1">
  <p:cSld name="Title only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2359753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2949468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589725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825701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860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2"/>
          <p:cNvSpPr/>
          <p:nvPr/>
        </p:nvSpPr>
        <p:spPr>
          <a:xfrm>
            <a:off x="59057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118029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17700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/>
          <p:nvPr/>
        </p:nvSpPr>
        <p:spPr>
          <a:xfrm>
            <a:off x="2949468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2"/>
          <p:cNvSpPr/>
          <p:nvPr/>
        </p:nvSpPr>
        <p:spPr>
          <a:xfrm>
            <a:off x="3539183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2"/>
          <p:cNvSpPr/>
          <p:nvPr/>
        </p:nvSpPr>
        <p:spPr>
          <a:xfrm>
            <a:off x="5308360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"/>
          <p:cNvSpPr/>
          <p:nvPr/>
        </p:nvSpPr>
        <p:spPr>
          <a:xfrm>
            <a:off x="58981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2"/>
          <p:cNvSpPr/>
          <p:nvPr/>
        </p:nvSpPr>
        <p:spPr>
          <a:xfrm>
            <a:off x="648782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2"/>
          <p:cNvSpPr/>
          <p:nvPr/>
        </p:nvSpPr>
        <p:spPr>
          <a:xfrm>
            <a:off x="70775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2"/>
          <p:cNvSpPr/>
          <p:nvPr/>
        </p:nvSpPr>
        <p:spPr>
          <a:xfrm>
            <a:off x="860" y="363706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2"/>
          <p:cNvSpPr/>
          <p:nvPr/>
        </p:nvSpPr>
        <p:spPr>
          <a:xfrm>
            <a:off x="8257868" y="363727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2"/>
          <p:cNvSpPr/>
          <p:nvPr/>
        </p:nvSpPr>
        <p:spPr>
          <a:xfrm>
            <a:off x="8847625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2"/>
          <p:cNvSpPr/>
          <p:nvPr/>
        </p:nvSpPr>
        <p:spPr>
          <a:xfrm>
            <a:off x="591488" y="36370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2"/>
          <p:cNvSpPr/>
          <p:nvPr/>
        </p:nvSpPr>
        <p:spPr>
          <a:xfrm>
            <a:off x="801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2"/>
          <p:cNvSpPr/>
          <p:nvPr/>
        </p:nvSpPr>
        <p:spPr>
          <a:xfrm>
            <a:off x="591020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"/>
          <p:cNvSpPr/>
          <p:nvPr/>
        </p:nvSpPr>
        <p:spPr>
          <a:xfrm>
            <a:off x="118078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1769780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2"/>
          <p:cNvSpPr/>
          <p:nvPr/>
        </p:nvSpPr>
        <p:spPr>
          <a:xfrm>
            <a:off x="353919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2"/>
          <p:cNvSpPr/>
          <p:nvPr/>
        </p:nvSpPr>
        <p:spPr>
          <a:xfrm>
            <a:off x="412853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2"/>
          <p:cNvSpPr/>
          <p:nvPr/>
        </p:nvSpPr>
        <p:spPr>
          <a:xfrm>
            <a:off x="471780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2"/>
          <p:cNvSpPr/>
          <p:nvPr/>
        </p:nvSpPr>
        <p:spPr>
          <a:xfrm>
            <a:off x="530800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648696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707668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2"/>
          <p:cNvSpPr/>
          <p:nvPr/>
        </p:nvSpPr>
        <p:spPr>
          <a:xfrm>
            <a:off x="4128903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2"/>
          <p:cNvSpPr/>
          <p:nvPr/>
        </p:nvSpPr>
        <p:spPr>
          <a:xfrm>
            <a:off x="7668171" y="4238203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2"/>
          <p:cNvSpPr/>
          <p:nvPr/>
        </p:nvSpPr>
        <p:spPr>
          <a:xfrm>
            <a:off x="766639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2"/>
          <p:cNvSpPr/>
          <p:nvPr/>
        </p:nvSpPr>
        <p:spPr>
          <a:xfrm>
            <a:off x="8257900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2"/>
          <p:cNvSpPr/>
          <p:nvPr/>
        </p:nvSpPr>
        <p:spPr>
          <a:xfrm>
            <a:off x="884858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2"/>
          <p:cNvSpPr/>
          <p:nvPr/>
        </p:nvSpPr>
        <p:spPr>
          <a:xfrm>
            <a:off x="8848631" y="363729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Google Shape;9;p2">
            <a:extLst>
              <a:ext uri="{FF2B5EF4-FFF2-40B4-BE49-F238E27FC236}">
                <a16:creationId xmlns:a16="http://schemas.microsoft.com/office/drawing/2014/main" id="{B74B651D-B17C-77C1-7A71-72E8190EF5C2}"/>
              </a:ext>
            </a:extLst>
          </p:cNvPr>
          <p:cNvSpPr/>
          <p:nvPr userDrawn="1"/>
        </p:nvSpPr>
        <p:spPr>
          <a:xfrm>
            <a:off x="2358747" y="604087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Google Shape;10;p2">
            <a:extLst>
              <a:ext uri="{FF2B5EF4-FFF2-40B4-BE49-F238E27FC236}">
                <a16:creationId xmlns:a16="http://schemas.microsoft.com/office/drawing/2014/main" id="{3435CFA5-74C7-AD14-88DC-40B1595375B8}"/>
              </a:ext>
            </a:extLst>
          </p:cNvPr>
          <p:cNvSpPr/>
          <p:nvPr userDrawn="1"/>
        </p:nvSpPr>
        <p:spPr>
          <a:xfrm>
            <a:off x="2948462" y="604087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11;p2">
            <a:extLst>
              <a:ext uri="{FF2B5EF4-FFF2-40B4-BE49-F238E27FC236}">
                <a16:creationId xmlns:a16="http://schemas.microsoft.com/office/drawing/2014/main" id="{0803F4CA-8D86-A4C4-B692-25D42C135A77}"/>
              </a:ext>
            </a:extLst>
          </p:cNvPr>
          <p:cNvSpPr/>
          <p:nvPr userDrawn="1"/>
        </p:nvSpPr>
        <p:spPr>
          <a:xfrm>
            <a:off x="5896249" y="60408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12;p2">
            <a:extLst>
              <a:ext uri="{FF2B5EF4-FFF2-40B4-BE49-F238E27FC236}">
                <a16:creationId xmlns:a16="http://schemas.microsoft.com/office/drawing/2014/main" id="{ECD4822F-7194-3A81-4434-79104FE737E6}"/>
              </a:ext>
            </a:extLst>
          </p:cNvPr>
          <p:cNvSpPr/>
          <p:nvPr userDrawn="1"/>
        </p:nvSpPr>
        <p:spPr>
          <a:xfrm>
            <a:off x="8256011" y="604298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13;p2">
            <a:extLst>
              <a:ext uri="{FF2B5EF4-FFF2-40B4-BE49-F238E27FC236}">
                <a16:creationId xmlns:a16="http://schemas.microsoft.com/office/drawing/2014/main" id="{6402B80D-9BE5-0C99-CB10-EEEF944BD193}"/>
              </a:ext>
            </a:extLst>
          </p:cNvPr>
          <p:cNvSpPr/>
          <p:nvPr userDrawn="1"/>
        </p:nvSpPr>
        <p:spPr>
          <a:xfrm>
            <a:off x="-146" y="1046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14;p2">
            <a:extLst>
              <a:ext uri="{FF2B5EF4-FFF2-40B4-BE49-F238E27FC236}">
                <a16:creationId xmlns:a16="http://schemas.microsoft.com/office/drawing/2014/main" id="{641F2603-8162-37F9-190B-9FC9FA614BD4}"/>
              </a:ext>
            </a:extLst>
          </p:cNvPr>
          <p:cNvSpPr/>
          <p:nvPr userDrawn="1"/>
        </p:nvSpPr>
        <p:spPr>
          <a:xfrm>
            <a:off x="589570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15;p2">
            <a:extLst>
              <a:ext uri="{FF2B5EF4-FFF2-40B4-BE49-F238E27FC236}">
                <a16:creationId xmlns:a16="http://schemas.microsoft.com/office/drawing/2014/main" id="{2A934EE3-D739-7928-4671-434B3EF00098}"/>
              </a:ext>
            </a:extLst>
          </p:cNvPr>
          <p:cNvSpPr/>
          <p:nvPr userDrawn="1"/>
        </p:nvSpPr>
        <p:spPr>
          <a:xfrm>
            <a:off x="1179285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" name="Google Shape;16;p2">
            <a:extLst>
              <a:ext uri="{FF2B5EF4-FFF2-40B4-BE49-F238E27FC236}">
                <a16:creationId xmlns:a16="http://schemas.microsoft.com/office/drawing/2014/main" id="{9FA21B27-6F61-C00A-2BDB-ADCE7A4C9EDA}"/>
              </a:ext>
            </a:extLst>
          </p:cNvPr>
          <p:cNvSpPr/>
          <p:nvPr userDrawn="1"/>
        </p:nvSpPr>
        <p:spPr>
          <a:xfrm>
            <a:off x="1769000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" name="Google Shape;17;p2">
            <a:extLst>
              <a:ext uri="{FF2B5EF4-FFF2-40B4-BE49-F238E27FC236}">
                <a16:creationId xmlns:a16="http://schemas.microsoft.com/office/drawing/2014/main" id="{321A6377-A923-113C-3F04-32A14ACDA60D}"/>
              </a:ext>
            </a:extLst>
          </p:cNvPr>
          <p:cNvSpPr/>
          <p:nvPr userDrawn="1"/>
        </p:nvSpPr>
        <p:spPr>
          <a:xfrm>
            <a:off x="2948462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Google Shape;18;p2">
            <a:extLst>
              <a:ext uri="{FF2B5EF4-FFF2-40B4-BE49-F238E27FC236}">
                <a16:creationId xmlns:a16="http://schemas.microsoft.com/office/drawing/2014/main" id="{BD4DC746-5D3A-4CBD-6BF7-743A5CD81AFE}"/>
              </a:ext>
            </a:extLst>
          </p:cNvPr>
          <p:cNvSpPr/>
          <p:nvPr userDrawn="1"/>
        </p:nvSpPr>
        <p:spPr>
          <a:xfrm>
            <a:off x="3538177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19;p2">
            <a:extLst>
              <a:ext uri="{FF2B5EF4-FFF2-40B4-BE49-F238E27FC236}">
                <a16:creationId xmlns:a16="http://schemas.microsoft.com/office/drawing/2014/main" id="{6A1A2A16-9CB1-39D0-F713-638C4A62A220}"/>
              </a:ext>
            </a:extLst>
          </p:cNvPr>
          <p:cNvSpPr/>
          <p:nvPr userDrawn="1"/>
        </p:nvSpPr>
        <p:spPr>
          <a:xfrm>
            <a:off x="5307354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" name="Google Shape;20;p2">
            <a:extLst>
              <a:ext uri="{FF2B5EF4-FFF2-40B4-BE49-F238E27FC236}">
                <a16:creationId xmlns:a16="http://schemas.microsoft.com/office/drawing/2014/main" id="{7ACC9AD9-5865-A0E9-AC52-4D33BD3690E4}"/>
              </a:ext>
            </a:extLst>
          </p:cNvPr>
          <p:cNvSpPr/>
          <p:nvPr userDrawn="1"/>
        </p:nvSpPr>
        <p:spPr>
          <a:xfrm>
            <a:off x="5897100" y="1046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21;p2">
            <a:extLst>
              <a:ext uri="{FF2B5EF4-FFF2-40B4-BE49-F238E27FC236}">
                <a16:creationId xmlns:a16="http://schemas.microsoft.com/office/drawing/2014/main" id="{85053872-D365-5AD1-6905-3C4802BBB19F}"/>
              </a:ext>
            </a:extLst>
          </p:cNvPr>
          <p:cNvSpPr/>
          <p:nvPr userDrawn="1"/>
        </p:nvSpPr>
        <p:spPr>
          <a:xfrm>
            <a:off x="6486815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22;p2">
            <a:extLst>
              <a:ext uri="{FF2B5EF4-FFF2-40B4-BE49-F238E27FC236}">
                <a16:creationId xmlns:a16="http://schemas.microsoft.com/office/drawing/2014/main" id="{A1A26F75-7B15-DA54-4FBA-96641762CA2A}"/>
              </a:ext>
            </a:extLst>
          </p:cNvPr>
          <p:cNvSpPr/>
          <p:nvPr userDrawn="1"/>
        </p:nvSpPr>
        <p:spPr>
          <a:xfrm>
            <a:off x="7076531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23;p2">
            <a:extLst>
              <a:ext uri="{FF2B5EF4-FFF2-40B4-BE49-F238E27FC236}">
                <a16:creationId xmlns:a16="http://schemas.microsoft.com/office/drawing/2014/main" id="{A683E51D-E37C-7B0B-ECC6-F0DC037071C3}"/>
              </a:ext>
            </a:extLst>
          </p:cNvPr>
          <p:cNvSpPr/>
          <p:nvPr userDrawn="1"/>
        </p:nvSpPr>
        <p:spPr>
          <a:xfrm>
            <a:off x="-146" y="121400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" name="Google Shape;24;p2">
            <a:extLst>
              <a:ext uri="{FF2B5EF4-FFF2-40B4-BE49-F238E27FC236}">
                <a16:creationId xmlns:a16="http://schemas.microsoft.com/office/drawing/2014/main" id="{77BCE4B0-7A80-F235-966C-7335EAA88F60}"/>
              </a:ext>
            </a:extLst>
          </p:cNvPr>
          <p:cNvSpPr/>
          <p:nvPr userDrawn="1"/>
        </p:nvSpPr>
        <p:spPr>
          <a:xfrm>
            <a:off x="8256862" y="121421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" name="Google Shape;28;p2">
            <a:extLst>
              <a:ext uri="{FF2B5EF4-FFF2-40B4-BE49-F238E27FC236}">
                <a16:creationId xmlns:a16="http://schemas.microsoft.com/office/drawing/2014/main" id="{39B82EB9-DFC0-1D00-9D42-668A401A6143}"/>
              </a:ext>
            </a:extLst>
          </p:cNvPr>
          <p:cNvSpPr/>
          <p:nvPr userDrawn="1"/>
        </p:nvSpPr>
        <p:spPr>
          <a:xfrm>
            <a:off x="8846619" y="1674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32;p2">
            <a:extLst>
              <a:ext uri="{FF2B5EF4-FFF2-40B4-BE49-F238E27FC236}">
                <a16:creationId xmlns:a16="http://schemas.microsoft.com/office/drawing/2014/main" id="{1F4981B9-479A-35D4-F980-DD023E99E00B}"/>
              </a:ext>
            </a:extLst>
          </p:cNvPr>
          <p:cNvSpPr/>
          <p:nvPr userDrawn="1"/>
        </p:nvSpPr>
        <p:spPr>
          <a:xfrm>
            <a:off x="590482" y="121399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33;p2">
            <a:extLst>
              <a:ext uri="{FF2B5EF4-FFF2-40B4-BE49-F238E27FC236}">
                <a16:creationId xmlns:a16="http://schemas.microsoft.com/office/drawing/2014/main" id="{5BCFF738-5FB7-2F4F-B5E8-355CFFA9885E}"/>
              </a:ext>
            </a:extLst>
          </p:cNvPr>
          <p:cNvSpPr/>
          <p:nvPr userDrawn="1"/>
        </p:nvSpPr>
        <p:spPr>
          <a:xfrm>
            <a:off x="-205" y="60407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" name="Google Shape;34;p2">
            <a:extLst>
              <a:ext uri="{FF2B5EF4-FFF2-40B4-BE49-F238E27FC236}">
                <a16:creationId xmlns:a16="http://schemas.microsoft.com/office/drawing/2014/main" id="{DD5D31B2-5E33-A4DA-9843-5FCBCDB16C45}"/>
              </a:ext>
            </a:extLst>
          </p:cNvPr>
          <p:cNvSpPr/>
          <p:nvPr userDrawn="1"/>
        </p:nvSpPr>
        <p:spPr>
          <a:xfrm>
            <a:off x="590014" y="604048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35;p2">
            <a:extLst>
              <a:ext uri="{FF2B5EF4-FFF2-40B4-BE49-F238E27FC236}">
                <a16:creationId xmlns:a16="http://schemas.microsoft.com/office/drawing/2014/main" id="{F7585B2B-1137-EAD1-3FA3-F5B3E8D5EE2E}"/>
              </a:ext>
            </a:extLst>
          </p:cNvPr>
          <p:cNvSpPr/>
          <p:nvPr userDrawn="1"/>
        </p:nvSpPr>
        <p:spPr>
          <a:xfrm>
            <a:off x="1179776" y="60406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Google Shape;36;p2">
            <a:extLst>
              <a:ext uri="{FF2B5EF4-FFF2-40B4-BE49-F238E27FC236}">
                <a16:creationId xmlns:a16="http://schemas.microsoft.com/office/drawing/2014/main" id="{8D1873A8-56F7-9529-AF1C-E1C29F74ADFC}"/>
              </a:ext>
            </a:extLst>
          </p:cNvPr>
          <p:cNvSpPr/>
          <p:nvPr userDrawn="1"/>
        </p:nvSpPr>
        <p:spPr>
          <a:xfrm>
            <a:off x="1768774" y="602353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37;p2">
            <a:extLst>
              <a:ext uri="{FF2B5EF4-FFF2-40B4-BE49-F238E27FC236}">
                <a16:creationId xmlns:a16="http://schemas.microsoft.com/office/drawing/2014/main" id="{EC8D4E83-5437-0F04-F993-5F8C5F6951E1}"/>
              </a:ext>
            </a:extLst>
          </p:cNvPr>
          <p:cNvSpPr/>
          <p:nvPr userDrawn="1"/>
        </p:nvSpPr>
        <p:spPr>
          <a:xfrm>
            <a:off x="3538190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38;p2">
            <a:extLst>
              <a:ext uri="{FF2B5EF4-FFF2-40B4-BE49-F238E27FC236}">
                <a16:creationId xmlns:a16="http://schemas.microsoft.com/office/drawing/2014/main" id="{37EB1798-9C6D-53FA-9F90-61146E011FCD}"/>
              </a:ext>
            </a:extLst>
          </p:cNvPr>
          <p:cNvSpPr/>
          <p:nvPr userDrawn="1"/>
        </p:nvSpPr>
        <p:spPr>
          <a:xfrm>
            <a:off x="4127524" y="602348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39;p2">
            <a:extLst>
              <a:ext uri="{FF2B5EF4-FFF2-40B4-BE49-F238E27FC236}">
                <a16:creationId xmlns:a16="http://schemas.microsoft.com/office/drawing/2014/main" id="{721237CB-3D42-1D0B-B98F-82AEDB6B74D6}"/>
              </a:ext>
            </a:extLst>
          </p:cNvPr>
          <p:cNvSpPr/>
          <p:nvPr userDrawn="1"/>
        </p:nvSpPr>
        <p:spPr>
          <a:xfrm>
            <a:off x="4716801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" name="Google Shape;40;p2">
            <a:extLst>
              <a:ext uri="{FF2B5EF4-FFF2-40B4-BE49-F238E27FC236}">
                <a16:creationId xmlns:a16="http://schemas.microsoft.com/office/drawing/2014/main" id="{56A5222E-3CA7-90F1-4B86-CCA12686DBF1}"/>
              </a:ext>
            </a:extLst>
          </p:cNvPr>
          <p:cNvSpPr/>
          <p:nvPr userDrawn="1"/>
        </p:nvSpPr>
        <p:spPr>
          <a:xfrm>
            <a:off x="5306994" y="602348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" name="Google Shape;41;p2">
            <a:extLst>
              <a:ext uri="{FF2B5EF4-FFF2-40B4-BE49-F238E27FC236}">
                <a16:creationId xmlns:a16="http://schemas.microsoft.com/office/drawing/2014/main" id="{B4577FB3-C844-1A82-1314-FCF4EAFFB67D}"/>
              </a:ext>
            </a:extLst>
          </p:cNvPr>
          <p:cNvSpPr/>
          <p:nvPr userDrawn="1"/>
        </p:nvSpPr>
        <p:spPr>
          <a:xfrm>
            <a:off x="6485958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42;p2">
            <a:extLst>
              <a:ext uri="{FF2B5EF4-FFF2-40B4-BE49-F238E27FC236}">
                <a16:creationId xmlns:a16="http://schemas.microsoft.com/office/drawing/2014/main" id="{4705CF73-B28D-791F-8AF8-9D3112CFC4E7}"/>
              </a:ext>
            </a:extLst>
          </p:cNvPr>
          <p:cNvSpPr/>
          <p:nvPr userDrawn="1"/>
        </p:nvSpPr>
        <p:spPr>
          <a:xfrm>
            <a:off x="7075680" y="605973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43;p2">
            <a:extLst>
              <a:ext uri="{FF2B5EF4-FFF2-40B4-BE49-F238E27FC236}">
                <a16:creationId xmlns:a16="http://schemas.microsoft.com/office/drawing/2014/main" id="{4AB2225D-E74B-1047-D9AD-0F6730FE6C57}"/>
              </a:ext>
            </a:extLst>
          </p:cNvPr>
          <p:cNvSpPr/>
          <p:nvPr userDrawn="1"/>
        </p:nvSpPr>
        <p:spPr>
          <a:xfrm>
            <a:off x="4127897" y="1098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44;p2">
            <a:extLst>
              <a:ext uri="{FF2B5EF4-FFF2-40B4-BE49-F238E27FC236}">
                <a16:creationId xmlns:a16="http://schemas.microsoft.com/office/drawing/2014/main" id="{FE5C4FDE-9F84-7013-4329-3E08E5FA1D5D}"/>
              </a:ext>
            </a:extLst>
          </p:cNvPr>
          <p:cNvSpPr/>
          <p:nvPr userDrawn="1"/>
        </p:nvSpPr>
        <p:spPr>
          <a:xfrm>
            <a:off x="7667165" y="0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45;p2">
            <a:extLst>
              <a:ext uri="{FF2B5EF4-FFF2-40B4-BE49-F238E27FC236}">
                <a16:creationId xmlns:a16="http://schemas.microsoft.com/office/drawing/2014/main" id="{D0F50702-B225-8DD7-FD90-10AA50054A46}"/>
              </a:ext>
            </a:extLst>
          </p:cNvPr>
          <p:cNvSpPr/>
          <p:nvPr userDrawn="1"/>
        </p:nvSpPr>
        <p:spPr>
          <a:xfrm>
            <a:off x="7665392" y="602321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46;p2">
            <a:extLst>
              <a:ext uri="{FF2B5EF4-FFF2-40B4-BE49-F238E27FC236}">
                <a16:creationId xmlns:a16="http://schemas.microsoft.com/office/drawing/2014/main" id="{774551D7-1C49-B9B4-AEEB-D65EBF9649CB}"/>
              </a:ext>
            </a:extLst>
          </p:cNvPr>
          <p:cNvSpPr/>
          <p:nvPr userDrawn="1"/>
        </p:nvSpPr>
        <p:spPr>
          <a:xfrm>
            <a:off x="8256894" y="1256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47;p2">
            <a:extLst>
              <a:ext uri="{FF2B5EF4-FFF2-40B4-BE49-F238E27FC236}">
                <a16:creationId xmlns:a16="http://schemas.microsoft.com/office/drawing/2014/main" id="{950DCA13-2E04-C568-390B-ECC0E1375BE8}"/>
              </a:ext>
            </a:extLst>
          </p:cNvPr>
          <p:cNvSpPr/>
          <p:nvPr userDrawn="1"/>
        </p:nvSpPr>
        <p:spPr>
          <a:xfrm>
            <a:off x="8847574" y="60384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48;p2">
            <a:extLst>
              <a:ext uri="{FF2B5EF4-FFF2-40B4-BE49-F238E27FC236}">
                <a16:creationId xmlns:a16="http://schemas.microsoft.com/office/drawing/2014/main" id="{97F06346-710C-0EC0-BA2D-E5307F955D61}"/>
              </a:ext>
            </a:extLst>
          </p:cNvPr>
          <p:cNvSpPr/>
          <p:nvPr userDrawn="1"/>
        </p:nvSpPr>
        <p:spPr>
          <a:xfrm>
            <a:off x="8847625" y="121423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" name="Google Shape;21;p2">
            <a:extLst>
              <a:ext uri="{FF2B5EF4-FFF2-40B4-BE49-F238E27FC236}">
                <a16:creationId xmlns:a16="http://schemas.microsoft.com/office/drawing/2014/main" id="{04C9F06D-439A-4CC7-1865-2FBE902A9A75}"/>
              </a:ext>
            </a:extLst>
          </p:cNvPr>
          <p:cNvSpPr/>
          <p:nvPr userDrawn="1"/>
        </p:nvSpPr>
        <p:spPr>
          <a:xfrm>
            <a:off x="4714707" y="421763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888244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9"/>
          <p:cNvSpPr/>
          <p:nvPr/>
        </p:nvSpPr>
        <p:spPr>
          <a:xfrm>
            <a:off x="587" y="4209314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F6CA15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6" name="Google Shape;226;p9"/>
          <p:cNvSpPr/>
          <p:nvPr/>
        </p:nvSpPr>
        <p:spPr>
          <a:xfrm>
            <a:off x="587" y="4556413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7" name="Google Shape;227;p9"/>
          <p:cNvSpPr/>
          <p:nvPr/>
        </p:nvSpPr>
        <p:spPr>
          <a:xfrm>
            <a:off x="338131" y="4556413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9" name="Google Shape;229;p9"/>
          <p:cNvSpPr/>
          <p:nvPr/>
        </p:nvSpPr>
        <p:spPr>
          <a:xfrm>
            <a:off x="587" y="4910387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0" name="Google Shape;230;p9"/>
          <p:cNvSpPr/>
          <p:nvPr/>
        </p:nvSpPr>
        <p:spPr>
          <a:xfrm>
            <a:off x="335222" y="4901278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1" name="Google Shape;231;p9"/>
          <p:cNvSpPr/>
          <p:nvPr/>
        </p:nvSpPr>
        <p:spPr>
          <a:xfrm>
            <a:off x="657032" y="4900639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0" name="Google Shape;240;p9"/>
          <p:cNvSpPr/>
          <p:nvPr/>
        </p:nvSpPr>
        <p:spPr>
          <a:xfrm>
            <a:off x="8924083" y="4209314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F6CA15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2" name="Google Shape;242;p9"/>
          <p:cNvSpPr/>
          <p:nvPr/>
        </p:nvSpPr>
        <p:spPr>
          <a:xfrm>
            <a:off x="8586942" y="4556413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43" name="Google Shape;243;p9"/>
          <p:cNvSpPr/>
          <p:nvPr/>
        </p:nvSpPr>
        <p:spPr>
          <a:xfrm>
            <a:off x="8924083" y="4556436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F6CA15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4" name="Google Shape;244;p9"/>
          <p:cNvSpPr/>
          <p:nvPr/>
        </p:nvSpPr>
        <p:spPr>
          <a:xfrm>
            <a:off x="8246130" y="4900639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9"/>
          <p:cNvSpPr/>
          <p:nvPr/>
        </p:nvSpPr>
        <p:spPr>
          <a:xfrm>
            <a:off x="8581508" y="4903546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6" name="Google Shape;246;p9"/>
          <p:cNvSpPr/>
          <p:nvPr/>
        </p:nvSpPr>
        <p:spPr>
          <a:xfrm>
            <a:off x="8916143" y="4903558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7" name="Google Shape;247;p9"/>
          <p:cNvSpPr txBox="1">
            <a:spLocks noGrp="1"/>
          </p:cNvSpPr>
          <p:nvPr>
            <p:ph type="title"/>
          </p:nvPr>
        </p:nvSpPr>
        <p:spPr>
          <a:xfrm>
            <a:off x="1813050" y="1872881"/>
            <a:ext cx="5517900" cy="69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5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 dirty="0"/>
          </a:p>
        </p:txBody>
      </p:sp>
      <p:sp>
        <p:nvSpPr>
          <p:cNvPr id="248" name="Google Shape;248;p9"/>
          <p:cNvSpPr txBox="1">
            <a:spLocks noGrp="1"/>
          </p:cNvSpPr>
          <p:nvPr>
            <p:ph type="subTitle" idx="1"/>
          </p:nvPr>
        </p:nvSpPr>
        <p:spPr>
          <a:xfrm>
            <a:off x="2155200" y="2601819"/>
            <a:ext cx="4833600" cy="1113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>
  <p:cSld name="ONE_COLUMN_TEXT_1_1_1_1_1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Google Shape;554;p21"/>
          <p:cNvSpPr/>
          <p:nvPr/>
        </p:nvSpPr>
        <p:spPr>
          <a:xfrm flipH="1">
            <a:off x="6489629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5" name="Google Shape;555;p21"/>
          <p:cNvSpPr/>
          <p:nvPr/>
        </p:nvSpPr>
        <p:spPr>
          <a:xfrm flipH="1">
            <a:off x="2951306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91513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2588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41307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29513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884858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8259323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766956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3" name="Google Shape;563;p21"/>
          <p:cNvSpPr/>
          <p:nvPr/>
        </p:nvSpPr>
        <p:spPr>
          <a:xfrm flipH="1">
            <a:off x="7079601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5310185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5" name="Google Shape;565;p21"/>
          <p:cNvSpPr/>
          <p:nvPr/>
        </p:nvSpPr>
        <p:spPr>
          <a:xfrm flipH="1">
            <a:off x="4720963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4130723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7" name="Google Shape;567;p21"/>
          <p:cNvSpPr/>
          <p:nvPr/>
        </p:nvSpPr>
        <p:spPr>
          <a:xfrm flipH="1">
            <a:off x="3541462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8" name="Google Shape;568;p21"/>
          <p:cNvSpPr/>
          <p:nvPr/>
        </p:nvSpPr>
        <p:spPr>
          <a:xfrm flipH="1">
            <a:off x="236156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9" name="Google Shape;569;p21"/>
          <p:cNvSpPr/>
          <p:nvPr/>
        </p:nvSpPr>
        <p:spPr>
          <a:xfrm flipH="1">
            <a:off x="1771844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0" name="Google Shape;570;p21"/>
          <p:cNvSpPr/>
          <p:nvPr/>
        </p:nvSpPr>
        <p:spPr>
          <a:xfrm flipH="1">
            <a:off x="-5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 preserve="1">
  <p:cSld name="Top Ornaments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21"/>
          <p:cNvSpPr/>
          <p:nvPr/>
        </p:nvSpPr>
        <p:spPr>
          <a:xfrm flipH="1">
            <a:off x="0" y="49860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65497" y="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843887" y="-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565015" y="49775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0" y="0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7713793" y="-85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1131025" y="0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8279321" y="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8278841" y="53989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8843887" y="498578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926585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 preserve="1">
  <p:cSld name="Top and Bottom ornaments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21"/>
          <p:cNvSpPr/>
          <p:nvPr/>
        </p:nvSpPr>
        <p:spPr>
          <a:xfrm flipH="1">
            <a:off x="0" y="49860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65497" y="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843887" y="-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565015" y="49775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0" y="0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7713793" y="-85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1131025" y="0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8279321" y="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8278841" y="53989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8843887" y="498578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2" name="Google Shape;556;p21">
            <a:extLst>
              <a:ext uri="{FF2B5EF4-FFF2-40B4-BE49-F238E27FC236}">
                <a16:creationId xmlns:a16="http://schemas.microsoft.com/office/drawing/2014/main" id="{9B8C0A79-5021-E113-CC9B-869724F3B862}"/>
              </a:ext>
            </a:extLst>
          </p:cNvPr>
          <p:cNvSpPr/>
          <p:nvPr userDrawn="1"/>
        </p:nvSpPr>
        <p:spPr>
          <a:xfrm flipH="1">
            <a:off x="591513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560;p21">
            <a:extLst>
              <a:ext uri="{FF2B5EF4-FFF2-40B4-BE49-F238E27FC236}">
                <a16:creationId xmlns:a16="http://schemas.microsoft.com/office/drawing/2014/main" id="{5179C120-AEEB-B912-07D6-29CB3B25BC8E}"/>
              </a:ext>
            </a:extLst>
          </p:cNvPr>
          <p:cNvSpPr/>
          <p:nvPr userDrawn="1"/>
        </p:nvSpPr>
        <p:spPr>
          <a:xfrm flipH="1">
            <a:off x="884858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561;p21">
            <a:extLst>
              <a:ext uri="{FF2B5EF4-FFF2-40B4-BE49-F238E27FC236}">
                <a16:creationId xmlns:a16="http://schemas.microsoft.com/office/drawing/2014/main" id="{EBBE5F28-03D4-F0CE-8D41-5FC6939B5FC2}"/>
              </a:ext>
            </a:extLst>
          </p:cNvPr>
          <p:cNvSpPr/>
          <p:nvPr userDrawn="1"/>
        </p:nvSpPr>
        <p:spPr>
          <a:xfrm flipH="1">
            <a:off x="8259323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562;p21">
            <a:extLst>
              <a:ext uri="{FF2B5EF4-FFF2-40B4-BE49-F238E27FC236}">
                <a16:creationId xmlns:a16="http://schemas.microsoft.com/office/drawing/2014/main" id="{EAC1E710-B1DB-284A-C287-D8D825AEAFD9}"/>
              </a:ext>
            </a:extLst>
          </p:cNvPr>
          <p:cNvSpPr/>
          <p:nvPr userDrawn="1"/>
        </p:nvSpPr>
        <p:spPr>
          <a:xfrm flipH="1">
            <a:off x="766956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563;p21">
            <a:extLst>
              <a:ext uri="{FF2B5EF4-FFF2-40B4-BE49-F238E27FC236}">
                <a16:creationId xmlns:a16="http://schemas.microsoft.com/office/drawing/2014/main" id="{4FA98739-F2A9-4256-72DF-6DA916844521}"/>
              </a:ext>
            </a:extLst>
          </p:cNvPr>
          <p:cNvSpPr/>
          <p:nvPr userDrawn="1"/>
        </p:nvSpPr>
        <p:spPr>
          <a:xfrm flipH="1">
            <a:off x="7079601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568;p21">
            <a:extLst>
              <a:ext uri="{FF2B5EF4-FFF2-40B4-BE49-F238E27FC236}">
                <a16:creationId xmlns:a16="http://schemas.microsoft.com/office/drawing/2014/main" id="{A24CB6D6-FB1C-FA5F-4C4E-2F896DC5E849}"/>
              </a:ext>
            </a:extLst>
          </p:cNvPr>
          <p:cNvSpPr/>
          <p:nvPr userDrawn="1"/>
        </p:nvSpPr>
        <p:spPr>
          <a:xfrm flipH="1">
            <a:off x="236156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" name="Google Shape;569;p21">
            <a:extLst>
              <a:ext uri="{FF2B5EF4-FFF2-40B4-BE49-F238E27FC236}">
                <a16:creationId xmlns:a16="http://schemas.microsoft.com/office/drawing/2014/main" id="{14992504-6549-658B-4F64-6291EC9D60A3}"/>
              </a:ext>
            </a:extLst>
          </p:cNvPr>
          <p:cNvSpPr/>
          <p:nvPr userDrawn="1"/>
        </p:nvSpPr>
        <p:spPr>
          <a:xfrm flipH="1">
            <a:off x="1771844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570;p21">
            <a:extLst>
              <a:ext uri="{FF2B5EF4-FFF2-40B4-BE49-F238E27FC236}">
                <a16:creationId xmlns:a16="http://schemas.microsoft.com/office/drawing/2014/main" id="{BF6DE7E2-8DCB-DB52-41BB-8F02C936503D}"/>
              </a:ext>
            </a:extLst>
          </p:cNvPr>
          <p:cNvSpPr/>
          <p:nvPr userDrawn="1"/>
        </p:nvSpPr>
        <p:spPr>
          <a:xfrm flipH="1">
            <a:off x="-5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391964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gradFill flip="none" rotWithShape="1">
          <a:gsLst>
            <a:gs pos="0">
              <a:schemeClr val="accent4">
                <a:lumMod val="89000"/>
              </a:schemeClr>
            </a:gs>
            <a:gs pos="23000">
              <a:schemeClr val="accent4">
                <a:lumMod val="89000"/>
              </a:schemeClr>
            </a:gs>
            <a:gs pos="69000">
              <a:schemeClr val="accent4">
                <a:lumMod val="75000"/>
              </a:schemeClr>
            </a:gs>
            <a:gs pos="97000">
              <a:schemeClr val="accent4">
                <a:lumMod val="7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 dirty="0"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61881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30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lvl="1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lvl="2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lvl="3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lvl="4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lvl="5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lvl="6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lvl="7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lvl="8" indent="-3302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70" r:id="rId2"/>
    <p:sldLayoutId id="2147483655" r:id="rId3"/>
    <p:sldLayoutId id="2147483658" r:id="rId4"/>
    <p:sldLayoutId id="2147483667" r:id="rId5"/>
    <p:sldLayoutId id="2147483668" r:id="rId6"/>
    <p:sldLayoutId id="2147483669" r:id="rId7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.png"/><Relationship Id="rId5" Type="http://schemas.openxmlformats.org/officeDocument/2006/relationships/image" Target="../media/image10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9.png"/><Relationship Id="rId5" Type="http://schemas.openxmlformats.org/officeDocument/2006/relationships/image" Target="../media/image7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6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2.png"/><Relationship Id="rId9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e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9.png"/><Relationship Id="rId7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1.png"/><Relationship Id="rId11" Type="http://schemas.openxmlformats.org/officeDocument/2006/relationships/image" Target="../media/image24.png"/><Relationship Id="rId5" Type="http://schemas.openxmlformats.org/officeDocument/2006/relationships/image" Target="../media/image7.png"/><Relationship Id="rId10" Type="http://schemas.openxmlformats.org/officeDocument/2006/relationships/image" Target="../media/image23.png"/><Relationship Id="rId4" Type="http://schemas.openxmlformats.org/officeDocument/2006/relationships/image" Target="../media/image2.png"/><Relationship Id="rId9" Type="http://schemas.openxmlformats.org/officeDocument/2006/relationships/image" Target="../media/image22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emf"/><Relationship Id="rId2" Type="http://schemas.openxmlformats.org/officeDocument/2006/relationships/oleObject" Target="../embeddings/oleObject2.bin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emf"/><Relationship Id="rId2" Type="http://schemas.openxmlformats.org/officeDocument/2006/relationships/oleObject" Target="../embeddings/oleObject3.bin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emf"/><Relationship Id="rId2" Type="http://schemas.openxmlformats.org/officeDocument/2006/relationships/oleObject" Target="../embeddings/oleObject4.bin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.png"/><Relationship Id="rId4" Type="http://schemas.openxmlformats.org/officeDocument/2006/relationships/image" Target="../media/image2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.png"/><Relationship Id="rId5" Type="http://schemas.openxmlformats.org/officeDocument/2006/relationships/image" Target="../media/image11.png"/><Relationship Id="rId4" Type="http://schemas.openxmlformats.org/officeDocument/2006/relationships/image" Target="../media/image7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hyperlink" Target="https://store.steampowered.com/app/1567530/Vlad_Circus_Curse_of_Asmodeus/" TargetMode="External"/><Relationship Id="rId3" Type="http://schemas.openxmlformats.org/officeDocument/2006/relationships/image" Target="../media/image29.jpeg"/><Relationship Id="rId7" Type="http://schemas.openxmlformats.org/officeDocument/2006/relationships/image" Target="../media/image32.png"/><Relationship Id="rId2" Type="http://schemas.openxmlformats.org/officeDocument/2006/relationships/hyperlink" Target="https://store.steampowered.com/app/1272580/Nine_Witches_Family_Disruption/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1.jpeg"/><Relationship Id="rId5" Type="http://schemas.openxmlformats.org/officeDocument/2006/relationships/hyperlink" Target="https://store.steampowered.com/app/1702430/Vlad_Circus_Descend_Into_Madness/" TargetMode="External"/><Relationship Id="rId10" Type="http://schemas.openxmlformats.org/officeDocument/2006/relationships/image" Target="../media/image34.png"/><Relationship Id="rId4" Type="http://schemas.openxmlformats.org/officeDocument/2006/relationships/image" Target="../media/image30.jpeg"/><Relationship Id="rId9" Type="http://schemas.openxmlformats.org/officeDocument/2006/relationships/image" Target="../media/image33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jpeg"/><Relationship Id="rId3" Type="http://schemas.openxmlformats.org/officeDocument/2006/relationships/hyperlink" Target="https://www.indiesruption.com/" TargetMode="External"/><Relationship Id="rId7" Type="http://schemas.openxmlformats.org/officeDocument/2006/relationships/hyperlink" Target="https://www.linkedin.com/in/pablo-mamone-262a5165/" TargetMode="External"/><Relationship Id="rId12" Type="http://schemas.openxmlformats.org/officeDocument/2006/relationships/image" Target="../media/image3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6.jpeg"/><Relationship Id="rId11" Type="http://schemas.microsoft.com/office/2007/relationships/hdphoto" Target="../media/hdphoto1.wdp"/><Relationship Id="rId5" Type="http://schemas.openxmlformats.org/officeDocument/2006/relationships/hyperlink" Target="https://www.linkedin.com/in/diegocanepa/" TargetMode="External"/><Relationship Id="rId10" Type="http://schemas.openxmlformats.org/officeDocument/2006/relationships/image" Target="../media/image38.png"/><Relationship Id="rId4" Type="http://schemas.openxmlformats.org/officeDocument/2006/relationships/image" Target="../media/image35.png"/><Relationship Id="rId9" Type="http://schemas.openxmlformats.org/officeDocument/2006/relationships/hyperlink" Target="https://www.linkedin.com/in/durgan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26" descr="A video game with a cartoon character">
            <a:extLst>
              <a:ext uri="{FF2B5EF4-FFF2-40B4-BE49-F238E27FC236}">
                <a16:creationId xmlns:a16="http://schemas.microsoft.com/office/drawing/2014/main" id="{EBDFCDBD-D34F-0E28-C3D8-62AEB2079B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258541" y="679076"/>
            <a:ext cx="10402541" cy="4464424"/>
          </a:xfrm>
          <a:prstGeom prst="rect">
            <a:avLst/>
          </a:prstGeom>
        </p:spPr>
      </p:pic>
      <p:sp>
        <p:nvSpPr>
          <p:cNvPr id="4" name="Google Shape;963;p33">
            <a:extLst>
              <a:ext uri="{FF2B5EF4-FFF2-40B4-BE49-F238E27FC236}">
                <a16:creationId xmlns:a16="http://schemas.microsoft.com/office/drawing/2014/main" id="{87BD1BEB-687E-94A9-55BA-36F2920CDF3D}"/>
              </a:ext>
            </a:extLst>
          </p:cNvPr>
          <p:cNvSpPr txBox="1">
            <a:spLocks/>
          </p:cNvSpPr>
          <p:nvPr/>
        </p:nvSpPr>
        <p:spPr>
          <a:xfrm rot="21281081">
            <a:off x="416655" y="1213486"/>
            <a:ext cx="4261693" cy="510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r>
              <a:rPr lang="en-US" sz="11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</a:rPr>
              <a:t>When hell runs a horror ride, no one is safe.</a:t>
            </a:r>
          </a:p>
        </p:txBody>
      </p:sp>
      <p:pic>
        <p:nvPicPr>
          <p:cNvPr id="17" name="Picture 16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E4BEE051-0101-0660-BE69-351B97FD12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162" y="194342"/>
            <a:ext cx="3380587" cy="1145037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379437D8-1552-7063-32DB-3F8A67AC3A60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6272494" y="3848240"/>
            <a:ext cx="428511" cy="128553"/>
          </a:xfrm>
          <a:prstGeom prst="rect">
            <a:avLst/>
          </a:prstGeom>
        </p:spPr>
      </p:pic>
      <p:pic>
        <p:nvPicPr>
          <p:cNvPr id="21" name="Picture 20" descr="A pixelated cartoon of a dog&#10;&#10;AI-generated content may be incorrect.">
            <a:extLst>
              <a:ext uri="{FF2B5EF4-FFF2-40B4-BE49-F238E27FC236}">
                <a16:creationId xmlns:a16="http://schemas.microsoft.com/office/drawing/2014/main" id="{1899F904-BFCC-AD32-CD22-1A26D908455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H="1">
            <a:off x="6163721" y="3200400"/>
            <a:ext cx="517112" cy="723900"/>
          </a:xfrm>
          <a:prstGeom prst="rect">
            <a:avLst/>
          </a:prstGeom>
        </p:spPr>
      </p:pic>
      <p:pic>
        <p:nvPicPr>
          <p:cNvPr id="8" name="Picture 7" descr="A yellow text on a black background&#10;&#10;AI-generated content may be incorrect.">
            <a:extLst>
              <a:ext uri="{FF2B5EF4-FFF2-40B4-BE49-F238E27FC236}">
                <a16:creationId xmlns:a16="http://schemas.microsoft.com/office/drawing/2014/main" id="{8055D018-8073-CBDF-5A7F-2A66C04AFF2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08476" y="4463907"/>
            <a:ext cx="1516306" cy="416984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12538528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ixel art of a building">
            <a:extLst>
              <a:ext uri="{FF2B5EF4-FFF2-40B4-BE49-F238E27FC236}">
                <a16:creationId xmlns:a16="http://schemas.microsoft.com/office/drawing/2014/main" id="{970F42B8-8149-AE99-5DCE-10D39E420DD1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999" name="Google Shape;999;p37"/>
          <p:cNvSpPr txBox="1">
            <a:spLocks noGrp="1"/>
          </p:cNvSpPr>
          <p:nvPr>
            <p:ph type="title" idx="4294967295"/>
          </p:nvPr>
        </p:nvSpPr>
        <p:spPr>
          <a:xfrm>
            <a:off x="1409076" y="301170"/>
            <a:ext cx="6415790" cy="48620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Overview</a:t>
            </a:r>
            <a:endParaRPr sz="1800" dirty="0">
              <a:solidFill>
                <a:srgbClr val="AB5130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</a:endParaRPr>
          </a:p>
        </p:txBody>
      </p:sp>
      <p:sp>
        <p:nvSpPr>
          <p:cNvPr id="1000" name="Google Shape;1000;p37"/>
          <p:cNvSpPr txBox="1">
            <a:spLocks noGrp="1"/>
          </p:cNvSpPr>
          <p:nvPr>
            <p:ph type="subTitle" idx="4294967295"/>
          </p:nvPr>
        </p:nvSpPr>
        <p:spPr>
          <a:xfrm>
            <a:off x="1719136" y="857719"/>
            <a:ext cx="5816625" cy="111283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lnSpc>
                <a:spcPts val="1400"/>
              </a:lnSpc>
              <a:buClr>
                <a:srgbClr val="8F4D57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2D pixel-art roguelite adventure where bizarre comedy collides with creepy monsters and absurd challenges.</a:t>
            </a:r>
          </a:p>
          <a:p>
            <a:pPr marL="0" lvl="0" indent="0">
              <a:lnSpc>
                <a:spcPts val="1400"/>
              </a:lnSpc>
              <a:buClr>
                <a:srgbClr val="8F4D57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lvl="0" indent="0">
              <a:lnSpc>
                <a:spcPts val="1400"/>
              </a:lnSpc>
              <a:buClr>
                <a:srgbClr val="8F4D57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Two lazy bloggers trapped in a demon-possessed horror ride where every cart is their only chance to survive. </a:t>
            </a:r>
          </a:p>
          <a:p>
            <a:pPr marL="0" lvl="0" indent="0">
              <a:lnSpc>
                <a:spcPts val="1400"/>
              </a:lnSpc>
              <a:buClr>
                <a:srgbClr val="8F4D57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lvl="0" indent="0">
              <a:lnSpc>
                <a:spcPts val="1400"/>
              </a:lnSpc>
              <a:buClr>
                <a:srgbClr val="8F4D57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Explore a procedural cursed attraction packed with secrets and absurd encounters—your ultimate goal: rescue lost celebrities.</a:t>
            </a:r>
          </a:p>
        </p:txBody>
      </p:sp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166806AD-98D4-D7EB-6E60-4E2D5324FA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26D9444F-5F03-30D7-0B0E-CC3874350B5D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3808836" y="4515822"/>
            <a:ext cx="284676" cy="142338"/>
          </a:xfrm>
          <a:prstGeom prst="rect">
            <a:avLst/>
          </a:prstGeom>
        </p:spPr>
      </p:pic>
      <p:pic>
        <p:nvPicPr>
          <p:cNvPr id="4" name="Picture 3" descr="A pixelated image of a person wearing sunglasses&#10;&#10;AI-generated content may be incorrect.">
            <a:extLst>
              <a:ext uri="{FF2B5EF4-FFF2-40B4-BE49-F238E27FC236}">
                <a16:creationId xmlns:a16="http://schemas.microsoft.com/office/drawing/2014/main" id="{967DB02A-BA92-F4D6-3635-FA4B3AB08F4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91575" y="3893638"/>
            <a:ext cx="459695" cy="68954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B11074D-EE65-7ACB-8A00-62891FE5CD36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4627449" y="4515821"/>
            <a:ext cx="284676" cy="142338"/>
          </a:xfrm>
          <a:prstGeom prst="rect">
            <a:avLst/>
          </a:prstGeom>
        </p:spPr>
      </p:pic>
      <p:pic>
        <p:nvPicPr>
          <p:cNvPr id="6" name="Picture 5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37C30E45-3490-0BDF-BF95-AE40ED80698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27449" y="3836488"/>
            <a:ext cx="459695" cy="73551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59DDBFF2-B1FB-4113-D291-30E81F48EF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video game with a cartoon character&#10;&#10;AI-generated content may be incorrect.">
            <a:extLst>
              <a:ext uri="{FF2B5EF4-FFF2-40B4-BE49-F238E27FC236}">
                <a16:creationId xmlns:a16="http://schemas.microsoft.com/office/drawing/2014/main" id="{29986DC9-BD1C-9EA3-D511-58B7AA1067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219200"/>
            <a:ext cx="9144000" cy="39243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6A32EE8A-0DFD-7F7F-DA35-B894B7CD5258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6363301" y="921972"/>
            <a:ext cx="2574388" cy="111283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haunted ride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cursed horror ride with its own twisted logic, instead of generic dungeons or caves.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7" name="Google Shape;1000;p37">
            <a:extLst>
              <a:ext uri="{FF2B5EF4-FFF2-40B4-BE49-F238E27FC236}">
                <a16:creationId xmlns:a16="http://schemas.microsoft.com/office/drawing/2014/main" id="{CC2BAE9D-D8CF-649C-93AB-CC6274E037CE}"/>
              </a:ext>
            </a:extLst>
          </p:cNvPr>
          <p:cNvSpPr txBox="1">
            <a:spLocks/>
          </p:cNvSpPr>
          <p:nvPr/>
        </p:nvSpPr>
        <p:spPr>
          <a:xfrm>
            <a:off x="3175566" y="921972"/>
            <a:ext cx="2872613" cy="1077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Bizarre comedy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mix of scares, acid humor and absurd laughs rarely seen in the genre.</a:t>
            </a:r>
          </a:p>
        </p:txBody>
      </p:sp>
      <p:sp>
        <p:nvSpPr>
          <p:cNvPr id="8" name="Google Shape;1000;p37">
            <a:extLst>
              <a:ext uri="{FF2B5EF4-FFF2-40B4-BE49-F238E27FC236}">
                <a16:creationId xmlns:a16="http://schemas.microsoft.com/office/drawing/2014/main" id="{A02E9861-D81C-BEB4-9FF8-6059B0DF160B}"/>
              </a:ext>
            </a:extLst>
          </p:cNvPr>
          <p:cNvSpPr txBox="1">
            <a:spLocks/>
          </p:cNvSpPr>
          <p:nvPr/>
        </p:nvSpPr>
        <p:spPr>
          <a:xfrm>
            <a:off x="338456" y="921972"/>
            <a:ext cx="2521989" cy="1177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Accessible chaos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Active combat that’s simple to pick up, with depth coming from creative item use rather than hardcore reflexes.</a:t>
            </a:r>
          </a:p>
        </p:txBody>
      </p:sp>
      <p:sp>
        <p:nvSpPr>
          <p:cNvPr id="12" name="Google Shape;999;p37">
            <a:extLst>
              <a:ext uri="{FF2B5EF4-FFF2-40B4-BE49-F238E27FC236}">
                <a16:creationId xmlns:a16="http://schemas.microsoft.com/office/drawing/2014/main" id="{028DD578-F28F-5A40-3503-5915690FE3FF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Why It’s Unique</a:t>
            </a:r>
          </a:p>
        </p:txBody>
      </p:sp>
      <p:pic>
        <p:nvPicPr>
          <p:cNvPr id="13" name="Picture 1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AD3F7298-6C89-EE89-3E9A-0B25DA9456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2EF5299E-1B7C-AA97-2B00-73C53140F88E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20000"/>
          </a:blip>
          <a:stretch>
            <a:fillRect/>
          </a:stretch>
        </p:blipFill>
        <p:spPr>
          <a:xfrm>
            <a:off x="6301667" y="3841982"/>
            <a:ext cx="493908" cy="164636"/>
          </a:xfrm>
          <a:prstGeom prst="rect">
            <a:avLst/>
          </a:prstGeom>
        </p:spPr>
      </p:pic>
      <p:pic>
        <p:nvPicPr>
          <p:cNvPr id="17" name="Picture 16" descr="A pixelated cartoon of a dog&#10;&#10;AI-generated content may be incorrect.">
            <a:extLst>
              <a:ext uri="{FF2B5EF4-FFF2-40B4-BE49-F238E27FC236}">
                <a16:creationId xmlns:a16="http://schemas.microsoft.com/office/drawing/2014/main" id="{78936B8D-6122-F985-265D-5B2E6CEC95C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H="1">
            <a:off x="6187230" y="3132113"/>
            <a:ext cx="539354" cy="7921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51732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A87C6DD4-3F48-186B-FC05-1008CDCC1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xel art of a building">
            <a:extLst>
              <a:ext uri="{FF2B5EF4-FFF2-40B4-BE49-F238E27FC236}">
                <a16:creationId xmlns:a16="http://schemas.microsoft.com/office/drawing/2014/main" id="{7E95556F-87C4-1552-F8EB-11CC3133BC69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65F14BB6-487B-792E-D17E-E33AD6852B4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957637" y="868673"/>
            <a:ext cx="3359530" cy="233146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ct val="150000"/>
              </a:lnSpc>
              <a:buClr>
                <a:srgbClr val="AB5130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Core audience</a:t>
            </a: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Roguelites fans (Spelunky, Binding of Isaac).</a:t>
            </a: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Players who enjoy dark humor and absurd comedy (South Park, Adult Swim).</a:t>
            </a: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Gamers who like quirky pixel-art indie hits.</a:t>
            </a:r>
          </a:p>
        </p:txBody>
      </p:sp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5FA6FDA3-A8F8-EC55-8BAC-B5FAC550795A}"/>
              </a:ext>
            </a:extLst>
          </p:cNvPr>
          <p:cNvSpPr txBox="1">
            <a:spLocks/>
          </p:cNvSpPr>
          <p:nvPr/>
        </p:nvSpPr>
        <p:spPr>
          <a:xfrm>
            <a:off x="4675786" y="868673"/>
            <a:ext cx="4109594" cy="34547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ct val="150000"/>
              </a:lnSpc>
              <a:buClr>
                <a:srgbClr val="AB5130"/>
              </a:buClr>
              <a:buSzPts val="1100"/>
              <a:buFont typeface="Maven Pro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Market fit</a:t>
            </a: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Roguelites are one of the strongest indie genres on PC/console.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Our mix of bizarre humor + accessible combat positions the game as an entry point for both hardcore fans and casual players.</a:t>
            </a: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Distinctive identity: procedural yet narrative-driven, grotesque yet funny.</a:t>
            </a:r>
          </a:p>
        </p:txBody>
      </p:sp>
      <p:sp>
        <p:nvSpPr>
          <p:cNvPr id="3" name="Google Shape;999;p37">
            <a:extLst>
              <a:ext uri="{FF2B5EF4-FFF2-40B4-BE49-F238E27FC236}">
                <a16:creationId xmlns:a16="http://schemas.microsoft.com/office/drawing/2014/main" id="{EAA26DC9-34AA-AC7A-D05F-E1E80A36CD81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Target &amp; Market</a:t>
            </a:r>
          </a:p>
        </p:txBody>
      </p:sp>
      <p:pic>
        <p:nvPicPr>
          <p:cNvPr id="7" name="Picture 6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58059D1C-4F8A-7E8E-18F5-B208D23AFE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29129890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B2F170F1-E5B9-6C28-129A-6FF76EE3A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xel art of a building">
            <a:extLst>
              <a:ext uri="{FF2B5EF4-FFF2-40B4-BE49-F238E27FC236}">
                <a16:creationId xmlns:a16="http://schemas.microsoft.com/office/drawing/2014/main" id="{3DC4AB54-366E-E0A2-1159-FF5B92ACFE5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91AF0787-BB08-0706-A505-8310F24C57A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38559" y="887265"/>
            <a:ext cx="3660649" cy="111283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attraction</a:t>
            </a:r>
            <a:b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Snuggleville’s amusement park was once home to Remizione, a grotesque horror ride built by an obsessive designer.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incident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During its grand opening, twelve celebrities—and the designer himself—entered... and never came back.</a:t>
            </a:r>
          </a:p>
        </p:txBody>
      </p:sp>
      <p:sp>
        <p:nvSpPr>
          <p:cNvPr id="2" name="Google Shape;999;p37">
            <a:extLst>
              <a:ext uri="{FF2B5EF4-FFF2-40B4-BE49-F238E27FC236}">
                <a16:creationId xmlns:a16="http://schemas.microsoft.com/office/drawing/2014/main" id="{BD0D7D64-8BF2-0887-A6B2-640C4F8F13FA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Story &amp; Setting</a:t>
            </a:r>
          </a:p>
        </p:txBody>
      </p:sp>
      <p:sp>
        <p:nvSpPr>
          <p:cNvPr id="3" name="Google Shape;1000;p37">
            <a:extLst>
              <a:ext uri="{FF2B5EF4-FFF2-40B4-BE49-F238E27FC236}">
                <a16:creationId xmlns:a16="http://schemas.microsoft.com/office/drawing/2014/main" id="{52D5C695-4990-1D0D-E6CB-6796CBE63E16}"/>
              </a:ext>
            </a:extLst>
          </p:cNvPr>
          <p:cNvSpPr txBox="1">
            <a:spLocks/>
          </p:cNvSpPr>
          <p:nvPr/>
        </p:nvSpPr>
        <p:spPr>
          <a:xfrm>
            <a:off x="4744794" y="887265"/>
            <a:ext cx="3908686" cy="1112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unexpected heroes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Years later, twins Edmund and Berta Idle sneak inside to investigate.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evil curse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What they don’t know is that the ride is now ruled by Mandinga—a frustrated demon who, as a child, dreamed of having his very own horror ride, and isn’t about to give it up.</a:t>
            </a:r>
          </a:p>
        </p:txBody>
      </p:sp>
      <p:pic>
        <p:nvPicPr>
          <p:cNvPr id="6" name="Picture 5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F57E524A-5833-BCC7-087B-B4832FE700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6DFC314-2C6B-C30B-5D27-D980F4ABF0C6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2085928" y="4405480"/>
            <a:ext cx="321103" cy="160552"/>
          </a:xfrm>
          <a:prstGeom prst="rect">
            <a:avLst/>
          </a:prstGeom>
        </p:spPr>
      </p:pic>
      <p:pic>
        <p:nvPicPr>
          <p:cNvPr id="11" name="Picture 10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190BA5B4-62E2-6E38-89ED-FF2C6BD5D7B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01392" y="3704988"/>
            <a:ext cx="478190" cy="76510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3C10FDB-09DC-516C-B3B4-D44D5667B930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6389386" y="4477426"/>
            <a:ext cx="321103" cy="160552"/>
          </a:xfrm>
          <a:prstGeom prst="rect">
            <a:avLst/>
          </a:prstGeom>
        </p:spPr>
      </p:pic>
      <p:pic>
        <p:nvPicPr>
          <p:cNvPr id="10" name="Picture 9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12DF15CB-D3B2-C074-8F60-A1CFC9342AB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6186183" y="3848746"/>
            <a:ext cx="478190" cy="717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94632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3997FBA5-3F09-F15F-A2AB-8C6E1AE389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xel art of a building">
            <a:extLst>
              <a:ext uri="{FF2B5EF4-FFF2-40B4-BE49-F238E27FC236}">
                <a16:creationId xmlns:a16="http://schemas.microsoft.com/office/drawing/2014/main" id="{72E2772C-5B45-4704-2A2B-88ACF8FAB0B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ED57C0A1-77C4-2912-9899-7B0328EF1547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628662" y="975918"/>
            <a:ext cx="3597172" cy="111283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Stages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Each stage has a time limit. Defeat Mandinga’s corrupted dolls to absorb their electricity and ride to the next level.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Runs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Each run lasts 10–20 minutes (10 stages of 2 minutes each). Permadeath resets the run, but variety in items and events keeps every attempt fresh.</a:t>
            </a:r>
          </a:p>
        </p:txBody>
      </p:sp>
      <p:sp>
        <p:nvSpPr>
          <p:cNvPr id="3" name="Google Shape;1000;p37">
            <a:extLst>
              <a:ext uri="{FF2B5EF4-FFF2-40B4-BE49-F238E27FC236}">
                <a16:creationId xmlns:a16="http://schemas.microsoft.com/office/drawing/2014/main" id="{7969AA04-ADE9-EC89-086F-6C31251A654E}"/>
              </a:ext>
            </a:extLst>
          </p:cNvPr>
          <p:cNvSpPr txBox="1">
            <a:spLocks/>
          </p:cNvSpPr>
          <p:nvPr/>
        </p:nvSpPr>
        <p:spPr>
          <a:xfrm>
            <a:off x="4708411" y="975919"/>
            <a:ext cx="3806927" cy="11128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Main characters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Each twin has a health bar and unique perks &amp; flaws. They can unlock exclusive areas later shared between both.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Active combat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Simple to pick up, with depth coming from creative item use rather than hardcore reflexes.</a:t>
            </a:r>
          </a:p>
        </p:txBody>
      </p:sp>
      <p:pic>
        <p:nvPicPr>
          <p:cNvPr id="6" name="Picture 5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944E9473-3793-705C-B00B-26195B76C7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7" name="Google Shape;999;p37">
            <a:extLst>
              <a:ext uri="{FF2B5EF4-FFF2-40B4-BE49-F238E27FC236}">
                <a16:creationId xmlns:a16="http://schemas.microsoft.com/office/drawing/2014/main" id="{ACE079DE-E0F2-5FCC-56FF-6339543274B6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Core Mechanics</a:t>
            </a:r>
          </a:p>
        </p:txBody>
      </p:sp>
    </p:spTree>
    <p:extLst>
      <p:ext uri="{BB962C8B-B14F-4D97-AF65-F5344CB8AC3E}">
        <p14:creationId xmlns:p14="http://schemas.microsoft.com/office/powerpoint/2010/main" val="10512872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BE38ADF0-45F2-45B5-B25D-15245679A5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C28023F-E06D-45DE-424E-ACE69525480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126BEB04-602F-33C9-A64A-EB3502EAEE4C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695897" y="975918"/>
            <a:ext cx="3806926" cy="111283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Procedurally generated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Unpredictable layouts, traps, and encounters every run.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1000" dirty="0">
              <a:solidFill>
                <a:srgbClr val="BD6A62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Celebrities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Rescue twisted parodies of real-world celebrities, with bizarre rewards (acid humor guaranteed).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Narrative meta-goals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Layers of mystery and long-term objectives beyond survival.</a:t>
            </a:r>
          </a:p>
        </p:txBody>
      </p:sp>
      <p:sp>
        <p:nvSpPr>
          <p:cNvPr id="3" name="Google Shape;1000;p37">
            <a:extLst>
              <a:ext uri="{FF2B5EF4-FFF2-40B4-BE49-F238E27FC236}">
                <a16:creationId xmlns:a16="http://schemas.microsoft.com/office/drawing/2014/main" id="{5F66ECAC-3D79-E01B-9C08-632C4B880237}"/>
              </a:ext>
            </a:extLst>
          </p:cNvPr>
          <p:cNvSpPr txBox="1">
            <a:spLocks/>
          </p:cNvSpPr>
          <p:nvPr/>
        </p:nvSpPr>
        <p:spPr>
          <a:xfrm>
            <a:off x="4977353" y="975918"/>
            <a:ext cx="3806927" cy="11128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Atmospheric lighting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Darkness itself becomes an obstacle—sometimes only your items can pierce it.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Perks &amp; Flaws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Temporary or permanent states that twist your run (e.g., overeat fast food and end up gassy mid-fight).</a:t>
            </a:r>
          </a:p>
        </p:txBody>
      </p:sp>
      <p:pic>
        <p:nvPicPr>
          <p:cNvPr id="6" name="Picture 5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D0DE9CA4-9437-B209-8542-AA17F38722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7" name="Google Shape;999;p37">
            <a:extLst>
              <a:ext uri="{FF2B5EF4-FFF2-40B4-BE49-F238E27FC236}">
                <a16:creationId xmlns:a16="http://schemas.microsoft.com/office/drawing/2014/main" id="{279EB114-CF29-4014-4633-B2B702CE2E92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Progression</a:t>
            </a:r>
          </a:p>
        </p:txBody>
      </p:sp>
    </p:spTree>
    <p:extLst>
      <p:ext uri="{BB962C8B-B14F-4D97-AF65-F5344CB8AC3E}">
        <p14:creationId xmlns:p14="http://schemas.microsoft.com/office/powerpoint/2010/main" val="17349675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57A6B33A-CC60-92B6-4C7E-A5F0A2160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pixel art of a building">
            <a:extLst>
              <a:ext uri="{FF2B5EF4-FFF2-40B4-BE49-F238E27FC236}">
                <a16:creationId xmlns:a16="http://schemas.microsoft.com/office/drawing/2014/main" id="{604A176A-9276-30C7-5E31-6668A3F2D2C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86E0AEF5-FA1E-F10A-35FA-83B2437E557D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5219393" y="2086623"/>
            <a:ext cx="3325000" cy="88909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Perks &amp; Flaws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Temporary and fixed states that twist your run and force players to adapt on the fly.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b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For example, overeat fast food and you might end up gassy, pausing mid-fight to clutch your stomach.</a:t>
            </a:r>
            <a:b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 </a:t>
            </a:r>
            <a:endParaRPr lang="en-US" sz="900" dirty="0">
              <a:solidFill>
                <a:schemeClr val="bg1">
                  <a:lumMod val="50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3FDDB78A-A233-1EE0-EDBB-C6C0157D33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5" name="Google Shape;999;p37">
            <a:extLst>
              <a:ext uri="{FF2B5EF4-FFF2-40B4-BE49-F238E27FC236}">
                <a16:creationId xmlns:a16="http://schemas.microsoft.com/office/drawing/2014/main" id="{3602FE78-E33B-64D6-6E2C-22A7EE575F25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Inventory</a:t>
            </a:r>
          </a:p>
        </p:txBody>
      </p:sp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54053F06-56A8-B4BD-D88F-104ED26D9250}"/>
              </a:ext>
            </a:extLst>
          </p:cNvPr>
          <p:cNvSpPr txBox="1">
            <a:spLocks/>
          </p:cNvSpPr>
          <p:nvPr/>
        </p:nvSpPr>
        <p:spPr>
          <a:xfrm>
            <a:off x="1104175" y="1014663"/>
            <a:ext cx="3101705" cy="11128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Junk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Odd gadgets you can equip to whack, poke, or do something questionably useful.</a:t>
            </a:r>
          </a:p>
        </p:txBody>
      </p:sp>
      <p:sp>
        <p:nvSpPr>
          <p:cNvPr id="8" name="Google Shape;1000;p37">
            <a:extLst>
              <a:ext uri="{FF2B5EF4-FFF2-40B4-BE49-F238E27FC236}">
                <a16:creationId xmlns:a16="http://schemas.microsoft.com/office/drawing/2014/main" id="{15C7A68C-BF17-6718-529D-370473EC7C9F}"/>
              </a:ext>
            </a:extLst>
          </p:cNvPr>
          <p:cNvSpPr txBox="1">
            <a:spLocks/>
          </p:cNvSpPr>
          <p:nvPr/>
        </p:nvSpPr>
        <p:spPr>
          <a:xfrm>
            <a:off x="1108159" y="2135623"/>
            <a:ext cx="3241564" cy="8890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Consumables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Eat or drink anything: from healing snacks to chili-powered speed boosts.</a:t>
            </a:r>
          </a:p>
        </p:txBody>
      </p:sp>
      <p:sp>
        <p:nvSpPr>
          <p:cNvPr id="9" name="Google Shape;1000;p37">
            <a:extLst>
              <a:ext uri="{FF2B5EF4-FFF2-40B4-BE49-F238E27FC236}">
                <a16:creationId xmlns:a16="http://schemas.microsoft.com/office/drawing/2014/main" id="{D689E440-227F-4A14-2F3D-DBC8F011B475}"/>
              </a:ext>
            </a:extLst>
          </p:cNvPr>
          <p:cNvSpPr txBox="1">
            <a:spLocks/>
          </p:cNvSpPr>
          <p:nvPr/>
        </p:nvSpPr>
        <p:spPr>
          <a:xfrm>
            <a:off x="1104175" y="3242298"/>
            <a:ext cx="2995635" cy="980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Key items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Scene-specific tools for interacting with the environment.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10" name="Google Shape;1000;p37">
            <a:extLst>
              <a:ext uri="{FF2B5EF4-FFF2-40B4-BE49-F238E27FC236}">
                <a16:creationId xmlns:a16="http://schemas.microsoft.com/office/drawing/2014/main" id="{3324AE9C-7624-EC08-0A43-9411780CAFA6}"/>
              </a:ext>
            </a:extLst>
          </p:cNvPr>
          <p:cNvSpPr txBox="1">
            <a:spLocks/>
          </p:cNvSpPr>
          <p:nvPr/>
        </p:nvSpPr>
        <p:spPr>
          <a:xfrm>
            <a:off x="5170722" y="1022786"/>
            <a:ext cx="3430916" cy="11128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Trinkets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Passive oddities with quirky powers. One at a time, so choose wisely.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3685A47C-D77C-3C70-F474-8AE699232C9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24629" y="1096996"/>
            <a:ext cx="419100" cy="419100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87D7128C-7ADC-493E-E204-E0ABE26C569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8542" y="3242298"/>
            <a:ext cx="342648" cy="342648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C3D3CFD2-DA52-BEBF-81E3-752C2296D7A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5498" y="2092603"/>
            <a:ext cx="419100" cy="419100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D4010551-B5BB-68E8-D14B-EA505059695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1460" y="1012278"/>
            <a:ext cx="349730" cy="349730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ABA286E8-7F1E-64DD-8808-1CFF6270D9D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24629" y="2022235"/>
            <a:ext cx="419100" cy="419100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39805750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>
            <a:extLst>
              <a:ext uri="{FF2B5EF4-FFF2-40B4-BE49-F238E27FC236}">
                <a16:creationId xmlns:a16="http://schemas.microsoft.com/office/drawing/2014/main" id="{B8F103BA-FE0A-AA41-EBEC-DC6531E5551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8484214"/>
              </p:ext>
            </p:extLst>
          </p:nvPr>
        </p:nvGraphicFramePr>
        <p:xfrm>
          <a:off x="0" y="0"/>
          <a:ext cx="9144000" cy="5143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2" imgW="23457131" imgH="13194723" progId="">
                  <p:embed/>
                </p:oleObj>
              </mc:Choice>
              <mc:Fallback>
                <p:oleObj r:id="rId2" imgW="23457131" imgH="13194723" progId="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0" y="0"/>
                        <a:ext cx="9144000" cy="5143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4210573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A3EF39-F619-3E1B-2A92-3B39F96523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Picture 34" descr="A video game screen of a video game">
            <a:extLst>
              <a:ext uri="{FF2B5EF4-FFF2-40B4-BE49-F238E27FC236}">
                <a16:creationId xmlns:a16="http://schemas.microsoft.com/office/drawing/2014/main" id="{4D55F528-D477-CABE-6C7F-E32F8E51A4C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4ADA005-E790-D848-5000-CFE5A8549319}"/>
              </a:ext>
            </a:extLst>
          </p:cNvPr>
          <p:cNvSpPr txBox="1"/>
          <p:nvPr/>
        </p:nvSpPr>
        <p:spPr>
          <a:xfrm>
            <a:off x="3671683" y="1472447"/>
            <a:ext cx="17956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rgbClr val="3B7D4F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  <a:innerShdw blurRad="63500" dist="50800" dir="5400000">
                    <a:prstClr val="black">
                      <a:alpha val="50000"/>
                    </a:prstClr>
                  </a:innerShdw>
                </a:effectLst>
                <a:latin typeface="Press Start 2P" panose="00000500000000000000" pitchFamily="2" charset="0"/>
              </a:rPr>
              <a:t>Choose</a:t>
            </a:r>
          </a:p>
          <a:p>
            <a:pPr algn="ctr"/>
            <a:r>
              <a:rPr lang="en-US" sz="900" dirty="0">
                <a:solidFill>
                  <a:srgbClr val="3B7D4F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character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1A303FC-6E87-43D3-8DA2-714D4130C689}"/>
              </a:ext>
            </a:extLst>
          </p:cNvPr>
          <p:cNvSpPr txBox="1"/>
          <p:nvPr/>
        </p:nvSpPr>
        <p:spPr>
          <a:xfrm>
            <a:off x="5832505" y="1510617"/>
            <a:ext cx="15085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Enter</a:t>
            </a:r>
          </a:p>
          <a:p>
            <a:pPr algn="ctr"/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ride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3C101CC-9518-4E5A-B7FE-74167C745F9C}"/>
              </a:ext>
            </a:extLst>
          </p:cNvPr>
          <p:cNvSpPr txBox="1"/>
          <p:nvPr/>
        </p:nvSpPr>
        <p:spPr>
          <a:xfrm>
            <a:off x="4725709" y="2036840"/>
            <a:ext cx="18753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Complete</a:t>
            </a:r>
          </a:p>
          <a:p>
            <a:pPr algn="ctr"/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stage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FEE6C27-5280-DD08-6CA6-FC0F06AAD4F9}"/>
              </a:ext>
            </a:extLst>
          </p:cNvPr>
          <p:cNvSpPr txBox="1"/>
          <p:nvPr/>
        </p:nvSpPr>
        <p:spPr>
          <a:xfrm>
            <a:off x="1957878" y="2036840"/>
            <a:ext cx="14338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Unlock new</a:t>
            </a:r>
          </a:p>
          <a:p>
            <a:pPr algn="ctr"/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Stuff</a:t>
            </a:r>
          </a:p>
        </p:txBody>
      </p:sp>
      <p:sp>
        <p:nvSpPr>
          <p:cNvPr id="19" name="Arrow: Bent 18">
            <a:extLst>
              <a:ext uri="{FF2B5EF4-FFF2-40B4-BE49-F238E27FC236}">
                <a16:creationId xmlns:a16="http://schemas.microsoft.com/office/drawing/2014/main" id="{B13D75A5-F2AB-10F1-CB9E-4CFCB2FF61ED}"/>
              </a:ext>
            </a:extLst>
          </p:cNvPr>
          <p:cNvSpPr/>
          <p:nvPr/>
        </p:nvSpPr>
        <p:spPr>
          <a:xfrm>
            <a:off x="2686002" y="1581794"/>
            <a:ext cx="1217970" cy="415499"/>
          </a:xfrm>
          <a:prstGeom prst="bentArrow">
            <a:avLst>
              <a:gd name="adj1" fmla="val 25000"/>
              <a:gd name="adj2" fmla="val 25000"/>
              <a:gd name="adj3" fmla="val 25000"/>
              <a:gd name="adj4" fmla="val 43750"/>
            </a:avLst>
          </a:prstGeom>
          <a:solidFill>
            <a:srgbClr val="3B7D4F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Arrow: Bent 19">
            <a:extLst>
              <a:ext uri="{FF2B5EF4-FFF2-40B4-BE49-F238E27FC236}">
                <a16:creationId xmlns:a16="http://schemas.microsoft.com/office/drawing/2014/main" id="{2AA34E06-57F3-C5CA-246C-D36FED0794FE}"/>
              </a:ext>
            </a:extLst>
          </p:cNvPr>
          <p:cNvSpPr/>
          <p:nvPr/>
        </p:nvSpPr>
        <p:spPr>
          <a:xfrm rot="10800000">
            <a:off x="6225766" y="1944610"/>
            <a:ext cx="421312" cy="369331"/>
          </a:xfrm>
          <a:prstGeom prst="bentArrow">
            <a:avLst/>
          </a:prstGeom>
          <a:solidFill>
            <a:srgbClr val="AB5130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690EB706-6F64-D870-290E-92FE54398975}"/>
              </a:ext>
            </a:extLst>
          </p:cNvPr>
          <p:cNvSpPr/>
          <p:nvPr/>
        </p:nvSpPr>
        <p:spPr>
          <a:xfrm rot="16200000">
            <a:off x="2803113" y="3333381"/>
            <a:ext cx="414225" cy="766927"/>
          </a:xfrm>
          <a:prstGeom prst="bentArrow">
            <a:avLst/>
          </a:prstGeom>
          <a:solidFill>
            <a:srgbClr val="3B7D4F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4" name="Arrow: Bent 23">
            <a:extLst>
              <a:ext uri="{FF2B5EF4-FFF2-40B4-BE49-F238E27FC236}">
                <a16:creationId xmlns:a16="http://schemas.microsoft.com/office/drawing/2014/main" id="{1165AEAF-8E21-6787-59FD-382D7D88E7E1}"/>
              </a:ext>
            </a:extLst>
          </p:cNvPr>
          <p:cNvSpPr/>
          <p:nvPr/>
        </p:nvSpPr>
        <p:spPr>
          <a:xfrm>
            <a:off x="4072857" y="2113013"/>
            <a:ext cx="1015781" cy="404925"/>
          </a:xfrm>
          <a:prstGeom prst="bentArrow">
            <a:avLst>
              <a:gd name="adj1" fmla="val 25000"/>
              <a:gd name="adj2" fmla="val 25000"/>
              <a:gd name="adj3" fmla="val 25000"/>
              <a:gd name="adj4" fmla="val 43750"/>
            </a:avLst>
          </a:prstGeom>
          <a:solidFill>
            <a:srgbClr val="AB5130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13" name="Picture 12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F06D8485-957F-172B-CC81-C93874D887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580748" y="1002160"/>
            <a:ext cx="278421" cy="419004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3" name="Arrow: Right 2">
            <a:extLst>
              <a:ext uri="{FF2B5EF4-FFF2-40B4-BE49-F238E27FC236}">
                <a16:creationId xmlns:a16="http://schemas.microsoft.com/office/drawing/2014/main" id="{F22C779F-9395-8E8D-C654-AA3B0A86C6D4}"/>
              </a:ext>
            </a:extLst>
          </p:cNvPr>
          <p:cNvSpPr/>
          <p:nvPr/>
        </p:nvSpPr>
        <p:spPr>
          <a:xfrm>
            <a:off x="5245880" y="1588713"/>
            <a:ext cx="820730" cy="200830"/>
          </a:xfrm>
          <a:prstGeom prst="rightArrow">
            <a:avLst/>
          </a:prstGeom>
          <a:solidFill>
            <a:srgbClr val="3B7D4F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D85D39C4-8030-7534-CE98-F31AD36CBD68}"/>
              </a:ext>
            </a:extLst>
          </p:cNvPr>
          <p:cNvSpPr/>
          <p:nvPr/>
        </p:nvSpPr>
        <p:spPr>
          <a:xfrm rot="5400000">
            <a:off x="5374340" y="2670267"/>
            <a:ext cx="572052" cy="215635"/>
          </a:xfrm>
          <a:prstGeom prst="rightArrow">
            <a:avLst/>
          </a:prstGeom>
          <a:solidFill>
            <a:srgbClr val="AB5130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Arrow: Bent 11">
            <a:extLst>
              <a:ext uri="{FF2B5EF4-FFF2-40B4-BE49-F238E27FC236}">
                <a16:creationId xmlns:a16="http://schemas.microsoft.com/office/drawing/2014/main" id="{76C7C008-7BF5-286A-2ECA-32359EB5C70F}"/>
              </a:ext>
            </a:extLst>
          </p:cNvPr>
          <p:cNvSpPr/>
          <p:nvPr/>
        </p:nvSpPr>
        <p:spPr>
          <a:xfrm rot="16200000">
            <a:off x="4357274" y="2666833"/>
            <a:ext cx="404924" cy="1079682"/>
          </a:xfrm>
          <a:prstGeom prst="bentArrow">
            <a:avLst>
              <a:gd name="adj1" fmla="val 25000"/>
              <a:gd name="adj2" fmla="val 25000"/>
              <a:gd name="adj3" fmla="val 25000"/>
              <a:gd name="adj4" fmla="val 43750"/>
            </a:avLst>
          </a:prstGeom>
          <a:solidFill>
            <a:srgbClr val="AB5130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FE27BFC-9642-1FC4-C859-BF297E0E5923}"/>
              </a:ext>
            </a:extLst>
          </p:cNvPr>
          <p:cNvSpPr txBox="1"/>
          <p:nvPr/>
        </p:nvSpPr>
        <p:spPr>
          <a:xfrm>
            <a:off x="4563188" y="3016412"/>
            <a:ext cx="81712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No</a:t>
            </a: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CB9046B2-02AA-583C-1995-848BA2D058DF}"/>
              </a:ext>
            </a:extLst>
          </p:cNvPr>
          <p:cNvSpPr/>
          <p:nvPr/>
        </p:nvSpPr>
        <p:spPr>
          <a:xfrm rot="10800000">
            <a:off x="4700266" y="3549884"/>
            <a:ext cx="1019925" cy="414228"/>
          </a:xfrm>
          <a:prstGeom prst="bentArrow">
            <a:avLst/>
          </a:prstGeom>
          <a:solidFill>
            <a:srgbClr val="3B7D4F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51E9445-F552-DC00-43A5-2C512E23E500}"/>
              </a:ext>
            </a:extLst>
          </p:cNvPr>
          <p:cNvSpPr txBox="1"/>
          <p:nvPr/>
        </p:nvSpPr>
        <p:spPr>
          <a:xfrm>
            <a:off x="5561209" y="3575299"/>
            <a:ext cx="81712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rgbClr val="3B7D4F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Yes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D7AE9BA-56A1-1E49-BDB9-3C7741D745B3}"/>
              </a:ext>
            </a:extLst>
          </p:cNvPr>
          <p:cNvSpPr txBox="1"/>
          <p:nvPr/>
        </p:nvSpPr>
        <p:spPr>
          <a:xfrm>
            <a:off x="3733657" y="2573782"/>
            <a:ext cx="7617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Next</a:t>
            </a:r>
          </a:p>
          <a:p>
            <a:pPr algn="ctr"/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stage</a:t>
            </a:r>
          </a:p>
        </p:txBody>
      </p: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758F989B-FD15-7628-5903-8E0703C40E4B}"/>
              </a:ext>
            </a:extLst>
          </p:cNvPr>
          <p:cNvSpPr/>
          <p:nvPr/>
        </p:nvSpPr>
        <p:spPr>
          <a:xfrm rot="16200000">
            <a:off x="2440544" y="2659699"/>
            <a:ext cx="572054" cy="21161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3B7D4F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4071A1D-DD0C-508B-3D87-E6A924627D13}"/>
              </a:ext>
            </a:extLst>
          </p:cNvPr>
          <p:cNvSpPr txBox="1"/>
          <p:nvPr/>
        </p:nvSpPr>
        <p:spPr>
          <a:xfrm>
            <a:off x="3435687" y="3603407"/>
            <a:ext cx="1285761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Back to</a:t>
            </a:r>
          </a:p>
          <a:p>
            <a:pPr algn="ctr"/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amusement park</a:t>
            </a:r>
          </a:p>
        </p:txBody>
      </p:sp>
      <p:pic>
        <p:nvPicPr>
          <p:cNvPr id="2" name="Picture 1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F7CD6E57-2E56-B7B7-AC9A-26A897F068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7115668D-30E5-0F42-9DBC-A573154CECA3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836584" y="4359863"/>
            <a:ext cx="335759" cy="167880"/>
          </a:xfrm>
          <a:prstGeom prst="rect">
            <a:avLst/>
          </a:prstGeom>
        </p:spPr>
      </p:pic>
      <p:pic>
        <p:nvPicPr>
          <p:cNvPr id="10" name="Picture 9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B173AB46-CC53-5249-CC84-08C7CB38285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41553" y="1002160"/>
            <a:ext cx="283001" cy="417600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30" name="Google Shape;999;p37">
            <a:extLst>
              <a:ext uri="{FF2B5EF4-FFF2-40B4-BE49-F238E27FC236}">
                <a16:creationId xmlns:a16="http://schemas.microsoft.com/office/drawing/2014/main" id="{34FBC438-7E4E-5F9C-3251-1BD586CC39F2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Core Gameplay Loop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33919A0-DB76-2DD1-A781-0BD8BEDCC8CE}"/>
              </a:ext>
            </a:extLst>
          </p:cNvPr>
          <p:cNvSpPr txBox="1"/>
          <p:nvPr/>
        </p:nvSpPr>
        <p:spPr>
          <a:xfrm>
            <a:off x="4956775" y="3104021"/>
            <a:ext cx="14171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Last</a:t>
            </a:r>
          </a:p>
          <a:p>
            <a:pPr algn="ctr"/>
            <a:r>
              <a:rPr lang="en-US" sz="9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stage?</a:t>
            </a:r>
          </a:p>
        </p:txBody>
      </p:sp>
      <p:pic>
        <p:nvPicPr>
          <p:cNvPr id="33" name="Picture 32" descr="A pixelated cartoon of a person&#10;&#10;AI-generated content may be incorrect.">
            <a:extLst>
              <a:ext uri="{FF2B5EF4-FFF2-40B4-BE49-F238E27FC236}">
                <a16:creationId xmlns:a16="http://schemas.microsoft.com/office/drawing/2014/main" id="{612E389D-B7EA-BE22-6937-F177775CA09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71093" y="4175673"/>
            <a:ext cx="586525" cy="510022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817B05F6-2F34-2E36-6DF5-DD49F21B217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13370" y="1802858"/>
            <a:ext cx="285750" cy="286241"/>
          </a:xfrm>
          <a:prstGeom prst="rect">
            <a:avLst/>
          </a:prstGeom>
        </p:spPr>
      </p:pic>
      <p:pic>
        <p:nvPicPr>
          <p:cNvPr id="43" name="Picture 42" descr="A pixelated image of a yellow rectangular object&#10;&#10;AI-generated content may be incorrect.">
            <a:extLst>
              <a:ext uri="{FF2B5EF4-FFF2-40B4-BE49-F238E27FC236}">
                <a16:creationId xmlns:a16="http://schemas.microsoft.com/office/drawing/2014/main" id="{242FE0B8-86AB-03C8-43F8-EED5C8C7D51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835022" y="3191135"/>
            <a:ext cx="245713" cy="232062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94F18B31-4EE0-997C-F6F5-4B825886ED1A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393687" y="2571750"/>
            <a:ext cx="381000" cy="457200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53" name="Picture 52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CF90A4AD-CACD-DD0F-2EAE-0B9C2BC15051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246158" y="1002160"/>
            <a:ext cx="575100" cy="500087"/>
          </a:xfrm>
          <a:prstGeom prst="rect">
            <a:avLst/>
          </a:prstGeom>
        </p:spPr>
      </p:pic>
      <p:sp>
        <p:nvSpPr>
          <p:cNvPr id="54" name="TextBox 53">
            <a:extLst>
              <a:ext uri="{FF2B5EF4-FFF2-40B4-BE49-F238E27FC236}">
                <a16:creationId xmlns:a16="http://schemas.microsoft.com/office/drawing/2014/main" id="{DF9EF179-0DCC-0FFA-A1B2-5D052543FEBF}"/>
              </a:ext>
            </a:extLst>
          </p:cNvPr>
          <p:cNvSpPr txBox="1"/>
          <p:nvPr/>
        </p:nvSpPr>
        <p:spPr>
          <a:xfrm>
            <a:off x="1988389" y="3102255"/>
            <a:ext cx="14338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Collected</a:t>
            </a:r>
          </a:p>
          <a:p>
            <a:pPr algn="ctr"/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tickets</a:t>
            </a:r>
          </a:p>
        </p:txBody>
      </p:sp>
    </p:spTree>
    <p:extLst>
      <p:ext uri="{BB962C8B-B14F-4D97-AF65-F5344CB8AC3E}">
        <p14:creationId xmlns:p14="http://schemas.microsoft.com/office/powerpoint/2010/main" val="38662444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xel art of a building">
            <a:extLst>
              <a:ext uri="{FF2B5EF4-FFF2-40B4-BE49-F238E27FC236}">
                <a16:creationId xmlns:a16="http://schemas.microsoft.com/office/drawing/2014/main" id="{B0B7F87B-6B8D-1AA6-F307-A244AE3BBD5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Google Shape;999;p37">
            <a:extLst>
              <a:ext uri="{FF2B5EF4-FFF2-40B4-BE49-F238E27FC236}">
                <a16:creationId xmlns:a16="http://schemas.microsoft.com/office/drawing/2014/main" id="{B89714A4-4C95-1762-D5EF-2993DAB164F0}"/>
              </a:ext>
            </a:extLst>
          </p:cNvPr>
          <p:cNvSpPr txBox="1">
            <a:spLocks/>
          </p:cNvSpPr>
          <p:nvPr/>
        </p:nvSpPr>
        <p:spPr>
          <a:xfrm>
            <a:off x="1172976" y="1437993"/>
            <a:ext cx="6798048" cy="5264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</a:pPr>
            <a:r>
              <a:rPr lang="en-US" sz="32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Look &amp; Feel</a:t>
            </a:r>
          </a:p>
        </p:txBody>
      </p:sp>
    </p:spTree>
    <p:extLst>
      <p:ext uri="{BB962C8B-B14F-4D97-AF65-F5344CB8AC3E}">
        <p14:creationId xmlns:p14="http://schemas.microsoft.com/office/powerpoint/2010/main" val="28840539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>
            <a:extLst>
              <a:ext uri="{FF2B5EF4-FFF2-40B4-BE49-F238E27FC236}">
                <a16:creationId xmlns:a16="http://schemas.microsoft.com/office/drawing/2014/main" id="{BE986D8D-679B-DF16-78D6-36A609285C67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68207707"/>
              </p:ext>
            </p:extLst>
          </p:nvPr>
        </p:nvGraphicFramePr>
        <p:xfrm>
          <a:off x="0" y="0"/>
          <a:ext cx="9144000" cy="5143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2" imgW="23457131" imgH="13194723" progId="">
                  <p:embed/>
                </p:oleObj>
              </mc:Choice>
              <mc:Fallback>
                <p:oleObj r:id="rId2" imgW="23457131" imgH="13194723" progId="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0" y="0"/>
                        <a:ext cx="9144000" cy="5143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9C3ACD7-63EA-AD11-D4E3-7D8D477A2334}"/>
              </a:ext>
            </a:extLst>
          </p:cNvPr>
          <p:cNvSpPr txBox="1"/>
          <p:nvPr/>
        </p:nvSpPr>
        <p:spPr>
          <a:xfrm>
            <a:off x="6733630" y="118379"/>
            <a:ext cx="230063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rgbClr val="AB5130"/>
                </a:solidFill>
                <a:latin typeface="Press Start 2P" panose="00000500000000000000" pitchFamily="2" charset="0"/>
              </a:rPr>
              <a:t>Lighting system</a:t>
            </a:r>
          </a:p>
        </p:txBody>
      </p:sp>
      <p:pic>
        <p:nvPicPr>
          <p:cNvPr id="5" name="Picture 4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A0297262-4441-1E24-7F61-AFC13D6CFD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20698427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>
            <a:extLst>
              <a:ext uri="{FF2B5EF4-FFF2-40B4-BE49-F238E27FC236}">
                <a16:creationId xmlns:a16="http://schemas.microsoft.com/office/drawing/2014/main" id="{0609FE13-086A-FABE-04FF-6CEC053EBD8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18652787"/>
              </p:ext>
            </p:extLst>
          </p:nvPr>
        </p:nvGraphicFramePr>
        <p:xfrm>
          <a:off x="0" y="0"/>
          <a:ext cx="9144000" cy="5143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2" imgW="23457131" imgH="13194723" progId="">
                  <p:embed/>
                </p:oleObj>
              </mc:Choice>
              <mc:Fallback>
                <p:oleObj r:id="rId2" imgW="23457131" imgH="13194723" progId="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0" y="0"/>
                        <a:ext cx="9144000" cy="5143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4" name="Picture 3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4F11DA75-266F-FC66-E9C2-454461BDE8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6934569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>
            <a:extLst>
              <a:ext uri="{FF2B5EF4-FFF2-40B4-BE49-F238E27FC236}">
                <a16:creationId xmlns:a16="http://schemas.microsoft.com/office/drawing/2014/main" id="{B043CC30-6598-3FB3-BEFB-3E4EE54F8CC1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0610712"/>
              </p:ext>
            </p:extLst>
          </p:nvPr>
        </p:nvGraphicFramePr>
        <p:xfrm>
          <a:off x="0" y="0"/>
          <a:ext cx="9144000" cy="5143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2" imgW="23457131" imgH="13194723" progId="">
                  <p:embed/>
                </p:oleObj>
              </mc:Choice>
              <mc:Fallback>
                <p:oleObj r:id="rId2" imgW="23457131" imgH="13194723" progId="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0" y="0"/>
                        <a:ext cx="9144000" cy="5143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4" name="Picture 3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4B3AE61E-DFA3-CD24-5FE2-1DEF7521A2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31885919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C2F54A8F-EF3B-1D1C-8DB9-0F87D8160A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video game screen with a gate and buildings">
            <a:extLst>
              <a:ext uri="{FF2B5EF4-FFF2-40B4-BE49-F238E27FC236}">
                <a16:creationId xmlns:a16="http://schemas.microsoft.com/office/drawing/2014/main" id="{73A69CEA-855A-F283-11C4-F9635E15ACB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Google Shape;1000;p37">
            <a:extLst>
              <a:ext uri="{FF2B5EF4-FFF2-40B4-BE49-F238E27FC236}">
                <a16:creationId xmlns:a16="http://schemas.microsoft.com/office/drawing/2014/main" id="{8D40509E-E4DC-E7E6-F196-BE6FF499E1DD}"/>
              </a:ext>
            </a:extLst>
          </p:cNvPr>
          <p:cNvSpPr txBox="1">
            <a:spLocks/>
          </p:cNvSpPr>
          <p:nvPr/>
        </p:nvSpPr>
        <p:spPr>
          <a:xfrm>
            <a:off x="738907" y="1079710"/>
            <a:ext cx="3741654" cy="1112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Technology complete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Proprietary MonoGame/C# engine, fully optimized and AOT-compatible (already proven on PC &amp; consoles).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Playable prototype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Core gameplay loop working (movement, basic combat, carts, procedural generation, lighting).</a:t>
            </a:r>
          </a:p>
        </p:txBody>
      </p:sp>
      <p:sp>
        <p:nvSpPr>
          <p:cNvPr id="7" name="Google Shape;1000;p37">
            <a:extLst>
              <a:ext uri="{FF2B5EF4-FFF2-40B4-BE49-F238E27FC236}">
                <a16:creationId xmlns:a16="http://schemas.microsoft.com/office/drawing/2014/main" id="{19CEF1D5-BDC4-62B3-4FF0-DA57B9D7DAE1}"/>
              </a:ext>
            </a:extLst>
          </p:cNvPr>
          <p:cNvSpPr txBox="1">
            <a:spLocks/>
          </p:cNvSpPr>
          <p:nvPr/>
        </p:nvSpPr>
        <p:spPr>
          <a:xfrm>
            <a:off x="4960138" y="1079710"/>
            <a:ext cx="3654816" cy="5264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Art direction established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Pixel art style defined.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Tone &amp; humor tested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Prototype already showcases the comedy + horror mix.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Ready to scale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With the base systems stable, next step is expanding into full adventure content.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9" name="Google Shape;999;p37">
            <a:extLst>
              <a:ext uri="{FF2B5EF4-FFF2-40B4-BE49-F238E27FC236}">
                <a16:creationId xmlns:a16="http://schemas.microsoft.com/office/drawing/2014/main" id="{AF682735-BDDF-12FF-4636-9FE8E6DEDB2A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Current Status</a:t>
            </a:r>
          </a:p>
        </p:txBody>
      </p:sp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908F874C-A76B-3EC9-7CAF-545BFE380E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140067784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36A86AC5-F113-3FE1-F4B1-30BA556D2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video game screen with a gate and buildings">
            <a:extLst>
              <a:ext uri="{FF2B5EF4-FFF2-40B4-BE49-F238E27FC236}">
                <a16:creationId xmlns:a16="http://schemas.microsoft.com/office/drawing/2014/main" id="{09202AF3-ADE5-DB2F-E0A7-C2BD9B511CD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9AA063CD-4D2E-8BC6-45A7-88F344943309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46676" y="894843"/>
            <a:ext cx="3746947" cy="1112838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Funding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We are seeking funding to produce the complete adventure:  expand content: bosses, biomes, items, full audio.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rgbClr val="BD6A62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Procedural Content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Dozens of environment objects, unique bosses, hundreds of items, narrative events and secrets.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FD809C86-5746-E53D-31F2-04E70B49972C}"/>
              </a:ext>
            </a:extLst>
          </p:cNvPr>
          <p:cNvSpPr txBox="1">
            <a:spLocks/>
          </p:cNvSpPr>
          <p:nvPr/>
        </p:nvSpPr>
        <p:spPr>
          <a:xfrm>
            <a:off x="4745409" y="894843"/>
            <a:ext cx="4006706" cy="1112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Art &amp; Animation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Full set of characters, monsters and environment assets.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rgbClr val="BD6A62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Audio: </a:t>
            </a: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complete soundtrack and SFX production.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rgbClr val="BD6A62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Ports &amp; Localization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Console versions and professional localization to maximize reach.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Marketing Assets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Trailers, key art, promotional material.</a:t>
            </a:r>
          </a:p>
        </p:txBody>
      </p:sp>
      <p:sp>
        <p:nvSpPr>
          <p:cNvPr id="7" name="Google Shape;999;p37">
            <a:extLst>
              <a:ext uri="{FF2B5EF4-FFF2-40B4-BE49-F238E27FC236}">
                <a16:creationId xmlns:a16="http://schemas.microsoft.com/office/drawing/2014/main" id="{B275CBDA-DB79-668B-D3D1-EBDA73B0DE20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Needs</a:t>
            </a:r>
          </a:p>
        </p:txBody>
      </p:sp>
      <p:pic>
        <p:nvPicPr>
          <p:cNvPr id="2" name="Picture 1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1CEF86FA-FB80-2E8D-A1CF-A3B52EAB28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42897355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84FA0D57-4FED-6D68-B23C-04A721D1D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ixel art of a building">
            <a:extLst>
              <a:ext uri="{FF2B5EF4-FFF2-40B4-BE49-F238E27FC236}">
                <a16:creationId xmlns:a16="http://schemas.microsoft.com/office/drawing/2014/main" id="{A2527C92-4C52-C5DA-682B-0103D81FA3DD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A8D6F54E-62B3-B106-ECAB-706E807DFDE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1364104" y="987173"/>
            <a:ext cx="6415790" cy="1112838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Development time:</a:t>
            </a:r>
            <a:r>
              <a:rPr lang="en-US" sz="9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 </a:t>
            </a: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14 months.</a:t>
            </a:r>
            <a:b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285750" indent="-2857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Budget: </a:t>
            </a: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220K USD (*)</a:t>
            </a:r>
          </a:p>
          <a:p>
            <a:pPr marL="285750" indent="-2857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285750" indent="-285750">
              <a:lnSpc>
                <a:spcPts val="16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Content scope: </a:t>
            </a: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12+ bosses, 30+ creatures, 200+ items, 40+ environment objects, 6-8 biomes → 15–25 hours of gameplay (average run-based replayability).</a:t>
            </a:r>
          </a:p>
          <a:p>
            <a:pPr marL="285750" indent="-2857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285750" indent="-2857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Core team: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Lead Designers (2)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Programmer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Narrative writer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Background Artist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2D Animator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Composer</a:t>
            </a:r>
          </a:p>
          <a:p>
            <a:pPr marL="285750" indent="-2857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B077C8FF-47C0-25E2-4134-3456BD44E543}"/>
              </a:ext>
            </a:extLst>
          </p:cNvPr>
          <p:cNvSpPr txBox="1">
            <a:spLocks/>
          </p:cNvSpPr>
          <p:nvPr/>
        </p:nvSpPr>
        <p:spPr>
          <a:xfrm>
            <a:off x="2168911" y="4340822"/>
            <a:ext cx="4806177" cy="6595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buClr>
                <a:srgbClr val="8F4D57"/>
              </a:buClr>
              <a:buSzPts val="1100"/>
            </a:pPr>
            <a:endParaRPr lang="en-US" sz="900" dirty="0">
              <a:solidFill>
                <a:schemeClr val="bg1">
                  <a:lumMod val="50000"/>
                </a:schemeClr>
              </a:solidFill>
              <a:effectLst>
                <a:glow rad="1397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buClr>
                <a:srgbClr val="8F4D57"/>
              </a:buClr>
              <a:buSzPts val="1100"/>
            </a:pPr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(*) Does not include trailer production, localization and console porting.</a:t>
            </a:r>
          </a:p>
        </p:txBody>
      </p:sp>
      <p:pic>
        <p:nvPicPr>
          <p:cNvPr id="6" name="Picture 5" descr="A pixelated red and black object&#10;&#10;AI-generated content may be incorrect.">
            <a:extLst>
              <a:ext uri="{FF2B5EF4-FFF2-40B4-BE49-F238E27FC236}">
                <a16:creationId xmlns:a16="http://schemas.microsoft.com/office/drawing/2014/main" id="{5F7740B9-4FBA-4BE0-6988-0AA73B6B89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52140" y="3362385"/>
            <a:ext cx="2862470" cy="1113183"/>
          </a:xfrm>
          <a:prstGeom prst="rect">
            <a:avLst/>
          </a:prstGeom>
        </p:spPr>
      </p:pic>
      <p:sp>
        <p:nvSpPr>
          <p:cNvPr id="7" name="Google Shape;999;p37">
            <a:extLst>
              <a:ext uri="{FF2B5EF4-FFF2-40B4-BE49-F238E27FC236}">
                <a16:creationId xmlns:a16="http://schemas.microsoft.com/office/drawing/2014/main" id="{2236D66A-9C1B-969E-0CB7-A2CA3D5CD4A0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Production</a:t>
            </a:r>
          </a:p>
        </p:txBody>
      </p:sp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3F7F2326-3B82-0B59-0457-9CD7A3AFF83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33327391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84A76CAA-2D3C-F2D5-A385-576D4CBCBA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pixel art of a building">
            <a:extLst>
              <a:ext uri="{FF2B5EF4-FFF2-40B4-BE49-F238E27FC236}">
                <a16:creationId xmlns:a16="http://schemas.microsoft.com/office/drawing/2014/main" id="{BB90D463-A2DD-841D-1722-FBABDB98C69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8AD04312-634D-AFE6-B193-640CD9B1337A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1039855" y="1099377"/>
            <a:ext cx="3462822" cy="1112838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Veteran indie developers with 30+ years of combined experience.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3 games shipped on PC and major consoles, award-winning for creativity and originality.</a:t>
            </a:r>
          </a:p>
        </p:txBody>
      </p:sp>
      <p:sp>
        <p:nvSpPr>
          <p:cNvPr id="6" name="Google Shape;999;p37">
            <a:extLst>
              <a:ext uri="{FF2B5EF4-FFF2-40B4-BE49-F238E27FC236}">
                <a16:creationId xmlns:a16="http://schemas.microsoft.com/office/drawing/2014/main" id="{CC3F05C0-B662-CD5F-CE3D-00F6D5E7E6C4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Who We Are</a:t>
            </a:r>
          </a:p>
        </p:txBody>
      </p:sp>
      <p:sp>
        <p:nvSpPr>
          <p:cNvPr id="11" name="Google Shape;1000;p37">
            <a:extLst>
              <a:ext uri="{FF2B5EF4-FFF2-40B4-BE49-F238E27FC236}">
                <a16:creationId xmlns:a16="http://schemas.microsoft.com/office/drawing/2014/main" id="{7E7048C3-05FD-4259-7150-DDEC27E3B893}"/>
              </a:ext>
            </a:extLst>
          </p:cNvPr>
          <p:cNvSpPr txBox="1">
            <a:spLocks/>
          </p:cNvSpPr>
          <p:nvPr/>
        </p:nvSpPr>
        <p:spPr>
          <a:xfrm>
            <a:off x="4956255" y="1088549"/>
            <a:ext cx="3376749" cy="1123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All games with the same publisher, proving both trust in our work and our reliability as long-term partners.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reliable, passionate team focused on unique, unforgettable experiences.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008BE7F-9729-8408-C08D-02BEA6760E87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50000"/>
          </a:blip>
          <a:stretch>
            <a:fillRect/>
          </a:stretch>
        </p:blipFill>
        <p:spPr>
          <a:xfrm>
            <a:off x="4664084" y="4398246"/>
            <a:ext cx="284676" cy="142338"/>
          </a:xfrm>
          <a:prstGeom prst="rect">
            <a:avLst/>
          </a:prstGeom>
        </p:spPr>
      </p:pic>
      <p:pic>
        <p:nvPicPr>
          <p:cNvPr id="7" name="Picture 6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14A9F576-8204-27F2-6587-AB77C5B5690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4444014" y="3715024"/>
            <a:ext cx="512241" cy="760544"/>
          </a:xfrm>
          <a:prstGeom prst="rect">
            <a:avLst/>
          </a:prstGeom>
        </p:spPr>
      </p:pic>
      <p:pic>
        <p:nvPicPr>
          <p:cNvPr id="8" name="Picture 7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7028691D-E798-91DD-1477-0B9A6A548F4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64291817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hlinkClick r:id="rId2"/>
            <a:extLst>
              <a:ext uri="{FF2B5EF4-FFF2-40B4-BE49-F238E27FC236}">
                <a16:creationId xmlns:a16="http://schemas.microsoft.com/office/drawing/2014/main" id="{4EE37A1B-0844-B835-01EE-E3866ED0D1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9555" y="1385068"/>
            <a:ext cx="2782856" cy="1504482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7F5A200B-19FA-BC96-10A2-0CB1C9FCA0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517" y="2884478"/>
            <a:ext cx="2670932" cy="6032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hlinkClick r:id="rId5"/>
            <a:extLst>
              <a:ext uri="{FF2B5EF4-FFF2-40B4-BE49-F238E27FC236}">
                <a16:creationId xmlns:a16="http://schemas.microsoft.com/office/drawing/2014/main" id="{F5ECA793-C0AA-9C78-EC1D-C21FF9E5D0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29269" y="1379996"/>
            <a:ext cx="2782856" cy="1504482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E079C4FF-36E5-5645-D3A8-3EFD476B17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83971" y="2884478"/>
            <a:ext cx="2685408" cy="9596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hlinkClick r:id="rId8"/>
            <a:extLst>
              <a:ext uri="{FF2B5EF4-FFF2-40B4-BE49-F238E27FC236}">
                <a16:creationId xmlns:a16="http://schemas.microsoft.com/office/drawing/2014/main" id="{6EC53590-1EC8-46ED-2532-C64EFC9107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/>
          <a:srcRect l="3782" r="3782"/>
          <a:stretch/>
        </p:blipFill>
        <p:spPr bwMode="auto">
          <a:xfrm>
            <a:off x="6190939" y="1379996"/>
            <a:ext cx="2576062" cy="1509554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999;p37">
            <a:extLst>
              <a:ext uri="{FF2B5EF4-FFF2-40B4-BE49-F238E27FC236}">
                <a16:creationId xmlns:a16="http://schemas.microsoft.com/office/drawing/2014/main" id="{5A96646F-D576-B767-2AA6-70467D7FE3A8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Our Games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B721B1A-A151-8774-332A-0FC6BDD6CFD0}"/>
              </a:ext>
            </a:extLst>
          </p:cNvPr>
          <p:cNvSpPr txBox="1"/>
          <p:nvPr/>
        </p:nvSpPr>
        <p:spPr>
          <a:xfrm>
            <a:off x="1322169" y="1133775"/>
            <a:ext cx="69762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rgbClr val="AB5130"/>
                </a:solidFill>
                <a:latin typeface="Press Start 2P" panose="00000500000000000000" pitchFamily="2" charset="0"/>
              </a:rPr>
              <a:t>2020</a:t>
            </a:r>
            <a:endParaRPr lang="en-US" sz="800" dirty="0">
              <a:solidFill>
                <a:srgbClr val="AB5130"/>
              </a:solidFill>
              <a:latin typeface="Press Start 2P" panose="00000500000000000000" pitchFamily="2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7D4F8DC-E5F6-BE04-F02C-762226847025}"/>
              </a:ext>
            </a:extLst>
          </p:cNvPr>
          <p:cNvSpPr txBox="1"/>
          <p:nvPr/>
        </p:nvSpPr>
        <p:spPr>
          <a:xfrm>
            <a:off x="4223186" y="1133774"/>
            <a:ext cx="69762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rgbClr val="AB5130"/>
                </a:solidFill>
                <a:latin typeface="Press Start 2P" panose="00000500000000000000" pitchFamily="2" charset="0"/>
              </a:rPr>
              <a:t>2023</a:t>
            </a:r>
            <a:endParaRPr lang="en-US" sz="800" dirty="0">
              <a:solidFill>
                <a:srgbClr val="AB5130"/>
              </a:solidFill>
              <a:latin typeface="Press Start 2P" panose="00000500000000000000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15D1CA-B8C1-15AC-836B-47AF04BB5640}"/>
              </a:ext>
            </a:extLst>
          </p:cNvPr>
          <p:cNvSpPr txBox="1"/>
          <p:nvPr/>
        </p:nvSpPr>
        <p:spPr>
          <a:xfrm>
            <a:off x="7221598" y="1133774"/>
            <a:ext cx="69762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rgbClr val="AB5130"/>
                </a:solidFill>
                <a:latin typeface="Press Start 2P" panose="00000500000000000000" pitchFamily="2" charset="0"/>
              </a:rPr>
              <a:t>2025</a:t>
            </a:r>
            <a:endParaRPr lang="en-US" sz="800" dirty="0">
              <a:solidFill>
                <a:srgbClr val="AB5130"/>
              </a:solidFill>
              <a:latin typeface="Press Start 2P" panose="00000500000000000000" pitchFamily="2" charset="0"/>
            </a:endParaRPr>
          </a:p>
        </p:txBody>
      </p:sp>
      <p:pic>
        <p:nvPicPr>
          <p:cNvPr id="7" name="Picture 6" descr="A logo with a yellow ball and wings">
            <a:extLst>
              <a:ext uri="{FF2B5EF4-FFF2-40B4-BE49-F238E27FC236}">
                <a16:creationId xmlns:a16="http://schemas.microsoft.com/office/drawing/2014/main" id="{1E0A098E-35B3-919F-ACD1-30DE9683E778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24866" y="4461341"/>
            <a:ext cx="1230475" cy="6360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406179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2C8D7569-5C51-B680-59E6-28E308016A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3D66167E-39B7-42B9-5AB8-EC778F55CBC1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800109" y="1881515"/>
            <a:ext cx="3279517" cy="40029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1" indent="0">
              <a:buClr>
                <a:srgbClr val="8F4D57"/>
              </a:buClr>
              <a:buSzPts val="1100"/>
            </a:pPr>
            <a:r>
              <a:rPr lang="en-US" sz="12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Thank You!</a:t>
            </a:r>
          </a:p>
        </p:txBody>
      </p:sp>
      <p:pic>
        <p:nvPicPr>
          <p:cNvPr id="4" name="Picture 3" descr="A yellow and black logo&#10;&#10;AI-generated content may be incorrect.">
            <a:hlinkClick r:id="rId3"/>
            <a:extLst>
              <a:ext uri="{FF2B5EF4-FFF2-40B4-BE49-F238E27FC236}">
                <a16:creationId xmlns:a16="http://schemas.microsoft.com/office/drawing/2014/main" id="{1C37E350-5E37-7DF8-8F33-CC092C1573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80973" y="307539"/>
            <a:ext cx="2582052" cy="1663371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3" name="Google Shape;1000;p37">
            <a:extLst>
              <a:ext uri="{FF2B5EF4-FFF2-40B4-BE49-F238E27FC236}">
                <a16:creationId xmlns:a16="http://schemas.microsoft.com/office/drawing/2014/main" id="{9D1E934B-613C-2E14-6E91-49245FEB845B}"/>
              </a:ext>
            </a:extLst>
          </p:cNvPr>
          <p:cNvSpPr txBox="1">
            <a:spLocks/>
          </p:cNvSpPr>
          <p:nvPr/>
        </p:nvSpPr>
        <p:spPr>
          <a:xfrm>
            <a:off x="2390552" y="4484913"/>
            <a:ext cx="3989992" cy="400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457200" lvl="1" indent="0">
              <a:buClr>
                <a:srgbClr val="8F4D57"/>
              </a:buClr>
              <a:buSzPts val="1100"/>
            </a:pPr>
            <a:r>
              <a:rPr lang="en-US" sz="8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Contact: diego@indiesruption.com</a:t>
            </a:r>
            <a:endParaRPr lang="en-US" sz="800" dirty="0">
              <a:solidFill>
                <a:srgbClr val="F6CA15"/>
              </a:solidFill>
              <a:latin typeface="Press Start 2P" panose="00000500000000000000" pitchFamily="2" charset="0"/>
            </a:endParaRPr>
          </a:p>
        </p:txBody>
      </p:sp>
      <p:pic>
        <p:nvPicPr>
          <p:cNvPr id="1026" name="Picture 2" descr="BITBANG | Conocé al Jurado de Videojuegos 2022">
            <a:hlinkClick r:id="rId5"/>
            <a:extLst>
              <a:ext uri="{FF2B5EF4-FFF2-40B4-BE49-F238E27FC236}">
                <a16:creationId xmlns:a16="http://schemas.microsoft.com/office/drawing/2014/main" id="{4A663F81-F70C-0353-F4B4-154EFAB752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30839" y="2557504"/>
            <a:ext cx="802960" cy="802960"/>
          </a:xfrm>
          <a:prstGeom prst="rect">
            <a:avLst/>
          </a:prstGeom>
          <a:noFill/>
          <a:ln w="19050">
            <a:solidFill>
              <a:srgbClr val="F6CA1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BITBANG | Conocé al Jurado de Videojuegos 2022">
            <a:hlinkClick r:id="rId7"/>
            <a:extLst>
              <a:ext uri="{FF2B5EF4-FFF2-40B4-BE49-F238E27FC236}">
                <a16:creationId xmlns:a16="http://schemas.microsoft.com/office/drawing/2014/main" id="{C7FF3FAD-54A0-77D9-B3A8-BB22C8AB46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70520" y="2560162"/>
            <a:ext cx="802960" cy="802960"/>
          </a:xfrm>
          <a:prstGeom prst="rect">
            <a:avLst/>
          </a:prstGeom>
          <a:noFill/>
          <a:ln w="19050">
            <a:solidFill>
              <a:srgbClr val="F6CA1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Durgan A. Nallar 🎲 - Escuela de Game ...">
            <a:hlinkClick r:id="rId9"/>
            <a:extLst>
              <a:ext uri="{FF2B5EF4-FFF2-40B4-BE49-F238E27FC236}">
                <a16:creationId xmlns:a16="http://schemas.microsoft.com/office/drawing/2014/main" id="{1800DAD1-03A3-67E5-DE6D-4E125651B6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10201" y="2557504"/>
            <a:ext cx="802959" cy="802959"/>
          </a:xfrm>
          <a:prstGeom prst="rect">
            <a:avLst/>
          </a:prstGeom>
          <a:noFill/>
          <a:ln w="19050">
            <a:solidFill>
              <a:srgbClr val="F6CA1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Google Shape;1000;p37">
            <a:extLst>
              <a:ext uri="{FF2B5EF4-FFF2-40B4-BE49-F238E27FC236}">
                <a16:creationId xmlns:a16="http://schemas.microsoft.com/office/drawing/2014/main" id="{99D06E37-DAD2-26D2-9E12-52ECA2CCAF00}"/>
              </a:ext>
            </a:extLst>
          </p:cNvPr>
          <p:cNvSpPr txBox="1">
            <a:spLocks/>
          </p:cNvSpPr>
          <p:nvPr/>
        </p:nvSpPr>
        <p:spPr>
          <a:xfrm>
            <a:off x="2356391" y="3399818"/>
            <a:ext cx="1551855" cy="6959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Diego Cánepa</a:t>
            </a:r>
          </a:p>
          <a:p>
            <a:pPr marL="0" indent="0" algn="ctr">
              <a:lnSpc>
                <a:spcPct val="10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Founder</a:t>
            </a:r>
          </a:p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Lead Designer Programmer</a:t>
            </a:r>
          </a:p>
        </p:txBody>
      </p:sp>
      <p:sp>
        <p:nvSpPr>
          <p:cNvPr id="9" name="Google Shape;1000;p37">
            <a:extLst>
              <a:ext uri="{FF2B5EF4-FFF2-40B4-BE49-F238E27FC236}">
                <a16:creationId xmlns:a16="http://schemas.microsoft.com/office/drawing/2014/main" id="{A5F3AC40-DE36-50F1-275A-042F7E3AECE2}"/>
              </a:ext>
            </a:extLst>
          </p:cNvPr>
          <p:cNvSpPr txBox="1">
            <a:spLocks/>
          </p:cNvSpPr>
          <p:nvPr/>
        </p:nvSpPr>
        <p:spPr>
          <a:xfrm>
            <a:off x="3908138" y="3399818"/>
            <a:ext cx="1329245" cy="337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Pablo Mamone</a:t>
            </a:r>
            <a:b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Lead Designer</a:t>
            </a:r>
          </a:p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Project Manager</a:t>
            </a:r>
          </a:p>
        </p:txBody>
      </p:sp>
      <p:sp>
        <p:nvSpPr>
          <p:cNvPr id="10" name="Google Shape;1000;p37">
            <a:extLst>
              <a:ext uri="{FF2B5EF4-FFF2-40B4-BE49-F238E27FC236}">
                <a16:creationId xmlns:a16="http://schemas.microsoft.com/office/drawing/2014/main" id="{FB2C3E88-15B8-E8A9-33BF-ED3C0D951639}"/>
              </a:ext>
            </a:extLst>
          </p:cNvPr>
          <p:cNvSpPr txBox="1">
            <a:spLocks/>
          </p:cNvSpPr>
          <p:nvPr/>
        </p:nvSpPr>
        <p:spPr>
          <a:xfrm>
            <a:off x="5235756" y="3398672"/>
            <a:ext cx="1622074" cy="474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Durgan Nallar</a:t>
            </a:r>
          </a:p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Game Designer</a:t>
            </a:r>
            <a:b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Narrative Designer</a:t>
            </a:r>
          </a:p>
        </p:txBody>
      </p:sp>
      <p:pic>
        <p:nvPicPr>
          <p:cNvPr id="7" name="Picture 6" descr="A pixelated blue square with white letters">
            <a:extLst>
              <a:ext uri="{FF2B5EF4-FFF2-40B4-BE49-F238E27FC236}">
                <a16:creationId xmlns:a16="http://schemas.microsoft.com/office/drawing/2014/main" id="{7337FE17-4928-293F-1ED9-D8621D7CE74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425954" y="3245085"/>
            <a:ext cx="163824" cy="163824"/>
          </a:xfrm>
          <a:prstGeom prst="rect">
            <a:avLst/>
          </a:prstGeom>
        </p:spPr>
      </p:pic>
      <p:pic>
        <p:nvPicPr>
          <p:cNvPr id="11" name="Picture 10" descr="A pixelated blue square with white letters">
            <a:extLst>
              <a:ext uri="{FF2B5EF4-FFF2-40B4-BE49-F238E27FC236}">
                <a16:creationId xmlns:a16="http://schemas.microsoft.com/office/drawing/2014/main" id="{E82CA1BC-7566-2E35-DBA1-BC638CF7F683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891568" y="3245085"/>
            <a:ext cx="163824" cy="163824"/>
          </a:xfrm>
          <a:prstGeom prst="rect">
            <a:avLst/>
          </a:prstGeom>
        </p:spPr>
      </p:pic>
      <p:pic>
        <p:nvPicPr>
          <p:cNvPr id="12" name="Picture 11" descr="A pixelated blue square with white letters">
            <a:extLst>
              <a:ext uri="{FF2B5EF4-FFF2-40B4-BE49-F238E27FC236}">
                <a16:creationId xmlns:a16="http://schemas.microsoft.com/office/drawing/2014/main" id="{84C4BD57-46E4-5A85-9EB1-E11DF5D28357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31248" y="3234848"/>
            <a:ext cx="163824" cy="163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7476586"/>
      </p:ext>
    </p:extLst>
  </p:cSld>
  <p:clrMapOvr>
    <a:masterClrMapping/>
  </p:clrMapOvr>
</p:sld>
</file>

<file path=ppt/theme/theme1.xml><?xml version="1.0" encoding="utf-8"?>
<a:theme xmlns:a="http://schemas.openxmlformats.org/drawingml/2006/main" name="Super Pixel Vintage Gaming by Slidesgo">
  <a:themeElements>
    <a:clrScheme name="Simple Light">
      <a:dk1>
        <a:srgbClr val="FFFF00"/>
      </a:dk1>
      <a:lt1>
        <a:srgbClr val="FFFFFF"/>
      </a:lt1>
      <a:dk2>
        <a:srgbClr val="0E2433"/>
      </a:dk2>
      <a:lt2>
        <a:srgbClr val="45B6FE"/>
      </a:lt2>
      <a:accent1>
        <a:srgbClr val="3792CB"/>
      </a:accent1>
      <a:accent2>
        <a:srgbClr val="296D98"/>
      </a:accent2>
      <a:accent3>
        <a:srgbClr val="1C4966"/>
      </a:accent3>
      <a:accent4>
        <a:srgbClr val="000000"/>
      </a:accent4>
      <a:accent5>
        <a:srgbClr val="0E2433"/>
      </a:accent5>
      <a:accent6>
        <a:srgbClr val="45B6FE"/>
      </a:accent6>
      <a:hlink>
        <a:srgbClr val="FFFF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3112</TotalTime>
  <Words>969</Words>
  <Application>Microsoft Office PowerPoint</Application>
  <PresentationFormat>On-screen Show (16:9)</PresentationFormat>
  <Paragraphs>163</Paragraphs>
  <Slides>20</Slides>
  <Notes>13</Notes>
  <HiddenSlides>0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0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Maven Pro</vt:lpstr>
      <vt:lpstr>Arial</vt:lpstr>
      <vt:lpstr>Press Start 2P</vt:lpstr>
      <vt:lpstr>Super Pixel Vintage Gaming by Slidesgo</vt:lpstr>
      <vt:lpstr>PowerPoint Presentation</vt:lpstr>
      <vt:lpstr>Overview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Diego Canepa</dc:creator>
  <cp:lastModifiedBy>Diego Canepa</cp:lastModifiedBy>
  <cp:revision>642</cp:revision>
  <dcterms:modified xsi:type="dcterms:W3CDTF">2025-09-09T03:25:38Z</dcterms:modified>
</cp:coreProperties>
</file>