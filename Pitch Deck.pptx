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8" r:id="rId1"/>
  </p:sldMasterIdLst>
  <p:notesMasterIdLst>
    <p:notesMasterId r:id="rId17"/>
  </p:notesMasterIdLst>
  <p:sldIdLst>
    <p:sldId id="330" r:id="rId2"/>
    <p:sldId id="260" r:id="rId3"/>
    <p:sldId id="350" r:id="rId4"/>
    <p:sldId id="351" r:id="rId5"/>
    <p:sldId id="345" r:id="rId6"/>
    <p:sldId id="355" r:id="rId7"/>
    <p:sldId id="357" r:id="rId8"/>
    <p:sldId id="349" r:id="rId9"/>
    <p:sldId id="333" r:id="rId10"/>
    <p:sldId id="323" r:id="rId11"/>
    <p:sldId id="324" r:id="rId12"/>
    <p:sldId id="320" r:id="rId13"/>
    <p:sldId id="358" r:id="rId14"/>
    <p:sldId id="343" r:id="rId15"/>
    <p:sldId id="321" r:id="rId16"/>
  </p:sldIdLst>
  <p:sldSz cx="9144000" cy="5143500" type="screen16x9"/>
  <p:notesSz cx="6858000" cy="9144000"/>
  <p:embeddedFontLst>
    <p:embeddedFont>
      <p:font typeface="Maven Pro" panose="020B0604020202020204" charset="0"/>
      <p:regular r:id="rId18"/>
      <p:bold r:id="rId19"/>
    </p:embeddedFont>
    <p:embeddedFont>
      <p:font typeface="Press Start 2P" panose="00000500000000000000" pitchFamily="2" charset="0"/>
      <p:regular r:id="rId20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B5130"/>
    <a:srgbClr val="BD6A62"/>
    <a:srgbClr val="8F4D57"/>
    <a:srgbClr val="3B7D4F"/>
    <a:srgbClr val="FF2121"/>
    <a:srgbClr val="800000"/>
    <a:srgbClr val="52333F"/>
    <a:srgbClr val="F6CA15"/>
    <a:srgbClr val="333300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7D3D775-E612-4A68-ABBB-C3B02DE864C1}">
  <a:tblStyle styleId="{67D3D775-E612-4A68-ABBB-C3B02DE864C1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28" d="100"/>
          <a:sy n="128" d="100"/>
        </p:scale>
        <p:origin x="1134" y="330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1.fntdata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3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font" Target="fonts/font2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4858403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780F424A-984B-8DE7-A098-1F34836D91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835DCF18-8AFB-B827-9C96-C62B578BCB4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56662914-27BE-EECE-904C-10C6EDE4F17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95562326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933ADB03-200D-258B-C7C3-7908B84262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88312192-2B63-1398-952D-E6EC0E2DBFE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02890061-A834-5D1E-5E63-02581E059A1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26905941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0EAE9E16-E741-2AFC-528A-5D362D2279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E9823407-3371-B2D4-9D7A-A39E9B64048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AC167794-BB93-5CE2-C42A-81372300372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1158166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4187F902-DF7D-842C-4A79-8343FC74A7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30A0F839-F3B8-E88D-36F2-F51FF7A4635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1C3C806C-C97B-20DD-4960-1CFEDF3F2A2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63028598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9DD1AC29-AAD8-3BF1-6128-D7D32F35D6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38A8E7BC-C8A6-D3B5-2332-15BBB630ACC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A5569CFE-0103-6B4E-5AB0-7E5DBED1589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52648146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22717E27-6FB4-BC23-2466-5E75556A26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A183FEBC-059D-AB63-AF33-EAD32DED9D5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23BBDD17-5A60-0D6A-F8AE-B4102593279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4688075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074B9D20-03E9-9419-86F2-50EF17F4CE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FAE5FF0C-BFBA-F92A-9C44-4B6A9AD6894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AB190A7B-7E94-3D7E-61E9-04A6B4738C8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52319568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C7A66D30-EEBA-D26C-B7E5-02FA0B7542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2F2516FD-8C92-0365-481F-B95A12E7071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1DBD48D3-210D-84C6-D120-2FBA89D216C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81842973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4D07437F-E0EA-831F-F2B8-84F59181FE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A074959D-9AA7-D270-552C-3D655A2FDB8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63C974D2-18E8-8BEA-6DD5-A55D55F8709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9502484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ABBC480F-1BDD-CF52-A0AD-F5C925048E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EB9373A4-F5BE-B7AC-B93F-CCF5D3E1AAE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1B19FCD1-F79A-3F1F-80A1-83C58A49795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4128988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80B67A76-22B9-84A6-E145-6E495BB36F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B5890F23-F67E-1640-6079-4989FAB6A9D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1035D575-CF13-4A7B-2B86-7A49D158055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13057557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/>
          <p:nvPr/>
        </p:nvSpPr>
        <p:spPr>
          <a:xfrm>
            <a:off x="2359753" y="484229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" name="Google Shape;10;p2"/>
          <p:cNvSpPr/>
          <p:nvPr/>
        </p:nvSpPr>
        <p:spPr>
          <a:xfrm>
            <a:off x="2949468" y="484229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" name="Google Shape;11;p2"/>
          <p:cNvSpPr/>
          <p:nvPr/>
        </p:nvSpPr>
        <p:spPr>
          <a:xfrm>
            <a:off x="5897255" y="4842290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" name="Google Shape;12;p2"/>
          <p:cNvSpPr/>
          <p:nvPr/>
        </p:nvSpPr>
        <p:spPr>
          <a:xfrm>
            <a:off x="8257017" y="484250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" name="Google Shape;13;p2"/>
          <p:cNvSpPr/>
          <p:nvPr/>
        </p:nvSpPr>
        <p:spPr>
          <a:xfrm>
            <a:off x="860" y="4239249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" name="Google Shape;14;p2"/>
          <p:cNvSpPr/>
          <p:nvPr/>
        </p:nvSpPr>
        <p:spPr>
          <a:xfrm>
            <a:off x="590576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" name="Google Shape;15;p2"/>
          <p:cNvSpPr/>
          <p:nvPr/>
        </p:nvSpPr>
        <p:spPr>
          <a:xfrm>
            <a:off x="1180291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" name="Google Shape;16;p2"/>
          <p:cNvSpPr/>
          <p:nvPr/>
        </p:nvSpPr>
        <p:spPr>
          <a:xfrm>
            <a:off x="1770006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" name="Google Shape;17;p2"/>
          <p:cNvSpPr/>
          <p:nvPr/>
        </p:nvSpPr>
        <p:spPr>
          <a:xfrm>
            <a:off x="2949468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" name="Google Shape;18;p2"/>
          <p:cNvSpPr/>
          <p:nvPr/>
        </p:nvSpPr>
        <p:spPr>
          <a:xfrm>
            <a:off x="3539183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" name="Google Shape;19;p2"/>
          <p:cNvSpPr/>
          <p:nvPr/>
        </p:nvSpPr>
        <p:spPr>
          <a:xfrm>
            <a:off x="5308360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" name="Google Shape;20;p2"/>
          <p:cNvSpPr/>
          <p:nvPr/>
        </p:nvSpPr>
        <p:spPr>
          <a:xfrm>
            <a:off x="5898106" y="4239249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" name="Google Shape;21;p2"/>
          <p:cNvSpPr/>
          <p:nvPr/>
        </p:nvSpPr>
        <p:spPr>
          <a:xfrm>
            <a:off x="6487821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" name="Google Shape;22;p2"/>
          <p:cNvSpPr/>
          <p:nvPr/>
        </p:nvSpPr>
        <p:spPr>
          <a:xfrm>
            <a:off x="7077537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" name="Google Shape;23;p2"/>
          <p:cNvSpPr/>
          <p:nvPr/>
        </p:nvSpPr>
        <p:spPr>
          <a:xfrm>
            <a:off x="860" y="3637064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" name="Google Shape;24;p2"/>
          <p:cNvSpPr/>
          <p:nvPr/>
        </p:nvSpPr>
        <p:spPr>
          <a:xfrm>
            <a:off x="8257868" y="3637275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" name="Google Shape;28;p2"/>
          <p:cNvSpPr/>
          <p:nvPr/>
        </p:nvSpPr>
        <p:spPr>
          <a:xfrm>
            <a:off x="8847625" y="4239877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" name="Google Shape;32;p2"/>
          <p:cNvSpPr/>
          <p:nvPr/>
        </p:nvSpPr>
        <p:spPr>
          <a:xfrm>
            <a:off x="591488" y="36370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" name="Google Shape;33;p2"/>
          <p:cNvSpPr/>
          <p:nvPr/>
        </p:nvSpPr>
        <p:spPr>
          <a:xfrm>
            <a:off x="801" y="4842282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" name="Google Shape;34;p2"/>
          <p:cNvSpPr/>
          <p:nvPr/>
        </p:nvSpPr>
        <p:spPr>
          <a:xfrm>
            <a:off x="591020" y="48422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" name="Google Shape;35;p2"/>
          <p:cNvSpPr/>
          <p:nvPr/>
        </p:nvSpPr>
        <p:spPr>
          <a:xfrm>
            <a:off x="1180782" y="4842263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" name="Google Shape;36;p2"/>
          <p:cNvSpPr/>
          <p:nvPr/>
        </p:nvSpPr>
        <p:spPr>
          <a:xfrm>
            <a:off x="1769780" y="484055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2"/>
          <p:cNvSpPr/>
          <p:nvPr/>
        </p:nvSpPr>
        <p:spPr>
          <a:xfrm>
            <a:off x="3539196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" name="Google Shape;38;p2"/>
          <p:cNvSpPr/>
          <p:nvPr/>
        </p:nvSpPr>
        <p:spPr>
          <a:xfrm>
            <a:off x="4128530" y="48405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" name="Google Shape;39;p2"/>
          <p:cNvSpPr/>
          <p:nvPr/>
        </p:nvSpPr>
        <p:spPr>
          <a:xfrm>
            <a:off x="4717807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" name="Google Shape;40;p2"/>
          <p:cNvSpPr/>
          <p:nvPr/>
        </p:nvSpPr>
        <p:spPr>
          <a:xfrm>
            <a:off x="5308000" y="4840551"/>
            <a:ext cx="294438" cy="301148"/>
          </a:xfrm>
          <a:custGeom>
            <a:avLst/>
            <a:gdLst/>
            <a:ahLst/>
            <a:cxnLst/>
            <a:rect l="l" t="t" r="r" b="b"/>
            <a:pathLst>
              <a:path w="9485" h="10549" extrusionOk="0">
                <a:moveTo>
                  <a:pt x="1" y="1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" name="Google Shape;41;p2"/>
          <p:cNvSpPr/>
          <p:nvPr/>
        </p:nvSpPr>
        <p:spPr>
          <a:xfrm>
            <a:off x="6486964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" name="Google Shape;42;p2"/>
          <p:cNvSpPr/>
          <p:nvPr/>
        </p:nvSpPr>
        <p:spPr>
          <a:xfrm>
            <a:off x="7076686" y="484417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" name="Google Shape;43;p2"/>
          <p:cNvSpPr/>
          <p:nvPr/>
        </p:nvSpPr>
        <p:spPr>
          <a:xfrm>
            <a:off x="4128903" y="4239301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4" name="Google Shape;44;p2"/>
          <p:cNvSpPr/>
          <p:nvPr/>
        </p:nvSpPr>
        <p:spPr>
          <a:xfrm>
            <a:off x="7668171" y="4238203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rgbClr val="8F4D57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" name="Google Shape;45;p2"/>
          <p:cNvSpPr/>
          <p:nvPr/>
        </p:nvSpPr>
        <p:spPr>
          <a:xfrm>
            <a:off x="7666398" y="4840524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" name="Google Shape;46;p2"/>
          <p:cNvSpPr/>
          <p:nvPr/>
        </p:nvSpPr>
        <p:spPr>
          <a:xfrm>
            <a:off x="8257900" y="4239459"/>
            <a:ext cx="294407" cy="301975"/>
          </a:xfrm>
          <a:custGeom>
            <a:avLst/>
            <a:gdLst/>
            <a:ahLst/>
            <a:cxnLst/>
            <a:rect l="l" t="t" r="r" b="b"/>
            <a:pathLst>
              <a:path w="9484" h="10578" extrusionOk="0">
                <a:moveTo>
                  <a:pt x="0" y="0"/>
                </a:moveTo>
                <a:lnTo>
                  <a:pt x="0" y="10578"/>
                </a:lnTo>
                <a:lnTo>
                  <a:pt x="9484" y="10578"/>
                </a:lnTo>
                <a:lnTo>
                  <a:pt x="9484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47;p2"/>
          <p:cNvSpPr/>
          <p:nvPr/>
        </p:nvSpPr>
        <p:spPr>
          <a:xfrm>
            <a:off x="8848580" y="4842049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48;p2"/>
          <p:cNvSpPr/>
          <p:nvPr/>
        </p:nvSpPr>
        <p:spPr>
          <a:xfrm>
            <a:off x="8848631" y="363729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4" name="Google Shape;54;p2"/>
          <p:cNvSpPr txBox="1">
            <a:spLocks noGrp="1"/>
          </p:cNvSpPr>
          <p:nvPr>
            <p:ph type="ctrTitle"/>
          </p:nvPr>
        </p:nvSpPr>
        <p:spPr>
          <a:xfrm>
            <a:off x="1841100" y="2279225"/>
            <a:ext cx="5461800" cy="948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3500">
                <a:solidFill>
                  <a:srgbClr val="FFFFFF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2pPr>
            <a:lvl3pPr lvl="2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3pPr>
            <a:lvl4pPr lvl="3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4pPr>
            <a:lvl5pPr lvl="4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5pPr>
            <a:lvl6pPr lvl="5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6pPr>
            <a:lvl7pPr lvl="6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7pPr>
            <a:lvl8pPr lvl="7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8pPr>
            <a:lvl9pPr lvl="8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9pPr>
          </a:lstStyle>
          <a:p>
            <a:endParaRPr/>
          </a:p>
        </p:txBody>
      </p:sp>
      <p:sp>
        <p:nvSpPr>
          <p:cNvPr id="55" name="Google Shape;55;p2"/>
          <p:cNvSpPr txBox="1">
            <a:spLocks noGrp="1"/>
          </p:cNvSpPr>
          <p:nvPr>
            <p:ph type="subTitle" idx="1"/>
          </p:nvPr>
        </p:nvSpPr>
        <p:spPr>
          <a:xfrm>
            <a:off x="2358950" y="3281500"/>
            <a:ext cx="4283100" cy="525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800" b="0"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56" name="Google Shape;56;p2"/>
          <p:cNvSpPr txBox="1">
            <a:spLocks noGrp="1"/>
          </p:cNvSpPr>
          <p:nvPr>
            <p:ph type="ctrTitle" idx="2"/>
          </p:nvPr>
        </p:nvSpPr>
        <p:spPr>
          <a:xfrm>
            <a:off x="713100" y="1323175"/>
            <a:ext cx="7717800" cy="732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43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9pPr>
          </a:lstStyle>
          <a:p>
            <a:endParaRPr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preserve="1" userDrawn="1">
  <p:cSld name="Title only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/>
          <p:nvPr/>
        </p:nvSpPr>
        <p:spPr>
          <a:xfrm>
            <a:off x="2359753" y="484229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" name="Google Shape;10;p2"/>
          <p:cNvSpPr/>
          <p:nvPr/>
        </p:nvSpPr>
        <p:spPr>
          <a:xfrm>
            <a:off x="2949468" y="484229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" name="Google Shape;11;p2"/>
          <p:cNvSpPr/>
          <p:nvPr/>
        </p:nvSpPr>
        <p:spPr>
          <a:xfrm>
            <a:off x="5897255" y="4842290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" name="Google Shape;12;p2"/>
          <p:cNvSpPr/>
          <p:nvPr/>
        </p:nvSpPr>
        <p:spPr>
          <a:xfrm>
            <a:off x="8257017" y="484250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" name="Google Shape;13;p2"/>
          <p:cNvSpPr/>
          <p:nvPr/>
        </p:nvSpPr>
        <p:spPr>
          <a:xfrm>
            <a:off x="860" y="4239249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" name="Google Shape;14;p2"/>
          <p:cNvSpPr/>
          <p:nvPr/>
        </p:nvSpPr>
        <p:spPr>
          <a:xfrm>
            <a:off x="590576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" name="Google Shape;15;p2"/>
          <p:cNvSpPr/>
          <p:nvPr/>
        </p:nvSpPr>
        <p:spPr>
          <a:xfrm>
            <a:off x="1180291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" name="Google Shape;16;p2"/>
          <p:cNvSpPr/>
          <p:nvPr/>
        </p:nvSpPr>
        <p:spPr>
          <a:xfrm>
            <a:off x="1770006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" name="Google Shape;17;p2"/>
          <p:cNvSpPr/>
          <p:nvPr/>
        </p:nvSpPr>
        <p:spPr>
          <a:xfrm>
            <a:off x="2949468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" name="Google Shape;18;p2"/>
          <p:cNvSpPr/>
          <p:nvPr/>
        </p:nvSpPr>
        <p:spPr>
          <a:xfrm>
            <a:off x="3539183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" name="Google Shape;19;p2"/>
          <p:cNvSpPr/>
          <p:nvPr/>
        </p:nvSpPr>
        <p:spPr>
          <a:xfrm>
            <a:off x="5308360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" name="Google Shape;20;p2"/>
          <p:cNvSpPr/>
          <p:nvPr/>
        </p:nvSpPr>
        <p:spPr>
          <a:xfrm>
            <a:off x="5898106" y="4239249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" name="Google Shape;21;p2"/>
          <p:cNvSpPr/>
          <p:nvPr/>
        </p:nvSpPr>
        <p:spPr>
          <a:xfrm>
            <a:off x="6487821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" name="Google Shape;22;p2"/>
          <p:cNvSpPr/>
          <p:nvPr/>
        </p:nvSpPr>
        <p:spPr>
          <a:xfrm>
            <a:off x="7077537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" name="Google Shape;23;p2"/>
          <p:cNvSpPr/>
          <p:nvPr/>
        </p:nvSpPr>
        <p:spPr>
          <a:xfrm>
            <a:off x="860" y="3637064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" name="Google Shape;24;p2"/>
          <p:cNvSpPr/>
          <p:nvPr/>
        </p:nvSpPr>
        <p:spPr>
          <a:xfrm>
            <a:off x="8257868" y="3637275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" name="Google Shape;28;p2"/>
          <p:cNvSpPr/>
          <p:nvPr/>
        </p:nvSpPr>
        <p:spPr>
          <a:xfrm>
            <a:off x="8847625" y="4239877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" name="Google Shape;32;p2"/>
          <p:cNvSpPr/>
          <p:nvPr/>
        </p:nvSpPr>
        <p:spPr>
          <a:xfrm>
            <a:off x="591488" y="36370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" name="Google Shape;33;p2"/>
          <p:cNvSpPr/>
          <p:nvPr/>
        </p:nvSpPr>
        <p:spPr>
          <a:xfrm>
            <a:off x="801" y="4842282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" name="Google Shape;34;p2"/>
          <p:cNvSpPr/>
          <p:nvPr/>
        </p:nvSpPr>
        <p:spPr>
          <a:xfrm>
            <a:off x="591020" y="48422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" name="Google Shape;35;p2"/>
          <p:cNvSpPr/>
          <p:nvPr/>
        </p:nvSpPr>
        <p:spPr>
          <a:xfrm>
            <a:off x="1180782" y="4842263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" name="Google Shape;36;p2"/>
          <p:cNvSpPr/>
          <p:nvPr/>
        </p:nvSpPr>
        <p:spPr>
          <a:xfrm>
            <a:off x="1769780" y="484055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2"/>
          <p:cNvSpPr/>
          <p:nvPr/>
        </p:nvSpPr>
        <p:spPr>
          <a:xfrm>
            <a:off x="3539196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" name="Google Shape;38;p2"/>
          <p:cNvSpPr/>
          <p:nvPr/>
        </p:nvSpPr>
        <p:spPr>
          <a:xfrm>
            <a:off x="4128530" y="48405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" name="Google Shape;39;p2"/>
          <p:cNvSpPr/>
          <p:nvPr/>
        </p:nvSpPr>
        <p:spPr>
          <a:xfrm>
            <a:off x="4717807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" name="Google Shape;40;p2"/>
          <p:cNvSpPr/>
          <p:nvPr/>
        </p:nvSpPr>
        <p:spPr>
          <a:xfrm>
            <a:off x="5308000" y="4840551"/>
            <a:ext cx="294438" cy="301148"/>
          </a:xfrm>
          <a:custGeom>
            <a:avLst/>
            <a:gdLst/>
            <a:ahLst/>
            <a:cxnLst/>
            <a:rect l="l" t="t" r="r" b="b"/>
            <a:pathLst>
              <a:path w="9485" h="10549" extrusionOk="0">
                <a:moveTo>
                  <a:pt x="1" y="1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" name="Google Shape;41;p2"/>
          <p:cNvSpPr/>
          <p:nvPr/>
        </p:nvSpPr>
        <p:spPr>
          <a:xfrm>
            <a:off x="6486964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" name="Google Shape;42;p2"/>
          <p:cNvSpPr/>
          <p:nvPr/>
        </p:nvSpPr>
        <p:spPr>
          <a:xfrm>
            <a:off x="7076686" y="484417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" name="Google Shape;43;p2"/>
          <p:cNvSpPr/>
          <p:nvPr/>
        </p:nvSpPr>
        <p:spPr>
          <a:xfrm>
            <a:off x="4128903" y="4239301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4" name="Google Shape;44;p2"/>
          <p:cNvSpPr/>
          <p:nvPr/>
        </p:nvSpPr>
        <p:spPr>
          <a:xfrm>
            <a:off x="7668171" y="4238203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" name="Google Shape;45;p2"/>
          <p:cNvSpPr/>
          <p:nvPr/>
        </p:nvSpPr>
        <p:spPr>
          <a:xfrm>
            <a:off x="7666398" y="4840524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" name="Google Shape;46;p2"/>
          <p:cNvSpPr/>
          <p:nvPr/>
        </p:nvSpPr>
        <p:spPr>
          <a:xfrm>
            <a:off x="8257900" y="4239459"/>
            <a:ext cx="294407" cy="301975"/>
          </a:xfrm>
          <a:custGeom>
            <a:avLst/>
            <a:gdLst/>
            <a:ahLst/>
            <a:cxnLst/>
            <a:rect l="l" t="t" r="r" b="b"/>
            <a:pathLst>
              <a:path w="9484" h="10578" extrusionOk="0">
                <a:moveTo>
                  <a:pt x="0" y="0"/>
                </a:moveTo>
                <a:lnTo>
                  <a:pt x="0" y="10578"/>
                </a:lnTo>
                <a:lnTo>
                  <a:pt x="9484" y="10578"/>
                </a:lnTo>
                <a:lnTo>
                  <a:pt x="948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47;p2"/>
          <p:cNvSpPr/>
          <p:nvPr/>
        </p:nvSpPr>
        <p:spPr>
          <a:xfrm>
            <a:off x="8848580" y="4842049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48;p2"/>
          <p:cNvSpPr/>
          <p:nvPr/>
        </p:nvSpPr>
        <p:spPr>
          <a:xfrm>
            <a:off x="8848631" y="363729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" name="Google Shape;9;p2">
            <a:extLst>
              <a:ext uri="{FF2B5EF4-FFF2-40B4-BE49-F238E27FC236}">
                <a16:creationId xmlns:a16="http://schemas.microsoft.com/office/drawing/2014/main" id="{B74B651D-B17C-77C1-7A71-72E8190EF5C2}"/>
              </a:ext>
            </a:extLst>
          </p:cNvPr>
          <p:cNvSpPr/>
          <p:nvPr userDrawn="1"/>
        </p:nvSpPr>
        <p:spPr>
          <a:xfrm>
            <a:off x="2358747" y="604087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Google Shape;10;p2">
            <a:extLst>
              <a:ext uri="{FF2B5EF4-FFF2-40B4-BE49-F238E27FC236}">
                <a16:creationId xmlns:a16="http://schemas.microsoft.com/office/drawing/2014/main" id="{3435CFA5-74C7-AD14-88DC-40B1595375B8}"/>
              </a:ext>
            </a:extLst>
          </p:cNvPr>
          <p:cNvSpPr/>
          <p:nvPr userDrawn="1"/>
        </p:nvSpPr>
        <p:spPr>
          <a:xfrm>
            <a:off x="2948462" y="604087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" name="Google Shape;11;p2">
            <a:extLst>
              <a:ext uri="{FF2B5EF4-FFF2-40B4-BE49-F238E27FC236}">
                <a16:creationId xmlns:a16="http://schemas.microsoft.com/office/drawing/2014/main" id="{0803F4CA-8D86-A4C4-B692-25D42C135A77}"/>
              </a:ext>
            </a:extLst>
          </p:cNvPr>
          <p:cNvSpPr/>
          <p:nvPr userDrawn="1"/>
        </p:nvSpPr>
        <p:spPr>
          <a:xfrm>
            <a:off x="5896249" y="604087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" name="Google Shape;12;p2">
            <a:extLst>
              <a:ext uri="{FF2B5EF4-FFF2-40B4-BE49-F238E27FC236}">
                <a16:creationId xmlns:a16="http://schemas.microsoft.com/office/drawing/2014/main" id="{ECD4822F-7194-3A81-4434-79104FE737E6}"/>
              </a:ext>
            </a:extLst>
          </p:cNvPr>
          <p:cNvSpPr/>
          <p:nvPr userDrawn="1"/>
        </p:nvSpPr>
        <p:spPr>
          <a:xfrm>
            <a:off x="8256011" y="604298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" name="Google Shape;13;p2">
            <a:extLst>
              <a:ext uri="{FF2B5EF4-FFF2-40B4-BE49-F238E27FC236}">
                <a16:creationId xmlns:a16="http://schemas.microsoft.com/office/drawing/2014/main" id="{6402B80D-9BE5-0C99-CB10-EEEF944BD193}"/>
              </a:ext>
            </a:extLst>
          </p:cNvPr>
          <p:cNvSpPr/>
          <p:nvPr userDrawn="1"/>
        </p:nvSpPr>
        <p:spPr>
          <a:xfrm>
            <a:off x="-146" y="1046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" name="Google Shape;14;p2">
            <a:extLst>
              <a:ext uri="{FF2B5EF4-FFF2-40B4-BE49-F238E27FC236}">
                <a16:creationId xmlns:a16="http://schemas.microsoft.com/office/drawing/2014/main" id="{641F2603-8162-37F9-190B-9FC9FA614BD4}"/>
              </a:ext>
            </a:extLst>
          </p:cNvPr>
          <p:cNvSpPr/>
          <p:nvPr userDrawn="1"/>
        </p:nvSpPr>
        <p:spPr>
          <a:xfrm>
            <a:off x="589570" y="104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" name="Google Shape;15;p2">
            <a:extLst>
              <a:ext uri="{FF2B5EF4-FFF2-40B4-BE49-F238E27FC236}">
                <a16:creationId xmlns:a16="http://schemas.microsoft.com/office/drawing/2014/main" id="{2A934EE3-D739-7928-4671-434B3EF00098}"/>
              </a:ext>
            </a:extLst>
          </p:cNvPr>
          <p:cNvSpPr/>
          <p:nvPr userDrawn="1"/>
        </p:nvSpPr>
        <p:spPr>
          <a:xfrm>
            <a:off x="1179285" y="104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" name="Google Shape;16;p2">
            <a:extLst>
              <a:ext uri="{FF2B5EF4-FFF2-40B4-BE49-F238E27FC236}">
                <a16:creationId xmlns:a16="http://schemas.microsoft.com/office/drawing/2014/main" id="{9FA21B27-6F61-C00A-2BDB-ADCE7A4C9EDA}"/>
              </a:ext>
            </a:extLst>
          </p:cNvPr>
          <p:cNvSpPr/>
          <p:nvPr userDrawn="1"/>
        </p:nvSpPr>
        <p:spPr>
          <a:xfrm>
            <a:off x="1769000" y="104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" name="Google Shape;17;p2">
            <a:extLst>
              <a:ext uri="{FF2B5EF4-FFF2-40B4-BE49-F238E27FC236}">
                <a16:creationId xmlns:a16="http://schemas.microsoft.com/office/drawing/2014/main" id="{321A6377-A923-113C-3F04-32A14ACDA60D}"/>
              </a:ext>
            </a:extLst>
          </p:cNvPr>
          <p:cNvSpPr/>
          <p:nvPr userDrawn="1"/>
        </p:nvSpPr>
        <p:spPr>
          <a:xfrm>
            <a:off x="2948462" y="104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" name="Google Shape;18;p2">
            <a:extLst>
              <a:ext uri="{FF2B5EF4-FFF2-40B4-BE49-F238E27FC236}">
                <a16:creationId xmlns:a16="http://schemas.microsoft.com/office/drawing/2014/main" id="{BD4DC746-5D3A-4CBD-6BF7-743A5CD81AFE}"/>
              </a:ext>
            </a:extLst>
          </p:cNvPr>
          <p:cNvSpPr/>
          <p:nvPr userDrawn="1"/>
        </p:nvSpPr>
        <p:spPr>
          <a:xfrm>
            <a:off x="3538177" y="104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" name="Google Shape;19;p2">
            <a:extLst>
              <a:ext uri="{FF2B5EF4-FFF2-40B4-BE49-F238E27FC236}">
                <a16:creationId xmlns:a16="http://schemas.microsoft.com/office/drawing/2014/main" id="{6A1A2A16-9CB1-39D0-F713-638C4A62A220}"/>
              </a:ext>
            </a:extLst>
          </p:cNvPr>
          <p:cNvSpPr/>
          <p:nvPr userDrawn="1"/>
        </p:nvSpPr>
        <p:spPr>
          <a:xfrm>
            <a:off x="5307354" y="104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" name="Google Shape;20;p2">
            <a:extLst>
              <a:ext uri="{FF2B5EF4-FFF2-40B4-BE49-F238E27FC236}">
                <a16:creationId xmlns:a16="http://schemas.microsoft.com/office/drawing/2014/main" id="{7ACC9AD9-5865-A0E9-AC52-4D33BD3690E4}"/>
              </a:ext>
            </a:extLst>
          </p:cNvPr>
          <p:cNvSpPr/>
          <p:nvPr userDrawn="1"/>
        </p:nvSpPr>
        <p:spPr>
          <a:xfrm>
            <a:off x="5897100" y="1046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" name="Google Shape;21;p2">
            <a:extLst>
              <a:ext uri="{FF2B5EF4-FFF2-40B4-BE49-F238E27FC236}">
                <a16:creationId xmlns:a16="http://schemas.microsoft.com/office/drawing/2014/main" id="{85053872-D365-5AD1-6905-3C4802BBB19F}"/>
              </a:ext>
            </a:extLst>
          </p:cNvPr>
          <p:cNvSpPr/>
          <p:nvPr userDrawn="1"/>
        </p:nvSpPr>
        <p:spPr>
          <a:xfrm>
            <a:off x="6486815" y="104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" name="Google Shape;22;p2">
            <a:extLst>
              <a:ext uri="{FF2B5EF4-FFF2-40B4-BE49-F238E27FC236}">
                <a16:creationId xmlns:a16="http://schemas.microsoft.com/office/drawing/2014/main" id="{A1A26F75-7B15-DA54-4FBA-96641762CA2A}"/>
              </a:ext>
            </a:extLst>
          </p:cNvPr>
          <p:cNvSpPr/>
          <p:nvPr userDrawn="1"/>
        </p:nvSpPr>
        <p:spPr>
          <a:xfrm>
            <a:off x="7076531" y="104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" name="Google Shape;23;p2">
            <a:extLst>
              <a:ext uri="{FF2B5EF4-FFF2-40B4-BE49-F238E27FC236}">
                <a16:creationId xmlns:a16="http://schemas.microsoft.com/office/drawing/2014/main" id="{A683E51D-E37C-7B0B-ECC6-F0DC037071C3}"/>
              </a:ext>
            </a:extLst>
          </p:cNvPr>
          <p:cNvSpPr/>
          <p:nvPr userDrawn="1"/>
        </p:nvSpPr>
        <p:spPr>
          <a:xfrm>
            <a:off x="-146" y="1214004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1" name="Google Shape;24;p2">
            <a:extLst>
              <a:ext uri="{FF2B5EF4-FFF2-40B4-BE49-F238E27FC236}">
                <a16:creationId xmlns:a16="http://schemas.microsoft.com/office/drawing/2014/main" id="{77BCE4B0-7A80-F235-966C-7335EAA88F60}"/>
              </a:ext>
            </a:extLst>
          </p:cNvPr>
          <p:cNvSpPr/>
          <p:nvPr userDrawn="1"/>
        </p:nvSpPr>
        <p:spPr>
          <a:xfrm>
            <a:off x="8256862" y="1214215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2" name="Google Shape;28;p2">
            <a:extLst>
              <a:ext uri="{FF2B5EF4-FFF2-40B4-BE49-F238E27FC236}">
                <a16:creationId xmlns:a16="http://schemas.microsoft.com/office/drawing/2014/main" id="{39B82EB9-DFC0-1D00-9D42-668A401A6143}"/>
              </a:ext>
            </a:extLst>
          </p:cNvPr>
          <p:cNvSpPr/>
          <p:nvPr userDrawn="1"/>
        </p:nvSpPr>
        <p:spPr>
          <a:xfrm>
            <a:off x="8846619" y="1674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3" name="Google Shape;32;p2">
            <a:extLst>
              <a:ext uri="{FF2B5EF4-FFF2-40B4-BE49-F238E27FC236}">
                <a16:creationId xmlns:a16="http://schemas.microsoft.com/office/drawing/2014/main" id="{1F4981B9-479A-35D4-F980-DD023E99E00B}"/>
              </a:ext>
            </a:extLst>
          </p:cNvPr>
          <p:cNvSpPr/>
          <p:nvPr userDrawn="1"/>
        </p:nvSpPr>
        <p:spPr>
          <a:xfrm>
            <a:off x="590482" y="121399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" name="Google Shape;33;p2">
            <a:extLst>
              <a:ext uri="{FF2B5EF4-FFF2-40B4-BE49-F238E27FC236}">
                <a16:creationId xmlns:a16="http://schemas.microsoft.com/office/drawing/2014/main" id="{5BCFF738-5FB7-2F4F-B5E8-355CFFA9885E}"/>
              </a:ext>
            </a:extLst>
          </p:cNvPr>
          <p:cNvSpPr/>
          <p:nvPr userDrawn="1"/>
        </p:nvSpPr>
        <p:spPr>
          <a:xfrm>
            <a:off x="-205" y="60407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8" name="Google Shape;34;p2">
            <a:extLst>
              <a:ext uri="{FF2B5EF4-FFF2-40B4-BE49-F238E27FC236}">
                <a16:creationId xmlns:a16="http://schemas.microsoft.com/office/drawing/2014/main" id="{DD5D31B2-5E33-A4DA-9843-5FCBCDB16C45}"/>
              </a:ext>
            </a:extLst>
          </p:cNvPr>
          <p:cNvSpPr/>
          <p:nvPr userDrawn="1"/>
        </p:nvSpPr>
        <p:spPr>
          <a:xfrm>
            <a:off x="590014" y="604048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9" name="Google Shape;35;p2">
            <a:extLst>
              <a:ext uri="{FF2B5EF4-FFF2-40B4-BE49-F238E27FC236}">
                <a16:creationId xmlns:a16="http://schemas.microsoft.com/office/drawing/2014/main" id="{F7585B2B-1137-EAD1-3FA3-F5B3E8D5EE2E}"/>
              </a:ext>
            </a:extLst>
          </p:cNvPr>
          <p:cNvSpPr/>
          <p:nvPr userDrawn="1"/>
        </p:nvSpPr>
        <p:spPr>
          <a:xfrm>
            <a:off x="1179776" y="604060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0" name="Google Shape;36;p2">
            <a:extLst>
              <a:ext uri="{FF2B5EF4-FFF2-40B4-BE49-F238E27FC236}">
                <a16:creationId xmlns:a16="http://schemas.microsoft.com/office/drawing/2014/main" id="{8D1873A8-56F7-9529-AF1C-E1C29F74ADFC}"/>
              </a:ext>
            </a:extLst>
          </p:cNvPr>
          <p:cNvSpPr/>
          <p:nvPr userDrawn="1"/>
        </p:nvSpPr>
        <p:spPr>
          <a:xfrm>
            <a:off x="1768774" y="602353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1" name="Google Shape;37;p2">
            <a:extLst>
              <a:ext uri="{FF2B5EF4-FFF2-40B4-BE49-F238E27FC236}">
                <a16:creationId xmlns:a16="http://schemas.microsoft.com/office/drawing/2014/main" id="{EC8D4E83-5437-0F04-F993-5F8C5F6951E1}"/>
              </a:ext>
            </a:extLst>
          </p:cNvPr>
          <p:cNvSpPr/>
          <p:nvPr userDrawn="1"/>
        </p:nvSpPr>
        <p:spPr>
          <a:xfrm>
            <a:off x="3538190" y="602362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2" name="Google Shape;38;p2">
            <a:extLst>
              <a:ext uri="{FF2B5EF4-FFF2-40B4-BE49-F238E27FC236}">
                <a16:creationId xmlns:a16="http://schemas.microsoft.com/office/drawing/2014/main" id="{37EB1798-9C6D-53FA-9F90-61146E011FCD}"/>
              </a:ext>
            </a:extLst>
          </p:cNvPr>
          <p:cNvSpPr/>
          <p:nvPr userDrawn="1"/>
        </p:nvSpPr>
        <p:spPr>
          <a:xfrm>
            <a:off x="4127524" y="602348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3" name="Google Shape;39;p2">
            <a:extLst>
              <a:ext uri="{FF2B5EF4-FFF2-40B4-BE49-F238E27FC236}">
                <a16:creationId xmlns:a16="http://schemas.microsoft.com/office/drawing/2014/main" id="{721237CB-3D42-1D0B-B98F-82AEDB6B74D6}"/>
              </a:ext>
            </a:extLst>
          </p:cNvPr>
          <p:cNvSpPr/>
          <p:nvPr userDrawn="1"/>
        </p:nvSpPr>
        <p:spPr>
          <a:xfrm>
            <a:off x="4716801" y="602362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4" name="Google Shape;40;p2">
            <a:extLst>
              <a:ext uri="{FF2B5EF4-FFF2-40B4-BE49-F238E27FC236}">
                <a16:creationId xmlns:a16="http://schemas.microsoft.com/office/drawing/2014/main" id="{56A5222E-3CA7-90F1-4B86-CCA12686DBF1}"/>
              </a:ext>
            </a:extLst>
          </p:cNvPr>
          <p:cNvSpPr/>
          <p:nvPr userDrawn="1"/>
        </p:nvSpPr>
        <p:spPr>
          <a:xfrm>
            <a:off x="5306994" y="602348"/>
            <a:ext cx="294438" cy="301148"/>
          </a:xfrm>
          <a:custGeom>
            <a:avLst/>
            <a:gdLst/>
            <a:ahLst/>
            <a:cxnLst/>
            <a:rect l="l" t="t" r="r" b="b"/>
            <a:pathLst>
              <a:path w="9485" h="10549" extrusionOk="0">
                <a:moveTo>
                  <a:pt x="1" y="1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5" name="Google Shape;41;p2">
            <a:extLst>
              <a:ext uri="{FF2B5EF4-FFF2-40B4-BE49-F238E27FC236}">
                <a16:creationId xmlns:a16="http://schemas.microsoft.com/office/drawing/2014/main" id="{B4577FB3-C844-1A82-1314-FCF4EAFFB67D}"/>
              </a:ext>
            </a:extLst>
          </p:cNvPr>
          <p:cNvSpPr/>
          <p:nvPr userDrawn="1"/>
        </p:nvSpPr>
        <p:spPr>
          <a:xfrm>
            <a:off x="6485958" y="602362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6" name="Google Shape;42;p2">
            <a:extLst>
              <a:ext uri="{FF2B5EF4-FFF2-40B4-BE49-F238E27FC236}">
                <a16:creationId xmlns:a16="http://schemas.microsoft.com/office/drawing/2014/main" id="{4705CF73-B28D-791F-8AF8-9D3112CFC4E7}"/>
              </a:ext>
            </a:extLst>
          </p:cNvPr>
          <p:cNvSpPr/>
          <p:nvPr userDrawn="1"/>
        </p:nvSpPr>
        <p:spPr>
          <a:xfrm>
            <a:off x="7075680" y="605973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7" name="Google Shape;43;p2">
            <a:extLst>
              <a:ext uri="{FF2B5EF4-FFF2-40B4-BE49-F238E27FC236}">
                <a16:creationId xmlns:a16="http://schemas.microsoft.com/office/drawing/2014/main" id="{4AB2225D-E74B-1047-D9AD-0F6730FE6C57}"/>
              </a:ext>
            </a:extLst>
          </p:cNvPr>
          <p:cNvSpPr/>
          <p:nvPr userDrawn="1"/>
        </p:nvSpPr>
        <p:spPr>
          <a:xfrm>
            <a:off x="4127897" y="1098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8" name="Google Shape;44;p2">
            <a:extLst>
              <a:ext uri="{FF2B5EF4-FFF2-40B4-BE49-F238E27FC236}">
                <a16:creationId xmlns:a16="http://schemas.microsoft.com/office/drawing/2014/main" id="{FE5C4FDE-9F84-7013-4329-3E08E5FA1D5D}"/>
              </a:ext>
            </a:extLst>
          </p:cNvPr>
          <p:cNvSpPr/>
          <p:nvPr userDrawn="1"/>
        </p:nvSpPr>
        <p:spPr>
          <a:xfrm>
            <a:off x="7667165" y="0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9" name="Google Shape;45;p2">
            <a:extLst>
              <a:ext uri="{FF2B5EF4-FFF2-40B4-BE49-F238E27FC236}">
                <a16:creationId xmlns:a16="http://schemas.microsoft.com/office/drawing/2014/main" id="{D0F50702-B225-8DD7-FD90-10AA50054A46}"/>
              </a:ext>
            </a:extLst>
          </p:cNvPr>
          <p:cNvSpPr/>
          <p:nvPr userDrawn="1"/>
        </p:nvSpPr>
        <p:spPr>
          <a:xfrm>
            <a:off x="7665392" y="602321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0" name="Google Shape;46;p2">
            <a:extLst>
              <a:ext uri="{FF2B5EF4-FFF2-40B4-BE49-F238E27FC236}">
                <a16:creationId xmlns:a16="http://schemas.microsoft.com/office/drawing/2014/main" id="{774551D7-1C49-B9B4-AEEB-D65EBF9649CB}"/>
              </a:ext>
            </a:extLst>
          </p:cNvPr>
          <p:cNvSpPr/>
          <p:nvPr userDrawn="1"/>
        </p:nvSpPr>
        <p:spPr>
          <a:xfrm>
            <a:off x="8256894" y="1256"/>
            <a:ext cx="294407" cy="301975"/>
          </a:xfrm>
          <a:custGeom>
            <a:avLst/>
            <a:gdLst/>
            <a:ahLst/>
            <a:cxnLst/>
            <a:rect l="l" t="t" r="r" b="b"/>
            <a:pathLst>
              <a:path w="9484" h="10578" extrusionOk="0">
                <a:moveTo>
                  <a:pt x="0" y="0"/>
                </a:moveTo>
                <a:lnTo>
                  <a:pt x="0" y="10578"/>
                </a:lnTo>
                <a:lnTo>
                  <a:pt x="9484" y="10578"/>
                </a:lnTo>
                <a:lnTo>
                  <a:pt x="948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1" name="Google Shape;47;p2">
            <a:extLst>
              <a:ext uri="{FF2B5EF4-FFF2-40B4-BE49-F238E27FC236}">
                <a16:creationId xmlns:a16="http://schemas.microsoft.com/office/drawing/2014/main" id="{950DCA13-2E04-C568-390B-ECC0E1375BE8}"/>
              </a:ext>
            </a:extLst>
          </p:cNvPr>
          <p:cNvSpPr/>
          <p:nvPr userDrawn="1"/>
        </p:nvSpPr>
        <p:spPr>
          <a:xfrm>
            <a:off x="8847574" y="60384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2" name="Google Shape;48;p2">
            <a:extLst>
              <a:ext uri="{FF2B5EF4-FFF2-40B4-BE49-F238E27FC236}">
                <a16:creationId xmlns:a16="http://schemas.microsoft.com/office/drawing/2014/main" id="{97F06346-710C-0EC0-BA2D-E5307F955D61}"/>
              </a:ext>
            </a:extLst>
          </p:cNvPr>
          <p:cNvSpPr/>
          <p:nvPr userDrawn="1"/>
        </p:nvSpPr>
        <p:spPr>
          <a:xfrm>
            <a:off x="8847625" y="121423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3" name="Google Shape;21;p2">
            <a:extLst>
              <a:ext uri="{FF2B5EF4-FFF2-40B4-BE49-F238E27FC236}">
                <a16:creationId xmlns:a16="http://schemas.microsoft.com/office/drawing/2014/main" id="{04C9F06D-439A-4CC7-1865-2FBE902A9A75}"/>
              </a:ext>
            </a:extLst>
          </p:cNvPr>
          <p:cNvSpPr/>
          <p:nvPr userDrawn="1"/>
        </p:nvSpPr>
        <p:spPr>
          <a:xfrm>
            <a:off x="4714707" y="421763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888244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9"/>
          <p:cNvSpPr/>
          <p:nvPr/>
        </p:nvSpPr>
        <p:spPr>
          <a:xfrm>
            <a:off x="587" y="4209314"/>
            <a:ext cx="228013" cy="233113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F6CA15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6" name="Google Shape;226;p9"/>
          <p:cNvSpPr/>
          <p:nvPr/>
        </p:nvSpPr>
        <p:spPr>
          <a:xfrm>
            <a:off x="587" y="4556413"/>
            <a:ext cx="228013" cy="233113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7" name="Google Shape;227;p9"/>
          <p:cNvSpPr/>
          <p:nvPr/>
        </p:nvSpPr>
        <p:spPr>
          <a:xfrm>
            <a:off x="338131" y="4556413"/>
            <a:ext cx="227270" cy="232474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AB5130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9" name="Google Shape;229;p9"/>
          <p:cNvSpPr/>
          <p:nvPr/>
        </p:nvSpPr>
        <p:spPr>
          <a:xfrm>
            <a:off x="587" y="4910387"/>
            <a:ext cx="228013" cy="233113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0" name="Google Shape;230;p9"/>
          <p:cNvSpPr/>
          <p:nvPr/>
        </p:nvSpPr>
        <p:spPr>
          <a:xfrm>
            <a:off x="335222" y="4901278"/>
            <a:ext cx="227270" cy="232474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AB5130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1" name="Google Shape;231;p9"/>
          <p:cNvSpPr/>
          <p:nvPr/>
        </p:nvSpPr>
        <p:spPr>
          <a:xfrm>
            <a:off x="657032" y="4900639"/>
            <a:ext cx="227270" cy="232451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AB5130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0" name="Google Shape;240;p9"/>
          <p:cNvSpPr/>
          <p:nvPr/>
        </p:nvSpPr>
        <p:spPr>
          <a:xfrm>
            <a:off x="8924083" y="4209314"/>
            <a:ext cx="227270" cy="232451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F6CA15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2" name="Google Shape;242;p9"/>
          <p:cNvSpPr/>
          <p:nvPr/>
        </p:nvSpPr>
        <p:spPr>
          <a:xfrm>
            <a:off x="8586942" y="4556413"/>
            <a:ext cx="227270" cy="232474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AB5130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43" name="Google Shape;243;p9"/>
          <p:cNvSpPr/>
          <p:nvPr/>
        </p:nvSpPr>
        <p:spPr>
          <a:xfrm>
            <a:off x="8924083" y="4556436"/>
            <a:ext cx="227270" cy="232451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F6CA15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4" name="Google Shape;244;p9"/>
          <p:cNvSpPr/>
          <p:nvPr/>
        </p:nvSpPr>
        <p:spPr>
          <a:xfrm>
            <a:off x="8246130" y="4900639"/>
            <a:ext cx="228013" cy="233113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5" name="Google Shape;245;p9"/>
          <p:cNvSpPr/>
          <p:nvPr/>
        </p:nvSpPr>
        <p:spPr>
          <a:xfrm>
            <a:off x="8581508" y="4903546"/>
            <a:ext cx="227270" cy="232474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AB5130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6" name="Google Shape;246;p9"/>
          <p:cNvSpPr/>
          <p:nvPr/>
        </p:nvSpPr>
        <p:spPr>
          <a:xfrm>
            <a:off x="8916143" y="4903558"/>
            <a:ext cx="227270" cy="232451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AB5130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7" name="Google Shape;247;p9"/>
          <p:cNvSpPr txBox="1">
            <a:spLocks noGrp="1"/>
          </p:cNvSpPr>
          <p:nvPr>
            <p:ph type="title"/>
          </p:nvPr>
        </p:nvSpPr>
        <p:spPr>
          <a:xfrm>
            <a:off x="1813050" y="1872881"/>
            <a:ext cx="5517900" cy="698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500"/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 dirty="0"/>
          </a:p>
        </p:txBody>
      </p:sp>
      <p:sp>
        <p:nvSpPr>
          <p:cNvPr id="248" name="Google Shape;248;p9"/>
          <p:cNvSpPr txBox="1">
            <a:spLocks noGrp="1"/>
          </p:cNvSpPr>
          <p:nvPr>
            <p:ph type="subTitle" idx="1"/>
          </p:nvPr>
        </p:nvSpPr>
        <p:spPr>
          <a:xfrm>
            <a:off x="2155200" y="2601819"/>
            <a:ext cx="4833600" cy="1113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800" b="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33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ly Title 2">
  <p:cSld name="ONE_COLUMN_TEXT_1_1_1_1_1">
    <p:spTree>
      <p:nvGrpSpPr>
        <p:cNvPr id="1" name="Shape 5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4" name="Google Shape;554;p21"/>
          <p:cNvSpPr/>
          <p:nvPr/>
        </p:nvSpPr>
        <p:spPr>
          <a:xfrm flipH="1">
            <a:off x="6489629" y="484229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5" name="Google Shape;555;p21"/>
          <p:cNvSpPr/>
          <p:nvPr/>
        </p:nvSpPr>
        <p:spPr>
          <a:xfrm flipH="1">
            <a:off x="2951306" y="4842290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6" name="Google Shape;556;p21"/>
          <p:cNvSpPr/>
          <p:nvPr/>
        </p:nvSpPr>
        <p:spPr>
          <a:xfrm flipH="1">
            <a:off x="591513" y="484250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7" name="Google Shape;557;p21"/>
          <p:cNvSpPr/>
          <p:nvPr/>
        </p:nvSpPr>
        <p:spPr>
          <a:xfrm flipH="1">
            <a:off x="8258806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8" name="Google Shape;558;p21"/>
          <p:cNvSpPr/>
          <p:nvPr/>
        </p:nvSpPr>
        <p:spPr>
          <a:xfrm flipH="1">
            <a:off x="4130737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9" name="Google Shape;559;p21"/>
          <p:cNvSpPr/>
          <p:nvPr/>
        </p:nvSpPr>
        <p:spPr>
          <a:xfrm flipH="1">
            <a:off x="2951306" y="4239249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0" name="Google Shape;560;p21"/>
          <p:cNvSpPr/>
          <p:nvPr/>
        </p:nvSpPr>
        <p:spPr>
          <a:xfrm flipH="1">
            <a:off x="8848580" y="4842282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1" name="Google Shape;561;p21"/>
          <p:cNvSpPr/>
          <p:nvPr/>
        </p:nvSpPr>
        <p:spPr>
          <a:xfrm flipH="1">
            <a:off x="8259323" y="48422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2" name="Google Shape;562;p21"/>
          <p:cNvSpPr/>
          <p:nvPr/>
        </p:nvSpPr>
        <p:spPr>
          <a:xfrm flipH="1">
            <a:off x="7669562" y="4842263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3" name="Google Shape;563;p21"/>
          <p:cNvSpPr/>
          <p:nvPr/>
        </p:nvSpPr>
        <p:spPr>
          <a:xfrm flipH="1">
            <a:off x="7079601" y="484055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4" name="Google Shape;564;p21"/>
          <p:cNvSpPr/>
          <p:nvPr/>
        </p:nvSpPr>
        <p:spPr>
          <a:xfrm flipH="1">
            <a:off x="5310185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5" name="Google Shape;565;p21"/>
          <p:cNvSpPr/>
          <p:nvPr/>
        </p:nvSpPr>
        <p:spPr>
          <a:xfrm flipH="1">
            <a:off x="4720963" y="48405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6" name="Google Shape;566;p21"/>
          <p:cNvSpPr/>
          <p:nvPr/>
        </p:nvSpPr>
        <p:spPr>
          <a:xfrm flipH="1">
            <a:off x="4130723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7" name="Google Shape;567;p21"/>
          <p:cNvSpPr/>
          <p:nvPr/>
        </p:nvSpPr>
        <p:spPr>
          <a:xfrm flipH="1">
            <a:off x="3541462" y="4840551"/>
            <a:ext cx="294438" cy="301148"/>
          </a:xfrm>
          <a:custGeom>
            <a:avLst/>
            <a:gdLst/>
            <a:ahLst/>
            <a:cxnLst/>
            <a:rect l="l" t="t" r="r" b="b"/>
            <a:pathLst>
              <a:path w="9485" h="10549" extrusionOk="0">
                <a:moveTo>
                  <a:pt x="1" y="1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8" name="Google Shape;568;p21"/>
          <p:cNvSpPr/>
          <p:nvPr/>
        </p:nvSpPr>
        <p:spPr>
          <a:xfrm flipH="1">
            <a:off x="2361566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9" name="Google Shape;569;p21"/>
          <p:cNvSpPr/>
          <p:nvPr/>
        </p:nvSpPr>
        <p:spPr>
          <a:xfrm flipH="1">
            <a:off x="1771844" y="484417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0" name="Google Shape;570;p21"/>
          <p:cNvSpPr/>
          <p:nvPr/>
        </p:nvSpPr>
        <p:spPr>
          <a:xfrm flipH="1">
            <a:off x="-50" y="4842049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1" name="Google Shape;571;p21"/>
          <p:cNvSpPr txBox="1">
            <a:spLocks noGrp="1"/>
          </p:cNvSpPr>
          <p:nvPr>
            <p:ph type="title"/>
          </p:nvPr>
        </p:nvSpPr>
        <p:spPr>
          <a:xfrm>
            <a:off x="717425" y="539925"/>
            <a:ext cx="7709100" cy="333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20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9pPr>
          </a:lstStyle>
          <a:p>
            <a:endParaRPr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ly Title 2" preserve="1">
  <p:cSld name="Top Ornaments">
    <p:spTree>
      <p:nvGrpSpPr>
        <p:cNvPr id="1" name="Shape 5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5" name="Google Shape;555;p21"/>
          <p:cNvSpPr/>
          <p:nvPr/>
        </p:nvSpPr>
        <p:spPr>
          <a:xfrm flipH="1">
            <a:off x="0" y="498607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6" name="Google Shape;556;p21"/>
          <p:cNvSpPr/>
          <p:nvPr/>
        </p:nvSpPr>
        <p:spPr>
          <a:xfrm flipH="1">
            <a:off x="565497" y="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7" name="Google Shape;557;p21"/>
          <p:cNvSpPr/>
          <p:nvPr/>
        </p:nvSpPr>
        <p:spPr>
          <a:xfrm flipH="1">
            <a:off x="8843887" y="-1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8" name="Google Shape;558;p21"/>
          <p:cNvSpPr/>
          <p:nvPr/>
        </p:nvSpPr>
        <p:spPr>
          <a:xfrm flipH="1">
            <a:off x="565015" y="497751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9" name="Google Shape;559;p21"/>
          <p:cNvSpPr/>
          <p:nvPr/>
        </p:nvSpPr>
        <p:spPr>
          <a:xfrm flipH="1">
            <a:off x="0" y="0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0" name="Google Shape;560;p21"/>
          <p:cNvSpPr/>
          <p:nvPr/>
        </p:nvSpPr>
        <p:spPr>
          <a:xfrm flipH="1">
            <a:off x="7713793" y="-85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1" name="Google Shape;561;p21"/>
          <p:cNvSpPr/>
          <p:nvPr/>
        </p:nvSpPr>
        <p:spPr>
          <a:xfrm flipH="1">
            <a:off x="1131025" y="0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2" name="Google Shape;562;p21"/>
          <p:cNvSpPr/>
          <p:nvPr/>
        </p:nvSpPr>
        <p:spPr>
          <a:xfrm flipH="1">
            <a:off x="8279321" y="0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4" name="Google Shape;564;p21"/>
          <p:cNvSpPr/>
          <p:nvPr/>
        </p:nvSpPr>
        <p:spPr>
          <a:xfrm flipH="1">
            <a:off x="8278841" y="53989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6" name="Google Shape;566;p21"/>
          <p:cNvSpPr/>
          <p:nvPr/>
        </p:nvSpPr>
        <p:spPr>
          <a:xfrm flipH="1">
            <a:off x="8843887" y="498578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1" name="Google Shape;571;p21"/>
          <p:cNvSpPr txBox="1">
            <a:spLocks noGrp="1"/>
          </p:cNvSpPr>
          <p:nvPr>
            <p:ph type="title"/>
          </p:nvPr>
        </p:nvSpPr>
        <p:spPr>
          <a:xfrm>
            <a:off x="717425" y="539925"/>
            <a:ext cx="7709100" cy="333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20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9pPr>
          </a:lstStyle>
          <a:p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79265854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ly Title 2" preserve="1">
  <p:cSld name="Top and Bottom ornaments">
    <p:spTree>
      <p:nvGrpSpPr>
        <p:cNvPr id="1" name="Shape 5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5" name="Google Shape;555;p21"/>
          <p:cNvSpPr/>
          <p:nvPr/>
        </p:nvSpPr>
        <p:spPr>
          <a:xfrm flipH="1">
            <a:off x="0" y="498607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6" name="Google Shape;556;p21"/>
          <p:cNvSpPr/>
          <p:nvPr/>
        </p:nvSpPr>
        <p:spPr>
          <a:xfrm flipH="1">
            <a:off x="565497" y="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7" name="Google Shape;557;p21"/>
          <p:cNvSpPr/>
          <p:nvPr/>
        </p:nvSpPr>
        <p:spPr>
          <a:xfrm flipH="1">
            <a:off x="8843887" y="-1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8" name="Google Shape;558;p21"/>
          <p:cNvSpPr/>
          <p:nvPr/>
        </p:nvSpPr>
        <p:spPr>
          <a:xfrm flipH="1">
            <a:off x="565015" y="497751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9" name="Google Shape;559;p21"/>
          <p:cNvSpPr/>
          <p:nvPr/>
        </p:nvSpPr>
        <p:spPr>
          <a:xfrm flipH="1">
            <a:off x="0" y="0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0" name="Google Shape;560;p21"/>
          <p:cNvSpPr/>
          <p:nvPr/>
        </p:nvSpPr>
        <p:spPr>
          <a:xfrm flipH="1">
            <a:off x="7713793" y="-85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1" name="Google Shape;561;p21"/>
          <p:cNvSpPr/>
          <p:nvPr/>
        </p:nvSpPr>
        <p:spPr>
          <a:xfrm flipH="1">
            <a:off x="1131025" y="0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2" name="Google Shape;562;p21"/>
          <p:cNvSpPr/>
          <p:nvPr/>
        </p:nvSpPr>
        <p:spPr>
          <a:xfrm flipH="1">
            <a:off x="8279321" y="0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4" name="Google Shape;564;p21"/>
          <p:cNvSpPr/>
          <p:nvPr/>
        </p:nvSpPr>
        <p:spPr>
          <a:xfrm flipH="1">
            <a:off x="8278841" y="53989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6" name="Google Shape;566;p21"/>
          <p:cNvSpPr/>
          <p:nvPr/>
        </p:nvSpPr>
        <p:spPr>
          <a:xfrm flipH="1">
            <a:off x="8843887" y="498578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1" name="Google Shape;571;p21"/>
          <p:cNvSpPr txBox="1">
            <a:spLocks noGrp="1"/>
          </p:cNvSpPr>
          <p:nvPr>
            <p:ph type="title"/>
          </p:nvPr>
        </p:nvSpPr>
        <p:spPr>
          <a:xfrm>
            <a:off x="717425" y="539925"/>
            <a:ext cx="7709100" cy="333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20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9pPr>
          </a:lstStyle>
          <a:p>
            <a:endParaRPr dirty="0"/>
          </a:p>
        </p:txBody>
      </p:sp>
      <p:sp>
        <p:nvSpPr>
          <p:cNvPr id="2" name="Google Shape;556;p21">
            <a:extLst>
              <a:ext uri="{FF2B5EF4-FFF2-40B4-BE49-F238E27FC236}">
                <a16:creationId xmlns:a16="http://schemas.microsoft.com/office/drawing/2014/main" id="{9B8C0A79-5021-E113-CC9B-869724F3B862}"/>
              </a:ext>
            </a:extLst>
          </p:cNvPr>
          <p:cNvSpPr/>
          <p:nvPr userDrawn="1"/>
        </p:nvSpPr>
        <p:spPr>
          <a:xfrm flipH="1">
            <a:off x="591513" y="484250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" name="Google Shape;560;p21">
            <a:extLst>
              <a:ext uri="{FF2B5EF4-FFF2-40B4-BE49-F238E27FC236}">
                <a16:creationId xmlns:a16="http://schemas.microsoft.com/office/drawing/2014/main" id="{5179C120-AEEB-B912-07D6-29CB3B25BC8E}"/>
              </a:ext>
            </a:extLst>
          </p:cNvPr>
          <p:cNvSpPr/>
          <p:nvPr userDrawn="1"/>
        </p:nvSpPr>
        <p:spPr>
          <a:xfrm flipH="1">
            <a:off x="8848580" y="4842282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" name="Google Shape;561;p21">
            <a:extLst>
              <a:ext uri="{FF2B5EF4-FFF2-40B4-BE49-F238E27FC236}">
                <a16:creationId xmlns:a16="http://schemas.microsoft.com/office/drawing/2014/main" id="{EBBE5F28-03D4-F0CE-8D41-5FC6939B5FC2}"/>
              </a:ext>
            </a:extLst>
          </p:cNvPr>
          <p:cNvSpPr/>
          <p:nvPr userDrawn="1"/>
        </p:nvSpPr>
        <p:spPr>
          <a:xfrm flipH="1">
            <a:off x="8259323" y="48422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" name="Google Shape;562;p21">
            <a:extLst>
              <a:ext uri="{FF2B5EF4-FFF2-40B4-BE49-F238E27FC236}">
                <a16:creationId xmlns:a16="http://schemas.microsoft.com/office/drawing/2014/main" id="{EAC1E710-B1DB-284A-C287-D8D825AEAFD9}"/>
              </a:ext>
            </a:extLst>
          </p:cNvPr>
          <p:cNvSpPr/>
          <p:nvPr userDrawn="1"/>
        </p:nvSpPr>
        <p:spPr>
          <a:xfrm flipH="1">
            <a:off x="7669562" y="4842263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" name="Google Shape;563;p21">
            <a:extLst>
              <a:ext uri="{FF2B5EF4-FFF2-40B4-BE49-F238E27FC236}">
                <a16:creationId xmlns:a16="http://schemas.microsoft.com/office/drawing/2014/main" id="{4FA98739-F2A9-4256-72DF-6DA916844521}"/>
              </a:ext>
            </a:extLst>
          </p:cNvPr>
          <p:cNvSpPr/>
          <p:nvPr userDrawn="1"/>
        </p:nvSpPr>
        <p:spPr>
          <a:xfrm flipH="1">
            <a:off x="7079601" y="484055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" name="Google Shape;568;p21">
            <a:extLst>
              <a:ext uri="{FF2B5EF4-FFF2-40B4-BE49-F238E27FC236}">
                <a16:creationId xmlns:a16="http://schemas.microsoft.com/office/drawing/2014/main" id="{A24CB6D6-FB1C-FA5F-4C4E-2F896DC5E849}"/>
              </a:ext>
            </a:extLst>
          </p:cNvPr>
          <p:cNvSpPr/>
          <p:nvPr userDrawn="1"/>
        </p:nvSpPr>
        <p:spPr>
          <a:xfrm flipH="1">
            <a:off x="2361566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" name="Google Shape;569;p21">
            <a:extLst>
              <a:ext uri="{FF2B5EF4-FFF2-40B4-BE49-F238E27FC236}">
                <a16:creationId xmlns:a16="http://schemas.microsoft.com/office/drawing/2014/main" id="{14992504-6549-658B-4F64-6291EC9D60A3}"/>
              </a:ext>
            </a:extLst>
          </p:cNvPr>
          <p:cNvSpPr/>
          <p:nvPr userDrawn="1"/>
        </p:nvSpPr>
        <p:spPr>
          <a:xfrm flipH="1">
            <a:off x="1771844" y="484417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" name="Google Shape;570;p21">
            <a:extLst>
              <a:ext uri="{FF2B5EF4-FFF2-40B4-BE49-F238E27FC236}">
                <a16:creationId xmlns:a16="http://schemas.microsoft.com/office/drawing/2014/main" id="{BF6DE7E2-8DCB-DB52-41BB-8F02C936503D}"/>
              </a:ext>
            </a:extLst>
          </p:cNvPr>
          <p:cNvSpPr/>
          <p:nvPr userDrawn="1"/>
        </p:nvSpPr>
        <p:spPr>
          <a:xfrm flipH="1">
            <a:off x="-50" y="4842049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3919645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gradFill flip="none" rotWithShape="1">
          <a:gsLst>
            <a:gs pos="0">
              <a:schemeClr val="accent4">
                <a:lumMod val="89000"/>
              </a:schemeClr>
            </a:gs>
            <a:gs pos="23000">
              <a:schemeClr val="accent4">
                <a:lumMod val="89000"/>
              </a:schemeClr>
            </a:gs>
            <a:gs pos="69000">
              <a:schemeClr val="accent4">
                <a:lumMod val="75000"/>
              </a:schemeClr>
            </a:gs>
            <a:gs pos="97000">
              <a:schemeClr val="accent4">
                <a:lumMod val="70000"/>
              </a:schemeClr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endParaRPr dirty="0"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61881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302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lvl="1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lvl="2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lvl="3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lvl="4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lvl="5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lvl="6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lvl="7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lvl="8" indent="-330200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70" r:id="rId2"/>
    <p:sldLayoutId id="2147483655" r:id="rId3"/>
    <p:sldLayoutId id="2147483658" r:id="rId4"/>
    <p:sldLayoutId id="2147483667" r:id="rId5"/>
    <p:sldLayoutId id="2147483668" r:id="rId6"/>
    <p:sldLayoutId id="2147483669" r:id="rId7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Relationship Id="rId9" Type="http://schemas.microsoft.com/office/2007/relationships/hdphoto" Target="../media/hdphoto1.wdp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4.png"/><Relationship Id="rId5" Type="http://schemas.openxmlformats.org/officeDocument/2006/relationships/image" Target="../media/image11.png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7.png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Relationship Id="rId6" Type="http://schemas.microsoft.com/office/2007/relationships/hdphoto" Target="../media/hdphoto1.wdp"/><Relationship Id="rId5" Type="http://schemas.openxmlformats.org/officeDocument/2006/relationships/image" Target="../media/image6.png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0.png"/><Relationship Id="rId5" Type="http://schemas.openxmlformats.org/officeDocument/2006/relationships/image" Target="../media/image8.png"/><Relationship Id="rId4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3" Type="http://schemas.openxmlformats.org/officeDocument/2006/relationships/image" Target="../media/image7.pn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4.png"/><Relationship Id="rId5" Type="http://schemas.openxmlformats.org/officeDocument/2006/relationships/image" Target="../media/image11.png"/><Relationship Id="rId10" Type="http://schemas.openxmlformats.org/officeDocument/2006/relationships/image" Target="../media/image16.png"/><Relationship Id="rId4" Type="http://schemas.openxmlformats.org/officeDocument/2006/relationships/image" Target="../media/image2.png"/><Relationship Id="rId9" Type="http://schemas.openxmlformats.org/officeDocument/2006/relationships/image" Target="../media/image15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13" Type="http://schemas.openxmlformats.org/officeDocument/2006/relationships/image" Target="../media/image21.png"/><Relationship Id="rId3" Type="http://schemas.openxmlformats.org/officeDocument/2006/relationships/image" Target="../media/image7.png"/><Relationship Id="rId7" Type="http://schemas.openxmlformats.org/officeDocument/2006/relationships/image" Target="../media/image17.png"/><Relationship Id="rId12" Type="http://schemas.openxmlformats.org/officeDocument/2006/relationships/image" Target="../media/image20.png"/><Relationship Id="rId2" Type="http://schemas.openxmlformats.org/officeDocument/2006/relationships/notesSlide" Target="../notesSlides/notesSlide7.xml"/><Relationship Id="rId16" Type="http://schemas.microsoft.com/office/2007/relationships/hdphoto" Target="../media/hdphoto2.wdp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4.png"/><Relationship Id="rId11" Type="http://schemas.openxmlformats.org/officeDocument/2006/relationships/image" Target="../media/image19.png"/><Relationship Id="rId5" Type="http://schemas.openxmlformats.org/officeDocument/2006/relationships/image" Target="../media/image10.png"/><Relationship Id="rId15" Type="http://schemas.openxmlformats.org/officeDocument/2006/relationships/image" Target="../media/image23.png"/><Relationship Id="rId10" Type="http://schemas.openxmlformats.org/officeDocument/2006/relationships/image" Target="../media/image18.png"/><Relationship Id="rId4" Type="http://schemas.openxmlformats.org/officeDocument/2006/relationships/image" Target="../media/image2.png"/><Relationship Id="rId9" Type="http://schemas.openxmlformats.org/officeDocument/2006/relationships/image" Target="../media/image4.png"/><Relationship Id="rId14" Type="http://schemas.openxmlformats.org/officeDocument/2006/relationships/image" Target="../media/image22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.png"/><Relationship Id="rId3" Type="http://schemas.openxmlformats.org/officeDocument/2006/relationships/image" Target="../media/image7.png"/><Relationship Id="rId7" Type="http://schemas.openxmlformats.org/officeDocument/2006/relationships/image" Target="../media/image26.png"/><Relationship Id="rId12" Type="http://schemas.openxmlformats.org/officeDocument/2006/relationships/image" Target="../media/image3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25.png"/><Relationship Id="rId11" Type="http://schemas.microsoft.com/office/2007/relationships/hdphoto" Target="../media/hdphoto3.wdp"/><Relationship Id="rId5" Type="http://schemas.openxmlformats.org/officeDocument/2006/relationships/image" Target="../media/image24.png"/><Relationship Id="rId10" Type="http://schemas.openxmlformats.org/officeDocument/2006/relationships/image" Target="../media/image29.png"/><Relationship Id="rId4" Type="http://schemas.openxmlformats.org/officeDocument/2006/relationships/image" Target="../media/image2.png"/><Relationship Id="rId9" Type="http://schemas.openxmlformats.org/officeDocument/2006/relationships/image" Target="../media/image28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emf"/><Relationship Id="rId2" Type="http://schemas.openxmlformats.org/officeDocument/2006/relationships/oleObject" Target="../embeddings/oleObject1.bin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Relationship Id="rId6" Type="http://schemas.microsoft.com/office/2007/relationships/hdphoto" Target="../media/hdphoto4.wdp"/><Relationship Id="rId5" Type="http://schemas.openxmlformats.org/officeDocument/2006/relationships/image" Target="../media/image33.png"/><Relationship Id="rId4" Type="http://schemas.openxmlformats.org/officeDocument/2006/relationships/image" Target="../media/image2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7" Type="http://schemas.openxmlformats.org/officeDocument/2006/relationships/image" Target="../media/image3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Relationship Id="rId6" Type="http://schemas.microsoft.com/office/2007/relationships/hdphoto" Target="../media/hdphoto5.wdp"/><Relationship Id="rId5" Type="http://schemas.openxmlformats.org/officeDocument/2006/relationships/image" Target="../media/image34.png"/><Relationship Id="rId4" Type="http://schemas.openxmlformats.org/officeDocument/2006/relationships/image" Target="../media/image2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3.png"/><Relationship Id="rId5" Type="http://schemas.openxmlformats.org/officeDocument/2006/relationships/image" Target="../media/image36.png"/><Relationship Id="rId4" Type="http://schemas.openxmlformats.org/officeDocument/2006/relationships/image" Target="../media/image2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hyperlink" Target="https://store.steampowered.com/app/1567530/Vlad_Circus_Curse_of_Asmodeus/" TargetMode="External"/><Relationship Id="rId3" Type="http://schemas.openxmlformats.org/officeDocument/2006/relationships/image" Target="../media/image37.jpeg"/><Relationship Id="rId7" Type="http://schemas.openxmlformats.org/officeDocument/2006/relationships/image" Target="../media/image40.png"/><Relationship Id="rId2" Type="http://schemas.openxmlformats.org/officeDocument/2006/relationships/hyperlink" Target="https://store.steampowered.com/app/1272580/Nine_Witches_Family_Disruption/" TargetMode="Externa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39.jpeg"/><Relationship Id="rId5" Type="http://schemas.openxmlformats.org/officeDocument/2006/relationships/hyperlink" Target="https://store.steampowered.com/app/1702430/Vlad_Circus_Descend_Into_Madness/" TargetMode="External"/><Relationship Id="rId4" Type="http://schemas.openxmlformats.org/officeDocument/2006/relationships/image" Target="../media/image38.jpeg"/><Relationship Id="rId9" Type="http://schemas.openxmlformats.org/officeDocument/2006/relationships/image" Target="../media/image41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44.jpeg"/><Relationship Id="rId13" Type="http://schemas.openxmlformats.org/officeDocument/2006/relationships/image" Target="../media/image47.png"/><Relationship Id="rId3" Type="http://schemas.openxmlformats.org/officeDocument/2006/relationships/hyperlink" Target="https://www.indiesruption.com/" TargetMode="External"/><Relationship Id="rId7" Type="http://schemas.openxmlformats.org/officeDocument/2006/relationships/hyperlink" Target="https://www.linkedin.com/in/pablo-mamone-262a5165/" TargetMode="External"/><Relationship Id="rId12" Type="http://schemas.openxmlformats.org/officeDocument/2006/relationships/image" Target="../media/image46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43.jpeg"/><Relationship Id="rId11" Type="http://schemas.microsoft.com/office/2007/relationships/hdphoto" Target="../media/hdphoto6.wdp"/><Relationship Id="rId5" Type="http://schemas.openxmlformats.org/officeDocument/2006/relationships/hyperlink" Target="https://www.linkedin.com/in/diegocanepa/" TargetMode="External"/><Relationship Id="rId10" Type="http://schemas.openxmlformats.org/officeDocument/2006/relationships/image" Target="../media/image45.png"/><Relationship Id="rId4" Type="http://schemas.openxmlformats.org/officeDocument/2006/relationships/image" Target="../media/image42.png"/><Relationship Id="rId9" Type="http://schemas.openxmlformats.org/officeDocument/2006/relationships/hyperlink" Target="https://www.linkedin.com/in/durgan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" name="Picture 26" descr="A video game with a cartoon character">
            <a:extLst>
              <a:ext uri="{FF2B5EF4-FFF2-40B4-BE49-F238E27FC236}">
                <a16:creationId xmlns:a16="http://schemas.microsoft.com/office/drawing/2014/main" id="{EBDFCDBD-D34F-0E28-C3D8-62AEB2079B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328522" y="679076"/>
            <a:ext cx="10402541" cy="4464424"/>
          </a:xfrm>
          <a:prstGeom prst="rect">
            <a:avLst/>
          </a:prstGeom>
        </p:spPr>
      </p:pic>
      <p:sp>
        <p:nvSpPr>
          <p:cNvPr id="4" name="Google Shape;963;p33">
            <a:extLst>
              <a:ext uri="{FF2B5EF4-FFF2-40B4-BE49-F238E27FC236}">
                <a16:creationId xmlns:a16="http://schemas.microsoft.com/office/drawing/2014/main" id="{87BD1BEB-687E-94A9-55BA-36F2920CDF3D}"/>
              </a:ext>
            </a:extLst>
          </p:cNvPr>
          <p:cNvSpPr txBox="1">
            <a:spLocks/>
          </p:cNvSpPr>
          <p:nvPr/>
        </p:nvSpPr>
        <p:spPr>
          <a:xfrm rot="21281081">
            <a:off x="416655" y="1213486"/>
            <a:ext cx="4261693" cy="510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r>
              <a:rPr lang="en-US" sz="11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</a:rPr>
              <a:t>When hell runs a horror ride, no one is safe.</a:t>
            </a:r>
          </a:p>
        </p:txBody>
      </p:sp>
      <p:pic>
        <p:nvPicPr>
          <p:cNvPr id="17" name="Picture 16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E4BEE051-0101-0660-BE69-351B97FD120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2162" y="194342"/>
            <a:ext cx="3380587" cy="1145037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379437D8-1552-7063-32DB-3F8A67AC3A60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50000"/>
          </a:blip>
          <a:stretch>
            <a:fillRect/>
          </a:stretch>
        </p:blipFill>
        <p:spPr>
          <a:xfrm>
            <a:off x="6272494" y="3848240"/>
            <a:ext cx="428511" cy="128553"/>
          </a:xfrm>
          <a:prstGeom prst="rect">
            <a:avLst/>
          </a:prstGeom>
        </p:spPr>
      </p:pic>
      <p:pic>
        <p:nvPicPr>
          <p:cNvPr id="21" name="Picture 20" descr="A pixelated cartoon of a dog&#10;&#10;AI-generated content may be incorrect.">
            <a:extLst>
              <a:ext uri="{FF2B5EF4-FFF2-40B4-BE49-F238E27FC236}">
                <a16:creationId xmlns:a16="http://schemas.microsoft.com/office/drawing/2014/main" id="{1899F904-BFCC-AD32-CD22-1A26D908455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flipH="1">
            <a:off x="6163721" y="3200400"/>
            <a:ext cx="517112" cy="723900"/>
          </a:xfrm>
          <a:prstGeom prst="rect">
            <a:avLst/>
          </a:prstGeom>
        </p:spPr>
      </p:pic>
      <p:pic>
        <p:nvPicPr>
          <p:cNvPr id="8" name="Picture 7" descr="A yellow text on a black background&#10;&#10;AI-generated content may be incorrect.">
            <a:extLst>
              <a:ext uri="{FF2B5EF4-FFF2-40B4-BE49-F238E27FC236}">
                <a16:creationId xmlns:a16="http://schemas.microsoft.com/office/drawing/2014/main" id="{8055D018-8073-CBDF-5A7F-2A66C04AFF2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08476" y="4463907"/>
            <a:ext cx="1516306" cy="416984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3" name="Picture 2" descr="A pixelated image of a dog&#10;&#10;AI-generated content may be incorrect.">
            <a:extLst>
              <a:ext uri="{FF2B5EF4-FFF2-40B4-BE49-F238E27FC236}">
                <a16:creationId xmlns:a16="http://schemas.microsoft.com/office/drawing/2014/main" id="{81289133-FDF7-E289-8058-45472ACE3D07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BEBA8EAE-BF5A-486C-A8C5-ECC9F3942E4B}">
                <a14:imgProps xmlns:a14="http://schemas.microsoft.com/office/drawing/2010/main">
                  <a14:imgLayer r:embed="rId9">
                    <a14:imgEffect>
                      <a14:brightnessContrast bright="-40000" contrast="-2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653921" y="2123454"/>
            <a:ext cx="580509" cy="7878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385281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pixel art of a building">
            <a:extLst>
              <a:ext uri="{FF2B5EF4-FFF2-40B4-BE49-F238E27FC236}">
                <a16:creationId xmlns:a16="http://schemas.microsoft.com/office/drawing/2014/main" id="{970F42B8-8149-AE99-5DCE-10D39E420DD1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70000"/>
          </a:blip>
          <a:stretch>
            <a:fillRect/>
          </a:stretch>
        </p:blipFill>
        <p:spPr>
          <a:xfrm>
            <a:off x="-28599" y="0"/>
            <a:ext cx="9144000" cy="5143500"/>
          </a:xfrm>
          <a:prstGeom prst="rect">
            <a:avLst/>
          </a:prstGeom>
        </p:spPr>
      </p:pic>
      <p:sp>
        <p:nvSpPr>
          <p:cNvPr id="999" name="Google Shape;999;p37"/>
          <p:cNvSpPr txBox="1">
            <a:spLocks noGrp="1"/>
          </p:cNvSpPr>
          <p:nvPr>
            <p:ph type="title" idx="4294967295"/>
          </p:nvPr>
        </p:nvSpPr>
        <p:spPr>
          <a:xfrm>
            <a:off x="1364105" y="296673"/>
            <a:ext cx="6415790" cy="486209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Overview</a:t>
            </a:r>
            <a:endParaRPr sz="1800" dirty="0">
              <a:solidFill>
                <a:srgbClr val="AB5130"/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</a:endParaRPr>
          </a:p>
        </p:txBody>
      </p:sp>
      <p:sp>
        <p:nvSpPr>
          <p:cNvPr id="1000" name="Google Shape;1000;p37"/>
          <p:cNvSpPr txBox="1">
            <a:spLocks noGrp="1"/>
          </p:cNvSpPr>
          <p:nvPr>
            <p:ph type="subTitle" idx="4294967295"/>
          </p:nvPr>
        </p:nvSpPr>
        <p:spPr>
          <a:xfrm>
            <a:off x="1354006" y="894615"/>
            <a:ext cx="6378790" cy="72384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lnSpc>
                <a:spcPts val="1400"/>
              </a:lnSpc>
              <a:buClr>
                <a:srgbClr val="8F4D57"/>
              </a:buClr>
              <a:buSzPts val="1100"/>
              <a:buNone/>
            </a:pPr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cs typeface="Arial"/>
                <a:sym typeface="Arial"/>
              </a:rPr>
              <a:t>A 2D pixel-art roguelite adventure where bizarre comedy collides with creepy monsters and absurd challenges.</a:t>
            </a:r>
          </a:p>
        </p:txBody>
      </p:sp>
      <p:pic>
        <p:nvPicPr>
          <p:cNvPr id="3" name="Picture 2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166806AD-98D4-D7EB-6E60-4E2D5324FA0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26D9444F-5F03-30D7-0B0E-CC3874350B5D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50000"/>
          </a:blip>
          <a:stretch>
            <a:fillRect/>
          </a:stretch>
        </p:blipFill>
        <p:spPr>
          <a:xfrm>
            <a:off x="4064330" y="4515822"/>
            <a:ext cx="284676" cy="142338"/>
          </a:xfrm>
          <a:prstGeom prst="rect">
            <a:avLst/>
          </a:prstGeom>
        </p:spPr>
      </p:pic>
      <p:pic>
        <p:nvPicPr>
          <p:cNvPr id="4" name="Picture 3" descr="A pixelated image of a person wearing sunglasses&#10;&#10;AI-generated content may be incorrect.">
            <a:extLst>
              <a:ext uri="{FF2B5EF4-FFF2-40B4-BE49-F238E27FC236}">
                <a16:creationId xmlns:a16="http://schemas.microsoft.com/office/drawing/2014/main" id="{967DB02A-BA92-F4D6-3635-FA4B3AB08F4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047069" y="3893638"/>
            <a:ext cx="459695" cy="689543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AB11074D-EE65-7ACB-8A00-62891FE5CD36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50000"/>
          </a:blip>
          <a:stretch>
            <a:fillRect/>
          </a:stretch>
        </p:blipFill>
        <p:spPr>
          <a:xfrm>
            <a:off x="4882943" y="4515821"/>
            <a:ext cx="284676" cy="142338"/>
          </a:xfrm>
          <a:prstGeom prst="rect">
            <a:avLst/>
          </a:prstGeom>
        </p:spPr>
      </p:pic>
      <p:pic>
        <p:nvPicPr>
          <p:cNvPr id="6" name="Picture 5" descr="A pixelated image of a person&#10;&#10;AI-generated content may be incorrect.">
            <a:extLst>
              <a:ext uri="{FF2B5EF4-FFF2-40B4-BE49-F238E27FC236}">
                <a16:creationId xmlns:a16="http://schemas.microsoft.com/office/drawing/2014/main" id="{37C30E45-3490-0BDF-BF95-AE40ED80698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flipH="1">
            <a:off x="4707925" y="3847669"/>
            <a:ext cx="459694" cy="735512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D307ABC5-4BC9-01C9-26A5-9CC39046F59E}"/>
              </a:ext>
            </a:extLst>
          </p:cNvPr>
          <p:cNvSpPr txBox="1"/>
          <p:nvPr/>
        </p:nvSpPr>
        <p:spPr>
          <a:xfrm>
            <a:off x="1528997" y="1686831"/>
            <a:ext cx="6086006" cy="16632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lnSpc>
                <a:spcPts val="1400"/>
              </a:lnSpc>
              <a:buClr>
                <a:srgbClr val="8F4D57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Two lazy journalists trapped inside a demon-possessed horror ride.</a:t>
            </a:r>
          </a:p>
          <a:p>
            <a:pPr marL="171450" indent="-171450">
              <a:lnSpc>
                <a:spcPts val="1400"/>
              </a:lnSpc>
              <a:buClr>
                <a:srgbClr val="8F4D57"/>
              </a:buClr>
              <a:buSzPts val="1100"/>
              <a:buFont typeface="Press Start 2P" panose="00000500000000000000" pitchFamily="2" charset="0"/>
              <a:buChar char="★"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ts val="1400"/>
              </a:lnSpc>
              <a:buClr>
                <a:srgbClr val="8F4D57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Explore a cursed attraction packed with strange items, hidden secrets, captive celebrities, and absurd encounters.</a:t>
            </a:r>
          </a:p>
          <a:p>
            <a:pPr marL="171450" indent="-171450">
              <a:lnSpc>
                <a:spcPts val="1400"/>
              </a:lnSpc>
              <a:buClr>
                <a:srgbClr val="8F4D57"/>
              </a:buClr>
              <a:buSzPts val="1100"/>
              <a:buFont typeface="Press Start 2P" panose="00000500000000000000" pitchFamily="2" charset="0"/>
              <a:buChar char="★"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ts val="1400"/>
              </a:lnSpc>
              <a:buClr>
                <a:srgbClr val="8F4D57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Survive each procedural run and burn tickets to unlock new items, areas, and even more madness.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59DDBFF2-B1FB-4113-D291-30E81F48EF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A video game with a cartoon character&#10;&#10;AI-generated content may be incorrect.">
            <a:extLst>
              <a:ext uri="{FF2B5EF4-FFF2-40B4-BE49-F238E27FC236}">
                <a16:creationId xmlns:a16="http://schemas.microsoft.com/office/drawing/2014/main" id="{29986DC9-BD1C-9EA3-D511-58B7AA10674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798240"/>
            <a:ext cx="9144000" cy="3924300"/>
          </a:xfrm>
          <a:prstGeom prst="rect">
            <a:avLst/>
          </a:prstGeom>
        </p:spPr>
      </p:pic>
      <p:sp>
        <p:nvSpPr>
          <p:cNvPr id="8" name="Google Shape;1000;p37">
            <a:extLst>
              <a:ext uri="{FF2B5EF4-FFF2-40B4-BE49-F238E27FC236}">
                <a16:creationId xmlns:a16="http://schemas.microsoft.com/office/drawing/2014/main" id="{A02E9861-D81C-BEB4-9FF8-6059B0DF160B}"/>
              </a:ext>
            </a:extLst>
          </p:cNvPr>
          <p:cNvSpPr txBox="1">
            <a:spLocks/>
          </p:cNvSpPr>
          <p:nvPr/>
        </p:nvSpPr>
        <p:spPr>
          <a:xfrm>
            <a:off x="487199" y="962531"/>
            <a:ext cx="3994860" cy="11779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5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Adventure spirit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 retro atmosphere fused with pixel art and roguelite tension — blending nostalgia, absurd humor, and high-stakes exploration.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endParaRPr lang="en-US" sz="10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5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Accessible chaos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Active, easy-to-grasp combat powered by creative item use.</a:t>
            </a:r>
          </a:p>
        </p:txBody>
      </p:sp>
      <p:sp>
        <p:nvSpPr>
          <p:cNvPr id="12" name="Google Shape;999;p37">
            <a:extLst>
              <a:ext uri="{FF2B5EF4-FFF2-40B4-BE49-F238E27FC236}">
                <a16:creationId xmlns:a16="http://schemas.microsoft.com/office/drawing/2014/main" id="{028DD578-F28F-5A40-3503-5915690FE3FF}"/>
              </a:ext>
            </a:extLst>
          </p:cNvPr>
          <p:cNvSpPr txBox="1">
            <a:spLocks/>
          </p:cNvSpPr>
          <p:nvPr/>
        </p:nvSpPr>
        <p:spPr>
          <a:xfrm>
            <a:off x="1409076" y="301170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Why It’s Unique</a:t>
            </a:r>
          </a:p>
        </p:txBody>
      </p:sp>
      <p:pic>
        <p:nvPicPr>
          <p:cNvPr id="13" name="Picture 12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AD3F7298-6C89-EE89-3E9A-0B25DA94564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2EF5299E-1B7C-AA97-2B00-73C53140F88E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20000"/>
          </a:blip>
          <a:stretch>
            <a:fillRect/>
          </a:stretch>
        </p:blipFill>
        <p:spPr>
          <a:xfrm>
            <a:off x="6301667" y="3841982"/>
            <a:ext cx="493908" cy="164636"/>
          </a:xfrm>
          <a:prstGeom prst="rect">
            <a:avLst/>
          </a:prstGeom>
        </p:spPr>
      </p:pic>
      <p:pic>
        <p:nvPicPr>
          <p:cNvPr id="17" name="Picture 16" descr="A pixelated cartoon of a dog&#10;&#10;AI-generated content may be incorrect.">
            <a:extLst>
              <a:ext uri="{FF2B5EF4-FFF2-40B4-BE49-F238E27FC236}">
                <a16:creationId xmlns:a16="http://schemas.microsoft.com/office/drawing/2014/main" id="{78936B8D-6122-F985-265D-5B2E6CEC95C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flipH="1">
            <a:off x="6136300" y="4157050"/>
            <a:ext cx="539354" cy="792187"/>
          </a:xfrm>
          <a:prstGeom prst="rect">
            <a:avLst/>
          </a:prstGeom>
        </p:spPr>
      </p:pic>
      <p:sp>
        <p:nvSpPr>
          <p:cNvPr id="1000" name="Google Shape;1000;p37">
            <a:extLst>
              <a:ext uri="{FF2B5EF4-FFF2-40B4-BE49-F238E27FC236}">
                <a16:creationId xmlns:a16="http://schemas.microsoft.com/office/drawing/2014/main" id="{6A32EE8A-0DFD-7F7F-DA35-B894B7CD5258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4943938" y="962531"/>
            <a:ext cx="3873094" cy="111283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The haunted ride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 cursed, procedural horror attraction with its own twisted logic and unpredictable surprises.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endParaRPr lang="en-US" sz="10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Evolving madness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 growing telenovela of bizarre characters, new realms, and ever-escalating insanity.</a:t>
            </a:r>
          </a:p>
        </p:txBody>
      </p:sp>
    </p:spTree>
    <p:extLst>
      <p:ext uri="{BB962C8B-B14F-4D97-AF65-F5344CB8AC3E}">
        <p14:creationId xmlns:p14="http://schemas.microsoft.com/office/powerpoint/2010/main" val="293517322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A87C6DD4-3F48-186B-FC05-1008CDCC13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pixel art of a building">
            <a:extLst>
              <a:ext uri="{FF2B5EF4-FFF2-40B4-BE49-F238E27FC236}">
                <a16:creationId xmlns:a16="http://schemas.microsoft.com/office/drawing/2014/main" id="{7E95556F-87C4-1552-F8EB-11CC3133BC69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7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Google Shape;999;p37">
            <a:extLst>
              <a:ext uri="{FF2B5EF4-FFF2-40B4-BE49-F238E27FC236}">
                <a16:creationId xmlns:a16="http://schemas.microsoft.com/office/drawing/2014/main" id="{EAA26DC9-34AA-AC7A-D05F-E1E80A36CD81}"/>
              </a:ext>
            </a:extLst>
          </p:cNvPr>
          <p:cNvSpPr txBox="1">
            <a:spLocks/>
          </p:cNvSpPr>
          <p:nvPr/>
        </p:nvSpPr>
        <p:spPr>
          <a:xfrm>
            <a:off x="1409076" y="301170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Specifications</a:t>
            </a:r>
          </a:p>
        </p:txBody>
      </p:sp>
      <p:pic>
        <p:nvPicPr>
          <p:cNvPr id="7" name="Picture 6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58059D1C-4F8A-7E8E-18F5-B208D23AFEF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sp>
        <p:nvSpPr>
          <p:cNvPr id="2" name="Google Shape;1000;p37">
            <a:extLst>
              <a:ext uri="{FF2B5EF4-FFF2-40B4-BE49-F238E27FC236}">
                <a16:creationId xmlns:a16="http://schemas.microsoft.com/office/drawing/2014/main" id="{86D841F6-FB8E-4465-6E30-7C6E9B7E1BAD}"/>
              </a:ext>
            </a:extLst>
          </p:cNvPr>
          <p:cNvSpPr txBox="1">
            <a:spLocks/>
          </p:cNvSpPr>
          <p:nvPr/>
        </p:nvSpPr>
        <p:spPr>
          <a:xfrm>
            <a:off x="2304480" y="1021093"/>
            <a:ext cx="4804863" cy="137597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171450" indent="-171450">
              <a:lnSpc>
                <a:spcPct val="25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05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Genre: </a:t>
            </a:r>
            <a:r>
              <a:rPr lang="en-US" sz="105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2D roguelite adventure</a:t>
            </a:r>
          </a:p>
          <a:p>
            <a:pPr marL="171450" indent="-171450">
              <a:lnSpc>
                <a:spcPct val="25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05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Graphics: </a:t>
            </a:r>
            <a:r>
              <a:rPr lang="en-US" sz="105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Pixel art</a:t>
            </a:r>
          </a:p>
          <a:p>
            <a:pPr marL="171450" indent="-171450">
              <a:lnSpc>
                <a:spcPct val="25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05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Rating: </a:t>
            </a:r>
            <a:r>
              <a:rPr lang="en-US" sz="105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Mature humor, mild blood</a:t>
            </a:r>
          </a:p>
          <a:p>
            <a:pPr marL="171450" indent="-171450">
              <a:lnSpc>
                <a:spcPct val="25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05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Audience: </a:t>
            </a:r>
            <a:r>
              <a:rPr lang="en-US" sz="105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13+/roguelite players</a:t>
            </a:r>
          </a:p>
          <a:p>
            <a:pPr marL="171450" indent="-171450">
              <a:lnSpc>
                <a:spcPct val="25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05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Tech: </a:t>
            </a:r>
            <a:r>
              <a:rPr lang="en-US" sz="105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MonoGame/Proprietary engine</a:t>
            </a:r>
          </a:p>
        </p:txBody>
      </p:sp>
      <p:pic>
        <p:nvPicPr>
          <p:cNvPr id="8" name="Picture 7" descr="A pixelated image of a dog&#10;&#10;AI-generated content may be incorrect.">
            <a:extLst>
              <a:ext uri="{FF2B5EF4-FFF2-40B4-BE49-F238E27FC236}">
                <a16:creationId xmlns:a16="http://schemas.microsoft.com/office/drawing/2014/main" id="{04495AA6-FD25-DEAE-6B39-1715871E12A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rightnessContrast bright="-40000" contrast="-2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745053" y="3771271"/>
            <a:ext cx="664023" cy="901174"/>
          </a:xfrm>
          <a:prstGeom prst="rect">
            <a:avLst/>
          </a:prstGeom>
        </p:spPr>
      </p:pic>
      <p:pic>
        <p:nvPicPr>
          <p:cNvPr id="9" name="Picture 8" descr="A pixelated image of a dog&#10;&#10;AI-generated content may be incorrect.">
            <a:extLst>
              <a:ext uri="{FF2B5EF4-FFF2-40B4-BE49-F238E27FC236}">
                <a16:creationId xmlns:a16="http://schemas.microsoft.com/office/drawing/2014/main" id="{68A93E69-E461-0C0D-BD03-91E80670615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flipH="1">
            <a:off x="8551888" y="3370513"/>
            <a:ext cx="501859" cy="681094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3B963E86-3304-C63F-E681-2BE5FC3034B3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409076" y="1428436"/>
            <a:ext cx="685800" cy="45720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6EB32B4E-EF58-3837-BAD1-C038CB9BC737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 flipH="1">
            <a:off x="7060492" y="447036"/>
            <a:ext cx="674432" cy="45720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8325E361-DB9D-87B7-4A46-08C7E896D3B1}"/>
              </a:ext>
            </a:extLst>
          </p:cNvPr>
          <p:cNvSpPr txBox="1"/>
          <p:nvPr/>
        </p:nvSpPr>
        <p:spPr>
          <a:xfrm>
            <a:off x="1800693" y="4153366"/>
            <a:ext cx="5812435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effectLst>
                  <a:glow rad="1397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sym typeface="Maven Pro"/>
              </a:rPr>
              <a:t>Pixel art in 2D and 2.5D perspectives — side-view characters over isometric or angled backgrounds to enhance depth and scale.</a:t>
            </a:r>
          </a:p>
        </p:txBody>
      </p:sp>
    </p:spTree>
    <p:extLst>
      <p:ext uri="{BB962C8B-B14F-4D97-AF65-F5344CB8AC3E}">
        <p14:creationId xmlns:p14="http://schemas.microsoft.com/office/powerpoint/2010/main" val="291298901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B2F170F1-E5B9-6C28-129A-6FF76EE3A5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pixel art of a building">
            <a:extLst>
              <a:ext uri="{FF2B5EF4-FFF2-40B4-BE49-F238E27FC236}">
                <a16:creationId xmlns:a16="http://schemas.microsoft.com/office/drawing/2014/main" id="{3DC4AB54-366E-E0A2-1159-FF5B92ACFE5C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alphaModFix amt="7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000" name="Google Shape;1000;p37">
            <a:extLst>
              <a:ext uri="{FF2B5EF4-FFF2-40B4-BE49-F238E27FC236}">
                <a16:creationId xmlns:a16="http://schemas.microsoft.com/office/drawing/2014/main" id="{91AF0787-BB08-0706-A505-8310F24C57AE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738559" y="887265"/>
            <a:ext cx="3833441" cy="1112838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lnSpc>
                <a:spcPct val="150000"/>
              </a:lnSpc>
              <a:buClr>
                <a:srgbClr val="8F4D57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The attraction</a:t>
            </a:r>
            <a:b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Snuggleville’s amusement park was once home to Remizione, a grotesque horror ride.</a:t>
            </a:r>
          </a:p>
          <a:p>
            <a:pPr marL="0" indent="0">
              <a:lnSpc>
                <a:spcPct val="150000"/>
              </a:lnSpc>
              <a:buClr>
                <a:srgbClr val="8F4D57"/>
              </a:buClr>
              <a:buSzPts val="1100"/>
              <a:buNone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ct val="150000"/>
              </a:lnSpc>
              <a:buClr>
                <a:srgbClr val="8F4D57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The incident</a:t>
            </a:r>
          </a:p>
          <a:p>
            <a:pPr marL="0" indent="0">
              <a:lnSpc>
                <a:spcPct val="150000"/>
              </a:lnSpc>
              <a:buClr>
                <a:srgbClr val="8F4D57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During the grand opening, the ride’s designer and a group of celebrity guests stepped into the attraction… and never came out. The park was deemed haunted and soon went bankrupt.</a:t>
            </a:r>
          </a:p>
        </p:txBody>
      </p:sp>
      <p:sp>
        <p:nvSpPr>
          <p:cNvPr id="2" name="Google Shape;999;p37">
            <a:extLst>
              <a:ext uri="{FF2B5EF4-FFF2-40B4-BE49-F238E27FC236}">
                <a16:creationId xmlns:a16="http://schemas.microsoft.com/office/drawing/2014/main" id="{BD0D7D64-8BF2-0887-A6B2-640C4F8F13FA}"/>
              </a:ext>
            </a:extLst>
          </p:cNvPr>
          <p:cNvSpPr txBox="1">
            <a:spLocks/>
          </p:cNvSpPr>
          <p:nvPr/>
        </p:nvSpPr>
        <p:spPr>
          <a:xfrm>
            <a:off x="1409076" y="301170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Story &amp; Setting</a:t>
            </a:r>
          </a:p>
        </p:txBody>
      </p:sp>
      <p:sp>
        <p:nvSpPr>
          <p:cNvPr id="3" name="Google Shape;1000;p37">
            <a:extLst>
              <a:ext uri="{FF2B5EF4-FFF2-40B4-BE49-F238E27FC236}">
                <a16:creationId xmlns:a16="http://schemas.microsoft.com/office/drawing/2014/main" id="{52D5C695-4990-1D0D-E6CB-6796CBE63E16}"/>
              </a:ext>
            </a:extLst>
          </p:cNvPr>
          <p:cNvSpPr txBox="1">
            <a:spLocks/>
          </p:cNvSpPr>
          <p:nvPr/>
        </p:nvSpPr>
        <p:spPr>
          <a:xfrm>
            <a:off x="4744794" y="887265"/>
            <a:ext cx="3908686" cy="11128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ct val="150000"/>
              </a:lnSpc>
              <a:buClr>
                <a:srgbClr val="8F4D57"/>
              </a:buClr>
              <a:buSzPts val="1100"/>
              <a:buFont typeface="Maven Pro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The unexpected heroes</a:t>
            </a:r>
          </a:p>
          <a:p>
            <a:pPr marL="0" indent="0">
              <a:lnSpc>
                <a:spcPct val="150000"/>
              </a:lnSpc>
              <a:buClr>
                <a:srgbClr val="8F4D57"/>
              </a:buClr>
              <a:buSzPts val="1100"/>
              <a:buFont typeface="Maven Pro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Many years later, twins Edmund and Berta Idle sneak inside to investigate.</a:t>
            </a:r>
          </a:p>
          <a:p>
            <a:pPr marL="0" indent="0">
              <a:lnSpc>
                <a:spcPct val="150000"/>
              </a:lnSpc>
              <a:buClr>
                <a:srgbClr val="8F4D57"/>
              </a:buClr>
              <a:buSzPts val="1100"/>
              <a:buFont typeface="Maven Pro"/>
              <a:buNone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ct val="150000"/>
              </a:lnSpc>
              <a:buClr>
                <a:srgbClr val="8F4D57"/>
              </a:buClr>
              <a:buSzPts val="1100"/>
              <a:buFont typeface="Maven Pro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The evil curse</a:t>
            </a:r>
          </a:p>
          <a:p>
            <a:pPr marL="0" indent="0">
              <a:lnSpc>
                <a:spcPct val="150000"/>
              </a:lnSpc>
              <a:buClr>
                <a:srgbClr val="8F4D57"/>
              </a:buClr>
              <a:buSzPts val="1100"/>
              <a:buFont typeface="Maven Pro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The attraction is now ruled by Mandinga — the Devil’s only son and heir.</a:t>
            </a:r>
          </a:p>
        </p:txBody>
      </p:sp>
      <p:pic>
        <p:nvPicPr>
          <p:cNvPr id="6" name="Picture 5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F57E524A-5833-BCC7-087B-B4832FE7002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6DFC314-2C6B-C30B-5D27-D980F4ABF0C6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50000"/>
          </a:blip>
          <a:stretch>
            <a:fillRect/>
          </a:stretch>
        </p:blipFill>
        <p:spPr>
          <a:xfrm>
            <a:off x="4120103" y="4681778"/>
            <a:ext cx="321103" cy="160552"/>
          </a:xfrm>
          <a:prstGeom prst="rect">
            <a:avLst/>
          </a:prstGeom>
        </p:spPr>
      </p:pic>
      <p:pic>
        <p:nvPicPr>
          <p:cNvPr id="11" name="Picture 10" descr="A pixelated image of a person&#10;&#10;AI-generated content may be incorrect.">
            <a:extLst>
              <a:ext uri="{FF2B5EF4-FFF2-40B4-BE49-F238E27FC236}">
                <a16:creationId xmlns:a16="http://schemas.microsoft.com/office/drawing/2014/main" id="{190BA5B4-62E2-6E38-89ED-FF2C6BD5D7B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35567" y="3981286"/>
            <a:ext cx="478190" cy="765104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83C10FDB-09DC-516C-B3B4-D44D5667B930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50000"/>
          </a:blip>
          <a:stretch>
            <a:fillRect/>
          </a:stretch>
        </p:blipFill>
        <p:spPr>
          <a:xfrm>
            <a:off x="4882874" y="4681778"/>
            <a:ext cx="321103" cy="160552"/>
          </a:xfrm>
          <a:prstGeom prst="rect">
            <a:avLst/>
          </a:prstGeom>
        </p:spPr>
      </p:pic>
      <p:pic>
        <p:nvPicPr>
          <p:cNvPr id="10" name="Picture 9" descr="A pixelated image of a person&#10;&#10;AI-generated content may be incorrect.">
            <a:extLst>
              <a:ext uri="{FF2B5EF4-FFF2-40B4-BE49-F238E27FC236}">
                <a16:creationId xmlns:a16="http://schemas.microsoft.com/office/drawing/2014/main" id="{12DF15CB-D3B2-C074-8F60-A1CFC9342AB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flipH="1">
            <a:off x="4679671" y="4053098"/>
            <a:ext cx="478190" cy="7172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946328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DD1723FF-E9EE-FE68-3C65-1369673D6F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pixel art of a building">
            <a:extLst>
              <a:ext uri="{FF2B5EF4-FFF2-40B4-BE49-F238E27FC236}">
                <a16:creationId xmlns:a16="http://schemas.microsoft.com/office/drawing/2014/main" id="{8BC3450D-6942-EDAA-05D6-501443985E5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alphaModFix amt="5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2" name="Google Shape;999;p37">
            <a:extLst>
              <a:ext uri="{FF2B5EF4-FFF2-40B4-BE49-F238E27FC236}">
                <a16:creationId xmlns:a16="http://schemas.microsoft.com/office/drawing/2014/main" id="{DC0A741D-EA39-9191-ED36-6BC0FFD7E1AF}"/>
              </a:ext>
            </a:extLst>
          </p:cNvPr>
          <p:cNvSpPr txBox="1">
            <a:spLocks/>
          </p:cNvSpPr>
          <p:nvPr/>
        </p:nvSpPr>
        <p:spPr>
          <a:xfrm>
            <a:off x="1409076" y="301170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Main Cast</a:t>
            </a:r>
          </a:p>
        </p:txBody>
      </p:sp>
      <p:pic>
        <p:nvPicPr>
          <p:cNvPr id="13" name="Picture 12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0C75137F-5DB8-A6FB-FE99-A4F840DA7F2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432AA4F5-F688-78E9-DDCB-AF9A8448CAAF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20000"/>
          </a:blip>
          <a:stretch>
            <a:fillRect/>
          </a:stretch>
        </p:blipFill>
        <p:spPr>
          <a:xfrm>
            <a:off x="6301667" y="3794917"/>
            <a:ext cx="493908" cy="164636"/>
          </a:xfrm>
          <a:prstGeom prst="rect">
            <a:avLst/>
          </a:prstGeom>
        </p:spPr>
      </p:pic>
      <p:pic>
        <p:nvPicPr>
          <p:cNvPr id="3" name="Picture 2" descr="A pixelated image of a person&#10;&#10;AI-generated content may be incorrect.">
            <a:extLst>
              <a:ext uri="{FF2B5EF4-FFF2-40B4-BE49-F238E27FC236}">
                <a16:creationId xmlns:a16="http://schemas.microsoft.com/office/drawing/2014/main" id="{4FAB5B60-11AE-E4A4-2AB4-8BC620D7406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8965" y="1042405"/>
            <a:ext cx="485514" cy="728272"/>
          </a:xfrm>
          <a:prstGeom prst="rect">
            <a:avLst/>
          </a:prstGeom>
        </p:spPr>
      </p:pic>
      <p:pic>
        <p:nvPicPr>
          <p:cNvPr id="5" name="Picture 4" descr="A pixelated image of a person&#10;&#10;AI-generated content may be incorrect.">
            <a:extLst>
              <a:ext uri="{FF2B5EF4-FFF2-40B4-BE49-F238E27FC236}">
                <a16:creationId xmlns:a16="http://schemas.microsoft.com/office/drawing/2014/main" id="{09862270-43F5-6292-EB54-C4F461EFA27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50034" y="2141383"/>
            <a:ext cx="455170" cy="728272"/>
          </a:xfrm>
          <a:prstGeom prst="rect">
            <a:avLst/>
          </a:prstGeom>
        </p:spPr>
      </p:pic>
      <p:pic>
        <p:nvPicPr>
          <p:cNvPr id="7" name="Picture 6" descr="A pixelated cartoon of a dog&#10;&#10;AI-generated content may be incorrect.">
            <a:extLst>
              <a:ext uri="{FF2B5EF4-FFF2-40B4-BE49-F238E27FC236}">
                <a16:creationId xmlns:a16="http://schemas.microsoft.com/office/drawing/2014/main" id="{051CC362-E370-95CD-DCEF-76C7BF0C59A7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998634" y="1066548"/>
            <a:ext cx="624580" cy="892256"/>
          </a:xfrm>
          <a:prstGeom prst="rect">
            <a:avLst/>
          </a:prstGeom>
        </p:spPr>
      </p:pic>
      <p:pic>
        <p:nvPicPr>
          <p:cNvPr id="15" name="Picture 14" descr="A cartoon of a person wearing glasses&#10;&#10;AI-generated content may be incorrect.">
            <a:extLst>
              <a:ext uri="{FF2B5EF4-FFF2-40B4-BE49-F238E27FC236}">
                <a16:creationId xmlns:a16="http://schemas.microsoft.com/office/drawing/2014/main" id="{CFEDD57E-7C8F-ACB0-4CBB-424E9AF13E73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73466" y="3045216"/>
            <a:ext cx="1046610" cy="951463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0E81F1C1-7C7A-D6E0-EE54-F21E4A0C706F}"/>
              </a:ext>
            </a:extLst>
          </p:cNvPr>
          <p:cNvPicPr>
            <a:picLocks noChangeAspect="1"/>
          </p:cNvPicPr>
          <p:nvPr/>
        </p:nvPicPr>
        <p:blipFill>
          <a:blip r:embed="rId10"/>
          <a:srcRect/>
          <a:stretch/>
        </p:blipFill>
        <p:spPr>
          <a:xfrm>
            <a:off x="4975198" y="2372835"/>
            <a:ext cx="671452" cy="1298140"/>
          </a:xfrm>
          <a:prstGeom prst="rect">
            <a:avLst/>
          </a:prstGeom>
        </p:spPr>
      </p:pic>
      <p:sp>
        <p:nvSpPr>
          <p:cNvPr id="20" name="Google Shape;1000;p37">
            <a:extLst>
              <a:ext uri="{FF2B5EF4-FFF2-40B4-BE49-F238E27FC236}">
                <a16:creationId xmlns:a16="http://schemas.microsoft.com/office/drawing/2014/main" id="{B8DB2753-2FC1-8F9C-F97E-5CA6B1B1E579}"/>
              </a:ext>
            </a:extLst>
          </p:cNvPr>
          <p:cNvSpPr txBox="1">
            <a:spLocks/>
          </p:cNvSpPr>
          <p:nvPr/>
        </p:nvSpPr>
        <p:spPr>
          <a:xfrm>
            <a:off x="1046182" y="902675"/>
            <a:ext cx="3675719" cy="10561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Edmund Idle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Co-writes “Mysterious Mysteries” magazine with his twin sister.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At 41, he still lives with his mom and sister Berta.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endParaRPr lang="en-US" sz="8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</p:txBody>
      </p:sp>
      <p:sp>
        <p:nvSpPr>
          <p:cNvPr id="21" name="Google Shape;1000;p37">
            <a:extLst>
              <a:ext uri="{FF2B5EF4-FFF2-40B4-BE49-F238E27FC236}">
                <a16:creationId xmlns:a16="http://schemas.microsoft.com/office/drawing/2014/main" id="{621B3F80-D839-0F51-3D70-77CAAA9A2559}"/>
              </a:ext>
            </a:extLst>
          </p:cNvPr>
          <p:cNvSpPr txBox="1">
            <a:spLocks/>
          </p:cNvSpPr>
          <p:nvPr/>
        </p:nvSpPr>
        <p:spPr>
          <a:xfrm>
            <a:off x="1048053" y="2070650"/>
            <a:ext cx="3841447" cy="8393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Berta Idle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Co-writes with her brother Edmund. At 41, still at home, avoiding both responsibility and fatigue.</a:t>
            </a:r>
          </a:p>
        </p:txBody>
      </p:sp>
      <p:sp>
        <p:nvSpPr>
          <p:cNvPr id="22" name="Google Shape;1000;p37">
            <a:extLst>
              <a:ext uri="{FF2B5EF4-FFF2-40B4-BE49-F238E27FC236}">
                <a16:creationId xmlns:a16="http://schemas.microsoft.com/office/drawing/2014/main" id="{E5344F25-735F-82FC-85D5-9AB8E8411581}"/>
              </a:ext>
            </a:extLst>
          </p:cNvPr>
          <p:cNvSpPr txBox="1">
            <a:spLocks/>
          </p:cNvSpPr>
          <p:nvPr/>
        </p:nvSpPr>
        <p:spPr>
          <a:xfrm>
            <a:off x="5702124" y="902675"/>
            <a:ext cx="2994969" cy="6853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Sister Ham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Mandinga’s assistant. Keeps the attraction in order—mostly by screaming and oinking.</a:t>
            </a:r>
          </a:p>
        </p:txBody>
      </p:sp>
      <p:sp>
        <p:nvSpPr>
          <p:cNvPr id="23" name="Google Shape;1000;p37">
            <a:extLst>
              <a:ext uri="{FF2B5EF4-FFF2-40B4-BE49-F238E27FC236}">
                <a16:creationId xmlns:a16="http://schemas.microsoft.com/office/drawing/2014/main" id="{FD248A31-65A9-BE71-69A5-C4C514B548E1}"/>
              </a:ext>
            </a:extLst>
          </p:cNvPr>
          <p:cNvSpPr txBox="1">
            <a:spLocks/>
          </p:cNvSpPr>
          <p:nvPr/>
        </p:nvSpPr>
        <p:spPr>
          <a:xfrm>
            <a:off x="5679563" y="2202691"/>
            <a:ext cx="3083826" cy="10561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Mandinga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The Devil’s only son and heir. His father died in an unfortunate gas leak while trying to roast a sinner.</a:t>
            </a:r>
            <a:b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b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As a child he dreamed of having his own horror attraction—now he finally has one, and no one’s leaving.</a:t>
            </a:r>
          </a:p>
        </p:txBody>
      </p:sp>
      <p:sp>
        <p:nvSpPr>
          <p:cNvPr id="24" name="Google Shape;1000;p37">
            <a:extLst>
              <a:ext uri="{FF2B5EF4-FFF2-40B4-BE49-F238E27FC236}">
                <a16:creationId xmlns:a16="http://schemas.microsoft.com/office/drawing/2014/main" id="{79B51BDF-D15A-9491-C7D9-948FC9AB59C3}"/>
              </a:ext>
            </a:extLst>
          </p:cNvPr>
          <p:cNvSpPr txBox="1">
            <a:spLocks/>
          </p:cNvSpPr>
          <p:nvPr/>
        </p:nvSpPr>
        <p:spPr>
          <a:xfrm>
            <a:off x="1046182" y="3024520"/>
            <a:ext cx="3579605" cy="10561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Lord Percival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Designer of horror attractions. His masterpiece Remizione promised a journey through purgatory. On opening day, he and a group of celebrities entered the ride… and never came out.</a:t>
            </a:r>
          </a:p>
        </p:txBody>
      </p:sp>
    </p:spTree>
    <p:extLst>
      <p:ext uri="{BB962C8B-B14F-4D97-AF65-F5344CB8AC3E}">
        <p14:creationId xmlns:p14="http://schemas.microsoft.com/office/powerpoint/2010/main" val="75730319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F179D232-38D4-F14A-01B8-48E2CCE4B8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60" name="Picture 959" descr="A pixel art of a building">
            <a:extLst>
              <a:ext uri="{FF2B5EF4-FFF2-40B4-BE49-F238E27FC236}">
                <a16:creationId xmlns:a16="http://schemas.microsoft.com/office/drawing/2014/main" id="{E36C71DB-8ED4-9273-3E50-589AD5CCBF2D}"/>
              </a:ext>
            </a:extLst>
          </p:cNvPr>
          <p:cNvPicPr>
            <a:picLocks noGrp="1" noRot="1" noMove="1" noResize="1" noEditPoints="1" noAdjustHandles="1" noChangeArrowheads="1" noChangeShapeType="1" noCrop="1"/>
          </p:cNvPicPr>
          <p:nvPr/>
        </p:nvPicPr>
        <p:blipFill>
          <a:blip r:embed="rId3">
            <a:alphaModFix amt="35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6" name="Picture 5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0B83EB26-17A9-E978-1ED1-09AA5A8852B3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sp>
        <p:nvSpPr>
          <p:cNvPr id="7" name="Google Shape;999;p37">
            <a:extLst>
              <a:ext uri="{FF2B5EF4-FFF2-40B4-BE49-F238E27FC236}">
                <a16:creationId xmlns:a16="http://schemas.microsoft.com/office/drawing/2014/main" id="{FCC1503D-45D8-7282-83EF-5C6D63D13057}"/>
              </a:ext>
            </a:extLst>
          </p:cNvPr>
          <p:cNvSpPr txBox="1">
            <a:spLocks/>
          </p:cNvSpPr>
          <p:nvPr/>
        </p:nvSpPr>
        <p:spPr>
          <a:xfrm>
            <a:off x="1409076" y="301170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Anatomy of the Game</a:t>
            </a:r>
          </a:p>
        </p:txBody>
      </p:sp>
      <p:pic>
        <p:nvPicPr>
          <p:cNvPr id="10" name="Picture 9" descr="A pixelated image of a person&#10;&#10;AI-generated content may be incorrect.">
            <a:extLst>
              <a:ext uri="{FF2B5EF4-FFF2-40B4-BE49-F238E27FC236}">
                <a16:creationId xmlns:a16="http://schemas.microsoft.com/office/drawing/2014/main" id="{6CB79E76-645B-8464-B863-7E05A3B253A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flipH="1">
            <a:off x="1915461" y="1601648"/>
            <a:ext cx="330557" cy="497465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11" name="Picture 10" descr="A pixelated image of a person&#10;&#10;AI-generated content may be incorrect.">
            <a:extLst>
              <a:ext uri="{FF2B5EF4-FFF2-40B4-BE49-F238E27FC236}">
                <a16:creationId xmlns:a16="http://schemas.microsoft.com/office/drawing/2014/main" id="{7E5C9CEA-F308-13F2-B768-93B2E021E5B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77900" y="1600012"/>
            <a:ext cx="335994" cy="495798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286BDAF4-DBDB-DF16-475D-7FD1290F59B6}"/>
              </a:ext>
            </a:extLst>
          </p:cNvPr>
          <p:cNvSpPr txBox="1"/>
          <p:nvPr/>
        </p:nvSpPr>
        <p:spPr>
          <a:xfrm>
            <a:off x="915148" y="1073686"/>
            <a:ext cx="168416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solidFill>
                  <a:srgbClr val="8F4D57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sym typeface="Maven Pro"/>
              </a:rPr>
              <a:t>Choose your twin and board the ride car</a:t>
            </a:r>
          </a:p>
        </p:txBody>
      </p:sp>
      <p:sp>
        <p:nvSpPr>
          <p:cNvPr id="17" name="Arrow: Down 16">
            <a:extLst>
              <a:ext uri="{FF2B5EF4-FFF2-40B4-BE49-F238E27FC236}">
                <a16:creationId xmlns:a16="http://schemas.microsoft.com/office/drawing/2014/main" id="{CD2A2BC3-97C4-6062-C96D-195081CCD045}"/>
              </a:ext>
            </a:extLst>
          </p:cNvPr>
          <p:cNvSpPr/>
          <p:nvPr/>
        </p:nvSpPr>
        <p:spPr>
          <a:xfrm rot="10800000">
            <a:off x="1708038" y="1897074"/>
            <a:ext cx="116849" cy="269264"/>
          </a:xfrm>
          <a:prstGeom prst="downArrow">
            <a:avLst/>
          </a:prstGeom>
          <a:solidFill>
            <a:srgbClr val="AB513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0">
              <a:solidFill>
                <a:schemeClr val="bg1">
                  <a:lumMod val="75000"/>
                </a:schemeClr>
              </a:solidFill>
              <a:latin typeface="Press Start 2P" panose="00000500000000000000" pitchFamily="2" charset="0"/>
            </a:endParaRP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74E0A1D9-29D0-BD12-7B67-5B2496302C2B}"/>
              </a:ext>
            </a:extLst>
          </p:cNvPr>
          <p:cNvSpPr/>
          <p:nvPr/>
        </p:nvSpPr>
        <p:spPr>
          <a:xfrm>
            <a:off x="1208941" y="2147847"/>
            <a:ext cx="1098800" cy="461666"/>
          </a:xfrm>
          <a:prstGeom prst="roundRect">
            <a:avLst/>
          </a:prstGeom>
          <a:solidFill>
            <a:srgbClr val="AB513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>
                    <a:lumMod val="75000"/>
                  </a:schemeClr>
                </a:solidFill>
                <a:latin typeface="Press Start 2P" panose="00000500000000000000" pitchFamily="2" charset="0"/>
              </a:rPr>
              <a:t>Theme</a:t>
            </a:r>
          </a:p>
          <a:p>
            <a:pPr algn="ctr"/>
            <a:r>
              <a:rPr lang="en-US" sz="1000" dirty="0">
                <a:solidFill>
                  <a:schemeClr val="bg1">
                    <a:lumMod val="75000"/>
                  </a:schemeClr>
                </a:solidFill>
                <a:latin typeface="Press Start 2P" panose="00000500000000000000" pitchFamily="2" charset="0"/>
              </a:rPr>
              <a:t>Park</a:t>
            </a:r>
          </a:p>
        </p:txBody>
      </p:sp>
      <p:pic>
        <p:nvPicPr>
          <p:cNvPr id="19" name="Picture 18" descr="A pixel art of a computer&#10;&#10;AI-generated content may be incorrect.">
            <a:extLst>
              <a:ext uri="{FF2B5EF4-FFF2-40B4-BE49-F238E27FC236}">
                <a16:creationId xmlns:a16="http://schemas.microsoft.com/office/drawing/2014/main" id="{B2EEC177-370B-0FA0-4324-69422E01994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flipH="1">
            <a:off x="1228026" y="3215670"/>
            <a:ext cx="891144" cy="832648"/>
          </a:xfrm>
          <a:prstGeom prst="rect">
            <a:avLst/>
          </a:prstGeom>
          <a:effectLst>
            <a:glow rad="139700">
              <a:schemeClr val="accent4">
                <a:satMod val="175000"/>
                <a:alpha val="40000"/>
              </a:schemeClr>
            </a:glow>
          </a:effectLst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D58649CA-4D01-D5EC-9EE2-9579DF4AF215}"/>
              </a:ext>
            </a:extLst>
          </p:cNvPr>
          <p:cNvSpPr txBox="1"/>
          <p:nvPr/>
        </p:nvSpPr>
        <p:spPr>
          <a:xfrm>
            <a:off x="639289" y="4148685"/>
            <a:ext cx="226737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solidFill>
                  <a:srgbClr val="8F4D57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sym typeface="Maven Pro"/>
              </a:rPr>
              <a:t>Burn tickets to unlock new items, areas and gateways to the Under-Ride.</a:t>
            </a:r>
          </a:p>
        </p:txBody>
      </p:sp>
      <p:sp>
        <p:nvSpPr>
          <p:cNvPr id="24" name="Arrow: Down 23">
            <a:extLst>
              <a:ext uri="{FF2B5EF4-FFF2-40B4-BE49-F238E27FC236}">
                <a16:creationId xmlns:a16="http://schemas.microsoft.com/office/drawing/2014/main" id="{3458AECE-2E4E-8D6F-0279-9EA3929E869D}"/>
              </a:ext>
            </a:extLst>
          </p:cNvPr>
          <p:cNvSpPr/>
          <p:nvPr/>
        </p:nvSpPr>
        <p:spPr>
          <a:xfrm>
            <a:off x="1719114" y="2554796"/>
            <a:ext cx="108791" cy="560507"/>
          </a:xfrm>
          <a:prstGeom prst="downArrow">
            <a:avLst/>
          </a:prstGeom>
          <a:solidFill>
            <a:srgbClr val="AB513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0" dirty="0">
              <a:solidFill>
                <a:schemeClr val="bg1">
                  <a:lumMod val="75000"/>
                </a:schemeClr>
              </a:solidFill>
              <a:latin typeface="Press Start 2P" panose="00000500000000000000" pitchFamily="2" charset="0"/>
            </a:endParaRP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92EDB3A8-51ED-551F-C32B-3CB5707AE5C7}"/>
              </a:ext>
            </a:extLst>
          </p:cNvPr>
          <p:cNvSpPr/>
          <p:nvPr/>
        </p:nvSpPr>
        <p:spPr>
          <a:xfrm>
            <a:off x="2976551" y="2147847"/>
            <a:ext cx="1204929" cy="461666"/>
          </a:xfrm>
          <a:prstGeom prst="roundRect">
            <a:avLst/>
          </a:prstGeom>
          <a:solidFill>
            <a:srgbClr val="AB513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>
                    <a:lumMod val="75000"/>
                  </a:schemeClr>
                </a:solidFill>
                <a:latin typeface="Press Start 2P" panose="00000500000000000000" pitchFamily="2" charset="0"/>
              </a:rPr>
              <a:t>Loading</a:t>
            </a:r>
          </a:p>
          <a:p>
            <a:pPr algn="ctr"/>
            <a:r>
              <a:rPr lang="en-US" sz="1000" dirty="0">
                <a:solidFill>
                  <a:schemeClr val="bg1">
                    <a:lumMod val="75000"/>
                  </a:schemeClr>
                </a:solidFill>
                <a:latin typeface="Press Start 2P" panose="00000500000000000000" pitchFamily="2" charset="0"/>
              </a:rPr>
              <a:t>Zone</a:t>
            </a:r>
          </a:p>
        </p:txBody>
      </p:sp>
      <p:sp>
        <p:nvSpPr>
          <p:cNvPr id="26" name="Arrow: Right 25">
            <a:extLst>
              <a:ext uri="{FF2B5EF4-FFF2-40B4-BE49-F238E27FC236}">
                <a16:creationId xmlns:a16="http://schemas.microsoft.com/office/drawing/2014/main" id="{50654CF7-D284-399E-B50D-F6369D4B0C16}"/>
              </a:ext>
            </a:extLst>
          </p:cNvPr>
          <p:cNvSpPr/>
          <p:nvPr/>
        </p:nvSpPr>
        <p:spPr>
          <a:xfrm>
            <a:off x="2265910" y="2255171"/>
            <a:ext cx="576026" cy="200830"/>
          </a:xfrm>
          <a:prstGeom prst="rightArrow">
            <a:avLst/>
          </a:prstGeom>
          <a:solidFill>
            <a:srgbClr val="AB5130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AB5130"/>
              </a:solidFill>
            </a:endParaRPr>
          </a:p>
        </p:txBody>
      </p:sp>
      <p:sp>
        <p:nvSpPr>
          <p:cNvPr id="28" name="Arrow: Down 27">
            <a:extLst>
              <a:ext uri="{FF2B5EF4-FFF2-40B4-BE49-F238E27FC236}">
                <a16:creationId xmlns:a16="http://schemas.microsoft.com/office/drawing/2014/main" id="{3BBED3EF-1969-846C-D755-0D20CA165F71}"/>
              </a:ext>
            </a:extLst>
          </p:cNvPr>
          <p:cNvSpPr/>
          <p:nvPr/>
        </p:nvSpPr>
        <p:spPr>
          <a:xfrm>
            <a:off x="3516682" y="2571750"/>
            <a:ext cx="118556" cy="269264"/>
          </a:xfrm>
          <a:prstGeom prst="downArrow">
            <a:avLst/>
          </a:prstGeom>
          <a:solidFill>
            <a:srgbClr val="AB513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0">
              <a:solidFill>
                <a:schemeClr val="bg1">
                  <a:lumMod val="75000"/>
                </a:schemeClr>
              </a:solidFill>
              <a:latin typeface="Press Start 2P" panose="00000500000000000000" pitchFamily="2" charset="0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C6194A65-A661-0BA4-4AEE-6670C54D551F}"/>
              </a:ext>
            </a:extLst>
          </p:cNvPr>
          <p:cNvSpPr txBox="1"/>
          <p:nvPr/>
        </p:nvSpPr>
        <p:spPr>
          <a:xfrm>
            <a:off x="2641646" y="2886087"/>
            <a:ext cx="190275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solidFill>
                  <a:srgbClr val="8F4D57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sym typeface="Maven Pro"/>
              </a:rPr>
              <a:t>Meet NPCs and access secret areas.</a:t>
            </a:r>
          </a:p>
        </p:txBody>
      </p:sp>
      <p:pic>
        <p:nvPicPr>
          <p:cNvPr id="30" name="Picture 29" descr="A cartoon of a person wearing glasses&#10;&#10;AI-generated content may be incorrect.">
            <a:extLst>
              <a:ext uri="{FF2B5EF4-FFF2-40B4-BE49-F238E27FC236}">
                <a16:creationId xmlns:a16="http://schemas.microsoft.com/office/drawing/2014/main" id="{6552B120-FBCE-9EE0-AE90-AF3455DED474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44573" y="3307627"/>
            <a:ext cx="829025" cy="753659"/>
          </a:xfrm>
          <a:prstGeom prst="rect">
            <a:avLst/>
          </a:prstGeom>
        </p:spPr>
      </p:pic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811BE59C-87D8-8235-EA7A-CE8C330317CF}"/>
              </a:ext>
            </a:extLst>
          </p:cNvPr>
          <p:cNvSpPr/>
          <p:nvPr/>
        </p:nvSpPr>
        <p:spPr>
          <a:xfrm>
            <a:off x="5022634" y="2147847"/>
            <a:ext cx="1204929" cy="461666"/>
          </a:xfrm>
          <a:prstGeom prst="roundRect">
            <a:avLst/>
          </a:prstGeom>
          <a:solidFill>
            <a:srgbClr val="AB513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>
                    <a:lumMod val="75000"/>
                  </a:schemeClr>
                </a:solidFill>
                <a:latin typeface="Press Start 2P" panose="00000500000000000000" pitchFamily="2" charset="0"/>
              </a:rPr>
              <a:t>The Ride</a:t>
            </a:r>
          </a:p>
        </p:txBody>
      </p:sp>
      <p:sp>
        <p:nvSpPr>
          <p:cNvPr id="32" name="Arrow: Right 31">
            <a:extLst>
              <a:ext uri="{FF2B5EF4-FFF2-40B4-BE49-F238E27FC236}">
                <a16:creationId xmlns:a16="http://schemas.microsoft.com/office/drawing/2014/main" id="{552C7965-B1D4-EB6B-B905-AFF17290F051}"/>
              </a:ext>
            </a:extLst>
          </p:cNvPr>
          <p:cNvSpPr/>
          <p:nvPr/>
        </p:nvSpPr>
        <p:spPr>
          <a:xfrm>
            <a:off x="4155154" y="2257301"/>
            <a:ext cx="751600" cy="200830"/>
          </a:xfrm>
          <a:prstGeom prst="rightArrow">
            <a:avLst/>
          </a:prstGeom>
          <a:solidFill>
            <a:srgbClr val="AB5130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AB5130"/>
              </a:solidFill>
            </a:endParaRPr>
          </a:p>
        </p:txBody>
      </p:sp>
      <p:pic>
        <p:nvPicPr>
          <p:cNvPr id="34" name="Picture 33" descr="A pixelated cartoon of a dog&#10;&#10;AI-generated content may be incorrect.">
            <a:extLst>
              <a:ext uri="{FF2B5EF4-FFF2-40B4-BE49-F238E27FC236}">
                <a16:creationId xmlns:a16="http://schemas.microsoft.com/office/drawing/2014/main" id="{165D74D9-BA53-FDA9-D7B3-C0F90C45D6AE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104546" y="1459859"/>
            <a:ext cx="453946" cy="648493"/>
          </a:xfrm>
          <a:prstGeom prst="rect">
            <a:avLst/>
          </a:prstGeom>
        </p:spPr>
      </p:pic>
      <p:pic>
        <p:nvPicPr>
          <p:cNvPr id="35" name="Picture 34" descr="A cartoon of a person wearing glasses&#10;&#10;AI-generated content may be incorrect.">
            <a:extLst>
              <a:ext uri="{FF2B5EF4-FFF2-40B4-BE49-F238E27FC236}">
                <a16:creationId xmlns:a16="http://schemas.microsoft.com/office/drawing/2014/main" id="{9262E4AB-3BA8-3BA9-3D0F-33916C38B897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 flipH="1">
            <a:off x="3457838" y="1420364"/>
            <a:ext cx="799938" cy="672243"/>
          </a:xfrm>
          <a:prstGeom prst="rect">
            <a:avLst/>
          </a:prstGeom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151FA2A8-21C1-73F7-DAF3-391BDF683D55}"/>
              </a:ext>
            </a:extLst>
          </p:cNvPr>
          <p:cNvSpPr txBox="1"/>
          <p:nvPr/>
        </p:nvSpPr>
        <p:spPr>
          <a:xfrm>
            <a:off x="5452221" y="1358868"/>
            <a:ext cx="301323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rgbClr val="8F4D57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sym typeface="Maven Pro"/>
              </a:rPr>
              <a:t>Offer coins to Saint Peregrine’s statue to open the way forward.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D6BF02A-565A-CF4B-700D-3DE044AD46D4}"/>
              </a:ext>
            </a:extLst>
          </p:cNvPr>
          <p:cNvSpPr txBox="1"/>
          <p:nvPr/>
        </p:nvSpPr>
        <p:spPr>
          <a:xfrm>
            <a:off x="4764613" y="2886883"/>
            <a:ext cx="374716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rgbClr val="8F4D57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sym typeface="Maven Pro"/>
              </a:rPr>
              <a:t>Enter Mandinga’s own domain through hidden (unlockable) gateways: caves, dungeons, strange rooms and free captive celebrities.</a:t>
            </a:r>
          </a:p>
        </p:txBody>
      </p:sp>
      <p:sp>
        <p:nvSpPr>
          <p:cNvPr id="40" name="Rectangle: Rounded Corners 39">
            <a:extLst>
              <a:ext uri="{FF2B5EF4-FFF2-40B4-BE49-F238E27FC236}">
                <a16:creationId xmlns:a16="http://schemas.microsoft.com/office/drawing/2014/main" id="{A389E0FF-FD65-FEC6-FC2B-DE3E2CBAC623}"/>
              </a:ext>
            </a:extLst>
          </p:cNvPr>
          <p:cNvSpPr/>
          <p:nvPr/>
        </p:nvSpPr>
        <p:spPr>
          <a:xfrm>
            <a:off x="6884896" y="2358544"/>
            <a:ext cx="1508051" cy="461666"/>
          </a:xfrm>
          <a:prstGeom prst="roundRect">
            <a:avLst/>
          </a:prstGeom>
          <a:solidFill>
            <a:srgbClr val="AB513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>
                    <a:lumMod val="75000"/>
                  </a:schemeClr>
                </a:solidFill>
                <a:latin typeface="Press Start 2P" panose="00000500000000000000" pitchFamily="2" charset="0"/>
              </a:rPr>
              <a:t>The</a:t>
            </a:r>
          </a:p>
          <a:p>
            <a:pPr algn="ctr"/>
            <a:r>
              <a:rPr lang="en-US" sz="1000" dirty="0">
                <a:solidFill>
                  <a:schemeClr val="bg1">
                    <a:lumMod val="75000"/>
                  </a:schemeClr>
                </a:solidFill>
                <a:latin typeface="Press Start 2P" panose="00000500000000000000" pitchFamily="2" charset="0"/>
              </a:rPr>
              <a:t>Under-Ride</a:t>
            </a:r>
          </a:p>
        </p:txBody>
      </p:sp>
      <p:sp>
        <p:nvSpPr>
          <p:cNvPr id="41" name="Arrow: Right 40">
            <a:extLst>
              <a:ext uri="{FF2B5EF4-FFF2-40B4-BE49-F238E27FC236}">
                <a16:creationId xmlns:a16="http://schemas.microsoft.com/office/drawing/2014/main" id="{AC6261E0-24BF-CF62-6C83-79871C3D561C}"/>
              </a:ext>
            </a:extLst>
          </p:cNvPr>
          <p:cNvSpPr/>
          <p:nvPr/>
        </p:nvSpPr>
        <p:spPr>
          <a:xfrm rot="1119262">
            <a:off x="5864195" y="2307974"/>
            <a:ext cx="958494" cy="200830"/>
          </a:xfrm>
          <a:prstGeom prst="rightArrow">
            <a:avLst/>
          </a:prstGeom>
          <a:solidFill>
            <a:srgbClr val="AB5130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AB5130"/>
              </a:solidFill>
            </a:endParaRPr>
          </a:p>
        </p:txBody>
      </p:sp>
      <p:pic>
        <p:nvPicPr>
          <p:cNvPr id="42" name="Picture 41">
            <a:extLst>
              <a:ext uri="{FF2B5EF4-FFF2-40B4-BE49-F238E27FC236}">
                <a16:creationId xmlns:a16="http://schemas.microsoft.com/office/drawing/2014/main" id="{153808B0-6BD4-AEB1-04F0-1C99683AC639}"/>
              </a:ext>
            </a:extLst>
          </p:cNvPr>
          <p:cNvPicPr>
            <a:picLocks noChangeAspect="1"/>
          </p:cNvPicPr>
          <p:nvPr/>
        </p:nvPicPr>
        <p:blipFill>
          <a:blip r:embed="rId10"/>
          <a:srcRect/>
          <a:stretch/>
        </p:blipFill>
        <p:spPr>
          <a:xfrm flipH="1">
            <a:off x="8062328" y="1771591"/>
            <a:ext cx="403131" cy="752511"/>
          </a:xfrm>
          <a:prstGeom prst="rect">
            <a:avLst/>
          </a:prstGeom>
        </p:spPr>
      </p:pic>
      <p:sp>
        <p:nvSpPr>
          <p:cNvPr id="44" name="Rectangle 43">
            <a:extLst>
              <a:ext uri="{FF2B5EF4-FFF2-40B4-BE49-F238E27FC236}">
                <a16:creationId xmlns:a16="http://schemas.microsoft.com/office/drawing/2014/main" id="{08368008-C579-337D-26E0-39A41FBDD99D}"/>
              </a:ext>
            </a:extLst>
          </p:cNvPr>
          <p:cNvSpPr/>
          <p:nvPr/>
        </p:nvSpPr>
        <p:spPr>
          <a:xfrm>
            <a:off x="4611068" y="1299813"/>
            <a:ext cx="4030762" cy="2232215"/>
          </a:xfrm>
          <a:prstGeom prst="rect">
            <a:avLst/>
          </a:prstGeom>
          <a:noFill/>
          <a:ln w="28575">
            <a:solidFill>
              <a:srgbClr val="800000"/>
            </a:solidFill>
            <a:prstDash val="dashDot"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3B6443F6-96A1-668F-0B3C-E9FF69AC9489}"/>
              </a:ext>
            </a:extLst>
          </p:cNvPr>
          <p:cNvSpPr txBox="1"/>
          <p:nvPr/>
        </p:nvSpPr>
        <p:spPr>
          <a:xfrm>
            <a:off x="4548478" y="3593273"/>
            <a:ext cx="233641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sym typeface="Maven Pro"/>
              </a:rPr>
              <a:t>Dying means losing all accumulated tickets.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C15D9609-DCA6-1577-C8F7-38A27C02C81F}"/>
              </a:ext>
            </a:extLst>
          </p:cNvPr>
          <p:cNvSpPr txBox="1"/>
          <p:nvPr/>
        </p:nvSpPr>
        <p:spPr>
          <a:xfrm>
            <a:off x="6478601" y="966587"/>
            <a:ext cx="2257678" cy="2998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50000"/>
              </a:lnSpc>
            </a:pPr>
            <a:r>
              <a:rPr lang="en-US" sz="105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sym typeface="Maven Pro"/>
              </a:rPr>
              <a:t>Procedural Run</a:t>
            </a:r>
            <a:endParaRPr lang="en-US" sz="800" dirty="0">
              <a:solidFill>
                <a:schemeClr val="bg1">
                  <a:lumMod val="50000"/>
                </a:schemeClr>
              </a:solidFill>
            </a:endParaRPr>
          </a:p>
        </p:txBody>
      </p:sp>
      <p:pic>
        <p:nvPicPr>
          <p:cNvPr id="51" name="Picture 50">
            <a:extLst>
              <a:ext uri="{FF2B5EF4-FFF2-40B4-BE49-F238E27FC236}">
                <a16:creationId xmlns:a16="http://schemas.microsoft.com/office/drawing/2014/main" id="{197CBE96-3607-79D1-6666-7D6A519B817E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378843" y="3533599"/>
            <a:ext cx="435758" cy="290506"/>
          </a:xfrm>
          <a:prstGeom prst="rect">
            <a:avLst/>
          </a:prstGeom>
        </p:spPr>
      </p:pic>
      <p:pic>
        <p:nvPicPr>
          <p:cNvPr id="60" name="Picture 59" descr="A orange arrow on a black background&#10;&#10;AI-generated content may be incorrect.">
            <a:extLst>
              <a:ext uri="{FF2B5EF4-FFF2-40B4-BE49-F238E27FC236}">
                <a16:creationId xmlns:a16="http://schemas.microsoft.com/office/drawing/2014/main" id="{649BF274-106B-4CF0-8515-F7C7668D7CE6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972029" y="3399971"/>
            <a:ext cx="373608" cy="271930"/>
          </a:xfrm>
          <a:prstGeom prst="rect">
            <a:avLst/>
          </a:prstGeom>
          <a:effectLst>
            <a:glow rad="101600">
              <a:schemeClr val="accent5">
                <a:satMod val="175000"/>
                <a:alpha val="40000"/>
              </a:schemeClr>
            </a:glow>
          </a:effectLst>
        </p:spPr>
      </p:pic>
      <p:sp>
        <p:nvSpPr>
          <p:cNvPr id="4" name="Arrow: Bent 3">
            <a:extLst>
              <a:ext uri="{FF2B5EF4-FFF2-40B4-BE49-F238E27FC236}">
                <a16:creationId xmlns:a16="http://schemas.microsoft.com/office/drawing/2014/main" id="{990EE24B-C5C0-0DC7-02E9-70170F00DA3E}"/>
              </a:ext>
            </a:extLst>
          </p:cNvPr>
          <p:cNvSpPr/>
          <p:nvPr/>
        </p:nvSpPr>
        <p:spPr>
          <a:xfrm rot="10800000">
            <a:off x="4243468" y="3671900"/>
            <a:ext cx="2551591" cy="775254"/>
          </a:xfrm>
          <a:prstGeom prst="bentArrow">
            <a:avLst>
              <a:gd name="adj1" fmla="val 13363"/>
              <a:gd name="adj2" fmla="val 14604"/>
              <a:gd name="adj3" fmla="val 25000"/>
              <a:gd name="adj4" fmla="val 43750"/>
            </a:avLst>
          </a:prstGeom>
          <a:solidFill>
            <a:srgbClr val="AB513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0">
              <a:solidFill>
                <a:schemeClr val="bg1">
                  <a:lumMod val="75000"/>
                </a:schemeClr>
              </a:solidFill>
              <a:latin typeface="Press Start 2P" panose="00000500000000000000" pitchFamily="2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66184EF-F341-0ED4-EA64-82A999D0EBE1}"/>
              </a:ext>
            </a:extLst>
          </p:cNvPr>
          <p:cNvSpPr txBox="1"/>
          <p:nvPr/>
        </p:nvSpPr>
        <p:spPr>
          <a:xfrm>
            <a:off x="2984711" y="4171839"/>
            <a:ext cx="1387652" cy="3539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solidFill>
                  <a:srgbClr val="8F4D57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sym typeface="Maven Pro"/>
              </a:rPr>
              <a:t>Back to</a:t>
            </a:r>
          </a:p>
          <a:p>
            <a:pPr algn="ctr">
              <a:lnSpc>
                <a:spcPct val="150000"/>
              </a:lnSpc>
            </a:pPr>
            <a:r>
              <a:rPr lang="en-US" sz="800" dirty="0">
                <a:solidFill>
                  <a:srgbClr val="8F4D57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sym typeface="Maven Pro"/>
              </a:rPr>
              <a:t>Theme Park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C5299F4-6182-4B4D-7ECC-36A2C40FFA84}"/>
              </a:ext>
            </a:extLst>
          </p:cNvPr>
          <p:cNvSpPr txBox="1"/>
          <p:nvPr/>
        </p:nvSpPr>
        <p:spPr>
          <a:xfrm>
            <a:off x="6884896" y="3613487"/>
            <a:ext cx="181925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sym typeface="Maven Pro"/>
              </a:rPr>
              <a:t>Save is disabled during runs.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8956DBE-EED0-A484-F48D-AA71498BABFC}"/>
              </a:ext>
            </a:extLst>
          </p:cNvPr>
          <p:cNvSpPr txBox="1"/>
          <p:nvPr/>
        </p:nvSpPr>
        <p:spPr>
          <a:xfrm>
            <a:off x="196121" y="2759512"/>
            <a:ext cx="1438053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700" dirty="0">
                <a:solidFill>
                  <a:srgbClr val="8F4D57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sym typeface="Maven Pro"/>
              </a:rPr>
              <a:t>ATM connected to Percival's C64</a:t>
            </a:r>
          </a:p>
        </p:txBody>
      </p:sp>
      <p:pic>
        <p:nvPicPr>
          <p:cNvPr id="8" name="Picture 7" descr="A orange arrow on a black background&#10;&#10;AI-generated content may be incorrect.">
            <a:extLst>
              <a:ext uri="{FF2B5EF4-FFF2-40B4-BE49-F238E27FC236}">
                <a16:creationId xmlns:a16="http://schemas.microsoft.com/office/drawing/2014/main" id="{627DB5D3-DC03-84C0-6ACE-F8363CC5F608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 rot="11152718">
            <a:off x="1216470" y="3110319"/>
            <a:ext cx="373608" cy="271930"/>
          </a:xfrm>
          <a:prstGeom prst="rect">
            <a:avLst/>
          </a:prstGeom>
          <a:effectLst>
            <a:glow rad="101600">
              <a:schemeClr val="accent5">
                <a:satMod val="175000"/>
                <a:alpha val="40000"/>
              </a:schemeClr>
            </a:glow>
          </a:effectLst>
        </p:spPr>
      </p:pic>
      <p:pic>
        <p:nvPicPr>
          <p:cNvPr id="12" name="Picture 11" descr="A pixelated image of a person wearing glasses&#10;&#10;AI-generated content may be incorrect.">
            <a:extLst>
              <a:ext uri="{FF2B5EF4-FFF2-40B4-BE49-F238E27FC236}">
                <a16:creationId xmlns:a16="http://schemas.microsoft.com/office/drawing/2014/main" id="{FE30F52E-2163-0C02-084F-F9C225EB4153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27823" y="1117412"/>
            <a:ext cx="545063" cy="450270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D71E629F-0182-F3F7-84BD-DCC9334D4400}"/>
              </a:ext>
            </a:extLst>
          </p:cNvPr>
          <p:cNvSpPr txBox="1"/>
          <p:nvPr/>
        </p:nvSpPr>
        <p:spPr>
          <a:xfrm>
            <a:off x="4499365" y="4469908"/>
            <a:ext cx="225881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Inventory resets at the end of each run.</a:t>
            </a:r>
          </a:p>
        </p:txBody>
      </p:sp>
      <p:pic>
        <p:nvPicPr>
          <p:cNvPr id="13" name="Picture 12" descr="A pixelated character holding a stick&#10;&#10;AI-generated content may be incorrect.">
            <a:extLst>
              <a:ext uri="{FF2B5EF4-FFF2-40B4-BE49-F238E27FC236}">
                <a16:creationId xmlns:a16="http://schemas.microsoft.com/office/drawing/2014/main" id="{26B23D96-1EE3-3EAD-B6AB-1C0DF306AA49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 flipH="1">
            <a:off x="4265349" y="745065"/>
            <a:ext cx="641405" cy="992046"/>
          </a:xfrm>
          <a:prstGeom prst="rect">
            <a:avLst/>
          </a:prstGeom>
        </p:spPr>
      </p:pic>
      <p:pic>
        <p:nvPicPr>
          <p:cNvPr id="15" name="Picture 14" descr="A pixelated coin with a black background&#10;&#10;AI-generated content may be incorrect.">
            <a:extLst>
              <a:ext uri="{FF2B5EF4-FFF2-40B4-BE49-F238E27FC236}">
                <a16:creationId xmlns:a16="http://schemas.microsoft.com/office/drawing/2014/main" id="{A6AEBFDF-6CAE-54FC-8B0C-AA1CAE0B6C86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BEBA8EAE-BF5A-486C-A8C5-ECC9F3942E4B}">
                <a14:imgProps xmlns:a14="http://schemas.microsoft.com/office/drawing/2010/main">
                  <a14:imgLayer r:embed="rId16">
                    <a14:imgEffect>
                      <a14:brightnessContrast contrast="-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5157810" y="1447566"/>
            <a:ext cx="282195" cy="282195"/>
          </a:xfrm>
          <a:prstGeom prst="rect">
            <a:avLst/>
          </a:prstGeom>
        </p:spPr>
      </p:pic>
      <p:pic>
        <p:nvPicPr>
          <p:cNvPr id="20" name="Picture 19" descr="A orange arrow on a black background&#10;&#10;AI-generated content may be incorrect.">
            <a:extLst>
              <a:ext uri="{FF2B5EF4-FFF2-40B4-BE49-F238E27FC236}">
                <a16:creationId xmlns:a16="http://schemas.microsoft.com/office/drawing/2014/main" id="{4021958B-03FA-8C26-8E8B-AD07CD79C84F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877781" y="1328082"/>
            <a:ext cx="373608" cy="271930"/>
          </a:xfrm>
          <a:prstGeom prst="rect">
            <a:avLst/>
          </a:prstGeom>
          <a:effectLst/>
        </p:spPr>
      </p:pic>
    </p:spTree>
    <p:extLst>
      <p:ext uri="{BB962C8B-B14F-4D97-AF65-F5344CB8AC3E}">
        <p14:creationId xmlns:p14="http://schemas.microsoft.com/office/powerpoint/2010/main" val="263262617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57A6B33A-CC60-92B6-4C7E-A5F0A21607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pixel art of a building">
            <a:extLst>
              <a:ext uri="{FF2B5EF4-FFF2-40B4-BE49-F238E27FC236}">
                <a16:creationId xmlns:a16="http://schemas.microsoft.com/office/drawing/2014/main" id="{604A176A-9276-30C7-5E31-6668A3F2D2C4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alphaModFix amt="7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Picture 2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3FDDB78A-A233-1EE0-EDBB-C6C0157D334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sp>
        <p:nvSpPr>
          <p:cNvPr id="5" name="Google Shape;999;p37">
            <a:extLst>
              <a:ext uri="{FF2B5EF4-FFF2-40B4-BE49-F238E27FC236}">
                <a16:creationId xmlns:a16="http://schemas.microsoft.com/office/drawing/2014/main" id="{3602FE78-E33B-64D6-6E2C-22A7EE575F25}"/>
              </a:ext>
            </a:extLst>
          </p:cNvPr>
          <p:cNvSpPr txBox="1">
            <a:spLocks/>
          </p:cNvSpPr>
          <p:nvPr/>
        </p:nvSpPr>
        <p:spPr>
          <a:xfrm>
            <a:off x="1409076" y="301170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Inventory</a:t>
            </a:r>
          </a:p>
        </p:txBody>
      </p:sp>
      <p:sp>
        <p:nvSpPr>
          <p:cNvPr id="6" name="Google Shape;1000;p37">
            <a:extLst>
              <a:ext uri="{FF2B5EF4-FFF2-40B4-BE49-F238E27FC236}">
                <a16:creationId xmlns:a16="http://schemas.microsoft.com/office/drawing/2014/main" id="{54053F06-56A8-B4BD-D88F-104ED26D9250}"/>
              </a:ext>
            </a:extLst>
          </p:cNvPr>
          <p:cNvSpPr txBox="1">
            <a:spLocks/>
          </p:cNvSpPr>
          <p:nvPr/>
        </p:nvSpPr>
        <p:spPr>
          <a:xfrm>
            <a:off x="1343165" y="1271698"/>
            <a:ext cx="3228835" cy="11128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Junk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Odd junk you can equip to whack, shoot, or do something questionably effective.</a:t>
            </a:r>
          </a:p>
        </p:txBody>
      </p:sp>
      <p:sp>
        <p:nvSpPr>
          <p:cNvPr id="8" name="Google Shape;1000;p37">
            <a:extLst>
              <a:ext uri="{FF2B5EF4-FFF2-40B4-BE49-F238E27FC236}">
                <a16:creationId xmlns:a16="http://schemas.microsoft.com/office/drawing/2014/main" id="{15C7A68C-BF17-6718-529D-370473EC7C9F}"/>
              </a:ext>
            </a:extLst>
          </p:cNvPr>
          <p:cNvSpPr txBox="1">
            <a:spLocks/>
          </p:cNvSpPr>
          <p:nvPr/>
        </p:nvSpPr>
        <p:spPr>
          <a:xfrm>
            <a:off x="1343165" y="3289798"/>
            <a:ext cx="3430916" cy="8890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Consumables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Eat or drink anything: from healing snacks to chili-powered speed boosts.</a:t>
            </a:r>
          </a:p>
        </p:txBody>
      </p:sp>
      <p:sp>
        <p:nvSpPr>
          <p:cNvPr id="9" name="Google Shape;1000;p37">
            <a:extLst>
              <a:ext uri="{FF2B5EF4-FFF2-40B4-BE49-F238E27FC236}">
                <a16:creationId xmlns:a16="http://schemas.microsoft.com/office/drawing/2014/main" id="{D689E440-227F-4A14-2F3D-DBC8F011B475}"/>
              </a:ext>
            </a:extLst>
          </p:cNvPr>
          <p:cNvSpPr txBox="1">
            <a:spLocks/>
          </p:cNvSpPr>
          <p:nvPr/>
        </p:nvSpPr>
        <p:spPr>
          <a:xfrm>
            <a:off x="5408075" y="2280748"/>
            <a:ext cx="3161540" cy="8345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Key items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Scene-specific tools for interacting with the environment.</a:t>
            </a: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</p:txBody>
      </p:sp>
      <p:sp>
        <p:nvSpPr>
          <p:cNvPr id="10" name="Google Shape;1000;p37">
            <a:extLst>
              <a:ext uri="{FF2B5EF4-FFF2-40B4-BE49-F238E27FC236}">
                <a16:creationId xmlns:a16="http://schemas.microsoft.com/office/drawing/2014/main" id="{3324AE9C-7624-EC08-0A43-9411780CAFA6}"/>
              </a:ext>
            </a:extLst>
          </p:cNvPr>
          <p:cNvSpPr txBox="1">
            <a:spLocks/>
          </p:cNvSpPr>
          <p:nvPr/>
        </p:nvSpPr>
        <p:spPr>
          <a:xfrm>
            <a:off x="5408075" y="1271698"/>
            <a:ext cx="3430916" cy="8890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Trinkets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Passive oddities with quirky powers. One at a time, so choose wisely.</a:t>
            </a:r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3685A47C-D77C-3C70-F474-8AE699232C9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80410" y="1510263"/>
            <a:ext cx="492624" cy="492624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87D7128C-7ADC-493E-E204-E0ABE26C569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04991" y="2467247"/>
            <a:ext cx="443462" cy="443462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C3D3CFD2-DA52-BEBF-81E3-752C2296D7A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92991" y="3393585"/>
            <a:ext cx="550853" cy="550853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D4010551-B5BB-68E8-D14B-EA505059695C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/>
          <a:stretch/>
        </p:blipFill>
        <p:spPr>
          <a:xfrm>
            <a:off x="792991" y="1493369"/>
            <a:ext cx="538094" cy="489176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sp>
        <p:nvSpPr>
          <p:cNvPr id="2" name="Google Shape;1000;p37">
            <a:extLst>
              <a:ext uri="{FF2B5EF4-FFF2-40B4-BE49-F238E27FC236}">
                <a16:creationId xmlns:a16="http://schemas.microsoft.com/office/drawing/2014/main" id="{26756623-FBDD-3129-C1CF-53A52E8DFD5F}"/>
              </a:ext>
            </a:extLst>
          </p:cNvPr>
          <p:cNvSpPr txBox="1">
            <a:spLocks/>
          </p:cNvSpPr>
          <p:nvPr/>
        </p:nvSpPr>
        <p:spPr>
          <a:xfrm>
            <a:off x="1343165" y="2280748"/>
            <a:ext cx="3228835" cy="8890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Gadgets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Useful contraptions for odd jobs — dig, plant, prank, or blow stuff up.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30E914A-F62A-1024-7A0E-CDAAA49E3C0C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53989" y="2444390"/>
            <a:ext cx="489176" cy="489176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6EE53C2B-5FAD-273D-B325-62B09B901388}"/>
              </a:ext>
            </a:extLst>
          </p:cNvPr>
          <p:cNvSpPr txBox="1"/>
          <p:nvPr/>
        </p:nvSpPr>
        <p:spPr>
          <a:xfrm>
            <a:off x="1568346" y="716578"/>
            <a:ext cx="600730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sym typeface="Maven Pro"/>
              </a:rPr>
              <a:t>Collect and adapt with whatever bizarre items you find along the way.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B4B81AC-11CE-2BE3-6F5F-6B57A8A8BB43}"/>
              </a:ext>
            </a:extLst>
          </p:cNvPr>
          <p:cNvSpPr txBox="1"/>
          <p:nvPr/>
        </p:nvSpPr>
        <p:spPr>
          <a:xfrm>
            <a:off x="2092064" y="4475568"/>
            <a:ext cx="495987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effectLst>
                  <a:glow rad="1397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sym typeface="Maven Pro"/>
              </a:rPr>
              <a:t>Inventory capacity expands as you progress and unlock upgrades.</a:t>
            </a:r>
          </a:p>
        </p:txBody>
      </p:sp>
      <p:pic>
        <p:nvPicPr>
          <p:cNvPr id="13" name="Picture 12" descr="A pixelated image of a horse&#10;&#10;AI-generated content may be incorrect.">
            <a:extLst>
              <a:ext uri="{FF2B5EF4-FFF2-40B4-BE49-F238E27FC236}">
                <a16:creationId xmlns:a16="http://schemas.microsoft.com/office/drawing/2014/main" id="{2BD38C97-A01D-E2D2-E3F0-612A6544C568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BEBA8EAE-BF5A-486C-A8C5-ECC9F3942E4B}">
                <a14:imgProps xmlns:a14="http://schemas.microsoft.com/office/drawing/2010/main">
                  <a14:imgLayer r:embed="rId11">
                    <a14:imgEffect>
                      <a14:brightnessContrast bright="-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 flipH="1">
            <a:off x="8188311" y="3393585"/>
            <a:ext cx="762607" cy="894163"/>
          </a:xfrm>
          <a:prstGeom prst="rect">
            <a:avLst/>
          </a:prstGeom>
        </p:spPr>
      </p:pic>
      <p:pic>
        <p:nvPicPr>
          <p:cNvPr id="14" name="Picture 13" descr="A pixelated image of a horse&#10;&#10;AI-generated content may be incorrect.">
            <a:extLst>
              <a:ext uri="{FF2B5EF4-FFF2-40B4-BE49-F238E27FC236}">
                <a16:creationId xmlns:a16="http://schemas.microsoft.com/office/drawing/2014/main" id="{784E6801-EB8F-12D5-8FBD-96C419F43D83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BEBA8EAE-BF5A-486C-A8C5-ECC9F3942E4B}">
                <a14:imgProps xmlns:a14="http://schemas.microsoft.com/office/drawing/2010/main">
                  <a14:imgLayer r:embed="rId11">
                    <a14:imgEffect>
                      <a14:brightnessContrast bright="-2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 flipH="1">
            <a:off x="7263077" y="3521083"/>
            <a:ext cx="762607" cy="8941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057507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Object 5">
            <a:extLst>
              <a:ext uri="{FF2B5EF4-FFF2-40B4-BE49-F238E27FC236}">
                <a16:creationId xmlns:a16="http://schemas.microsoft.com/office/drawing/2014/main" id="{E2623066-AB55-04B1-23E5-A298DB957DC6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156542638"/>
              </p:ext>
            </p:extLst>
          </p:nvPr>
        </p:nvGraphicFramePr>
        <p:xfrm>
          <a:off x="-390735" y="248705"/>
          <a:ext cx="9988030" cy="561826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r:id="rId2" imgW="23457131" imgH="13194723" progId="">
                  <p:embed/>
                </p:oleObj>
              </mc:Choice>
              <mc:Fallback>
                <p:oleObj r:id="rId2" imgW="23457131" imgH="13194723" progId="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-390735" y="248705"/>
                        <a:ext cx="9988030" cy="561826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Google Shape;999;p37">
            <a:extLst>
              <a:ext uri="{FF2B5EF4-FFF2-40B4-BE49-F238E27FC236}">
                <a16:creationId xmlns:a16="http://schemas.microsoft.com/office/drawing/2014/main" id="{152398ED-DA4C-9EEF-D76C-0F47FA3AFE65}"/>
              </a:ext>
            </a:extLst>
          </p:cNvPr>
          <p:cNvSpPr txBox="1">
            <a:spLocks/>
          </p:cNvSpPr>
          <p:nvPr/>
        </p:nvSpPr>
        <p:spPr>
          <a:xfrm>
            <a:off x="1409076" y="301170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Inventory</a:t>
            </a:r>
          </a:p>
        </p:txBody>
      </p:sp>
    </p:spTree>
    <p:extLst>
      <p:ext uri="{BB962C8B-B14F-4D97-AF65-F5344CB8AC3E}">
        <p14:creationId xmlns:p14="http://schemas.microsoft.com/office/powerpoint/2010/main" val="142105738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C2F54A8F-EF3B-1D1C-8DB9-0F87D8160A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video game screen with a gate and buildings">
            <a:extLst>
              <a:ext uri="{FF2B5EF4-FFF2-40B4-BE49-F238E27FC236}">
                <a16:creationId xmlns:a16="http://schemas.microsoft.com/office/drawing/2014/main" id="{73A69CEA-855A-F283-11C4-F9635E15ACB6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alphaModFix amt="5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" name="Google Shape;1000;p37">
            <a:extLst>
              <a:ext uri="{FF2B5EF4-FFF2-40B4-BE49-F238E27FC236}">
                <a16:creationId xmlns:a16="http://schemas.microsoft.com/office/drawing/2014/main" id="{8D40509E-E4DC-E7E6-F196-BE6FF499E1DD}"/>
              </a:ext>
            </a:extLst>
          </p:cNvPr>
          <p:cNvSpPr txBox="1">
            <a:spLocks/>
          </p:cNvSpPr>
          <p:nvPr/>
        </p:nvSpPr>
        <p:spPr>
          <a:xfrm>
            <a:off x="738907" y="1079710"/>
            <a:ext cx="4020470" cy="11128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Technology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Built on our proven MonoGame/C# 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engine, fully optimized for PC &amp; 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consoles.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Playable prototype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Simple core gameplay loop including procedural generation, basic combat, and our custom lighting system.</a:t>
            </a:r>
          </a:p>
        </p:txBody>
      </p:sp>
      <p:sp>
        <p:nvSpPr>
          <p:cNvPr id="7" name="Google Shape;1000;p37">
            <a:extLst>
              <a:ext uri="{FF2B5EF4-FFF2-40B4-BE49-F238E27FC236}">
                <a16:creationId xmlns:a16="http://schemas.microsoft.com/office/drawing/2014/main" id="{19CEF1D5-BDC4-62B3-4FF0-DA57B9D7DAE1}"/>
              </a:ext>
            </a:extLst>
          </p:cNvPr>
          <p:cNvSpPr txBox="1">
            <a:spLocks/>
          </p:cNvSpPr>
          <p:nvPr/>
        </p:nvSpPr>
        <p:spPr>
          <a:xfrm>
            <a:off x="4960138" y="1079710"/>
            <a:ext cx="3654816" cy="5264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Art direction established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Pixel art style defined.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Tone &amp; humor tested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Prototype already showcases the comedy + horror mix.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Ready to scale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With the base systems stable, next step is expanding into full adventure content.</a:t>
            </a:r>
          </a:p>
        </p:txBody>
      </p:sp>
      <p:sp>
        <p:nvSpPr>
          <p:cNvPr id="9" name="Google Shape;999;p37">
            <a:extLst>
              <a:ext uri="{FF2B5EF4-FFF2-40B4-BE49-F238E27FC236}">
                <a16:creationId xmlns:a16="http://schemas.microsoft.com/office/drawing/2014/main" id="{AF682735-BDDF-12FF-4636-9FE8E6DEDB2A}"/>
              </a:ext>
            </a:extLst>
          </p:cNvPr>
          <p:cNvSpPr txBox="1">
            <a:spLocks/>
          </p:cNvSpPr>
          <p:nvPr/>
        </p:nvSpPr>
        <p:spPr>
          <a:xfrm>
            <a:off x="1409076" y="301170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Current Status</a:t>
            </a:r>
          </a:p>
        </p:txBody>
      </p:sp>
      <p:pic>
        <p:nvPicPr>
          <p:cNvPr id="3" name="Picture 2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908F874C-A76B-3EC9-7CAF-545BFE380EE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10" name="Picture 9" descr="A cartoon of a person wearing glasses&#10;&#10;AI-generated content may be incorrect.">
            <a:extLst>
              <a:ext uri="{FF2B5EF4-FFF2-40B4-BE49-F238E27FC236}">
                <a16:creationId xmlns:a16="http://schemas.microsoft.com/office/drawing/2014/main" id="{AE43CDBC-F02F-38AD-2DE1-3D949F93AE7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rightnessContrast bright="-20000" contrast="-2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3830924" y="3575166"/>
            <a:ext cx="1257300" cy="1143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067784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36A86AC5-F113-3FE1-F4B1-30BA556D23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video game screen with a gate and buildings">
            <a:extLst>
              <a:ext uri="{FF2B5EF4-FFF2-40B4-BE49-F238E27FC236}">
                <a16:creationId xmlns:a16="http://schemas.microsoft.com/office/drawing/2014/main" id="{09202AF3-ADE5-DB2F-E0A7-C2BD9B511CD7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alphaModFix amt="5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000" name="Google Shape;1000;p37">
            <a:extLst>
              <a:ext uri="{FF2B5EF4-FFF2-40B4-BE49-F238E27FC236}">
                <a16:creationId xmlns:a16="http://schemas.microsoft.com/office/drawing/2014/main" id="{9AA063CD-4D2E-8BC6-45A7-88F344943309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653539" y="1030831"/>
            <a:ext cx="3671123" cy="1112838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1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Funding</a:t>
            </a:r>
          </a:p>
          <a:p>
            <a:pPr marL="0" indent="0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To produce the full adventure.</a:t>
            </a:r>
          </a:p>
          <a:p>
            <a:pPr marL="0" indent="0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endParaRPr lang="en-US" sz="900" dirty="0">
              <a:solidFill>
                <a:srgbClr val="BD6A62"/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1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Procedural Content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Creation of creatures, bosses, hundreds of items, narrative events and Under-Ride stages.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r>
              <a:rPr lang="en-US" sz="11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Audio</a:t>
            </a:r>
          </a:p>
          <a:p>
            <a:pPr marL="0" indent="0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Audio – soundtrack &amp; SFX production.</a:t>
            </a:r>
          </a:p>
        </p:txBody>
      </p:sp>
      <p:sp>
        <p:nvSpPr>
          <p:cNvPr id="6" name="Google Shape;1000;p37">
            <a:extLst>
              <a:ext uri="{FF2B5EF4-FFF2-40B4-BE49-F238E27FC236}">
                <a16:creationId xmlns:a16="http://schemas.microsoft.com/office/drawing/2014/main" id="{FD809C86-5746-E53D-31F2-04E70B49972C}"/>
              </a:ext>
            </a:extLst>
          </p:cNvPr>
          <p:cNvSpPr txBox="1">
            <a:spLocks/>
          </p:cNvSpPr>
          <p:nvPr/>
        </p:nvSpPr>
        <p:spPr>
          <a:xfrm>
            <a:off x="4740089" y="1029694"/>
            <a:ext cx="3750372" cy="11128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1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Localization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Professional localization to reach a wider audience.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1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Ports (External)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Console versions to be handled by an external partner or publisher.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1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Marketing Assets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Trailers, key art, and promotional materials.</a:t>
            </a:r>
          </a:p>
        </p:txBody>
      </p:sp>
      <p:sp>
        <p:nvSpPr>
          <p:cNvPr id="7" name="Google Shape;999;p37">
            <a:extLst>
              <a:ext uri="{FF2B5EF4-FFF2-40B4-BE49-F238E27FC236}">
                <a16:creationId xmlns:a16="http://schemas.microsoft.com/office/drawing/2014/main" id="{B275CBDA-DB79-668B-D3D1-EBDA73B0DE20}"/>
              </a:ext>
            </a:extLst>
          </p:cNvPr>
          <p:cNvSpPr txBox="1">
            <a:spLocks/>
          </p:cNvSpPr>
          <p:nvPr/>
        </p:nvSpPr>
        <p:spPr>
          <a:xfrm>
            <a:off x="1289154" y="274276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Needs</a:t>
            </a:r>
          </a:p>
        </p:txBody>
      </p:sp>
      <p:pic>
        <p:nvPicPr>
          <p:cNvPr id="2" name="Picture 1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1CEF86FA-FB80-2E8D-A1CF-A3B52EAB287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5" name="Picture 4" descr="A pixelated image of a person's face&#10;&#10;AI-generated content may be incorrect.">
            <a:extLst>
              <a:ext uri="{FF2B5EF4-FFF2-40B4-BE49-F238E27FC236}">
                <a16:creationId xmlns:a16="http://schemas.microsoft.com/office/drawing/2014/main" id="{71693FFB-ADE4-3EBC-B6CD-5BB70BBBAA2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colorTemperature colorTemp="47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502526" y="4316743"/>
            <a:ext cx="914400" cy="514350"/>
          </a:xfrm>
          <a:prstGeom prst="rect">
            <a:avLst/>
          </a:prstGeom>
        </p:spPr>
      </p:pic>
      <p:pic>
        <p:nvPicPr>
          <p:cNvPr id="8" name="Picture 7" descr="A pixelated image of a person's face&#10;&#10;AI-generated content may be incorrect.">
            <a:extLst>
              <a:ext uri="{FF2B5EF4-FFF2-40B4-BE49-F238E27FC236}">
                <a16:creationId xmlns:a16="http://schemas.microsoft.com/office/drawing/2014/main" id="{A08857F8-BD63-FA8D-214F-E2427BEA4AC2}"/>
              </a:ext>
            </a:extLst>
          </p:cNvPr>
          <p:cNvPicPr>
            <a:picLocks noChangeAspect="1"/>
          </p:cNvPicPr>
          <p:nvPr/>
        </p:nvPicPr>
        <p:blipFill>
          <a:blip r:embed="rId7">
            <a:alphaModFix amt="70000"/>
          </a:blip>
          <a:stretch>
            <a:fillRect/>
          </a:stretch>
        </p:blipFill>
        <p:spPr>
          <a:xfrm flipH="1">
            <a:off x="6288373" y="4049899"/>
            <a:ext cx="839449" cy="4256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8973550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84FA0D57-4FED-6D68-B23C-04A721D1DE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pixel art of a building">
            <a:extLst>
              <a:ext uri="{FF2B5EF4-FFF2-40B4-BE49-F238E27FC236}">
                <a16:creationId xmlns:a16="http://schemas.microsoft.com/office/drawing/2014/main" id="{A2527C92-4C52-C5DA-682B-0103D81FA3DD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alphaModFix amt="7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000" name="Google Shape;1000;p37">
            <a:extLst>
              <a:ext uri="{FF2B5EF4-FFF2-40B4-BE49-F238E27FC236}">
                <a16:creationId xmlns:a16="http://schemas.microsoft.com/office/drawing/2014/main" id="{A8D6F54E-62B3-B106-ECAB-706E807DFDEE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2067096" y="914518"/>
            <a:ext cx="5459510" cy="1112838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indent="-285750">
              <a:lnSpc>
                <a:spcPct val="15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Development time:</a:t>
            </a:r>
            <a:r>
              <a:rPr lang="en-US" sz="10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 </a:t>
            </a:r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14 months</a:t>
            </a:r>
          </a:p>
          <a:p>
            <a:pPr marL="285750" indent="-285750">
              <a:lnSpc>
                <a:spcPct val="15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Budget:</a:t>
            </a:r>
            <a:r>
              <a:rPr lang="en-US" sz="10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 </a:t>
            </a:r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220k USD (*)</a:t>
            </a:r>
          </a:p>
          <a:p>
            <a:pPr marL="285750" indent="-285750">
              <a:lnSpc>
                <a:spcPct val="15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Core team: </a:t>
            </a:r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2 Lead Designers Programmer, Narrative Writer, Background Artist, 2D Animator, Composer.</a:t>
            </a:r>
          </a:p>
          <a:p>
            <a:pPr marL="285750" indent="-285750">
              <a:lnSpc>
                <a:spcPct val="15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endParaRPr lang="en-US" sz="10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</p:txBody>
      </p:sp>
      <p:sp>
        <p:nvSpPr>
          <p:cNvPr id="2" name="Google Shape;1000;p37">
            <a:extLst>
              <a:ext uri="{FF2B5EF4-FFF2-40B4-BE49-F238E27FC236}">
                <a16:creationId xmlns:a16="http://schemas.microsoft.com/office/drawing/2014/main" id="{B077C8FF-47C0-25E2-4134-3456BD44E543}"/>
              </a:ext>
            </a:extLst>
          </p:cNvPr>
          <p:cNvSpPr txBox="1">
            <a:spLocks/>
          </p:cNvSpPr>
          <p:nvPr/>
        </p:nvSpPr>
        <p:spPr>
          <a:xfrm>
            <a:off x="2168911" y="4340822"/>
            <a:ext cx="4806177" cy="6595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1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buClr>
                <a:srgbClr val="8F4D57"/>
              </a:buClr>
              <a:buSzPts val="1100"/>
            </a:pPr>
            <a:endParaRPr lang="en-US" sz="900" dirty="0">
              <a:solidFill>
                <a:schemeClr val="bg1">
                  <a:lumMod val="50000"/>
                </a:schemeClr>
              </a:solidFill>
              <a:effectLst>
                <a:glow rad="1397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buClr>
                <a:srgbClr val="8F4D57"/>
              </a:buClr>
              <a:buSzPts val="1100"/>
            </a:pPr>
            <a:r>
              <a:rPr lang="en-US" sz="900" dirty="0">
                <a:solidFill>
                  <a:schemeClr val="bg1">
                    <a:lumMod val="50000"/>
                  </a:schemeClr>
                </a:solidFill>
                <a:effectLst>
                  <a:glow rad="1397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(*) Does not include trailer production, localization and console porting.</a:t>
            </a:r>
          </a:p>
        </p:txBody>
      </p:sp>
      <p:sp>
        <p:nvSpPr>
          <p:cNvPr id="7" name="Google Shape;999;p37">
            <a:extLst>
              <a:ext uri="{FF2B5EF4-FFF2-40B4-BE49-F238E27FC236}">
                <a16:creationId xmlns:a16="http://schemas.microsoft.com/office/drawing/2014/main" id="{2236D66A-9C1B-969E-0CB7-A2CA3D5CD4A0}"/>
              </a:ext>
            </a:extLst>
          </p:cNvPr>
          <p:cNvSpPr txBox="1">
            <a:spLocks/>
          </p:cNvSpPr>
          <p:nvPr/>
        </p:nvSpPr>
        <p:spPr>
          <a:xfrm>
            <a:off x="1409076" y="301170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Production</a:t>
            </a:r>
          </a:p>
        </p:txBody>
      </p:sp>
      <p:pic>
        <p:nvPicPr>
          <p:cNvPr id="3" name="Picture 2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3F7F2326-3B82-0B59-0457-9CD7A3AFF83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sp>
        <p:nvSpPr>
          <p:cNvPr id="5" name="Google Shape;1000;p37">
            <a:extLst>
              <a:ext uri="{FF2B5EF4-FFF2-40B4-BE49-F238E27FC236}">
                <a16:creationId xmlns:a16="http://schemas.microsoft.com/office/drawing/2014/main" id="{0EA81D93-A2BF-0832-935F-0A717E36252A}"/>
              </a:ext>
            </a:extLst>
          </p:cNvPr>
          <p:cNvSpPr txBox="1">
            <a:spLocks/>
          </p:cNvSpPr>
          <p:nvPr/>
        </p:nvSpPr>
        <p:spPr>
          <a:xfrm>
            <a:off x="1044126" y="2296901"/>
            <a:ext cx="7505450" cy="11128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Content scope:</a:t>
            </a:r>
            <a:b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 richly handcrafted adventure featuring around a dozen unique bosses, several dozen creatures, hundreds of items, and multiple Under-Ride biomes, story arcs, and captive celebrities — all procedurally assembled to ensure strong replayability (20–30 hours) and scalable content production.</a:t>
            </a:r>
          </a:p>
        </p:txBody>
      </p:sp>
    </p:spTree>
    <p:extLst>
      <p:ext uri="{BB962C8B-B14F-4D97-AF65-F5344CB8AC3E}">
        <p14:creationId xmlns:p14="http://schemas.microsoft.com/office/powerpoint/2010/main" val="333273919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96DB6AC6-AD3B-C709-6996-1F000F84C6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pixel art of a building">
            <a:extLst>
              <a:ext uri="{FF2B5EF4-FFF2-40B4-BE49-F238E27FC236}">
                <a16:creationId xmlns:a16="http://schemas.microsoft.com/office/drawing/2014/main" id="{521D29B5-C7F6-1F20-1200-9DDB9CBF4622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alphaModFix amt="7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Picture 2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EB2E0ECE-E3C6-0307-BDD0-041A9A6115E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sp>
        <p:nvSpPr>
          <p:cNvPr id="5" name="Google Shape;999;p37">
            <a:extLst>
              <a:ext uri="{FF2B5EF4-FFF2-40B4-BE49-F238E27FC236}">
                <a16:creationId xmlns:a16="http://schemas.microsoft.com/office/drawing/2014/main" id="{052E82F6-CC2E-9851-4B04-145BE01BA385}"/>
              </a:ext>
            </a:extLst>
          </p:cNvPr>
          <p:cNvSpPr txBox="1">
            <a:spLocks/>
          </p:cNvSpPr>
          <p:nvPr/>
        </p:nvSpPr>
        <p:spPr>
          <a:xfrm>
            <a:off x="1409076" y="301170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Future Potential</a:t>
            </a:r>
          </a:p>
        </p:txBody>
      </p:sp>
      <p:sp>
        <p:nvSpPr>
          <p:cNvPr id="6" name="Google Shape;1000;p37">
            <a:extLst>
              <a:ext uri="{FF2B5EF4-FFF2-40B4-BE49-F238E27FC236}">
                <a16:creationId xmlns:a16="http://schemas.microsoft.com/office/drawing/2014/main" id="{4FE932DA-096D-E842-1AB1-CB0B8695D228}"/>
              </a:ext>
            </a:extLst>
          </p:cNvPr>
          <p:cNvSpPr txBox="1">
            <a:spLocks/>
          </p:cNvSpPr>
          <p:nvPr/>
        </p:nvSpPr>
        <p:spPr>
          <a:xfrm>
            <a:off x="1703814" y="981005"/>
            <a:ext cx="5826313" cy="17745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cs typeface="Arial"/>
                <a:sym typeface="Arial"/>
              </a:rPr>
              <a:t>The procedural architecture and Under-Ride structure allow the game to expand indefinitely.</a:t>
            </a:r>
            <a:b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cs typeface="Arial"/>
                <a:sym typeface="Arial"/>
              </a:rPr>
            </a:br>
            <a:endParaRPr lang="en-US" sz="10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  <a:cs typeface="Arial"/>
              <a:sym typeface="Arial"/>
            </a:endParaRP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endParaRPr lang="en-US" sz="10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  <a:cs typeface="Arial"/>
              <a:sym typeface="Arial"/>
            </a:endParaRP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cs typeface="Arial"/>
                <a:sym typeface="Arial"/>
              </a:rPr>
              <a:t>New biomes, enemies, characters, items, and story arcs can be added as post-launch content or DLCs.</a:t>
            </a:r>
            <a:b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cs typeface="Arial"/>
                <a:sym typeface="Arial"/>
              </a:rPr>
            </a:br>
            <a:endParaRPr lang="en-US" sz="10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  <a:cs typeface="Arial"/>
              <a:sym typeface="Arial"/>
            </a:endParaRP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endParaRPr lang="en-US" sz="10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  <a:cs typeface="Arial"/>
              <a:sym typeface="Arial"/>
            </a:endParaRP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cs typeface="Arial"/>
                <a:sym typeface="Arial"/>
              </a:rPr>
              <a:t>The modular design enables cost-efficient updates and multiple sales cycles over time.</a:t>
            </a: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  <a:cs typeface="Arial"/>
              <a:sym typeface="Arial"/>
            </a:endParaRPr>
          </a:p>
        </p:txBody>
      </p:sp>
      <p:pic>
        <p:nvPicPr>
          <p:cNvPr id="2" name="Picture 1" descr="A pixelated red and black object&#10;&#10;AI-generated content may be incorrect.">
            <a:extLst>
              <a:ext uri="{FF2B5EF4-FFF2-40B4-BE49-F238E27FC236}">
                <a16:creationId xmlns:a16="http://schemas.microsoft.com/office/drawing/2014/main" id="{B57A6D10-C620-52BE-600A-C9F16DF70B4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37615" y="3729147"/>
            <a:ext cx="2862470" cy="1113183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D2D859C4-8368-588E-720E-A72CF71FE66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5782" y="981005"/>
            <a:ext cx="685800" cy="4572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BA23DAE3-A901-AEAA-51E2-3DCFB64C825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flipH="1">
            <a:off x="7053896" y="330179"/>
            <a:ext cx="770970" cy="457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705466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hlinkClick r:id="rId2"/>
            <a:extLst>
              <a:ext uri="{FF2B5EF4-FFF2-40B4-BE49-F238E27FC236}">
                <a16:creationId xmlns:a16="http://schemas.microsoft.com/office/drawing/2014/main" id="{4EE37A1B-0844-B835-01EE-E3866ED0D11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3003" y="1277484"/>
            <a:ext cx="2782856" cy="1504482"/>
          </a:xfrm>
          <a:prstGeom prst="rect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7F5A200B-19FA-BC96-10A2-0CB1C9FCA03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8965" y="2776894"/>
            <a:ext cx="2670932" cy="6032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>
            <a:hlinkClick r:id="rId5"/>
            <a:extLst>
              <a:ext uri="{FF2B5EF4-FFF2-40B4-BE49-F238E27FC236}">
                <a16:creationId xmlns:a16="http://schemas.microsoft.com/office/drawing/2014/main" id="{F5ECA793-C0AA-9C78-EC1D-C21FF9E5D00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42717" y="1272412"/>
            <a:ext cx="2782856" cy="1504482"/>
          </a:xfrm>
          <a:prstGeom prst="rect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>
            <a:extLst>
              <a:ext uri="{FF2B5EF4-FFF2-40B4-BE49-F238E27FC236}">
                <a16:creationId xmlns:a16="http://schemas.microsoft.com/office/drawing/2014/main" id="{E079C4FF-36E5-5645-D3A8-3EFD476B17F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97419" y="2776894"/>
            <a:ext cx="2685408" cy="9596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>
            <a:hlinkClick r:id="rId8"/>
            <a:extLst>
              <a:ext uri="{FF2B5EF4-FFF2-40B4-BE49-F238E27FC236}">
                <a16:creationId xmlns:a16="http://schemas.microsoft.com/office/drawing/2014/main" id="{6EC53590-1EC8-46ED-2532-C64EFC91072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/>
          <a:srcRect l="3782" r="3782"/>
          <a:stretch/>
        </p:blipFill>
        <p:spPr bwMode="auto">
          <a:xfrm>
            <a:off x="6204387" y="1272412"/>
            <a:ext cx="2576062" cy="1509554"/>
          </a:xfrm>
          <a:prstGeom prst="rect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Google Shape;999;p37">
            <a:extLst>
              <a:ext uri="{FF2B5EF4-FFF2-40B4-BE49-F238E27FC236}">
                <a16:creationId xmlns:a16="http://schemas.microsoft.com/office/drawing/2014/main" id="{5A96646F-D576-B767-2AA6-70467D7FE3A8}"/>
              </a:ext>
            </a:extLst>
          </p:cNvPr>
          <p:cNvSpPr txBox="1">
            <a:spLocks/>
          </p:cNvSpPr>
          <p:nvPr/>
        </p:nvSpPr>
        <p:spPr>
          <a:xfrm>
            <a:off x="1364103" y="295581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Our Games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B721B1A-A151-8774-332A-0FC6BDD6CFD0}"/>
              </a:ext>
            </a:extLst>
          </p:cNvPr>
          <p:cNvSpPr txBox="1"/>
          <p:nvPr/>
        </p:nvSpPr>
        <p:spPr>
          <a:xfrm>
            <a:off x="1335617" y="1026191"/>
            <a:ext cx="748923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>
                <a:solidFill>
                  <a:srgbClr val="AB5130"/>
                </a:solidFill>
                <a:latin typeface="Press Start 2P" panose="00000500000000000000" pitchFamily="2" charset="0"/>
              </a:rPr>
              <a:t>2020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7D4F8DC-E5F6-BE04-F02C-762226847025}"/>
              </a:ext>
            </a:extLst>
          </p:cNvPr>
          <p:cNvSpPr txBox="1"/>
          <p:nvPr/>
        </p:nvSpPr>
        <p:spPr>
          <a:xfrm>
            <a:off x="4236634" y="1026190"/>
            <a:ext cx="748923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>
                <a:solidFill>
                  <a:srgbClr val="AB5130"/>
                </a:solidFill>
                <a:latin typeface="Press Start 2P" panose="00000500000000000000" pitchFamily="2" charset="0"/>
              </a:rPr>
              <a:t>2023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415D1CA-B8C1-15AC-836B-47AF04BB5640}"/>
              </a:ext>
            </a:extLst>
          </p:cNvPr>
          <p:cNvSpPr txBox="1"/>
          <p:nvPr/>
        </p:nvSpPr>
        <p:spPr>
          <a:xfrm>
            <a:off x="7235046" y="1026190"/>
            <a:ext cx="748923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>
                <a:solidFill>
                  <a:srgbClr val="AB5130"/>
                </a:solidFill>
                <a:latin typeface="Press Start 2P" panose="00000500000000000000" pitchFamily="2" charset="0"/>
              </a:rPr>
              <a:t>2025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0A5C56A-74D6-047C-12D8-E79197F5082D}"/>
              </a:ext>
            </a:extLst>
          </p:cNvPr>
          <p:cNvSpPr txBox="1"/>
          <p:nvPr/>
        </p:nvSpPr>
        <p:spPr>
          <a:xfrm>
            <a:off x="1799334" y="4478587"/>
            <a:ext cx="56427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effectLst>
                  <a:glow rad="1397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sym typeface="Maven Pro"/>
              </a:rPr>
              <a:t>Shipped on PC and major consoles, award-winning for creativity and originality.</a:t>
            </a:r>
          </a:p>
        </p:txBody>
      </p:sp>
    </p:spTree>
    <p:extLst>
      <p:ext uri="{BB962C8B-B14F-4D97-AF65-F5344CB8AC3E}">
        <p14:creationId xmlns:p14="http://schemas.microsoft.com/office/powerpoint/2010/main" val="268406179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2C8D7569-5C51-B680-59E6-28E308016A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0" name="Google Shape;1000;p37">
            <a:extLst>
              <a:ext uri="{FF2B5EF4-FFF2-40B4-BE49-F238E27FC236}">
                <a16:creationId xmlns:a16="http://schemas.microsoft.com/office/drawing/2014/main" id="{3D66167E-39B7-42B9-5AB8-EC778F55CBC1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3241490" y="1946241"/>
            <a:ext cx="2288116" cy="40029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1" indent="0">
              <a:buClr>
                <a:srgbClr val="8F4D57"/>
              </a:buClr>
              <a:buSzPts val="1100"/>
            </a:pPr>
            <a:r>
              <a:rPr lang="en-US" sz="1200" dirty="0">
                <a:solidFill>
                  <a:srgbClr val="F6CA15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Thanks!</a:t>
            </a:r>
          </a:p>
        </p:txBody>
      </p:sp>
      <p:pic>
        <p:nvPicPr>
          <p:cNvPr id="4" name="Picture 3" descr="A yellow and black logo&#10;&#10;AI-generated content may be incorrect.">
            <a:hlinkClick r:id="rId3"/>
            <a:extLst>
              <a:ext uri="{FF2B5EF4-FFF2-40B4-BE49-F238E27FC236}">
                <a16:creationId xmlns:a16="http://schemas.microsoft.com/office/drawing/2014/main" id="{1C37E350-5E37-7DF8-8F33-CC092C15731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80973" y="307539"/>
            <a:ext cx="2582052" cy="1663371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sp>
        <p:nvSpPr>
          <p:cNvPr id="3" name="Google Shape;1000;p37">
            <a:extLst>
              <a:ext uri="{FF2B5EF4-FFF2-40B4-BE49-F238E27FC236}">
                <a16:creationId xmlns:a16="http://schemas.microsoft.com/office/drawing/2014/main" id="{9D1E934B-613C-2E14-6E91-49245FEB845B}"/>
              </a:ext>
            </a:extLst>
          </p:cNvPr>
          <p:cNvSpPr txBox="1">
            <a:spLocks/>
          </p:cNvSpPr>
          <p:nvPr/>
        </p:nvSpPr>
        <p:spPr>
          <a:xfrm>
            <a:off x="2390552" y="4484913"/>
            <a:ext cx="3989992" cy="400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1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457200" lvl="1" indent="0">
              <a:buClr>
                <a:srgbClr val="8F4D57"/>
              </a:buClr>
              <a:buSzPts val="1100"/>
            </a:pPr>
            <a:r>
              <a:rPr lang="en-US" sz="800" dirty="0">
                <a:solidFill>
                  <a:srgbClr val="F6CA15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Contact: diego@indiesruption.com</a:t>
            </a:r>
            <a:endParaRPr lang="en-US" sz="800" dirty="0">
              <a:solidFill>
                <a:srgbClr val="F6CA15"/>
              </a:solidFill>
              <a:latin typeface="Press Start 2P" panose="00000500000000000000" pitchFamily="2" charset="0"/>
            </a:endParaRPr>
          </a:p>
        </p:txBody>
      </p:sp>
      <p:pic>
        <p:nvPicPr>
          <p:cNvPr id="1026" name="Picture 2" descr="BITBANG | Conocé al Jurado de Videojuegos 2022">
            <a:hlinkClick r:id="rId5"/>
            <a:extLst>
              <a:ext uri="{FF2B5EF4-FFF2-40B4-BE49-F238E27FC236}">
                <a16:creationId xmlns:a16="http://schemas.microsoft.com/office/drawing/2014/main" id="{4A663F81-F70C-0353-F4B4-154EFAB7527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30839" y="2557504"/>
            <a:ext cx="802960" cy="802960"/>
          </a:xfrm>
          <a:prstGeom prst="rect">
            <a:avLst/>
          </a:prstGeom>
          <a:noFill/>
          <a:ln w="19050">
            <a:solidFill>
              <a:srgbClr val="F6CA15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BITBANG | Conocé al Jurado de Videojuegos 2022">
            <a:hlinkClick r:id="rId7"/>
            <a:extLst>
              <a:ext uri="{FF2B5EF4-FFF2-40B4-BE49-F238E27FC236}">
                <a16:creationId xmlns:a16="http://schemas.microsoft.com/office/drawing/2014/main" id="{C7FF3FAD-54A0-77D9-B3A8-BB22C8AB46A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70520" y="2557503"/>
            <a:ext cx="802960" cy="802960"/>
          </a:xfrm>
          <a:prstGeom prst="rect">
            <a:avLst/>
          </a:prstGeom>
          <a:noFill/>
          <a:ln w="19050">
            <a:solidFill>
              <a:srgbClr val="F6CA15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Durgan A. Nallar 🎲 - Escuela de Game ...">
            <a:hlinkClick r:id="rId9"/>
            <a:extLst>
              <a:ext uri="{FF2B5EF4-FFF2-40B4-BE49-F238E27FC236}">
                <a16:creationId xmlns:a16="http://schemas.microsoft.com/office/drawing/2014/main" id="{1800DAD1-03A3-67E5-DE6D-4E125651B69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BEBA8EAE-BF5A-486C-A8C5-ECC9F3942E4B}">
                <a14:imgProps xmlns:a14="http://schemas.microsoft.com/office/drawing/2010/main">
                  <a14:imgLayer r:embed="rId11"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10201" y="2557504"/>
            <a:ext cx="802959" cy="802959"/>
          </a:xfrm>
          <a:prstGeom prst="rect">
            <a:avLst/>
          </a:prstGeom>
          <a:noFill/>
          <a:ln w="19050">
            <a:solidFill>
              <a:srgbClr val="F6CA15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Google Shape;1000;p37">
            <a:extLst>
              <a:ext uri="{FF2B5EF4-FFF2-40B4-BE49-F238E27FC236}">
                <a16:creationId xmlns:a16="http://schemas.microsoft.com/office/drawing/2014/main" id="{99D06E37-DAD2-26D2-9E12-52ECA2CCAF00}"/>
              </a:ext>
            </a:extLst>
          </p:cNvPr>
          <p:cNvSpPr txBox="1">
            <a:spLocks/>
          </p:cNvSpPr>
          <p:nvPr/>
        </p:nvSpPr>
        <p:spPr>
          <a:xfrm>
            <a:off x="2356391" y="3399818"/>
            <a:ext cx="1551855" cy="6959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 algn="ctr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r>
              <a:rPr lang="en-US" sz="600" dirty="0">
                <a:solidFill>
                  <a:srgbClr val="F6CA15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Diego Cánepa</a:t>
            </a:r>
          </a:p>
          <a:p>
            <a:pPr marL="0" indent="0" algn="ctr">
              <a:lnSpc>
                <a:spcPct val="100000"/>
              </a:lnSpc>
              <a:buClr>
                <a:srgbClr val="BD6A62"/>
              </a:buClr>
              <a:buSzPts val="1100"/>
              <a:buNone/>
            </a:pPr>
            <a:r>
              <a:rPr lang="en-US" sz="6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Founder</a:t>
            </a:r>
          </a:p>
          <a:p>
            <a:pPr marL="0" indent="0" algn="ctr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r>
              <a:rPr lang="en-US" sz="6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Lead Designer Programmer</a:t>
            </a:r>
          </a:p>
        </p:txBody>
      </p:sp>
      <p:sp>
        <p:nvSpPr>
          <p:cNvPr id="9" name="Google Shape;1000;p37">
            <a:extLst>
              <a:ext uri="{FF2B5EF4-FFF2-40B4-BE49-F238E27FC236}">
                <a16:creationId xmlns:a16="http://schemas.microsoft.com/office/drawing/2014/main" id="{A5F3AC40-DE36-50F1-275A-042F7E3AECE2}"/>
              </a:ext>
            </a:extLst>
          </p:cNvPr>
          <p:cNvSpPr txBox="1">
            <a:spLocks/>
          </p:cNvSpPr>
          <p:nvPr/>
        </p:nvSpPr>
        <p:spPr>
          <a:xfrm>
            <a:off x="3908138" y="3399818"/>
            <a:ext cx="1329245" cy="337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 algn="ctr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r>
              <a:rPr lang="en-US" sz="600" dirty="0">
                <a:solidFill>
                  <a:srgbClr val="F6CA15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Pablo Mamone</a:t>
            </a:r>
            <a:br>
              <a:rPr lang="en-US" sz="6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r>
              <a:rPr lang="en-US" sz="6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Lead Designer</a:t>
            </a:r>
          </a:p>
          <a:p>
            <a:pPr marL="0" indent="0" algn="ctr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r>
              <a:rPr lang="en-US" sz="6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Project Manager</a:t>
            </a:r>
          </a:p>
        </p:txBody>
      </p:sp>
      <p:sp>
        <p:nvSpPr>
          <p:cNvPr id="10" name="Google Shape;1000;p37">
            <a:extLst>
              <a:ext uri="{FF2B5EF4-FFF2-40B4-BE49-F238E27FC236}">
                <a16:creationId xmlns:a16="http://schemas.microsoft.com/office/drawing/2014/main" id="{FB2C3E88-15B8-E8A9-33BF-ED3C0D951639}"/>
              </a:ext>
            </a:extLst>
          </p:cNvPr>
          <p:cNvSpPr txBox="1">
            <a:spLocks/>
          </p:cNvSpPr>
          <p:nvPr/>
        </p:nvSpPr>
        <p:spPr>
          <a:xfrm>
            <a:off x="5235756" y="3398672"/>
            <a:ext cx="1622074" cy="474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 algn="ctr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r>
              <a:rPr lang="en-US" sz="600" dirty="0">
                <a:solidFill>
                  <a:srgbClr val="F6CA15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Durgan Nallar</a:t>
            </a:r>
          </a:p>
          <a:p>
            <a:pPr marL="0" indent="0" algn="ctr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r>
              <a:rPr lang="en-US" sz="6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Game Designer</a:t>
            </a:r>
            <a:br>
              <a:rPr lang="en-US" sz="6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r>
              <a:rPr lang="en-US" sz="6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Narrative Designer</a:t>
            </a:r>
          </a:p>
        </p:txBody>
      </p:sp>
      <p:pic>
        <p:nvPicPr>
          <p:cNvPr id="7" name="Picture 6" descr="A pixelated blue square with white letters">
            <a:extLst>
              <a:ext uri="{FF2B5EF4-FFF2-40B4-BE49-F238E27FC236}">
                <a16:creationId xmlns:a16="http://schemas.microsoft.com/office/drawing/2014/main" id="{7337FE17-4928-293F-1ED9-D8621D7CE748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425954" y="3245085"/>
            <a:ext cx="163824" cy="163824"/>
          </a:xfrm>
          <a:prstGeom prst="rect">
            <a:avLst/>
          </a:prstGeom>
        </p:spPr>
      </p:pic>
      <p:pic>
        <p:nvPicPr>
          <p:cNvPr id="11" name="Picture 10" descr="A pixelated blue square with white letters">
            <a:extLst>
              <a:ext uri="{FF2B5EF4-FFF2-40B4-BE49-F238E27FC236}">
                <a16:creationId xmlns:a16="http://schemas.microsoft.com/office/drawing/2014/main" id="{E82CA1BC-7566-2E35-DBA1-BC638CF7F683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891568" y="3245085"/>
            <a:ext cx="163824" cy="163824"/>
          </a:xfrm>
          <a:prstGeom prst="rect">
            <a:avLst/>
          </a:prstGeom>
        </p:spPr>
      </p:pic>
      <p:pic>
        <p:nvPicPr>
          <p:cNvPr id="12" name="Picture 11" descr="A pixelated blue square with white letters">
            <a:extLst>
              <a:ext uri="{FF2B5EF4-FFF2-40B4-BE49-F238E27FC236}">
                <a16:creationId xmlns:a16="http://schemas.microsoft.com/office/drawing/2014/main" id="{84C4BD57-46E4-5A85-9EB1-E11DF5D28357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331248" y="3234848"/>
            <a:ext cx="163824" cy="163824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73BBEF9C-4610-6A66-CE93-0BCA6E411C45}"/>
              </a:ext>
            </a:extLst>
          </p:cNvPr>
          <p:cNvSpPr txBox="1"/>
          <p:nvPr/>
        </p:nvSpPr>
        <p:spPr>
          <a:xfrm>
            <a:off x="160437" y="153975"/>
            <a:ext cx="2971881" cy="6857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Veteran indie developers</a:t>
            </a:r>
            <a:b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30+ years of combined experience.</a:t>
            </a:r>
            <a:endParaRPr lang="en-US" sz="900" dirty="0"/>
          </a:p>
        </p:txBody>
      </p:sp>
      <p:pic>
        <p:nvPicPr>
          <p:cNvPr id="14" name="Picture 13" descr="A cartoon of a person wearing glasses&#10;&#10;AI-generated content may be incorrect.">
            <a:extLst>
              <a:ext uri="{FF2B5EF4-FFF2-40B4-BE49-F238E27FC236}">
                <a16:creationId xmlns:a16="http://schemas.microsoft.com/office/drawing/2014/main" id="{1429B171-F070-225A-6645-A09EB7F9A7AF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 flipH="1">
            <a:off x="7317661" y="685417"/>
            <a:ext cx="741416" cy="985176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BBA75673-0B50-6F0B-7154-3F32894857F4}"/>
              </a:ext>
            </a:extLst>
          </p:cNvPr>
          <p:cNvSpPr txBox="1"/>
          <p:nvPr/>
        </p:nvSpPr>
        <p:spPr>
          <a:xfrm>
            <a:off x="6228283" y="131739"/>
            <a:ext cx="2755280" cy="5536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200" dirty="0">
                <a:solidFill>
                  <a:srgbClr val="3B7D4F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Celebrity found!</a:t>
            </a:r>
          </a:p>
          <a:p>
            <a:pPr algn="ctr">
              <a:lnSpc>
                <a:spcPct val="150000"/>
              </a:lnSpc>
            </a:pPr>
            <a:r>
              <a:rPr lang="en-US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Bill Doors</a:t>
            </a:r>
            <a:endParaRPr lang="en-US" dirty="0">
              <a:solidFill>
                <a:srgbClr val="AB513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47476586"/>
      </p:ext>
    </p:extLst>
  </p:cSld>
  <p:clrMapOvr>
    <a:masterClrMapping/>
  </p:clrMapOvr>
</p:sld>
</file>

<file path=ppt/theme/theme1.xml><?xml version="1.0" encoding="utf-8"?>
<a:theme xmlns:a="http://schemas.openxmlformats.org/drawingml/2006/main" name="Super Pixel Vintage Gaming by Slidesgo">
  <a:themeElements>
    <a:clrScheme name="Simple Light">
      <a:dk1>
        <a:srgbClr val="FFFF00"/>
      </a:dk1>
      <a:lt1>
        <a:srgbClr val="FFFFFF"/>
      </a:lt1>
      <a:dk2>
        <a:srgbClr val="0E2433"/>
      </a:dk2>
      <a:lt2>
        <a:srgbClr val="45B6FE"/>
      </a:lt2>
      <a:accent1>
        <a:srgbClr val="3792CB"/>
      </a:accent1>
      <a:accent2>
        <a:srgbClr val="296D98"/>
      </a:accent2>
      <a:accent3>
        <a:srgbClr val="1C4966"/>
      </a:accent3>
      <a:accent4>
        <a:srgbClr val="000000"/>
      </a:accent4>
      <a:accent5>
        <a:srgbClr val="0E2433"/>
      </a:accent5>
      <a:accent6>
        <a:srgbClr val="45B6FE"/>
      </a:accent6>
      <a:hlink>
        <a:srgbClr val="FFFF00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4428</TotalTime>
  <Words>1002</Words>
  <Application>Microsoft Office PowerPoint</Application>
  <PresentationFormat>On-screen Show (16:9)</PresentationFormat>
  <Paragraphs>145</Paragraphs>
  <Slides>15</Slides>
  <Notes>13</Notes>
  <HiddenSlides>0</HiddenSlides>
  <MMClips>0</MMClips>
  <ScaleCrop>false</ScaleCrop>
  <HeadingPairs>
    <vt:vector size="8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0</vt:i4>
      </vt:variant>
      <vt:variant>
        <vt:lpstr>Slide Titles</vt:lpstr>
      </vt:variant>
      <vt:variant>
        <vt:i4>15</vt:i4>
      </vt:variant>
    </vt:vector>
  </HeadingPairs>
  <TitlesOfParts>
    <vt:vector size="19" baseType="lpstr">
      <vt:lpstr>Arial</vt:lpstr>
      <vt:lpstr>Press Start 2P</vt:lpstr>
      <vt:lpstr>Maven Pro</vt:lpstr>
      <vt:lpstr>Super Pixel Vintage Gaming by Slidesgo</vt:lpstr>
      <vt:lpstr>PowerPoint Presentation</vt:lpstr>
      <vt:lpstr>Overview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Diego Canepa</dc:creator>
  <cp:lastModifiedBy>Diego Canepa</cp:lastModifiedBy>
  <cp:revision>888</cp:revision>
  <dcterms:modified xsi:type="dcterms:W3CDTF">2025-10-21T18:57:28Z</dcterms:modified>
</cp:coreProperties>
</file>