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33"/>
  </p:notesMasterIdLst>
  <p:sldIdLst>
    <p:sldId id="256" r:id="rId2"/>
    <p:sldId id="260" r:id="rId3"/>
    <p:sldId id="311" r:id="rId4"/>
    <p:sldId id="317" r:id="rId5"/>
    <p:sldId id="344" r:id="rId6"/>
    <p:sldId id="318" r:id="rId7"/>
    <p:sldId id="319" r:id="rId8"/>
    <p:sldId id="316" r:id="rId9"/>
    <p:sldId id="325" r:id="rId10"/>
    <p:sldId id="341" r:id="rId11"/>
    <p:sldId id="342" r:id="rId12"/>
    <p:sldId id="312" r:id="rId13"/>
    <p:sldId id="315" r:id="rId14"/>
    <p:sldId id="322" r:id="rId15"/>
    <p:sldId id="338" r:id="rId16"/>
    <p:sldId id="327" r:id="rId17"/>
    <p:sldId id="328" r:id="rId18"/>
    <p:sldId id="330" r:id="rId19"/>
    <p:sldId id="331" r:id="rId20"/>
    <p:sldId id="333" r:id="rId21"/>
    <p:sldId id="334" r:id="rId22"/>
    <p:sldId id="335" r:id="rId23"/>
    <p:sldId id="337" r:id="rId24"/>
    <p:sldId id="339" r:id="rId25"/>
    <p:sldId id="323" r:id="rId26"/>
    <p:sldId id="324" r:id="rId27"/>
    <p:sldId id="340" r:id="rId28"/>
    <p:sldId id="326" r:id="rId29"/>
    <p:sldId id="320" r:id="rId30"/>
    <p:sldId id="343" r:id="rId31"/>
    <p:sldId id="321" r:id="rId32"/>
  </p:sldIdLst>
  <p:sldSz cx="9144000" cy="5143500" type="screen16x9"/>
  <p:notesSz cx="6858000" cy="9144000"/>
  <p:embeddedFontLst>
    <p:embeddedFont>
      <p:font typeface="Maven Pro" panose="020B0604020202020204" charset="0"/>
      <p:regular r:id="rId34"/>
      <p:bold r:id="rId35"/>
    </p:embeddedFont>
    <p:embeddedFont>
      <p:font typeface="Press Start 2P" panose="00000500000000000000" pitchFamily="2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333F"/>
    <a:srgbClr val="8F4D57"/>
    <a:srgbClr val="AB5130"/>
    <a:srgbClr val="BD6A62"/>
    <a:srgbClr val="3B7D4F"/>
    <a:srgbClr val="800000"/>
    <a:srgbClr val="F6CA15"/>
    <a:srgbClr val="CCCC00"/>
    <a:srgbClr val="F0B541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D3D775-E612-4A68-ABBB-C3B02DE864C1}">
  <a:tblStyle styleId="{67D3D775-E612-4A68-ABBB-C3B02DE864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438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ace710277d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ace710277d_0_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682875E9-27A2-3C49-1D62-10E06056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259571C4-C56F-06DC-7FB1-5CE9F156B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169EDA3B-E13C-3B18-1F1E-AA1FA4A52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9695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>
          <a:extLst>
            <a:ext uri="{FF2B5EF4-FFF2-40B4-BE49-F238E27FC236}">
              <a16:creationId xmlns:a16="http://schemas.microsoft.com/office/drawing/2014/main" id="{E3C3F598-5512-431F-27EB-57FCD88B5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ad10344254_0_475:notes">
            <a:extLst>
              <a:ext uri="{FF2B5EF4-FFF2-40B4-BE49-F238E27FC236}">
                <a16:creationId xmlns:a16="http://schemas.microsoft.com/office/drawing/2014/main" id="{1F904204-4C62-D1DD-07DF-71D1158A0D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ad10344254_0_475:notes">
            <a:extLst>
              <a:ext uri="{FF2B5EF4-FFF2-40B4-BE49-F238E27FC236}">
                <a16:creationId xmlns:a16="http://schemas.microsoft.com/office/drawing/2014/main" id="{37DC1BDE-B7D2-745B-F22C-9631757D47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4005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>
          <a:extLst>
            <a:ext uri="{FF2B5EF4-FFF2-40B4-BE49-F238E27FC236}">
              <a16:creationId xmlns:a16="http://schemas.microsoft.com/office/drawing/2014/main" id="{98D839D0-8EE2-8BD8-D028-1E9EADCB6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ad10344254_0_475:notes">
            <a:extLst>
              <a:ext uri="{FF2B5EF4-FFF2-40B4-BE49-F238E27FC236}">
                <a16:creationId xmlns:a16="http://schemas.microsoft.com/office/drawing/2014/main" id="{EFF678D2-467D-0D2A-A4E0-4AE8213C81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ad10344254_0_475:notes">
            <a:extLst>
              <a:ext uri="{FF2B5EF4-FFF2-40B4-BE49-F238E27FC236}">
                <a16:creationId xmlns:a16="http://schemas.microsoft.com/office/drawing/2014/main" id="{2AF5F4E0-27F3-8FED-E4B5-58275B63B1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2688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>
          <a:extLst>
            <a:ext uri="{FF2B5EF4-FFF2-40B4-BE49-F238E27FC236}">
              <a16:creationId xmlns:a16="http://schemas.microsoft.com/office/drawing/2014/main" id="{D7D1845E-975B-A33A-A53F-01F9585B7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ad10344254_0_475:notes">
            <a:extLst>
              <a:ext uri="{FF2B5EF4-FFF2-40B4-BE49-F238E27FC236}">
                <a16:creationId xmlns:a16="http://schemas.microsoft.com/office/drawing/2014/main" id="{18B5B6EC-2A60-5984-3E04-5C1E56630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ad10344254_0_475:notes">
            <a:extLst>
              <a:ext uri="{FF2B5EF4-FFF2-40B4-BE49-F238E27FC236}">
                <a16:creationId xmlns:a16="http://schemas.microsoft.com/office/drawing/2014/main" id="{43670A9B-C312-5532-7D12-4F22B7298E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288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>
          <a:extLst>
            <a:ext uri="{FF2B5EF4-FFF2-40B4-BE49-F238E27FC236}">
              <a16:creationId xmlns:a16="http://schemas.microsoft.com/office/drawing/2014/main" id="{E70E1E3C-7897-9789-4045-4E2719CF6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ad10344254_0_475:notes">
            <a:extLst>
              <a:ext uri="{FF2B5EF4-FFF2-40B4-BE49-F238E27FC236}">
                <a16:creationId xmlns:a16="http://schemas.microsoft.com/office/drawing/2014/main" id="{7D8F75EC-961B-A0F1-2B26-0A04A8124B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ad10344254_0_475:notes">
            <a:extLst>
              <a:ext uri="{FF2B5EF4-FFF2-40B4-BE49-F238E27FC236}">
                <a16:creationId xmlns:a16="http://schemas.microsoft.com/office/drawing/2014/main" id="{F3B7CB06-99B0-EE5E-F0EA-8AC4A18FA2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9687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7D6399B5-E114-24AB-1C08-5BF0EF240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1BEEEB24-5EB5-682C-D2B4-AACAC5A68A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C2D2093F-64EF-878F-0029-D6CECBB8DC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2112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E6F6FE94-7BC2-26C1-E44D-469310551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35678F27-9769-0866-5D0B-FD5BEAB2F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E7634D8D-9DEB-7333-9CC2-2F82F90C65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8312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36BCEC85-0DEF-E91A-41E3-0A983C3A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6BB76B50-6E6F-BF7C-721E-8D307DD62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BFE06106-E09F-A83E-F379-1799415260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7412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>
          <a:extLst>
            <a:ext uri="{FF2B5EF4-FFF2-40B4-BE49-F238E27FC236}">
              <a16:creationId xmlns:a16="http://schemas.microsoft.com/office/drawing/2014/main" id="{B36EFF47-599B-30D7-452B-3AD4B00B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ad10344254_0_475:notes">
            <a:extLst>
              <a:ext uri="{FF2B5EF4-FFF2-40B4-BE49-F238E27FC236}">
                <a16:creationId xmlns:a16="http://schemas.microsoft.com/office/drawing/2014/main" id="{0A41FF68-8463-EC70-94F6-793B8C59A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ad10344254_0_475:notes">
            <a:extLst>
              <a:ext uri="{FF2B5EF4-FFF2-40B4-BE49-F238E27FC236}">
                <a16:creationId xmlns:a16="http://schemas.microsoft.com/office/drawing/2014/main" id="{C0D3BA32-6F6C-9BEE-0DBB-512A7B22B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798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>
          <a:extLst>
            <a:ext uri="{FF2B5EF4-FFF2-40B4-BE49-F238E27FC236}">
              <a16:creationId xmlns:a16="http://schemas.microsoft.com/office/drawing/2014/main" id="{0293FD43-4699-F63C-474C-31139402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ad10344254_0_475:notes">
            <a:extLst>
              <a:ext uri="{FF2B5EF4-FFF2-40B4-BE49-F238E27FC236}">
                <a16:creationId xmlns:a16="http://schemas.microsoft.com/office/drawing/2014/main" id="{44E095F7-06E3-02CE-D0B0-3D3B0D086A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ad10344254_0_475:notes">
            <a:extLst>
              <a:ext uri="{FF2B5EF4-FFF2-40B4-BE49-F238E27FC236}">
                <a16:creationId xmlns:a16="http://schemas.microsoft.com/office/drawing/2014/main" id="{B6B7DB37-4B3B-3197-4982-07341BBE19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839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>
          <a:extLst>
            <a:ext uri="{FF2B5EF4-FFF2-40B4-BE49-F238E27FC236}">
              <a16:creationId xmlns:a16="http://schemas.microsoft.com/office/drawing/2014/main" id="{59800AC7-E31E-3063-7D39-42896FC8D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ad10344254_0_475:notes">
            <a:extLst>
              <a:ext uri="{FF2B5EF4-FFF2-40B4-BE49-F238E27FC236}">
                <a16:creationId xmlns:a16="http://schemas.microsoft.com/office/drawing/2014/main" id="{62D457C9-A18D-720D-D2AC-9B3A1B5D8F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ad10344254_0_475:notes">
            <a:extLst>
              <a:ext uri="{FF2B5EF4-FFF2-40B4-BE49-F238E27FC236}">
                <a16:creationId xmlns:a16="http://schemas.microsoft.com/office/drawing/2014/main" id="{FC346CC1-6A55-4589-C391-A5B1913D8F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2135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>
          <a:extLst>
            <a:ext uri="{FF2B5EF4-FFF2-40B4-BE49-F238E27FC236}">
              <a16:creationId xmlns:a16="http://schemas.microsoft.com/office/drawing/2014/main" id="{58ED8A5F-CE5B-79F6-AF7B-CA1F8F705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ace710277d_0_491:notes">
            <a:extLst>
              <a:ext uri="{FF2B5EF4-FFF2-40B4-BE49-F238E27FC236}">
                <a16:creationId xmlns:a16="http://schemas.microsoft.com/office/drawing/2014/main" id="{EC5C9D01-0B94-DF03-3314-71C805DA4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ace710277d_0_491:notes">
            <a:extLst>
              <a:ext uri="{FF2B5EF4-FFF2-40B4-BE49-F238E27FC236}">
                <a16:creationId xmlns:a16="http://schemas.microsoft.com/office/drawing/2014/main" id="{22D684D1-198A-4850-36DC-CC2944A220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8058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3366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074B9D20-03E9-9419-86F2-50EF17F4C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FAE5FF0C-BFBA-F92A-9C44-4B6A9AD689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AB190A7B-7E94-3D7E-61E9-04A6B4738C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31956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C7A66D30-EEBA-D26C-B7E5-02FA0B754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2F2516FD-8C92-0365-481F-B95A12E707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1DBD48D3-210D-84C6-D120-2FBA89D216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4297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7DCE523C-DE26-5190-B97C-FF87F49A9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707DD896-8C3B-1E11-4786-5F30C1622A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91901726-2938-2326-9227-D4BA020AE4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76544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21001038-85F5-AEA0-F926-465401503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8FFEAD37-314D-447D-29C9-0AC7FDA245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F7959833-3711-0A8D-C2A7-C09DBEA5F6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25500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4D07437F-E0EA-831F-F2B8-84F59181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A074959D-9AA7-D270-552C-3D655A2FD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63C974D2-18E8-8BEA-6DD5-A55D55F870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0248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5">
          <a:extLst>
            <a:ext uri="{FF2B5EF4-FFF2-40B4-BE49-F238E27FC236}">
              <a16:creationId xmlns:a16="http://schemas.microsoft.com/office/drawing/2014/main" id="{80B67A76-22B9-84A6-E145-6E495BB36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6ed1d3ee59_0_10084:notes">
            <a:extLst>
              <a:ext uri="{FF2B5EF4-FFF2-40B4-BE49-F238E27FC236}">
                <a16:creationId xmlns:a16="http://schemas.microsoft.com/office/drawing/2014/main" id="{B5890F23-F67E-1640-6079-4989FAB6A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6ed1d3ee59_0_10084:notes">
            <a:extLst>
              <a:ext uri="{FF2B5EF4-FFF2-40B4-BE49-F238E27FC236}">
                <a16:creationId xmlns:a16="http://schemas.microsoft.com/office/drawing/2014/main" id="{1035D575-CF13-4A7B-2B86-7A49D15805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057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59753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2949468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97255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257017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60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9057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180291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77000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949468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3539183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5308360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5898106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6487821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7077537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860" y="3637064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8257868" y="363727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8847625" y="423987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91488" y="36370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01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91020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180782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769780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539196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128530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717807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308000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486964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076686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128903" y="423930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668171" y="4238203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666398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257900" y="4239459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84858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848631" y="363729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841100" y="2279225"/>
            <a:ext cx="5461800" cy="9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35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2358950" y="3281500"/>
            <a:ext cx="42831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6" name="Google Shape;56;p2"/>
          <p:cNvSpPr txBox="1">
            <a:spLocks noGrp="1"/>
          </p:cNvSpPr>
          <p:nvPr>
            <p:ph type="ctrTitle" idx="2"/>
          </p:nvPr>
        </p:nvSpPr>
        <p:spPr>
          <a:xfrm>
            <a:off x="713100" y="1323175"/>
            <a:ext cx="7717800" cy="73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4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Title onl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359753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2949468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97255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257017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60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9057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180291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77000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949468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3539183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5308360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5898106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6487821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7077537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860" y="3637064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8257868" y="363727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8847625" y="4239877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591488" y="36370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01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91020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180782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1769780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539196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128530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717807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308000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486964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076686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128903" y="423930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668171" y="4238203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666398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257900" y="4239459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84858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848631" y="363729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;p2">
            <a:extLst>
              <a:ext uri="{FF2B5EF4-FFF2-40B4-BE49-F238E27FC236}">
                <a16:creationId xmlns:a16="http://schemas.microsoft.com/office/drawing/2014/main" id="{B74B651D-B17C-77C1-7A71-72E8190EF5C2}"/>
              </a:ext>
            </a:extLst>
          </p:cNvPr>
          <p:cNvSpPr/>
          <p:nvPr userDrawn="1"/>
        </p:nvSpPr>
        <p:spPr>
          <a:xfrm>
            <a:off x="2358747" y="604087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;p2">
            <a:extLst>
              <a:ext uri="{FF2B5EF4-FFF2-40B4-BE49-F238E27FC236}">
                <a16:creationId xmlns:a16="http://schemas.microsoft.com/office/drawing/2014/main" id="{3435CFA5-74C7-AD14-88DC-40B1595375B8}"/>
              </a:ext>
            </a:extLst>
          </p:cNvPr>
          <p:cNvSpPr/>
          <p:nvPr userDrawn="1"/>
        </p:nvSpPr>
        <p:spPr>
          <a:xfrm>
            <a:off x="2948462" y="604087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;p2">
            <a:extLst>
              <a:ext uri="{FF2B5EF4-FFF2-40B4-BE49-F238E27FC236}">
                <a16:creationId xmlns:a16="http://schemas.microsoft.com/office/drawing/2014/main" id="{0803F4CA-8D86-A4C4-B692-25D42C135A77}"/>
              </a:ext>
            </a:extLst>
          </p:cNvPr>
          <p:cNvSpPr/>
          <p:nvPr userDrawn="1"/>
        </p:nvSpPr>
        <p:spPr>
          <a:xfrm>
            <a:off x="5896249" y="604087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2;p2">
            <a:extLst>
              <a:ext uri="{FF2B5EF4-FFF2-40B4-BE49-F238E27FC236}">
                <a16:creationId xmlns:a16="http://schemas.microsoft.com/office/drawing/2014/main" id="{ECD4822F-7194-3A81-4434-79104FE737E6}"/>
              </a:ext>
            </a:extLst>
          </p:cNvPr>
          <p:cNvSpPr/>
          <p:nvPr userDrawn="1"/>
        </p:nvSpPr>
        <p:spPr>
          <a:xfrm>
            <a:off x="8256011" y="604298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3;p2">
            <a:extLst>
              <a:ext uri="{FF2B5EF4-FFF2-40B4-BE49-F238E27FC236}">
                <a16:creationId xmlns:a16="http://schemas.microsoft.com/office/drawing/2014/main" id="{6402B80D-9BE5-0C99-CB10-EEEF944BD193}"/>
              </a:ext>
            </a:extLst>
          </p:cNvPr>
          <p:cNvSpPr/>
          <p:nvPr userDrawn="1"/>
        </p:nvSpPr>
        <p:spPr>
          <a:xfrm>
            <a:off x="-146" y="1046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4;p2">
            <a:extLst>
              <a:ext uri="{FF2B5EF4-FFF2-40B4-BE49-F238E27FC236}">
                <a16:creationId xmlns:a16="http://schemas.microsoft.com/office/drawing/2014/main" id="{641F2603-8162-37F9-190B-9FC9FA614BD4}"/>
              </a:ext>
            </a:extLst>
          </p:cNvPr>
          <p:cNvSpPr/>
          <p:nvPr userDrawn="1"/>
        </p:nvSpPr>
        <p:spPr>
          <a:xfrm>
            <a:off x="589570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5;p2">
            <a:extLst>
              <a:ext uri="{FF2B5EF4-FFF2-40B4-BE49-F238E27FC236}">
                <a16:creationId xmlns:a16="http://schemas.microsoft.com/office/drawing/2014/main" id="{2A934EE3-D739-7928-4671-434B3EF00098}"/>
              </a:ext>
            </a:extLst>
          </p:cNvPr>
          <p:cNvSpPr/>
          <p:nvPr userDrawn="1"/>
        </p:nvSpPr>
        <p:spPr>
          <a:xfrm>
            <a:off x="1179285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16;p2">
            <a:extLst>
              <a:ext uri="{FF2B5EF4-FFF2-40B4-BE49-F238E27FC236}">
                <a16:creationId xmlns:a16="http://schemas.microsoft.com/office/drawing/2014/main" id="{9FA21B27-6F61-C00A-2BDB-ADCE7A4C9EDA}"/>
              </a:ext>
            </a:extLst>
          </p:cNvPr>
          <p:cNvSpPr/>
          <p:nvPr userDrawn="1"/>
        </p:nvSpPr>
        <p:spPr>
          <a:xfrm>
            <a:off x="1769000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7;p2">
            <a:extLst>
              <a:ext uri="{FF2B5EF4-FFF2-40B4-BE49-F238E27FC236}">
                <a16:creationId xmlns:a16="http://schemas.microsoft.com/office/drawing/2014/main" id="{321A6377-A923-113C-3F04-32A14ACDA60D}"/>
              </a:ext>
            </a:extLst>
          </p:cNvPr>
          <p:cNvSpPr/>
          <p:nvPr userDrawn="1"/>
        </p:nvSpPr>
        <p:spPr>
          <a:xfrm>
            <a:off x="2948462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8;p2">
            <a:extLst>
              <a:ext uri="{FF2B5EF4-FFF2-40B4-BE49-F238E27FC236}">
                <a16:creationId xmlns:a16="http://schemas.microsoft.com/office/drawing/2014/main" id="{BD4DC746-5D3A-4CBD-6BF7-743A5CD81AFE}"/>
              </a:ext>
            </a:extLst>
          </p:cNvPr>
          <p:cNvSpPr/>
          <p:nvPr userDrawn="1"/>
        </p:nvSpPr>
        <p:spPr>
          <a:xfrm>
            <a:off x="3538177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9;p2">
            <a:extLst>
              <a:ext uri="{FF2B5EF4-FFF2-40B4-BE49-F238E27FC236}">
                <a16:creationId xmlns:a16="http://schemas.microsoft.com/office/drawing/2014/main" id="{6A1A2A16-9CB1-39D0-F713-638C4A62A220}"/>
              </a:ext>
            </a:extLst>
          </p:cNvPr>
          <p:cNvSpPr/>
          <p:nvPr userDrawn="1"/>
        </p:nvSpPr>
        <p:spPr>
          <a:xfrm>
            <a:off x="5307354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20;p2">
            <a:extLst>
              <a:ext uri="{FF2B5EF4-FFF2-40B4-BE49-F238E27FC236}">
                <a16:creationId xmlns:a16="http://schemas.microsoft.com/office/drawing/2014/main" id="{7ACC9AD9-5865-A0E9-AC52-4D33BD3690E4}"/>
              </a:ext>
            </a:extLst>
          </p:cNvPr>
          <p:cNvSpPr/>
          <p:nvPr userDrawn="1"/>
        </p:nvSpPr>
        <p:spPr>
          <a:xfrm>
            <a:off x="5897100" y="1046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21;p2">
            <a:extLst>
              <a:ext uri="{FF2B5EF4-FFF2-40B4-BE49-F238E27FC236}">
                <a16:creationId xmlns:a16="http://schemas.microsoft.com/office/drawing/2014/main" id="{85053872-D365-5AD1-6905-3C4802BBB19F}"/>
              </a:ext>
            </a:extLst>
          </p:cNvPr>
          <p:cNvSpPr/>
          <p:nvPr userDrawn="1"/>
        </p:nvSpPr>
        <p:spPr>
          <a:xfrm>
            <a:off x="6486815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22;p2">
            <a:extLst>
              <a:ext uri="{FF2B5EF4-FFF2-40B4-BE49-F238E27FC236}">
                <a16:creationId xmlns:a16="http://schemas.microsoft.com/office/drawing/2014/main" id="{A1A26F75-7B15-DA54-4FBA-96641762CA2A}"/>
              </a:ext>
            </a:extLst>
          </p:cNvPr>
          <p:cNvSpPr/>
          <p:nvPr userDrawn="1"/>
        </p:nvSpPr>
        <p:spPr>
          <a:xfrm>
            <a:off x="7076531" y="104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23;p2">
            <a:extLst>
              <a:ext uri="{FF2B5EF4-FFF2-40B4-BE49-F238E27FC236}">
                <a16:creationId xmlns:a16="http://schemas.microsoft.com/office/drawing/2014/main" id="{A683E51D-E37C-7B0B-ECC6-F0DC037071C3}"/>
              </a:ext>
            </a:extLst>
          </p:cNvPr>
          <p:cNvSpPr/>
          <p:nvPr userDrawn="1"/>
        </p:nvSpPr>
        <p:spPr>
          <a:xfrm>
            <a:off x="-146" y="1214004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24;p2">
            <a:extLst>
              <a:ext uri="{FF2B5EF4-FFF2-40B4-BE49-F238E27FC236}">
                <a16:creationId xmlns:a16="http://schemas.microsoft.com/office/drawing/2014/main" id="{77BCE4B0-7A80-F235-966C-7335EAA88F60}"/>
              </a:ext>
            </a:extLst>
          </p:cNvPr>
          <p:cNvSpPr/>
          <p:nvPr userDrawn="1"/>
        </p:nvSpPr>
        <p:spPr>
          <a:xfrm>
            <a:off x="8256862" y="1214215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28;p2">
            <a:extLst>
              <a:ext uri="{FF2B5EF4-FFF2-40B4-BE49-F238E27FC236}">
                <a16:creationId xmlns:a16="http://schemas.microsoft.com/office/drawing/2014/main" id="{39B82EB9-DFC0-1D00-9D42-668A401A6143}"/>
              </a:ext>
            </a:extLst>
          </p:cNvPr>
          <p:cNvSpPr/>
          <p:nvPr userDrawn="1"/>
        </p:nvSpPr>
        <p:spPr>
          <a:xfrm>
            <a:off x="8846619" y="1674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2;p2">
            <a:extLst>
              <a:ext uri="{FF2B5EF4-FFF2-40B4-BE49-F238E27FC236}">
                <a16:creationId xmlns:a16="http://schemas.microsoft.com/office/drawing/2014/main" id="{1F4981B9-479A-35D4-F980-DD023E99E00B}"/>
              </a:ext>
            </a:extLst>
          </p:cNvPr>
          <p:cNvSpPr/>
          <p:nvPr userDrawn="1"/>
        </p:nvSpPr>
        <p:spPr>
          <a:xfrm>
            <a:off x="590482" y="121399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33;p2">
            <a:extLst>
              <a:ext uri="{FF2B5EF4-FFF2-40B4-BE49-F238E27FC236}">
                <a16:creationId xmlns:a16="http://schemas.microsoft.com/office/drawing/2014/main" id="{5BCFF738-5FB7-2F4F-B5E8-355CFFA9885E}"/>
              </a:ext>
            </a:extLst>
          </p:cNvPr>
          <p:cNvSpPr/>
          <p:nvPr userDrawn="1"/>
        </p:nvSpPr>
        <p:spPr>
          <a:xfrm>
            <a:off x="-205" y="60407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34;p2">
            <a:extLst>
              <a:ext uri="{FF2B5EF4-FFF2-40B4-BE49-F238E27FC236}">
                <a16:creationId xmlns:a16="http://schemas.microsoft.com/office/drawing/2014/main" id="{DD5D31B2-5E33-A4DA-9843-5FCBCDB16C45}"/>
              </a:ext>
            </a:extLst>
          </p:cNvPr>
          <p:cNvSpPr/>
          <p:nvPr userDrawn="1"/>
        </p:nvSpPr>
        <p:spPr>
          <a:xfrm>
            <a:off x="590014" y="604048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35;p2">
            <a:extLst>
              <a:ext uri="{FF2B5EF4-FFF2-40B4-BE49-F238E27FC236}">
                <a16:creationId xmlns:a16="http://schemas.microsoft.com/office/drawing/2014/main" id="{F7585B2B-1137-EAD1-3FA3-F5B3E8D5EE2E}"/>
              </a:ext>
            </a:extLst>
          </p:cNvPr>
          <p:cNvSpPr/>
          <p:nvPr userDrawn="1"/>
        </p:nvSpPr>
        <p:spPr>
          <a:xfrm>
            <a:off x="1179776" y="604060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36;p2">
            <a:extLst>
              <a:ext uri="{FF2B5EF4-FFF2-40B4-BE49-F238E27FC236}">
                <a16:creationId xmlns:a16="http://schemas.microsoft.com/office/drawing/2014/main" id="{8D1873A8-56F7-9529-AF1C-E1C29F74ADFC}"/>
              </a:ext>
            </a:extLst>
          </p:cNvPr>
          <p:cNvSpPr/>
          <p:nvPr userDrawn="1"/>
        </p:nvSpPr>
        <p:spPr>
          <a:xfrm>
            <a:off x="1768774" y="602353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37;p2">
            <a:extLst>
              <a:ext uri="{FF2B5EF4-FFF2-40B4-BE49-F238E27FC236}">
                <a16:creationId xmlns:a16="http://schemas.microsoft.com/office/drawing/2014/main" id="{EC8D4E83-5437-0F04-F993-5F8C5F6951E1}"/>
              </a:ext>
            </a:extLst>
          </p:cNvPr>
          <p:cNvSpPr/>
          <p:nvPr userDrawn="1"/>
        </p:nvSpPr>
        <p:spPr>
          <a:xfrm>
            <a:off x="3538190" y="60236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38;p2">
            <a:extLst>
              <a:ext uri="{FF2B5EF4-FFF2-40B4-BE49-F238E27FC236}">
                <a16:creationId xmlns:a16="http://schemas.microsoft.com/office/drawing/2014/main" id="{37EB1798-9C6D-53FA-9F90-61146E011FCD}"/>
              </a:ext>
            </a:extLst>
          </p:cNvPr>
          <p:cNvSpPr/>
          <p:nvPr userDrawn="1"/>
        </p:nvSpPr>
        <p:spPr>
          <a:xfrm>
            <a:off x="4127524" y="602348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39;p2">
            <a:extLst>
              <a:ext uri="{FF2B5EF4-FFF2-40B4-BE49-F238E27FC236}">
                <a16:creationId xmlns:a16="http://schemas.microsoft.com/office/drawing/2014/main" id="{721237CB-3D42-1D0B-B98F-82AEDB6B74D6}"/>
              </a:ext>
            </a:extLst>
          </p:cNvPr>
          <p:cNvSpPr/>
          <p:nvPr userDrawn="1"/>
        </p:nvSpPr>
        <p:spPr>
          <a:xfrm>
            <a:off x="4716801" y="60236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40;p2">
            <a:extLst>
              <a:ext uri="{FF2B5EF4-FFF2-40B4-BE49-F238E27FC236}">
                <a16:creationId xmlns:a16="http://schemas.microsoft.com/office/drawing/2014/main" id="{56A5222E-3CA7-90F1-4B86-CCA12686DBF1}"/>
              </a:ext>
            </a:extLst>
          </p:cNvPr>
          <p:cNvSpPr/>
          <p:nvPr userDrawn="1"/>
        </p:nvSpPr>
        <p:spPr>
          <a:xfrm>
            <a:off x="5306994" y="602348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41;p2">
            <a:extLst>
              <a:ext uri="{FF2B5EF4-FFF2-40B4-BE49-F238E27FC236}">
                <a16:creationId xmlns:a16="http://schemas.microsoft.com/office/drawing/2014/main" id="{B4577FB3-C844-1A82-1314-FCF4EAFFB67D}"/>
              </a:ext>
            </a:extLst>
          </p:cNvPr>
          <p:cNvSpPr/>
          <p:nvPr userDrawn="1"/>
        </p:nvSpPr>
        <p:spPr>
          <a:xfrm>
            <a:off x="6485958" y="602362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42;p2">
            <a:extLst>
              <a:ext uri="{FF2B5EF4-FFF2-40B4-BE49-F238E27FC236}">
                <a16:creationId xmlns:a16="http://schemas.microsoft.com/office/drawing/2014/main" id="{4705CF73-B28D-791F-8AF8-9D3112CFC4E7}"/>
              </a:ext>
            </a:extLst>
          </p:cNvPr>
          <p:cNvSpPr/>
          <p:nvPr userDrawn="1"/>
        </p:nvSpPr>
        <p:spPr>
          <a:xfrm>
            <a:off x="7075680" y="605973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43;p2">
            <a:extLst>
              <a:ext uri="{FF2B5EF4-FFF2-40B4-BE49-F238E27FC236}">
                <a16:creationId xmlns:a16="http://schemas.microsoft.com/office/drawing/2014/main" id="{4AB2225D-E74B-1047-D9AD-0F6730FE6C57}"/>
              </a:ext>
            </a:extLst>
          </p:cNvPr>
          <p:cNvSpPr/>
          <p:nvPr userDrawn="1"/>
        </p:nvSpPr>
        <p:spPr>
          <a:xfrm>
            <a:off x="4127897" y="1098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44;p2">
            <a:extLst>
              <a:ext uri="{FF2B5EF4-FFF2-40B4-BE49-F238E27FC236}">
                <a16:creationId xmlns:a16="http://schemas.microsoft.com/office/drawing/2014/main" id="{FE5C4FDE-9F84-7013-4329-3E08E5FA1D5D}"/>
              </a:ext>
            </a:extLst>
          </p:cNvPr>
          <p:cNvSpPr/>
          <p:nvPr userDrawn="1"/>
        </p:nvSpPr>
        <p:spPr>
          <a:xfrm>
            <a:off x="7667165" y="0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45;p2">
            <a:extLst>
              <a:ext uri="{FF2B5EF4-FFF2-40B4-BE49-F238E27FC236}">
                <a16:creationId xmlns:a16="http://schemas.microsoft.com/office/drawing/2014/main" id="{D0F50702-B225-8DD7-FD90-10AA50054A46}"/>
              </a:ext>
            </a:extLst>
          </p:cNvPr>
          <p:cNvSpPr/>
          <p:nvPr userDrawn="1"/>
        </p:nvSpPr>
        <p:spPr>
          <a:xfrm>
            <a:off x="7665392" y="602321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46;p2">
            <a:extLst>
              <a:ext uri="{FF2B5EF4-FFF2-40B4-BE49-F238E27FC236}">
                <a16:creationId xmlns:a16="http://schemas.microsoft.com/office/drawing/2014/main" id="{774551D7-1C49-B9B4-AEEB-D65EBF9649CB}"/>
              </a:ext>
            </a:extLst>
          </p:cNvPr>
          <p:cNvSpPr/>
          <p:nvPr userDrawn="1"/>
        </p:nvSpPr>
        <p:spPr>
          <a:xfrm>
            <a:off x="8256894" y="1256"/>
            <a:ext cx="294407" cy="301975"/>
          </a:xfrm>
          <a:custGeom>
            <a:avLst/>
            <a:gdLst/>
            <a:ahLst/>
            <a:cxnLst/>
            <a:rect l="l" t="t" r="r" b="b"/>
            <a:pathLst>
              <a:path w="9484" h="10578" extrusionOk="0">
                <a:moveTo>
                  <a:pt x="0" y="0"/>
                </a:moveTo>
                <a:lnTo>
                  <a:pt x="0" y="10578"/>
                </a:lnTo>
                <a:lnTo>
                  <a:pt x="9484" y="10578"/>
                </a:lnTo>
                <a:lnTo>
                  <a:pt x="9484" y="0"/>
                </a:lnTo>
                <a:close/>
              </a:path>
            </a:pathLst>
          </a:custGeom>
          <a:solidFill>
            <a:srgbClr val="AB5130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47;p2">
            <a:extLst>
              <a:ext uri="{FF2B5EF4-FFF2-40B4-BE49-F238E27FC236}">
                <a16:creationId xmlns:a16="http://schemas.microsoft.com/office/drawing/2014/main" id="{950DCA13-2E04-C568-390B-ECC0E1375BE8}"/>
              </a:ext>
            </a:extLst>
          </p:cNvPr>
          <p:cNvSpPr/>
          <p:nvPr userDrawn="1"/>
        </p:nvSpPr>
        <p:spPr>
          <a:xfrm>
            <a:off x="8847574" y="60384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52333F">
              <a:alpha val="3568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48;p2">
            <a:extLst>
              <a:ext uri="{FF2B5EF4-FFF2-40B4-BE49-F238E27FC236}">
                <a16:creationId xmlns:a16="http://schemas.microsoft.com/office/drawing/2014/main" id="{97F06346-710C-0EC0-BA2D-E5307F955D61}"/>
              </a:ext>
            </a:extLst>
          </p:cNvPr>
          <p:cNvSpPr/>
          <p:nvPr userDrawn="1"/>
        </p:nvSpPr>
        <p:spPr>
          <a:xfrm>
            <a:off x="8847625" y="121423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21;p2">
            <a:extLst>
              <a:ext uri="{FF2B5EF4-FFF2-40B4-BE49-F238E27FC236}">
                <a16:creationId xmlns:a16="http://schemas.microsoft.com/office/drawing/2014/main" id="{04C9F06D-439A-4CC7-1865-2FBE902A9A75}"/>
              </a:ext>
            </a:extLst>
          </p:cNvPr>
          <p:cNvSpPr/>
          <p:nvPr userDrawn="1"/>
        </p:nvSpPr>
        <p:spPr>
          <a:xfrm>
            <a:off x="4714707" y="421763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36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82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 flipH="1">
            <a:off x="5899913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1" y="0"/>
                </a:moveTo>
                <a:lnTo>
                  <a:pt x="1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"/>
          <p:cNvSpPr/>
          <p:nvPr/>
        </p:nvSpPr>
        <p:spPr>
          <a:xfrm flipH="1">
            <a:off x="2951306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 flipH="1">
            <a:off x="591513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 flipH="1">
            <a:off x="825880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"/>
          <p:cNvSpPr/>
          <p:nvPr/>
        </p:nvSpPr>
        <p:spPr>
          <a:xfrm flipH="1">
            <a:off x="5310198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"/>
          <p:cNvSpPr/>
          <p:nvPr/>
        </p:nvSpPr>
        <p:spPr>
          <a:xfrm flipH="1">
            <a:off x="4130737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3"/>
          <p:cNvSpPr/>
          <p:nvPr/>
        </p:nvSpPr>
        <p:spPr>
          <a:xfrm flipH="1">
            <a:off x="1771844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5" y="10578"/>
                </a:lnTo>
                <a:lnTo>
                  <a:pt x="951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 flipH="1">
            <a:off x="884858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 flipH="1">
            <a:off x="8259323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 flipH="1">
            <a:off x="7669562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 flipH="1">
            <a:off x="7079601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 flipH="1">
            <a:off x="531018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 flipH="1">
            <a:off x="4720963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 flipH="1">
            <a:off x="4130723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 flipH="1">
            <a:off x="2361566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 flipH="1">
            <a:off x="1771844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 flipH="1">
            <a:off x="1183064" y="4840524"/>
            <a:ext cx="294438" cy="301119"/>
          </a:xfrm>
          <a:custGeom>
            <a:avLst/>
            <a:gdLst/>
            <a:ahLst/>
            <a:cxnLst/>
            <a:rect l="l" t="t" r="r" b="b"/>
            <a:pathLst>
              <a:path w="9485" h="10548" extrusionOk="0">
                <a:moveTo>
                  <a:pt x="1" y="0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 flipH="1">
            <a:off x="-5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 flipH="1">
            <a:off x="592413" y="4239676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1207825" y="3983254"/>
            <a:ext cx="6700500" cy="6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3"/>
          <p:cNvSpPr txBox="1">
            <a:spLocks noGrp="1"/>
          </p:cNvSpPr>
          <p:nvPr>
            <p:ph type="title" idx="2" hasCustomPrompt="1"/>
          </p:nvPr>
        </p:nvSpPr>
        <p:spPr>
          <a:xfrm>
            <a:off x="3722450" y="526575"/>
            <a:ext cx="1699200" cy="31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587" y="362934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700" y="423236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590919" y="4232339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700" y="483539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590919" y="4835364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1180681" y="4835376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52333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8848893" y="3629326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8259244" y="4232339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8849581" y="4232351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7669025" y="4835394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8259244" y="4835364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8849006" y="4835376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52333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"/>
          <p:cNvSpPr txBox="1">
            <a:spLocks noGrp="1"/>
          </p:cNvSpPr>
          <p:nvPr>
            <p:ph type="title"/>
          </p:nvPr>
        </p:nvSpPr>
        <p:spPr>
          <a:xfrm>
            <a:off x="1813050" y="1872881"/>
            <a:ext cx="55179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248" name="Google Shape;248;p9"/>
          <p:cNvSpPr txBox="1">
            <a:spLocks noGrp="1"/>
          </p:cNvSpPr>
          <p:nvPr>
            <p:ph type="subTitle" idx="1"/>
          </p:nvPr>
        </p:nvSpPr>
        <p:spPr>
          <a:xfrm>
            <a:off x="2155200" y="2601819"/>
            <a:ext cx="4833600" cy="11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>
  <p:cSld name="ONE_COLUMN_TEXT_1_1_1_1_1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1"/>
          <p:cNvSpPr/>
          <p:nvPr/>
        </p:nvSpPr>
        <p:spPr>
          <a:xfrm flipH="1">
            <a:off x="6489629" y="484229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1"/>
          <p:cNvSpPr/>
          <p:nvPr/>
        </p:nvSpPr>
        <p:spPr>
          <a:xfrm flipH="1">
            <a:off x="2951306" y="4842290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1"/>
          <p:cNvSpPr/>
          <p:nvPr/>
        </p:nvSpPr>
        <p:spPr>
          <a:xfrm flipH="1">
            <a:off x="591513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1"/>
          <p:cNvSpPr/>
          <p:nvPr/>
        </p:nvSpPr>
        <p:spPr>
          <a:xfrm flipH="1">
            <a:off x="8258806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1"/>
          <p:cNvSpPr/>
          <p:nvPr/>
        </p:nvSpPr>
        <p:spPr>
          <a:xfrm flipH="1">
            <a:off x="4130737" y="4239249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1"/>
          <p:cNvSpPr/>
          <p:nvPr/>
        </p:nvSpPr>
        <p:spPr>
          <a:xfrm flipH="1">
            <a:off x="2951306" y="4239249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1"/>
          <p:cNvSpPr/>
          <p:nvPr/>
        </p:nvSpPr>
        <p:spPr>
          <a:xfrm flipH="1">
            <a:off x="884858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1"/>
          <p:cNvSpPr/>
          <p:nvPr/>
        </p:nvSpPr>
        <p:spPr>
          <a:xfrm flipH="1">
            <a:off x="8259323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1"/>
          <p:cNvSpPr/>
          <p:nvPr/>
        </p:nvSpPr>
        <p:spPr>
          <a:xfrm flipH="1">
            <a:off x="7669562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21"/>
          <p:cNvSpPr/>
          <p:nvPr/>
        </p:nvSpPr>
        <p:spPr>
          <a:xfrm flipH="1">
            <a:off x="7079601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1"/>
          <p:cNvSpPr/>
          <p:nvPr/>
        </p:nvSpPr>
        <p:spPr>
          <a:xfrm flipH="1">
            <a:off x="5310185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21"/>
          <p:cNvSpPr/>
          <p:nvPr/>
        </p:nvSpPr>
        <p:spPr>
          <a:xfrm flipH="1">
            <a:off x="4720963" y="48405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1"/>
          <p:cNvSpPr/>
          <p:nvPr/>
        </p:nvSpPr>
        <p:spPr>
          <a:xfrm flipH="1">
            <a:off x="4130723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21"/>
          <p:cNvSpPr/>
          <p:nvPr/>
        </p:nvSpPr>
        <p:spPr>
          <a:xfrm flipH="1">
            <a:off x="3541462" y="4840551"/>
            <a:ext cx="294438" cy="301148"/>
          </a:xfrm>
          <a:custGeom>
            <a:avLst/>
            <a:gdLst/>
            <a:ahLst/>
            <a:cxnLst/>
            <a:rect l="l" t="t" r="r" b="b"/>
            <a:pathLst>
              <a:path w="9485" h="10549" extrusionOk="0">
                <a:moveTo>
                  <a:pt x="1" y="1"/>
                </a:moveTo>
                <a:lnTo>
                  <a:pt x="1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21"/>
          <p:cNvSpPr/>
          <p:nvPr/>
        </p:nvSpPr>
        <p:spPr>
          <a:xfrm flipH="1">
            <a:off x="2361566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21"/>
          <p:cNvSpPr/>
          <p:nvPr/>
        </p:nvSpPr>
        <p:spPr>
          <a:xfrm flipH="1">
            <a:off x="1771844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21"/>
          <p:cNvSpPr/>
          <p:nvPr/>
        </p:nvSpPr>
        <p:spPr>
          <a:xfrm flipH="1">
            <a:off x="-5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1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 preserve="1">
  <p:cSld name="Top Ornaments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1"/>
          <p:cNvSpPr/>
          <p:nvPr/>
        </p:nvSpPr>
        <p:spPr>
          <a:xfrm flipH="1">
            <a:off x="0" y="498607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1"/>
          <p:cNvSpPr/>
          <p:nvPr/>
        </p:nvSpPr>
        <p:spPr>
          <a:xfrm flipH="1">
            <a:off x="565497" y="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1"/>
          <p:cNvSpPr/>
          <p:nvPr/>
        </p:nvSpPr>
        <p:spPr>
          <a:xfrm flipH="1">
            <a:off x="8843887" y="-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1"/>
          <p:cNvSpPr/>
          <p:nvPr/>
        </p:nvSpPr>
        <p:spPr>
          <a:xfrm flipH="1">
            <a:off x="565015" y="49775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1"/>
          <p:cNvSpPr/>
          <p:nvPr/>
        </p:nvSpPr>
        <p:spPr>
          <a:xfrm flipH="1">
            <a:off x="0" y="0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1"/>
          <p:cNvSpPr/>
          <p:nvPr/>
        </p:nvSpPr>
        <p:spPr>
          <a:xfrm flipH="1">
            <a:off x="7713793" y="-85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1"/>
          <p:cNvSpPr/>
          <p:nvPr/>
        </p:nvSpPr>
        <p:spPr>
          <a:xfrm flipH="1">
            <a:off x="1131025" y="0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1"/>
          <p:cNvSpPr/>
          <p:nvPr/>
        </p:nvSpPr>
        <p:spPr>
          <a:xfrm flipH="1">
            <a:off x="8279321" y="0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1"/>
          <p:cNvSpPr/>
          <p:nvPr/>
        </p:nvSpPr>
        <p:spPr>
          <a:xfrm flipH="1">
            <a:off x="8278841" y="53989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1"/>
          <p:cNvSpPr/>
          <p:nvPr/>
        </p:nvSpPr>
        <p:spPr>
          <a:xfrm flipH="1">
            <a:off x="8843887" y="498578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1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265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 preserve="1">
  <p:cSld name="Top and Bottom ornaments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1"/>
          <p:cNvSpPr/>
          <p:nvPr/>
        </p:nvSpPr>
        <p:spPr>
          <a:xfrm flipH="1">
            <a:off x="0" y="498607"/>
            <a:ext cx="295338" cy="301119"/>
          </a:xfrm>
          <a:custGeom>
            <a:avLst/>
            <a:gdLst/>
            <a:ahLst/>
            <a:cxnLst/>
            <a:rect l="l" t="t" r="r" b="b"/>
            <a:pathLst>
              <a:path w="9514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1"/>
          <p:cNvSpPr/>
          <p:nvPr/>
        </p:nvSpPr>
        <p:spPr>
          <a:xfrm flipH="1">
            <a:off x="565497" y="0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1"/>
          <p:cNvSpPr/>
          <p:nvPr/>
        </p:nvSpPr>
        <p:spPr>
          <a:xfrm flipH="1">
            <a:off x="8843887" y="-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1"/>
          <p:cNvSpPr/>
          <p:nvPr/>
        </p:nvSpPr>
        <p:spPr>
          <a:xfrm flipH="1">
            <a:off x="565015" y="497751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1" y="0"/>
                </a:moveTo>
                <a:lnTo>
                  <a:pt x="1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21"/>
          <p:cNvSpPr/>
          <p:nvPr/>
        </p:nvSpPr>
        <p:spPr>
          <a:xfrm flipH="1">
            <a:off x="0" y="0"/>
            <a:ext cx="295338" cy="301975"/>
          </a:xfrm>
          <a:custGeom>
            <a:avLst/>
            <a:gdLst/>
            <a:ahLst/>
            <a:cxnLst/>
            <a:rect l="l" t="t" r="r" b="b"/>
            <a:pathLst>
              <a:path w="9514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21"/>
          <p:cNvSpPr/>
          <p:nvPr/>
        </p:nvSpPr>
        <p:spPr>
          <a:xfrm flipH="1">
            <a:off x="7713793" y="-856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1"/>
          <p:cNvSpPr/>
          <p:nvPr/>
        </p:nvSpPr>
        <p:spPr>
          <a:xfrm flipH="1">
            <a:off x="1131025" y="0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1"/>
          <p:cNvSpPr/>
          <p:nvPr/>
        </p:nvSpPr>
        <p:spPr>
          <a:xfrm flipH="1">
            <a:off x="8279321" y="0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1"/>
          <p:cNvSpPr/>
          <p:nvPr/>
        </p:nvSpPr>
        <p:spPr>
          <a:xfrm flipH="1">
            <a:off x="8278841" y="53989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21"/>
          <p:cNvSpPr/>
          <p:nvPr/>
        </p:nvSpPr>
        <p:spPr>
          <a:xfrm flipH="1">
            <a:off x="8843887" y="498578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21"/>
          <p:cNvSpPr txBox="1">
            <a:spLocks noGrp="1"/>
          </p:cNvSpPr>
          <p:nvPr>
            <p:ph type="title"/>
          </p:nvPr>
        </p:nvSpPr>
        <p:spPr>
          <a:xfrm>
            <a:off x="717425" y="539925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2" name="Google Shape;556;p21">
            <a:extLst>
              <a:ext uri="{FF2B5EF4-FFF2-40B4-BE49-F238E27FC236}">
                <a16:creationId xmlns:a16="http://schemas.microsoft.com/office/drawing/2014/main" id="{9B8C0A79-5021-E113-CC9B-869724F3B862}"/>
              </a:ext>
            </a:extLst>
          </p:cNvPr>
          <p:cNvSpPr/>
          <p:nvPr userDrawn="1"/>
        </p:nvSpPr>
        <p:spPr>
          <a:xfrm flipH="1">
            <a:off x="591513" y="4842501"/>
            <a:ext cx="295369" cy="301119"/>
          </a:xfrm>
          <a:custGeom>
            <a:avLst/>
            <a:gdLst/>
            <a:ahLst/>
            <a:cxnLst/>
            <a:rect l="l" t="t" r="r" b="b"/>
            <a:pathLst>
              <a:path w="9515" h="10548" extrusionOk="0">
                <a:moveTo>
                  <a:pt x="0" y="0"/>
                </a:moveTo>
                <a:lnTo>
                  <a:pt x="0" y="10547"/>
                </a:lnTo>
                <a:lnTo>
                  <a:pt x="9514" y="10547"/>
                </a:lnTo>
                <a:lnTo>
                  <a:pt x="951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560;p21">
            <a:extLst>
              <a:ext uri="{FF2B5EF4-FFF2-40B4-BE49-F238E27FC236}">
                <a16:creationId xmlns:a16="http://schemas.microsoft.com/office/drawing/2014/main" id="{5179C120-AEEB-B912-07D6-29CB3B25BC8E}"/>
              </a:ext>
            </a:extLst>
          </p:cNvPr>
          <p:cNvSpPr/>
          <p:nvPr userDrawn="1"/>
        </p:nvSpPr>
        <p:spPr>
          <a:xfrm flipH="1">
            <a:off x="8848580" y="4842282"/>
            <a:ext cx="295369" cy="301975"/>
          </a:xfrm>
          <a:custGeom>
            <a:avLst/>
            <a:gdLst/>
            <a:ahLst/>
            <a:cxnLst/>
            <a:rect l="l" t="t" r="r" b="b"/>
            <a:pathLst>
              <a:path w="9515" h="10578" extrusionOk="0">
                <a:moveTo>
                  <a:pt x="0" y="0"/>
                </a:moveTo>
                <a:lnTo>
                  <a:pt x="0" y="10578"/>
                </a:lnTo>
                <a:lnTo>
                  <a:pt x="9514" y="10578"/>
                </a:lnTo>
                <a:lnTo>
                  <a:pt x="9514" y="0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561;p21">
            <a:extLst>
              <a:ext uri="{FF2B5EF4-FFF2-40B4-BE49-F238E27FC236}">
                <a16:creationId xmlns:a16="http://schemas.microsoft.com/office/drawing/2014/main" id="{EBBE5F28-03D4-F0CE-8D41-5FC6939B5FC2}"/>
              </a:ext>
            </a:extLst>
          </p:cNvPr>
          <p:cNvSpPr/>
          <p:nvPr userDrawn="1"/>
        </p:nvSpPr>
        <p:spPr>
          <a:xfrm flipH="1">
            <a:off x="8259323" y="4842251"/>
            <a:ext cx="294407" cy="301148"/>
          </a:xfrm>
          <a:custGeom>
            <a:avLst/>
            <a:gdLst/>
            <a:ahLst/>
            <a:cxnLst/>
            <a:rect l="l" t="t" r="r" b="b"/>
            <a:pathLst>
              <a:path w="9484" h="10549" extrusionOk="0">
                <a:moveTo>
                  <a:pt x="0" y="1"/>
                </a:moveTo>
                <a:lnTo>
                  <a:pt x="0" y="10548"/>
                </a:lnTo>
                <a:lnTo>
                  <a:pt x="9484" y="10548"/>
                </a:lnTo>
                <a:lnTo>
                  <a:pt x="9484" y="1"/>
                </a:lnTo>
                <a:close/>
              </a:path>
            </a:pathLst>
          </a:custGeom>
          <a:solidFill>
            <a:srgbClr val="52333F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562;p21">
            <a:extLst>
              <a:ext uri="{FF2B5EF4-FFF2-40B4-BE49-F238E27FC236}">
                <a16:creationId xmlns:a16="http://schemas.microsoft.com/office/drawing/2014/main" id="{EAC1E710-B1DB-284A-C287-D8D825AEAFD9}"/>
              </a:ext>
            </a:extLst>
          </p:cNvPr>
          <p:cNvSpPr/>
          <p:nvPr userDrawn="1"/>
        </p:nvSpPr>
        <p:spPr>
          <a:xfrm flipH="1">
            <a:off x="7669562" y="4842263"/>
            <a:ext cx="294407" cy="301119"/>
          </a:xfrm>
          <a:custGeom>
            <a:avLst/>
            <a:gdLst/>
            <a:ahLst/>
            <a:cxnLst/>
            <a:rect l="l" t="t" r="r" b="b"/>
            <a:pathLst>
              <a:path w="9484" h="10548" extrusionOk="0">
                <a:moveTo>
                  <a:pt x="0" y="0"/>
                </a:moveTo>
                <a:lnTo>
                  <a:pt x="0" y="10547"/>
                </a:lnTo>
                <a:lnTo>
                  <a:pt x="9484" y="10547"/>
                </a:lnTo>
                <a:lnTo>
                  <a:pt x="9484" y="0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563;p21">
            <a:extLst>
              <a:ext uri="{FF2B5EF4-FFF2-40B4-BE49-F238E27FC236}">
                <a16:creationId xmlns:a16="http://schemas.microsoft.com/office/drawing/2014/main" id="{4FA98739-F2A9-4256-72DF-6DA916844521}"/>
              </a:ext>
            </a:extLst>
          </p:cNvPr>
          <p:cNvSpPr/>
          <p:nvPr userDrawn="1"/>
        </p:nvSpPr>
        <p:spPr>
          <a:xfrm flipH="1">
            <a:off x="7079601" y="484055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0" y="1"/>
                </a:moveTo>
                <a:lnTo>
                  <a:pt x="0" y="10548"/>
                </a:lnTo>
                <a:lnTo>
                  <a:pt x="9514" y="10548"/>
                </a:lnTo>
                <a:lnTo>
                  <a:pt x="9514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68;p21">
            <a:extLst>
              <a:ext uri="{FF2B5EF4-FFF2-40B4-BE49-F238E27FC236}">
                <a16:creationId xmlns:a16="http://schemas.microsoft.com/office/drawing/2014/main" id="{A24CB6D6-FB1C-FA5F-4C4E-2F896DC5E849}"/>
              </a:ext>
            </a:extLst>
          </p:cNvPr>
          <p:cNvSpPr/>
          <p:nvPr userDrawn="1"/>
        </p:nvSpPr>
        <p:spPr>
          <a:xfrm flipH="1">
            <a:off x="2361566" y="4840565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569;p21">
            <a:extLst>
              <a:ext uri="{FF2B5EF4-FFF2-40B4-BE49-F238E27FC236}">
                <a16:creationId xmlns:a16="http://schemas.microsoft.com/office/drawing/2014/main" id="{14992504-6549-658B-4F64-6291EC9D60A3}"/>
              </a:ext>
            </a:extLst>
          </p:cNvPr>
          <p:cNvSpPr/>
          <p:nvPr userDrawn="1"/>
        </p:nvSpPr>
        <p:spPr>
          <a:xfrm flipH="1">
            <a:off x="1771844" y="4844176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570;p21">
            <a:extLst>
              <a:ext uri="{FF2B5EF4-FFF2-40B4-BE49-F238E27FC236}">
                <a16:creationId xmlns:a16="http://schemas.microsoft.com/office/drawing/2014/main" id="{BF6DE7E2-8DCB-DB52-41BB-8F02C936503D}"/>
              </a:ext>
            </a:extLst>
          </p:cNvPr>
          <p:cNvSpPr/>
          <p:nvPr userDrawn="1"/>
        </p:nvSpPr>
        <p:spPr>
          <a:xfrm flipH="1">
            <a:off x="-50" y="4842049"/>
            <a:ext cx="295369" cy="301148"/>
          </a:xfrm>
          <a:custGeom>
            <a:avLst/>
            <a:gdLst/>
            <a:ahLst/>
            <a:cxnLst/>
            <a:rect l="l" t="t" r="r" b="b"/>
            <a:pathLst>
              <a:path w="9515" h="10549" extrusionOk="0">
                <a:moveTo>
                  <a:pt x="1" y="1"/>
                </a:moveTo>
                <a:lnTo>
                  <a:pt x="1" y="10548"/>
                </a:lnTo>
                <a:lnTo>
                  <a:pt x="9515" y="10548"/>
                </a:lnTo>
                <a:lnTo>
                  <a:pt x="9515" y="1"/>
                </a:lnTo>
                <a:close/>
              </a:path>
            </a:pathLst>
          </a:custGeom>
          <a:solidFill>
            <a:srgbClr val="8F4D57">
              <a:alpha val="61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91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4">
                <a:lumMod val="89000"/>
              </a:schemeClr>
            </a:gs>
            <a:gs pos="23000">
              <a:schemeClr val="accent4">
                <a:lumMod val="89000"/>
              </a:schemeClr>
            </a:gs>
            <a:gs pos="69000">
              <a:schemeClr val="accent4">
                <a:lumMod val="75000"/>
              </a:schemeClr>
            </a:gs>
            <a:gs pos="97000">
              <a:schemeClr val="accent4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Press Start 2P"/>
              <a:buNone/>
              <a:defRPr sz="30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800"/>
              <a:buFont typeface="Press Start 2P"/>
              <a:buNone/>
              <a:defRPr sz="2800">
                <a:solidFill>
                  <a:srgbClr val="FFFF00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61881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■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●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ven Pro"/>
              <a:buChar char="○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Font typeface="Maven Pro"/>
              <a:buChar char="■"/>
              <a:defRPr sz="16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70" r:id="rId2"/>
    <p:sldLayoutId id="2147483649" r:id="rId3"/>
    <p:sldLayoutId id="2147483655" r:id="rId4"/>
    <p:sldLayoutId id="2147483658" r:id="rId5"/>
    <p:sldLayoutId id="2147483667" r:id="rId6"/>
    <p:sldLayoutId id="2147483668" r:id="rId7"/>
    <p:sldLayoutId id="214748366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store.steampowered.com/app/1567530/Vlad_Circus_Curse_of_Asmodeus/" TargetMode="External"/><Relationship Id="rId3" Type="http://schemas.openxmlformats.org/officeDocument/2006/relationships/image" Target="../media/image18.jpeg"/><Relationship Id="rId7" Type="http://schemas.openxmlformats.org/officeDocument/2006/relationships/image" Target="../media/image21.png"/><Relationship Id="rId2" Type="http://schemas.openxmlformats.org/officeDocument/2006/relationships/hyperlink" Target="https://store.steampowered.com/app/1272580/Nine_Witches_Family_Disruption/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jpeg"/><Relationship Id="rId5" Type="http://schemas.openxmlformats.org/officeDocument/2006/relationships/hyperlink" Target="https://store.steampowered.com/app/1702430/Vlad_Circus_Descend_Into_Madness/" TargetMode="External"/><Relationship Id="rId4" Type="http://schemas.openxmlformats.org/officeDocument/2006/relationships/image" Target="../media/image19.jpeg"/><Relationship Id="rId9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indiesruptio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3"/>
          <p:cNvSpPr txBox="1">
            <a:spLocks noGrp="1"/>
          </p:cNvSpPr>
          <p:nvPr>
            <p:ph type="ctrTitle" idx="4294967295"/>
          </p:nvPr>
        </p:nvSpPr>
        <p:spPr>
          <a:xfrm>
            <a:off x="2425459" y="2054783"/>
            <a:ext cx="4293070" cy="5730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400" dirty="0">
                <a:solidFill>
                  <a:srgbClr val="8F4D57"/>
                </a:solidFill>
              </a:rPr>
              <a:t>When hell runs a horror ride, no one is safe.</a:t>
            </a:r>
          </a:p>
        </p:txBody>
      </p:sp>
      <p:sp>
        <p:nvSpPr>
          <p:cNvPr id="965" name="Google Shape;965;p33"/>
          <p:cNvSpPr txBox="1">
            <a:spLocks noGrp="1"/>
          </p:cNvSpPr>
          <p:nvPr>
            <p:ph type="ctrTitle" idx="4294967295"/>
          </p:nvPr>
        </p:nvSpPr>
        <p:spPr>
          <a:xfrm>
            <a:off x="712784" y="1376922"/>
            <a:ext cx="7718425" cy="7318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solidFill>
                  <a:srgbClr val="AB5130"/>
                </a:solidFill>
              </a:rPr>
              <a:t>REMIZIONE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E77CD3-1A65-914C-B261-4BE2BB959A67}"/>
              </a:ext>
            </a:extLst>
          </p:cNvPr>
          <p:cNvSpPr txBox="1"/>
          <p:nvPr/>
        </p:nvSpPr>
        <p:spPr>
          <a:xfrm>
            <a:off x="3402444" y="3645120"/>
            <a:ext cx="23391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F6CA15"/>
                </a:solidFill>
                <a:latin typeface="Press Start 2P" panose="00000500000000000000" pitchFamily="2" charset="0"/>
              </a:rPr>
              <a:t>By Indiesruption</a:t>
            </a:r>
          </a:p>
        </p:txBody>
      </p:sp>
      <p:pic>
        <p:nvPicPr>
          <p:cNvPr id="15" name="Picture 14" descr="A yellow ball with wings and a black background&#10;&#10;AI-generated content may be incorrect.">
            <a:extLst>
              <a:ext uri="{FF2B5EF4-FFF2-40B4-BE49-F238E27FC236}">
                <a16:creationId xmlns:a16="http://schemas.microsoft.com/office/drawing/2014/main" id="{A91F8DE5-F92B-A53E-5266-3D97D51A13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93" b="10103"/>
          <a:stretch>
            <a:fillRect/>
          </a:stretch>
        </p:blipFill>
        <p:spPr>
          <a:xfrm>
            <a:off x="4277663" y="3131823"/>
            <a:ext cx="588663" cy="4833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FE8D09-385D-19CC-B21B-1FE9FC336EB3}"/>
              </a:ext>
            </a:extLst>
          </p:cNvPr>
          <p:cNvSpPr txBox="1"/>
          <p:nvPr/>
        </p:nvSpPr>
        <p:spPr>
          <a:xfrm>
            <a:off x="3671747" y="322198"/>
            <a:ext cx="18004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52333F"/>
                </a:solidFill>
                <a:latin typeface="Press Start 2P" panose="00000500000000000000" pitchFamily="2" charset="0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7"/>
          <p:cNvSpPr txBox="1">
            <a:spLocks noGrp="1"/>
          </p:cNvSpPr>
          <p:nvPr>
            <p:ph type="title"/>
          </p:nvPr>
        </p:nvSpPr>
        <p:spPr>
          <a:xfrm>
            <a:off x="717450" y="225131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AB5130"/>
                </a:solidFill>
              </a:rPr>
              <a:t>Overview</a:t>
            </a:r>
            <a:endParaRPr sz="2400" dirty="0">
              <a:solidFill>
                <a:srgbClr val="AB5130"/>
              </a:solidFill>
            </a:endParaRPr>
          </a:p>
        </p:txBody>
      </p:sp>
      <p:sp>
        <p:nvSpPr>
          <p:cNvPr id="1000" name="Google Shape;1000;p37"/>
          <p:cNvSpPr txBox="1">
            <a:spLocks noGrp="1"/>
          </p:cNvSpPr>
          <p:nvPr>
            <p:ph type="subTitle" idx="4294967295"/>
          </p:nvPr>
        </p:nvSpPr>
        <p:spPr>
          <a:xfrm>
            <a:off x="1126408" y="1219551"/>
            <a:ext cx="6891183" cy="11128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rgbClr val="8F4D57"/>
              </a:buClr>
              <a:buSzPts val="1100"/>
              <a:buNone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A 2D procedural roguelite adventure with permadeath, dark humor, missing celebrities, ridiculous monsters and hundreds of items.</a:t>
            </a:r>
          </a:p>
          <a:p>
            <a:pPr marL="171450" lvl="0" indent="-1714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0" lvl="0" indent="0">
              <a:buClr>
                <a:srgbClr val="8F4D57"/>
              </a:buClr>
              <a:buSzPts val="1100"/>
              <a:buNone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Two mediocre journalists against a demon-possessed horror ride. Every place is a ticking time bomb, every monster a cruel joke, and every cart you push is your only shot at escape.</a:t>
            </a:r>
          </a:p>
        </p:txBody>
      </p:sp>
      <p:pic>
        <p:nvPicPr>
          <p:cNvPr id="11" name="Picture 10" descr="A pixelated image of a person&#10;&#10;AI-generated content may be incorrect.">
            <a:extLst>
              <a:ext uri="{FF2B5EF4-FFF2-40B4-BE49-F238E27FC236}">
                <a16:creationId xmlns:a16="http://schemas.microsoft.com/office/drawing/2014/main" id="{837261C2-E554-BDA3-809B-910328966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293" y="3924909"/>
            <a:ext cx="571500" cy="914400"/>
          </a:xfrm>
          <a:prstGeom prst="rect">
            <a:avLst/>
          </a:prstGeom>
        </p:spPr>
      </p:pic>
      <p:pic>
        <p:nvPicPr>
          <p:cNvPr id="13" name="Picture 12" descr="A pixelated image of a person wearing sunglasses&#10;&#10;AI-generated content may be incorrect.">
            <a:extLst>
              <a:ext uri="{FF2B5EF4-FFF2-40B4-BE49-F238E27FC236}">
                <a16:creationId xmlns:a16="http://schemas.microsoft.com/office/drawing/2014/main" id="{393C2DE5-CEC6-ED5E-DDE1-1263A050D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825208" y="3983316"/>
            <a:ext cx="57150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5C20DCB5-CFC1-13FD-C801-E2F4E227C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7">
            <a:extLst>
              <a:ext uri="{FF2B5EF4-FFF2-40B4-BE49-F238E27FC236}">
                <a16:creationId xmlns:a16="http://schemas.microsoft.com/office/drawing/2014/main" id="{0C192364-E381-EB17-974B-88B0574F27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50" y="225130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AB5130"/>
                </a:solidFill>
              </a:rPr>
              <a:t>Specifications</a:t>
            </a:r>
            <a:endParaRPr sz="2400" dirty="0">
              <a:solidFill>
                <a:srgbClr val="AB5130"/>
              </a:solidFill>
            </a:endParaRPr>
          </a:p>
        </p:txBody>
      </p:sp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0B12A6F6-08FC-0869-A660-A142C2E9BEF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49217" y="1099641"/>
            <a:ext cx="6138173" cy="111283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BD6A62"/>
                </a:solidFill>
                <a:latin typeface="Press Start 2P" panose="00000500000000000000" pitchFamily="2" charset="0"/>
              </a:rPr>
              <a:t>Genre: </a:t>
            </a: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2D roguelite adventure.</a:t>
            </a: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BD6A62"/>
                </a:solidFill>
                <a:latin typeface="Press Start 2P" panose="00000500000000000000" pitchFamily="2" charset="0"/>
              </a:rPr>
              <a:t>Graphic style: </a:t>
            </a: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Pixel-art / 2.5D.</a:t>
            </a: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BD6A62"/>
                </a:solidFill>
                <a:latin typeface="Press Start 2P" panose="00000500000000000000" pitchFamily="2" charset="0"/>
              </a:rPr>
              <a:t>Rating:</a:t>
            </a: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 Adult language, some blood.</a:t>
            </a:r>
            <a:b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</a:b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BD6A62"/>
                </a:solidFill>
                <a:latin typeface="Press Start 2P" panose="00000500000000000000" pitchFamily="2" charset="0"/>
              </a:rPr>
              <a:t>Audience: </a:t>
            </a: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roguelike players and indie fans, 13+ years old.</a:t>
            </a: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BD6A62"/>
                </a:solidFill>
                <a:latin typeface="Press Start 2P" panose="00000500000000000000" pitchFamily="2" charset="0"/>
              </a:rPr>
              <a:t>Development Platform: </a:t>
            </a: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MonoGame/C#</a:t>
            </a:r>
          </a:p>
        </p:txBody>
      </p:sp>
      <p:pic>
        <p:nvPicPr>
          <p:cNvPr id="3" name="Picture 2" descr="A pixelated cartoon of a dog&#10;&#10;AI-generated content may be incorrect.">
            <a:extLst>
              <a:ext uri="{FF2B5EF4-FFF2-40B4-BE49-F238E27FC236}">
                <a16:creationId xmlns:a16="http://schemas.microsoft.com/office/drawing/2014/main" id="{D320EBAA-263B-2492-E802-4ABC8EF4D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899815" y="3709128"/>
            <a:ext cx="806658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74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>
          <a:extLst>
            <a:ext uri="{FF2B5EF4-FFF2-40B4-BE49-F238E27FC236}">
              <a16:creationId xmlns:a16="http://schemas.microsoft.com/office/drawing/2014/main" id="{32EA34DB-0FFB-BABC-45AA-48FA3C701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48">
            <a:extLst>
              <a:ext uri="{FF2B5EF4-FFF2-40B4-BE49-F238E27FC236}">
                <a16:creationId xmlns:a16="http://schemas.microsoft.com/office/drawing/2014/main" id="{A14A1B33-924F-C42C-5622-4047D00382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25" y="330062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AB5130"/>
                </a:solidFill>
              </a:rPr>
              <a:t>The Horror Ride</a:t>
            </a:r>
            <a:endParaRPr sz="1400" dirty="0">
              <a:solidFill>
                <a:srgbClr val="AB5130"/>
              </a:solidFill>
            </a:endParaRPr>
          </a:p>
        </p:txBody>
      </p:sp>
      <p:sp>
        <p:nvSpPr>
          <p:cNvPr id="2" name="Google Shape;1000;p37">
            <a:extLst>
              <a:ext uri="{FF2B5EF4-FFF2-40B4-BE49-F238E27FC236}">
                <a16:creationId xmlns:a16="http://schemas.microsoft.com/office/drawing/2014/main" id="{1019D6BE-C0A5-8020-2027-6C04C4022226}"/>
              </a:ext>
            </a:extLst>
          </p:cNvPr>
          <p:cNvSpPr txBox="1">
            <a:spLocks/>
          </p:cNvSpPr>
          <p:nvPr/>
        </p:nvSpPr>
        <p:spPr>
          <a:xfrm>
            <a:off x="717425" y="979065"/>
            <a:ext cx="7709100" cy="111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8F4D57"/>
              </a:buClr>
              <a:buSzPts val="1100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Back in its glory days, Snuggleville Amusement Park wanted to add a new attraction. The answer was Remizione, a horror ride designed to drag visitors through a delirious journey into the torments of purgatory.</a:t>
            </a:r>
          </a:p>
          <a:p>
            <a:pPr>
              <a:buClr>
                <a:srgbClr val="8F4D57"/>
              </a:buClr>
              <a:buSzPts val="1100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>
              <a:buClr>
                <a:srgbClr val="8F4D57"/>
              </a:buClr>
              <a:buSzPts val="1100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The project was handed to William Boo, a ride designer notorious for his unhealthy obsession with terrifying dolls.</a:t>
            </a:r>
            <a:b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</a:b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>
              <a:buClr>
                <a:srgbClr val="8F4D57"/>
              </a:buClr>
              <a:buSzPts val="1100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The result was a ride as grotesque as it was mesmerizing: a mechanical parade of sins, animatronics, canned screams, and smoke-scented junk that sparked more nervous laughter than joy.</a:t>
            </a:r>
          </a:p>
          <a:p>
            <a:pPr>
              <a:buClr>
                <a:srgbClr val="8F4D57"/>
              </a:buClr>
              <a:buSzPts val="1100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>
              <a:buClr>
                <a:srgbClr val="8F4D57"/>
              </a:buClr>
              <a:buSzPts val="1100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Then a demon moved in and—bam—suddenly the ride wasn’t a ride anymore. It was purgatory with bad hydraulics.</a:t>
            </a:r>
          </a:p>
        </p:txBody>
      </p:sp>
    </p:spTree>
    <p:extLst>
      <p:ext uri="{BB962C8B-B14F-4D97-AF65-F5344CB8AC3E}">
        <p14:creationId xmlns:p14="http://schemas.microsoft.com/office/powerpoint/2010/main" val="903036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>
          <a:extLst>
            <a:ext uri="{FF2B5EF4-FFF2-40B4-BE49-F238E27FC236}">
              <a16:creationId xmlns:a16="http://schemas.microsoft.com/office/drawing/2014/main" id="{0D87EB59-D081-CEBD-2DF0-EE2AE312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48">
            <a:extLst>
              <a:ext uri="{FF2B5EF4-FFF2-40B4-BE49-F238E27FC236}">
                <a16:creationId xmlns:a16="http://schemas.microsoft.com/office/drawing/2014/main" id="{FE58B46F-00AF-CC38-8882-041DE55F46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25" y="330062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AB5130"/>
                </a:solidFill>
              </a:rPr>
              <a:t>Background Story</a:t>
            </a:r>
            <a:br>
              <a:rPr lang="en-US" sz="2800" dirty="0">
                <a:solidFill>
                  <a:srgbClr val="AB5130"/>
                </a:solidFill>
              </a:rPr>
            </a:br>
            <a:r>
              <a:rPr lang="en-US" sz="1400" dirty="0">
                <a:solidFill>
                  <a:srgbClr val="AB5130"/>
                </a:solidFill>
              </a:rPr>
              <a:t>(1/3)</a:t>
            </a:r>
            <a:endParaRPr sz="1400" dirty="0">
              <a:solidFill>
                <a:srgbClr val="AB5130"/>
              </a:solidFill>
            </a:endParaRPr>
          </a:p>
        </p:txBody>
      </p:sp>
      <p:sp>
        <p:nvSpPr>
          <p:cNvPr id="2" name="Google Shape;1000;p37">
            <a:extLst>
              <a:ext uri="{FF2B5EF4-FFF2-40B4-BE49-F238E27FC236}">
                <a16:creationId xmlns:a16="http://schemas.microsoft.com/office/drawing/2014/main" id="{503EA60E-0DB4-0F57-12A9-69F7F7941B8C}"/>
              </a:ext>
            </a:extLst>
          </p:cNvPr>
          <p:cNvSpPr txBox="1">
            <a:spLocks/>
          </p:cNvSpPr>
          <p:nvPr/>
        </p:nvSpPr>
        <p:spPr>
          <a:xfrm>
            <a:off x="768221" y="1121471"/>
            <a:ext cx="7607508" cy="111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8F4D57"/>
              </a:buClr>
              <a:buSzPts val="1100"/>
            </a:pPr>
            <a:r>
              <a:rPr lang="en-US" dirty="0">
                <a:solidFill>
                  <a:srgbClr val="BD6A62"/>
                </a:solidFill>
                <a:latin typeface="Press Start 2P" panose="00000500000000000000" pitchFamily="2" charset="0"/>
              </a:rPr>
              <a:t>The Mystery of Snuggleville</a:t>
            </a:r>
          </a:p>
          <a:p>
            <a:pPr algn="ctr">
              <a:buClr>
                <a:srgbClr val="8F4D57"/>
              </a:buClr>
              <a:buSzPts val="1100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>
              <a:buClr>
                <a:srgbClr val="8F4D57"/>
              </a:buClr>
              <a:buSzPts val="1100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In Snuggleville, a town famous for gossip and its amusement park, everything was laughter and cotton candy. At least, until the grand opening of Remizione, a horror ride so ambitious its creator was a deranged obsessive who even kept track of the puppets’ warts.</a:t>
            </a:r>
            <a:b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</a:br>
            <a:b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</a:b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For the premiere, they invited the 12 most “important” personalities of the town. They boarded smiling, of course. Did they come back? Not a chance. The creator? Gone too. The park, turned into a cursed meme and went bankrupt faster than a politician’s morals.</a:t>
            </a:r>
          </a:p>
        </p:txBody>
      </p:sp>
    </p:spTree>
    <p:extLst>
      <p:ext uri="{BB962C8B-B14F-4D97-AF65-F5344CB8AC3E}">
        <p14:creationId xmlns:p14="http://schemas.microsoft.com/office/powerpoint/2010/main" val="802727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>
          <a:extLst>
            <a:ext uri="{FF2B5EF4-FFF2-40B4-BE49-F238E27FC236}">
              <a16:creationId xmlns:a16="http://schemas.microsoft.com/office/drawing/2014/main" id="{0EE3EFC0-8FF1-8C88-9661-E159BDB4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48">
            <a:extLst>
              <a:ext uri="{FF2B5EF4-FFF2-40B4-BE49-F238E27FC236}">
                <a16:creationId xmlns:a16="http://schemas.microsoft.com/office/drawing/2014/main" id="{1DFFFF5B-04E2-42C6-743D-75FAC4BC0B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50" y="330062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AB5130"/>
                </a:solidFill>
              </a:rPr>
              <a:t>Background Story</a:t>
            </a:r>
            <a:br>
              <a:rPr lang="en-US" sz="3600" dirty="0">
                <a:solidFill>
                  <a:srgbClr val="AB5130"/>
                </a:solidFill>
              </a:rPr>
            </a:br>
            <a:r>
              <a:rPr lang="en-US" sz="1400" dirty="0">
                <a:solidFill>
                  <a:srgbClr val="AB5130"/>
                </a:solidFill>
              </a:rPr>
              <a:t>(2/3)</a:t>
            </a:r>
            <a:endParaRPr sz="1400" dirty="0">
              <a:solidFill>
                <a:srgbClr val="AB5130"/>
              </a:solidFill>
            </a:endParaRPr>
          </a:p>
        </p:txBody>
      </p:sp>
      <p:sp>
        <p:nvSpPr>
          <p:cNvPr id="2" name="Google Shape;1000;p37">
            <a:extLst>
              <a:ext uri="{FF2B5EF4-FFF2-40B4-BE49-F238E27FC236}">
                <a16:creationId xmlns:a16="http://schemas.microsoft.com/office/drawing/2014/main" id="{1FD9671E-9B31-9C0C-1DB7-B08F30288F1E}"/>
              </a:ext>
            </a:extLst>
          </p:cNvPr>
          <p:cNvSpPr txBox="1">
            <a:spLocks/>
          </p:cNvSpPr>
          <p:nvPr/>
        </p:nvSpPr>
        <p:spPr>
          <a:xfrm>
            <a:off x="1047438" y="1128966"/>
            <a:ext cx="7049124" cy="111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8F4D57"/>
              </a:buClr>
              <a:buSzPts val="1100"/>
            </a:pPr>
            <a:r>
              <a:rPr lang="en-US" dirty="0">
                <a:solidFill>
                  <a:srgbClr val="BD6A62"/>
                </a:solidFill>
                <a:latin typeface="Press Start 2P" panose="00000500000000000000" pitchFamily="2" charset="0"/>
              </a:rPr>
              <a:t>The Most Unlikely Heroes</a:t>
            </a:r>
          </a:p>
          <a:p>
            <a:pPr>
              <a:buClr>
                <a:srgbClr val="8F4D57"/>
              </a:buClr>
              <a:buSzPts val="1100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>
              <a:buClr>
                <a:srgbClr val="8F4D57"/>
              </a:buClr>
              <a:buSzPts val="1100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Many years later, twins Edmundo and Berta Idle, editors of Mysterious Mysteries magazine, decide to investigate the case. Their plan: sneak into the abandoned park at night, armed with more enthusiasm than brains and dreaming of a Pulitzer Prize.</a:t>
            </a:r>
          </a:p>
          <a:p>
            <a:pPr>
              <a:buClr>
                <a:srgbClr val="8F4D57"/>
              </a:buClr>
              <a:buSzPts val="1100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>
              <a:buClr>
                <a:srgbClr val="8F4D57"/>
              </a:buClr>
              <a:buSzPts val="1100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What they don’t know is that the attraction is now home to Mandinga, a frustrated demon who, as a child, dreamed of having his very own horror ride—and isn’t about to give it up.</a:t>
            </a:r>
          </a:p>
        </p:txBody>
      </p:sp>
    </p:spTree>
    <p:extLst>
      <p:ext uri="{BB962C8B-B14F-4D97-AF65-F5344CB8AC3E}">
        <p14:creationId xmlns:p14="http://schemas.microsoft.com/office/powerpoint/2010/main" val="4125863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>
          <a:extLst>
            <a:ext uri="{FF2B5EF4-FFF2-40B4-BE49-F238E27FC236}">
              <a16:creationId xmlns:a16="http://schemas.microsoft.com/office/drawing/2014/main" id="{BDC17088-3EBD-136B-4A40-4026446C7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48">
            <a:extLst>
              <a:ext uri="{FF2B5EF4-FFF2-40B4-BE49-F238E27FC236}">
                <a16:creationId xmlns:a16="http://schemas.microsoft.com/office/drawing/2014/main" id="{90B3AC64-5AAB-673C-42A2-61E42D6C11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25" y="330064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AB5130"/>
                </a:solidFill>
              </a:rPr>
              <a:t>Background Story</a:t>
            </a:r>
            <a:br>
              <a:rPr lang="en-US" sz="3600" dirty="0">
                <a:solidFill>
                  <a:srgbClr val="AB5130"/>
                </a:solidFill>
              </a:rPr>
            </a:br>
            <a:r>
              <a:rPr lang="en-US" sz="1400" dirty="0">
                <a:solidFill>
                  <a:srgbClr val="AB5130"/>
                </a:solidFill>
              </a:rPr>
              <a:t>(3/3)</a:t>
            </a:r>
            <a:endParaRPr sz="1400" dirty="0">
              <a:solidFill>
                <a:srgbClr val="AB5130"/>
              </a:solidFill>
            </a:endParaRPr>
          </a:p>
        </p:txBody>
      </p:sp>
      <p:sp>
        <p:nvSpPr>
          <p:cNvPr id="2" name="Google Shape;1000;p37">
            <a:extLst>
              <a:ext uri="{FF2B5EF4-FFF2-40B4-BE49-F238E27FC236}">
                <a16:creationId xmlns:a16="http://schemas.microsoft.com/office/drawing/2014/main" id="{A5797C6C-D604-8583-D088-57411C24F938}"/>
              </a:ext>
            </a:extLst>
          </p:cNvPr>
          <p:cNvSpPr txBox="1">
            <a:spLocks/>
          </p:cNvSpPr>
          <p:nvPr/>
        </p:nvSpPr>
        <p:spPr>
          <a:xfrm>
            <a:off x="768221" y="1106480"/>
            <a:ext cx="7607508" cy="111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8F4D57"/>
              </a:buClr>
              <a:buSzPts val="1100"/>
            </a:pPr>
            <a:r>
              <a:rPr lang="en-US" dirty="0">
                <a:solidFill>
                  <a:srgbClr val="BD6A62"/>
                </a:solidFill>
                <a:latin typeface="Press Start 2P" panose="00000500000000000000" pitchFamily="2" charset="0"/>
              </a:rPr>
              <a:t>A Journey Bound to Go Wrong</a:t>
            </a:r>
          </a:p>
          <a:p>
            <a:pPr>
              <a:buClr>
                <a:srgbClr val="8F4D57"/>
              </a:buClr>
              <a:buSzPts val="1100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>
              <a:buClr>
                <a:srgbClr val="8F4D57"/>
              </a:buClr>
              <a:buSzPts val="1100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On a night full of absurd scares and very real danger, the Idle twins face a challenge way beyond their league.</a:t>
            </a:r>
          </a:p>
          <a:p>
            <a:pPr>
              <a:buClr>
                <a:srgbClr val="8F4D57"/>
              </a:buClr>
              <a:buSzPts val="1100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>
              <a:buClr>
                <a:srgbClr val="8F4D57"/>
              </a:buClr>
              <a:buSzPts val="1100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Will the twins manage to become the town’s heroes? Or will they end up trapped forever with the others? </a:t>
            </a:r>
          </a:p>
          <a:p>
            <a:pPr>
              <a:buClr>
                <a:srgbClr val="8F4D57"/>
              </a:buClr>
              <a:buSzPts val="1100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>
              <a:buClr>
                <a:srgbClr val="8F4D57"/>
              </a:buClr>
              <a:buSzPts val="1100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One thing is certain: what they’re about to experience is a monumental stupidity.</a:t>
            </a:r>
          </a:p>
        </p:txBody>
      </p:sp>
      <p:pic>
        <p:nvPicPr>
          <p:cNvPr id="4" name="Picture 3" descr="A pixelated image of a person&#10;&#10;AI-generated content may be incorrect.">
            <a:extLst>
              <a:ext uri="{FF2B5EF4-FFF2-40B4-BE49-F238E27FC236}">
                <a16:creationId xmlns:a16="http://schemas.microsoft.com/office/drawing/2014/main" id="{8441BCC3-5DB9-58CC-BA9A-A1EAB0069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344" y="3918712"/>
            <a:ext cx="571500" cy="914400"/>
          </a:xfrm>
          <a:prstGeom prst="rect">
            <a:avLst/>
          </a:prstGeom>
        </p:spPr>
      </p:pic>
      <p:pic>
        <p:nvPicPr>
          <p:cNvPr id="6" name="Picture 5" descr="A pixelated image of a person&#10;&#10;AI-generated content may be incorrect.">
            <a:extLst>
              <a:ext uri="{FF2B5EF4-FFF2-40B4-BE49-F238E27FC236}">
                <a16:creationId xmlns:a16="http://schemas.microsoft.com/office/drawing/2014/main" id="{6D1FFAB1-499C-969B-58B6-C602645FE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001936" y="3975862"/>
            <a:ext cx="57150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29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05E3E87C-07D7-F3F3-2C64-9167B8881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7">
            <a:extLst>
              <a:ext uri="{FF2B5EF4-FFF2-40B4-BE49-F238E27FC236}">
                <a16:creationId xmlns:a16="http://schemas.microsoft.com/office/drawing/2014/main" id="{154DE6E0-3E5A-7625-F8BC-406F3F42C8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48" y="307578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AB5130"/>
                </a:solidFill>
              </a:rPr>
              <a:t>Gameplay</a:t>
            </a:r>
            <a:br>
              <a:rPr lang="en" sz="2400" dirty="0">
                <a:solidFill>
                  <a:srgbClr val="AB5130"/>
                </a:solidFill>
              </a:rPr>
            </a:br>
            <a:r>
              <a:rPr lang="en" sz="1400" dirty="0">
                <a:solidFill>
                  <a:srgbClr val="AB5130"/>
                </a:solidFill>
              </a:rPr>
              <a:t>(1/2)</a:t>
            </a:r>
            <a:endParaRPr sz="1400" dirty="0">
              <a:solidFill>
                <a:srgbClr val="AB5130"/>
              </a:solidFill>
            </a:endParaRPr>
          </a:p>
        </p:txBody>
      </p:sp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4B8BBCFE-17C0-31CE-E552-926C0026605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90903" y="1149430"/>
            <a:ext cx="7362190" cy="111283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Explore an evil horror ride filled with ugly creatures, traps, puzzles, items and secrets.</a:t>
            </a:r>
            <a:b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</a:b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Simple 2D bizarre action. Push carts and face grotesque monsters and bosses.</a:t>
            </a:r>
            <a:b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</a:b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Permadeath: each death teaches something new and unlocks items.</a:t>
            </a: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Unlocks are diverse and surprising: players can earn new content by defeating bosses, surviving a set number of runs, discovering secret areas, or completing bizarre hidden tasks.</a:t>
            </a:r>
          </a:p>
        </p:txBody>
      </p:sp>
    </p:spTree>
    <p:extLst>
      <p:ext uri="{BB962C8B-B14F-4D97-AF65-F5344CB8AC3E}">
        <p14:creationId xmlns:p14="http://schemas.microsoft.com/office/powerpoint/2010/main" val="2429485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17F92BE7-960D-34A7-3D0E-A486740DB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7">
            <a:extLst>
              <a:ext uri="{FF2B5EF4-FFF2-40B4-BE49-F238E27FC236}">
                <a16:creationId xmlns:a16="http://schemas.microsoft.com/office/drawing/2014/main" id="{FC7B9843-0163-D72F-A279-607895F20B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48" y="307578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AB5130"/>
                </a:solidFill>
              </a:rPr>
              <a:t>Gameplay</a:t>
            </a:r>
            <a:br>
              <a:rPr lang="en" sz="2400" dirty="0">
                <a:solidFill>
                  <a:srgbClr val="AB5130"/>
                </a:solidFill>
              </a:rPr>
            </a:br>
            <a:r>
              <a:rPr lang="en" sz="1400" dirty="0">
                <a:solidFill>
                  <a:srgbClr val="AB5130"/>
                </a:solidFill>
              </a:rPr>
              <a:t>(2/2)</a:t>
            </a:r>
            <a:endParaRPr sz="1400" dirty="0">
              <a:solidFill>
                <a:srgbClr val="AB5130"/>
              </a:solidFill>
            </a:endParaRPr>
          </a:p>
        </p:txBody>
      </p:sp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D650DE06-3101-1F1D-6E24-53D1E44B7FF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03717" y="1144120"/>
            <a:ext cx="7536561" cy="111283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Loot-Creatures spits out items and energy to power each exit cart; your choices shape survival.</a:t>
            </a: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Choose which twin to use—each with unique traits. Some areas of the attraction can only be unlocked by a specific character.</a:t>
            </a: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Find the ride’s deranged designer to unlock the abandoned park’s ATM, where your hard-earned tickets turn into points to buy unique items and hidden areas of the attraction.</a:t>
            </a:r>
          </a:p>
        </p:txBody>
      </p:sp>
    </p:spTree>
    <p:extLst>
      <p:ext uri="{BB962C8B-B14F-4D97-AF65-F5344CB8AC3E}">
        <p14:creationId xmlns:p14="http://schemas.microsoft.com/office/powerpoint/2010/main" val="1589262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3A34EBE2-BDE0-E941-7C1E-4D85528B7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7">
            <a:extLst>
              <a:ext uri="{FF2B5EF4-FFF2-40B4-BE49-F238E27FC236}">
                <a16:creationId xmlns:a16="http://schemas.microsoft.com/office/drawing/2014/main" id="{327D8213-6DEC-B768-FCFB-573865E123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48" y="307578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AB5130"/>
                </a:solidFill>
              </a:rPr>
              <a:t>Gameplay</a:t>
            </a:r>
            <a:br>
              <a:rPr lang="en" sz="2400" dirty="0">
                <a:solidFill>
                  <a:srgbClr val="AB5130"/>
                </a:solidFill>
              </a:rPr>
            </a:br>
            <a:r>
              <a:rPr lang="en" sz="1400" dirty="0">
                <a:solidFill>
                  <a:srgbClr val="AB5130"/>
                </a:solidFill>
              </a:rPr>
              <a:t>(3/3)</a:t>
            </a:r>
            <a:endParaRPr sz="1400" dirty="0">
              <a:solidFill>
                <a:srgbClr val="AB5130"/>
              </a:solidFill>
            </a:endParaRPr>
          </a:p>
        </p:txBody>
      </p:sp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379AA150-F2D4-5127-A6F1-F7EF1FC46C4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947998" y="1111953"/>
            <a:ext cx="7248000" cy="111283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Inventory growth is permanent: expand your slots by stitching them with needles and thread found during runs—once unlocked, they never shrink back.</a:t>
            </a: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Meta-objectives: Rescue twisted parodies of real-world celebrities—each with a ridiculous name and a bizarre quirk that mocks their persona. </a:t>
            </a:r>
            <a:b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</a:br>
            <a:b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</a:b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For example, Bill Doors might give you a tip for the ATM, only to trigger a Windows-style “blue screen of death” error.</a:t>
            </a: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184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E68F2B-5464-E15A-128C-A410CB603FDD}"/>
              </a:ext>
            </a:extLst>
          </p:cNvPr>
          <p:cNvSpPr txBox="1"/>
          <p:nvPr/>
        </p:nvSpPr>
        <p:spPr>
          <a:xfrm>
            <a:off x="3674157" y="1477427"/>
            <a:ext cx="1795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8F4D57"/>
                </a:solidFill>
                <a:latin typeface="Press Start 2P" panose="00000500000000000000" pitchFamily="2" charset="0"/>
              </a:rPr>
              <a:t>Choose</a:t>
            </a:r>
          </a:p>
          <a:p>
            <a:pPr algn="ctr"/>
            <a:r>
              <a:rPr lang="en-US" dirty="0">
                <a:solidFill>
                  <a:srgbClr val="8F4D57"/>
                </a:solidFill>
                <a:latin typeface="Press Start 2P" panose="00000500000000000000" pitchFamily="2" charset="0"/>
              </a:rPr>
              <a:t>character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8074A-0EA5-C0F0-87D6-C4519DD2C7EE}"/>
              </a:ext>
            </a:extLst>
          </p:cNvPr>
          <p:cNvSpPr txBox="1"/>
          <p:nvPr/>
        </p:nvSpPr>
        <p:spPr>
          <a:xfrm>
            <a:off x="5669681" y="2423247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BD6A62"/>
                </a:solidFill>
                <a:latin typeface="Press Start 2P" panose="00000500000000000000" pitchFamily="2" charset="0"/>
              </a:rPr>
              <a:t>Begin</a:t>
            </a:r>
          </a:p>
          <a:p>
            <a:pPr algn="ctr"/>
            <a:r>
              <a:rPr lang="en-US" dirty="0">
                <a:solidFill>
                  <a:srgbClr val="BD6A62"/>
                </a:solidFill>
                <a:latin typeface="Press Start 2P" panose="00000500000000000000" pitchFamily="2" charset="0"/>
              </a:rPr>
              <a:t>ride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3B9801-8A0A-0CC6-FEE7-0E721EA1372B}"/>
              </a:ext>
            </a:extLst>
          </p:cNvPr>
          <p:cNvSpPr txBox="1"/>
          <p:nvPr/>
        </p:nvSpPr>
        <p:spPr>
          <a:xfrm>
            <a:off x="3634317" y="3459677"/>
            <a:ext cx="1875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AB5130"/>
                </a:solidFill>
                <a:latin typeface="Press Start 2P" panose="00000500000000000000" pitchFamily="2" charset="0"/>
              </a:rPr>
              <a:t>Survive ride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62D20E-03EE-53B7-81AD-6ABEE4E53BFC}"/>
              </a:ext>
            </a:extLst>
          </p:cNvPr>
          <p:cNvSpPr txBox="1"/>
          <p:nvPr/>
        </p:nvSpPr>
        <p:spPr>
          <a:xfrm>
            <a:off x="1523065" y="2401210"/>
            <a:ext cx="2151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3B7D4F"/>
                </a:solidFill>
                <a:latin typeface="Press Start 2P" panose="00000500000000000000" pitchFamily="2" charset="0"/>
              </a:rPr>
              <a:t>Unlock </a:t>
            </a:r>
          </a:p>
          <a:p>
            <a:pPr algn="ctr"/>
            <a:r>
              <a:rPr lang="en-US" dirty="0">
                <a:solidFill>
                  <a:srgbClr val="3B7D4F"/>
                </a:solidFill>
                <a:latin typeface="Press Start 2P" panose="00000500000000000000" pitchFamily="2" charset="0"/>
              </a:rPr>
              <a:t>new stuff</a:t>
            </a:r>
          </a:p>
        </p:txBody>
      </p:sp>
      <p:sp>
        <p:nvSpPr>
          <p:cNvPr id="19" name="Arrow: Bent 18">
            <a:extLst>
              <a:ext uri="{FF2B5EF4-FFF2-40B4-BE49-F238E27FC236}">
                <a16:creationId xmlns:a16="http://schemas.microsoft.com/office/drawing/2014/main" id="{519C639E-FD6E-0639-E043-9475A0AE206F}"/>
              </a:ext>
            </a:extLst>
          </p:cNvPr>
          <p:cNvSpPr/>
          <p:nvPr/>
        </p:nvSpPr>
        <p:spPr>
          <a:xfrm rot="5400000">
            <a:off x="5688794" y="1644374"/>
            <a:ext cx="611370" cy="699519"/>
          </a:xfrm>
          <a:prstGeom prst="bentArrow">
            <a:avLst/>
          </a:prstGeom>
          <a:solidFill>
            <a:schemeClr val="accent4"/>
          </a:solidFill>
          <a:ln>
            <a:solidFill>
              <a:srgbClr val="8F4D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Arrow: Bent 19">
            <a:extLst>
              <a:ext uri="{FF2B5EF4-FFF2-40B4-BE49-F238E27FC236}">
                <a16:creationId xmlns:a16="http://schemas.microsoft.com/office/drawing/2014/main" id="{BE208F65-1ACD-404F-5122-8FDC916CD14A}"/>
              </a:ext>
            </a:extLst>
          </p:cNvPr>
          <p:cNvSpPr/>
          <p:nvPr/>
        </p:nvSpPr>
        <p:spPr>
          <a:xfrm rot="10800000">
            <a:off x="5536659" y="3109917"/>
            <a:ext cx="699520" cy="699519"/>
          </a:xfrm>
          <a:prstGeom prst="bentArrow">
            <a:avLst/>
          </a:prstGeom>
          <a:solidFill>
            <a:schemeClr val="accent4"/>
          </a:solidFill>
          <a:ln>
            <a:solidFill>
              <a:srgbClr val="8F4D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Bent 20">
            <a:extLst>
              <a:ext uri="{FF2B5EF4-FFF2-40B4-BE49-F238E27FC236}">
                <a16:creationId xmlns:a16="http://schemas.microsoft.com/office/drawing/2014/main" id="{35A091DE-053F-722E-EBE5-6B30D094BEAD}"/>
              </a:ext>
            </a:extLst>
          </p:cNvPr>
          <p:cNvSpPr/>
          <p:nvPr/>
        </p:nvSpPr>
        <p:spPr>
          <a:xfrm rot="16200000">
            <a:off x="2799757" y="3019307"/>
            <a:ext cx="699520" cy="699519"/>
          </a:xfrm>
          <a:prstGeom prst="bentArrow">
            <a:avLst/>
          </a:prstGeom>
          <a:solidFill>
            <a:schemeClr val="accent4"/>
          </a:solidFill>
          <a:ln>
            <a:solidFill>
              <a:srgbClr val="8F4D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Bent 23">
            <a:extLst>
              <a:ext uri="{FF2B5EF4-FFF2-40B4-BE49-F238E27FC236}">
                <a16:creationId xmlns:a16="http://schemas.microsoft.com/office/drawing/2014/main" id="{ABF46C45-0C82-49E1-762D-07CB71828AA5}"/>
              </a:ext>
            </a:extLst>
          </p:cNvPr>
          <p:cNvSpPr/>
          <p:nvPr/>
        </p:nvSpPr>
        <p:spPr>
          <a:xfrm>
            <a:off x="2882175" y="1626178"/>
            <a:ext cx="617102" cy="680156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4"/>
          </a:solidFill>
          <a:ln>
            <a:solidFill>
              <a:srgbClr val="8F4D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Google Shape;999;p37">
            <a:extLst>
              <a:ext uri="{FF2B5EF4-FFF2-40B4-BE49-F238E27FC236}">
                <a16:creationId xmlns:a16="http://schemas.microsoft.com/office/drawing/2014/main" id="{1FE58226-C9BB-533D-9C74-0BDAC7965A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47" y="225477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AB5130"/>
                </a:solidFill>
              </a:rPr>
              <a:t>Core Loop</a:t>
            </a:r>
            <a:endParaRPr sz="2400" dirty="0">
              <a:solidFill>
                <a:srgbClr val="AB5130"/>
              </a:solidFill>
            </a:endParaRPr>
          </a:p>
        </p:txBody>
      </p:sp>
      <p:pic>
        <p:nvPicPr>
          <p:cNvPr id="28" name="Picture 27" descr="A pixelated image of a person&#10;&#10;AI-generated content may be incorrect.">
            <a:extLst>
              <a:ext uri="{FF2B5EF4-FFF2-40B4-BE49-F238E27FC236}">
                <a16:creationId xmlns:a16="http://schemas.microsoft.com/office/drawing/2014/main" id="{FE307EF4-372B-75C5-7547-8272A8BBE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503" y="2287993"/>
            <a:ext cx="1016989" cy="88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25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>
          <a:extLst>
            <a:ext uri="{FF2B5EF4-FFF2-40B4-BE49-F238E27FC236}">
              <a16:creationId xmlns:a16="http://schemas.microsoft.com/office/drawing/2014/main" id="{AD58A570-97FC-D60B-AE8B-84EC1A6FF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48">
            <a:extLst>
              <a:ext uri="{FF2B5EF4-FFF2-40B4-BE49-F238E27FC236}">
                <a16:creationId xmlns:a16="http://schemas.microsoft.com/office/drawing/2014/main" id="{A42D8231-D375-BDDB-3AA3-3E46C8E8F9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25" y="315072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AB5130"/>
                </a:solidFill>
              </a:rPr>
              <a:t>Key Features</a:t>
            </a:r>
            <a:br>
              <a:rPr lang="en-US" sz="3600" dirty="0">
                <a:solidFill>
                  <a:srgbClr val="AB5130"/>
                </a:solidFill>
              </a:rPr>
            </a:br>
            <a:r>
              <a:rPr lang="en-US" sz="1400" dirty="0">
                <a:solidFill>
                  <a:srgbClr val="AB5130"/>
                </a:solidFill>
              </a:rPr>
              <a:t>(1/2)</a:t>
            </a:r>
            <a:endParaRPr sz="1400" dirty="0">
              <a:solidFill>
                <a:srgbClr val="AB5130"/>
              </a:solidFill>
            </a:endParaRPr>
          </a:p>
        </p:txBody>
      </p:sp>
      <p:sp>
        <p:nvSpPr>
          <p:cNvPr id="2" name="Google Shape;1000;p37">
            <a:extLst>
              <a:ext uri="{FF2B5EF4-FFF2-40B4-BE49-F238E27FC236}">
                <a16:creationId xmlns:a16="http://schemas.microsoft.com/office/drawing/2014/main" id="{E59BED5C-9ACE-29D6-91CE-98F38D025527}"/>
              </a:ext>
            </a:extLst>
          </p:cNvPr>
          <p:cNvSpPr txBox="1">
            <a:spLocks/>
          </p:cNvSpPr>
          <p:nvPr/>
        </p:nvSpPr>
        <p:spPr>
          <a:xfrm>
            <a:off x="957096" y="1116986"/>
            <a:ext cx="7229758" cy="111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Unique art and humor blending the grotesque with the comedic.</a:t>
            </a: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Procedurally generated levels making every run unpredictable.</a:t>
            </a: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Bizarre creatures and items. Everyday amenities—like toilets and kiosks—remain in use inside the attraction.</a:t>
            </a: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Earn tickets and exchange them for strange but useful souvenirs.</a:t>
            </a: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’90s-style MIDI-inspired soundtrack combining jazz, lounge, and retro adventure vibes to match the humor and chaos of the game.</a:t>
            </a:r>
          </a:p>
        </p:txBody>
      </p:sp>
      <p:pic>
        <p:nvPicPr>
          <p:cNvPr id="5" name="Picture 4" descr="A pixelated image of a person's face&#10;&#10;AI-generated content may be incorrect.">
            <a:extLst>
              <a:ext uri="{FF2B5EF4-FFF2-40B4-BE49-F238E27FC236}">
                <a16:creationId xmlns:a16="http://schemas.microsoft.com/office/drawing/2014/main" id="{046FB048-7B42-D2DD-B242-D4B9246DD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21863" flipH="1">
            <a:off x="7074414" y="4443837"/>
            <a:ext cx="91440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73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>
          <a:extLst>
            <a:ext uri="{FF2B5EF4-FFF2-40B4-BE49-F238E27FC236}">
              <a16:creationId xmlns:a16="http://schemas.microsoft.com/office/drawing/2014/main" id="{93F8DD1F-AEE0-2EBD-FB5C-AD70427AD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48">
            <a:extLst>
              <a:ext uri="{FF2B5EF4-FFF2-40B4-BE49-F238E27FC236}">
                <a16:creationId xmlns:a16="http://schemas.microsoft.com/office/drawing/2014/main" id="{2B56387C-23F8-0E7E-B964-47786892E0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24" y="315072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>
                <a:solidFill>
                  <a:srgbClr val="AB5130"/>
                </a:solidFill>
              </a:rPr>
              <a:t>Key Features</a:t>
            </a:r>
            <a:br>
              <a:rPr lang="en-US" sz="3600" dirty="0">
                <a:solidFill>
                  <a:srgbClr val="AB5130"/>
                </a:solidFill>
              </a:rPr>
            </a:br>
            <a:r>
              <a:rPr lang="en-US" sz="1400" dirty="0">
                <a:solidFill>
                  <a:srgbClr val="AB5130"/>
                </a:solidFill>
              </a:rPr>
              <a:t>(2/2)</a:t>
            </a:r>
            <a:endParaRPr sz="1400" dirty="0">
              <a:solidFill>
                <a:srgbClr val="AB5130"/>
              </a:solidFill>
            </a:endParaRPr>
          </a:p>
        </p:txBody>
      </p:sp>
      <p:sp>
        <p:nvSpPr>
          <p:cNvPr id="2" name="Google Shape;1000;p37">
            <a:extLst>
              <a:ext uri="{FF2B5EF4-FFF2-40B4-BE49-F238E27FC236}">
                <a16:creationId xmlns:a16="http://schemas.microsoft.com/office/drawing/2014/main" id="{B3BBCC2C-FD49-30B4-D1AA-1F0F7730982C}"/>
              </a:ext>
            </a:extLst>
          </p:cNvPr>
          <p:cNvSpPr txBox="1">
            <a:spLocks/>
          </p:cNvSpPr>
          <p:nvPr/>
        </p:nvSpPr>
        <p:spPr>
          <a:xfrm>
            <a:off x="812306" y="1064519"/>
            <a:ext cx="7519336" cy="111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Risk/reward mechanics (optional bosses, secret rooms).</a:t>
            </a: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Atmospheric 2D lighting — sometimes only your items can pierce it.</a:t>
            </a: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Encounter a cast of bizarre characters, from Mandinga—the demon that hijacked the ghost train—to his assistant Sister Ham, and countless other oddballs populating the ride.</a:t>
            </a: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Narrative twist with meta-goals to bring layers of mystery and long-term goals.</a:t>
            </a: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Break dungeon gates with your items, run after run, until you finally face the boss and rescue a lost celebrity.</a:t>
            </a:r>
          </a:p>
          <a:p>
            <a:pPr marL="171450" indent="-1714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593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>
          <a:extLst>
            <a:ext uri="{FF2B5EF4-FFF2-40B4-BE49-F238E27FC236}">
              <a16:creationId xmlns:a16="http://schemas.microsoft.com/office/drawing/2014/main" id="{045E9FA8-FCC8-C729-E049-85878A428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48">
            <a:extLst>
              <a:ext uri="{FF2B5EF4-FFF2-40B4-BE49-F238E27FC236}">
                <a16:creationId xmlns:a16="http://schemas.microsoft.com/office/drawing/2014/main" id="{D1036F77-09C1-4DB1-07F8-A69EC9A1F2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760" y="322405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>
                <a:solidFill>
                  <a:srgbClr val="AB5130"/>
                </a:solidFill>
              </a:rPr>
              <a:t>Inventory</a:t>
            </a:r>
            <a:endParaRPr sz="1400" dirty="0">
              <a:solidFill>
                <a:srgbClr val="AB5130"/>
              </a:solidFill>
            </a:endParaRPr>
          </a:p>
        </p:txBody>
      </p:sp>
      <p:sp>
        <p:nvSpPr>
          <p:cNvPr id="2" name="Google Shape;1000;p37">
            <a:extLst>
              <a:ext uri="{FF2B5EF4-FFF2-40B4-BE49-F238E27FC236}">
                <a16:creationId xmlns:a16="http://schemas.microsoft.com/office/drawing/2014/main" id="{DB42E67C-23FC-8C3E-34A6-389B3FCEDD7F}"/>
              </a:ext>
            </a:extLst>
          </p:cNvPr>
          <p:cNvSpPr txBox="1">
            <a:spLocks/>
          </p:cNvSpPr>
          <p:nvPr/>
        </p:nvSpPr>
        <p:spPr>
          <a:xfrm>
            <a:off x="745760" y="1057851"/>
            <a:ext cx="7652479" cy="355162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7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BD6A62"/>
                </a:solidFill>
                <a:latin typeface="Press Start 2P" panose="00000500000000000000" pitchFamily="2" charset="0"/>
              </a:rPr>
              <a:t>Junk:</a:t>
            </a: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 Odd gadgets you can equip to whack, poke, or do something questionably useful.</a:t>
            </a:r>
          </a:p>
          <a:p>
            <a:pPr marL="285750" lvl="7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lvl="7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BD6A62"/>
                </a:solidFill>
                <a:latin typeface="Press Start 2P" panose="00000500000000000000" pitchFamily="2" charset="0"/>
              </a:rPr>
              <a:t>Consumables:</a:t>
            </a: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 Eat or drink anything: from healing snacks to chili-powered speed boosts.</a:t>
            </a:r>
          </a:p>
          <a:p>
            <a:pPr marL="285750" lvl="7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lvl="7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BD6A62"/>
                </a:solidFill>
                <a:latin typeface="Press Start 2P" panose="00000500000000000000" pitchFamily="2" charset="0"/>
              </a:rPr>
              <a:t>Key items:</a:t>
            </a: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 Scene-specific tools for interacting with the environment: pick locks, operate machines, use kiosks, trigger devices.</a:t>
            </a:r>
          </a:p>
          <a:p>
            <a:pPr marL="285750" lvl="7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lvl="7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BD6A62"/>
                </a:solidFill>
                <a:latin typeface="Press Start 2P" panose="00000500000000000000" pitchFamily="2" charset="0"/>
              </a:rPr>
              <a:t>Trinkets:</a:t>
            </a: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 Passive oddities with quirky powers. One at a time, so choose your curse wisely.</a:t>
            </a:r>
            <a:b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</a:b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lvl="7" indent="-285750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BD6A62"/>
                </a:solidFill>
                <a:latin typeface="Press Start 2P" panose="00000500000000000000" pitchFamily="2" charset="0"/>
              </a:rPr>
              <a:t>Perks &amp; Flaws: </a:t>
            </a: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Temporary and fixed states that twist your run and force players to adapt on the fly—sometimes (e.g., Overeat fast food and you might end up gassy, pausing mid-fight to clutch your stomach.)</a:t>
            </a:r>
          </a:p>
        </p:txBody>
      </p:sp>
    </p:spTree>
    <p:extLst>
      <p:ext uri="{BB962C8B-B14F-4D97-AF65-F5344CB8AC3E}">
        <p14:creationId xmlns:p14="http://schemas.microsoft.com/office/powerpoint/2010/main" val="617176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>
          <a:extLst>
            <a:ext uri="{FF2B5EF4-FFF2-40B4-BE49-F238E27FC236}">
              <a16:creationId xmlns:a16="http://schemas.microsoft.com/office/drawing/2014/main" id="{C64EAA93-1721-BC85-30CA-5C7E0C194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33">
            <a:extLst>
              <a:ext uri="{FF2B5EF4-FFF2-40B4-BE49-F238E27FC236}">
                <a16:creationId xmlns:a16="http://schemas.microsoft.com/office/drawing/2014/main" id="{53C5982A-982E-9EB0-4AC2-4BB9AE06E7F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896633" y="1922358"/>
            <a:ext cx="5350733" cy="7318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AB5130"/>
                </a:solidFill>
              </a:rPr>
              <a:t>Look &amp; Feel</a:t>
            </a:r>
          </a:p>
        </p:txBody>
      </p:sp>
    </p:spTree>
    <p:extLst>
      <p:ext uri="{BB962C8B-B14F-4D97-AF65-F5344CB8AC3E}">
        <p14:creationId xmlns:p14="http://schemas.microsoft.com/office/powerpoint/2010/main" val="318671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07CBC33B-E902-C9C1-E4A2-DB31CB7DE3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914966"/>
              </p:ext>
            </p:extLst>
          </p:nvPr>
        </p:nvGraphicFramePr>
        <p:xfrm>
          <a:off x="0" y="0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457131" imgH="13194723" progId="">
                  <p:embed/>
                </p:oleObj>
              </mc:Choice>
              <mc:Fallback>
                <p:oleObj r:id="rId2" imgW="23457131" imgH="1319472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0474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20A34BF-F6DA-A8CB-13AF-57B4402462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789484"/>
              </p:ext>
            </p:extLst>
          </p:nvPr>
        </p:nvGraphicFramePr>
        <p:xfrm>
          <a:off x="0" y="0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457131" imgH="13194723" progId="">
                  <p:embed/>
                </p:oleObj>
              </mc:Choice>
              <mc:Fallback>
                <p:oleObj r:id="rId2" imgW="23457131" imgH="1319472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0995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E691B5A-1392-38BA-3EF5-742B618FEB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3675194"/>
              </p:ext>
            </p:extLst>
          </p:nvPr>
        </p:nvGraphicFramePr>
        <p:xfrm>
          <a:off x="0" y="0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457131" imgH="13194723" progId="">
                  <p:embed/>
                </p:oleObj>
              </mc:Choice>
              <mc:Fallback>
                <p:oleObj r:id="rId2" imgW="23457131" imgH="1319472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3852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E986D8D-679B-DF16-78D6-36A609285C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207707"/>
              </p:ext>
            </p:extLst>
          </p:nvPr>
        </p:nvGraphicFramePr>
        <p:xfrm>
          <a:off x="0" y="0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457131" imgH="13194723" progId="">
                  <p:embed/>
                </p:oleObj>
              </mc:Choice>
              <mc:Fallback>
                <p:oleObj r:id="rId2" imgW="23457131" imgH="1319472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9C3ACD7-63EA-AD11-D4E3-7D8D477A2334}"/>
              </a:ext>
            </a:extLst>
          </p:cNvPr>
          <p:cNvSpPr txBox="1"/>
          <p:nvPr/>
        </p:nvSpPr>
        <p:spPr>
          <a:xfrm>
            <a:off x="6266289" y="97437"/>
            <a:ext cx="2877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Press Start 2P" panose="00000500000000000000" pitchFamily="2" charset="0"/>
              </a:rPr>
              <a:t>Lighting system</a:t>
            </a:r>
          </a:p>
        </p:txBody>
      </p:sp>
    </p:spTree>
    <p:extLst>
      <p:ext uri="{BB962C8B-B14F-4D97-AF65-F5344CB8AC3E}">
        <p14:creationId xmlns:p14="http://schemas.microsoft.com/office/powerpoint/2010/main" val="2069842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8F103BA-FE0A-AA41-EBEC-DC6531E555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84214"/>
              </p:ext>
            </p:extLst>
          </p:nvPr>
        </p:nvGraphicFramePr>
        <p:xfrm>
          <a:off x="0" y="0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457131" imgH="13194723" progId="">
                  <p:embed/>
                </p:oleObj>
              </mc:Choice>
              <mc:Fallback>
                <p:oleObj r:id="rId2" imgW="23457131" imgH="1319472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1057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639D306-BBE1-54B8-D927-D6DA7E79A9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075831"/>
              </p:ext>
            </p:extLst>
          </p:nvPr>
        </p:nvGraphicFramePr>
        <p:xfrm>
          <a:off x="0" y="0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457131" imgH="13194723" progId="">
                  <p:embed/>
                </p:oleObj>
              </mc:Choice>
              <mc:Fallback>
                <p:oleObj r:id="rId3" imgW="23457131" imgH="1319472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9023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609FE13-086A-FABE-04FF-6CEC053EBD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652787"/>
              </p:ext>
            </p:extLst>
          </p:nvPr>
        </p:nvGraphicFramePr>
        <p:xfrm>
          <a:off x="0" y="0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457131" imgH="13194723" progId="">
                  <p:embed/>
                </p:oleObj>
              </mc:Choice>
              <mc:Fallback>
                <p:oleObj r:id="rId2" imgW="23457131" imgH="1319472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3456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043CC30-6598-3FB3-BEFB-3E4EE54F8C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610712"/>
              </p:ext>
            </p:extLst>
          </p:nvPr>
        </p:nvGraphicFramePr>
        <p:xfrm>
          <a:off x="0" y="0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457131" imgH="13194723" progId="">
                  <p:embed/>
                </p:oleObj>
              </mc:Choice>
              <mc:Fallback>
                <p:oleObj r:id="rId2" imgW="23457131" imgH="1319472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859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78FB3C6-D040-27C0-5DCA-923B4B80EA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839471"/>
              </p:ext>
            </p:extLst>
          </p:nvPr>
        </p:nvGraphicFramePr>
        <p:xfrm>
          <a:off x="0" y="0"/>
          <a:ext cx="9144000" cy="514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457131" imgH="13194723" progId="">
                  <p:embed/>
                </p:oleObj>
              </mc:Choice>
              <mc:Fallback>
                <p:oleObj r:id="rId2" imgW="23457131" imgH="13194723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5143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1268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C2F54A8F-EF3B-1D1C-8DB9-0F87D8160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7">
            <a:extLst>
              <a:ext uri="{FF2B5EF4-FFF2-40B4-BE49-F238E27FC236}">
                <a16:creationId xmlns:a16="http://schemas.microsoft.com/office/drawing/2014/main" id="{3FF335F1-C8A9-3024-0C02-3494A47B4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24" y="315073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AB5130"/>
                </a:solidFill>
              </a:rPr>
              <a:t>Current Status</a:t>
            </a:r>
            <a:endParaRPr sz="2400" dirty="0">
              <a:solidFill>
                <a:srgbClr val="AB5130"/>
              </a:solidFill>
            </a:endParaRPr>
          </a:p>
        </p:txBody>
      </p:sp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9A015A17-98FF-7DD4-996D-009CB294E92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975206" y="1042648"/>
            <a:ext cx="7193536" cy="111283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Proprietary engine ready - developed in C# with MonoGame has its own scripting language and has proven its robustness and efficiency across 3 shipped titles for PC and consoles.</a:t>
            </a: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Core gameplay loop defined and partially playable in prototype form.</a:t>
            </a: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Procedural level generation implemented and stable and ready to be loaded with a ton of art.</a:t>
            </a:r>
            <a:b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</a:b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Inventory management functional.</a:t>
            </a: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Visual identity and bizarre humor strongly established.</a:t>
            </a:r>
          </a:p>
        </p:txBody>
      </p:sp>
    </p:spTree>
    <p:extLst>
      <p:ext uri="{BB962C8B-B14F-4D97-AF65-F5344CB8AC3E}">
        <p14:creationId xmlns:p14="http://schemas.microsoft.com/office/powerpoint/2010/main" val="1400677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36A86AC5-F113-3FE1-F4B1-30BA556D2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7">
            <a:extLst>
              <a:ext uri="{FF2B5EF4-FFF2-40B4-BE49-F238E27FC236}">
                <a16:creationId xmlns:a16="http://schemas.microsoft.com/office/drawing/2014/main" id="{13A39A8C-8340-EA93-71E8-78AFCC1F05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24" y="292588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AB5130"/>
                </a:solidFill>
              </a:rPr>
              <a:t>Needs</a:t>
            </a:r>
            <a:endParaRPr sz="2400" dirty="0">
              <a:solidFill>
                <a:srgbClr val="AB5130"/>
              </a:solidFill>
            </a:endParaRPr>
          </a:p>
        </p:txBody>
      </p:sp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9AA063CD-4D2E-8BC6-45A7-88F34494330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7424" y="1088404"/>
            <a:ext cx="7709100" cy="1112838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Funding to create the adventure and the huge content of assets (items, characters, monsters and a variety of assets for the procedural environments.)</a:t>
            </a: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Marketing and publishing + trailers production.</a:t>
            </a: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Professional translations.</a:t>
            </a: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Console porting (if needed): We don’t handle this area, but our code is 100% AOT compatible to ensure smooth and efficient transition for potential platform development. All our three games were successfully ported to al major consoles.</a:t>
            </a: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735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D475C2DD-0B55-73BB-627B-13753326C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7">
            <a:extLst>
              <a:ext uri="{FF2B5EF4-FFF2-40B4-BE49-F238E27FC236}">
                <a16:creationId xmlns:a16="http://schemas.microsoft.com/office/drawing/2014/main" id="{027DA172-9CAF-76D4-BE44-524F25A9C2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24" y="292588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AB5130"/>
                </a:solidFill>
              </a:rPr>
              <a:t>Future Growth</a:t>
            </a:r>
            <a:endParaRPr sz="2400" dirty="0">
              <a:solidFill>
                <a:srgbClr val="AB5130"/>
              </a:solidFill>
            </a:endParaRPr>
          </a:p>
        </p:txBody>
      </p:sp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1B6F1C17-A735-E874-93DD-AEAEEA9D8F4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3559" y="1257665"/>
            <a:ext cx="6476829" cy="777871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The game world can smoothly expand over time with DLCs, new creatures, places, items, and ever-changing procedural content.</a:t>
            </a:r>
          </a:p>
        </p:txBody>
      </p:sp>
      <p:pic>
        <p:nvPicPr>
          <p:cNvPr id="7" name="Picture 6" descr="A pixelated red and black object&#10;&#10;AI-generated content may be incorrect.">
            <a:extLst>
              <a:ext uri="{FF2B5EF4-FFF2-40B4-BE49-F238E27FC236}">
                <a16:creationId xmlns:a16="http://schemas.microsoft.com/office/drawing/2014/main" id="{291CFB07-6019-4BA9-C919-6AAEC0AD6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449" y="2793112"/>
            <a:ext cx="3021047" cy="11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662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84A76CAA-2D3C-F2D5-A385-576D4CBCB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7">
            <a:extLst>
              <a:ext uri="{FF2B5EF4-FFF2-40B4-BE49-F238E27FC236}">
                <a16:creationId xmlns:a16="http://schemas.microsoft.com/office/drawing/2014/main" id="{7DC74442-6CB9-3B3E-2DF3-902CE1AB43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50" y="225130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rgbClr val="AB5130"/>
                </a:solidFill>
              </a:rPr>
              <a:t>Who We Are</a:t>
            </a:r>
            <a:endParaRPr sz="2400" dirty="0">
              <a:solidFill>
                <a:srgbClr val="AB5130"/>
              </a:solidFill>
            </a:endParaRPr>
          </a:p>
        </p:txBody>
      </p:sp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8AD04312-634D-AFE6-B193-640CD9B1337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200545" y="994708"/>
            <a:ext cx="6742910" cy="111283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Veteran indie developers with 30+ years of industry experience.</a:t>
            </a:r>
            <a:b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</a:b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Published 3 games on PC and all major consoles (PlayStation, Xbox, Switch). All with the same publisher, proving both trust in our work and our reliability as long-term partners.</a:t>
            </a: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Our games have earned multiple awards, recognized for creativity and originality.</a:t>
            </a: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Passion-driven team focused on delivering unique, and unforgettable experiences.</a:t>
            </a:r>
          </a:p>
        </p:txBody>
      </p:sp>
    </p:spTree>
    <p:extLst>
      <p:ext uri="{BB962C8B-B14F-4D97-AF65-F5344CB8AC3E}">
        <p14:creationId xmlns:p14="http://schemas.microsoft.com/office/powerpoint/2010/main" val="642918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84FA0D57-4FED-6D68-B23C-04A721D1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37">
            <a:extLst>
              <a:ext uri="{FF2B5EF4-FFF2-40B4-BE49-F238E27FC236}">
                <a16:creationId xmlns:a16="http://schemas.microsoft.com/office/drawing/2014/main" id="{7348F0E1-AB40-8BC8-1E51-80D46F4B20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50" y="292587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AB5130"/>
                </a:solidFill>
              </a:rPr>
              <a:t>Production</a:t>
            </a:r>
            <a:endParaRPr sz="2400" dirty="0">
              <a:solidFill>
                <a:srgbClr val="AB5130"/>
              </a:solidFill>
            </a:endParaRPr>
          </a:p>
        </p:txBody>
      </p:sp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A8D6F54E-62B3-B106-ECAB-706E807DFDE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053903" y="989585"/>
            <a:ext cx="6918325" cy="111283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Development time: 14 months.</a:t>
            </a:r>
            <a:b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</a:br>
            <a:endParaRPr lang="en-US" sz="1200" dirty="0">
              <a:solidFill>
                <a:srgbClr val="8F4D57"/>
              </a:solidFill>
              <a:latin typeface="Press Start 2P" panose="00000500000000000000" pitchFamily="2" charset="0"/>
            </a:endParaRPr>
          </a:p>
          <a:p>
            <a:pPr marL="285750" indent="-285750" algn="l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★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Development cost with recoup: </a:t>
            </a:r>
            <a:r>
              <a:rPr lang="en-US" sz="1200" dirty="0" err="1">
                <a:solidFill>
                  <a:srgbClr val="8F4D57"/>
                </a:solidFill>
                <a:latin typeface="Press Start 2P" panose="00000500000000000000" pitchFamily="2" charset="0"/>
              </a:rPr>
              <a:t>xxxK</a:t>
            </a: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 U$S (*)</a:t>
            </a:r>
          </a:p>
          <a:p>
            <a:pPr marL="742950" lvl="1" indent="-285750">
              <a:lnSpc>
                <a:spcPct val="100000"/>
              </a:lnSpc>
              <a:buClr>
                <a:srgbClr val="8F4D57"/>
              </a:buClr>
              <a:buSzPts val="1100"/>
              <a:buFont typeface="Press Start 2P" panose="00000500000000000000" pitchFamily="2" charset="0"/>
              <a:buChar char="♦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Lead designers (2)</a:t>
            </a:r>
          </a:p>
          <a:p>
            <a:pPr marL="742950" lvl="1" indent="-285750" algn="l">
              <a:lnSpc>
                <a:spcPct val="100000"/>
              </a:lnSpc>
              <a:buClr>
                <a:srgbClr val="8F4D57"/>
              </a:buClr>
              <a:buSzPct val="92000"/>
              <a:buFont typeface="Press Start 2P" panose="00000500000000000000" pitchFamily="2" charset="0"/>
              <a:buChar char="♦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Programmer</a:t>
            </a:r>
          </a:p>
          <a:p>
            <a:pPr marL="742950" lvl="1" indent="-285750" algn="l">
              <a:lnSpc>
                <a:spcPct val="100000"/>
              </a:lnSpc>
              <a:buClr>
                <a:srgbClr val="8F4D57"/>
              </a:buClr>
              <a:buSzPct val="92000"/>
              <a:buFont typeface="Press Start 2P" panose="00000500000000000000" pitchFamily="2" charset="0"/>
              <a:buChar char="♦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Writer</a:t>
            </a:r>
          </a:p>
          <a:p>
            <a:pPr marL="742950" lvl="1" indent="-285750" algn="l">
              <a:lnSpc>
                <a:spcPct val="100000"/>
              </a:lnSpc>
              <a:buClr>
                <a:srgbClr val="8F4D57"/>
              </a:buClr>
              <a:buSzPct val="92000"/>
              <a:buFont typeface="Press Start 2P" panose="00000500000000000000" pitchFamily="2" charset="0"/>
              <a:buChar char="♦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Background artist</a:t>
            </a:r>
          </a:p>
          <a:p>
            <a:pPr marL="742950" lvl="1" indent="-285750" algn="l">
              <a:lnSpc>
                <a:spcPct val="100000"/>
              </a:lnSpc>
              <a:buClr>
                <a:srgbClr val="8F4D57"/>
              </a:buClr>
              <a:buSzPct val="92000"/>
              <a:buFont typeface="Press Start 2P" panose="00000500000000000000" pitchFamily="2" charset="0"/>
              <a:buChar char="♦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2D Animator</a:t>
            </a:r>
          </a:p>
          <a:p>
            <a:pPr marL="742950" lvl="1" indent="-285750" algn="l">
              <a:lnSpc>
                <a:spcPct val="100000"/>
              </a:lnSpc>
              <a:buClr>
                <a:srgbClr val="8F4D57"/>
              </a:buClr>
              <a:buSzPct val="92000"/>
              <a:buFont typeface="Press Start 2P" panose="00000500000000000000" pitchFamily="2" charset="0"/>
              <a:buChar char="♦"/>
            </a:pPr>
            <a:r>
              <a:rPr lang="en-US" sz="1200" dirty="0">
                <a:solidFill>
                  <a:srgbClr val="8F4D57"/>
                </a:solidFill>
                <a:latin typeface="Press Start 2P" panose="00000500000000000000" pitchFamily="2" charset="0"/>
              </a:rPr>
              <a:t>Original soundtrack</a:t>
            </a:r>
          </a:p>
        </p:txBody>
      </p:sp>
      <p:sp>
        <p:nvSpPr>
          <p:cNvPr id="2" name="Google Shape;1000;p37">
            <a:extLst>
              <a:ext uri="{FF2B5EF4-FFF2-40B4-BE49-F238E27FC236}">
                <a16:creationId xmlns:a16="http://schemas.microsoft.com/office/drawing/2014/main" id="{B077C8FF-47C0-25E2-4134-3456BD44E543}"/>
              </a:ext>
            </a:extLst>
          </p:cNvPr>
          <p:cNvSpPr txBox="1">
            <a:spLocks/>
          </p:cNvSpPr>
          <p:nvPr/>
        </p:nvSpPr>
        <p:spPr>
          <a:xfrm>
            <a:off x="1390426" y="4362135"/>
            <a:ext cx="6245278" cy="659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0" indent="0">
              <a:buClr>
                <a:srgbClr val="8F4D57"/>
              </a:buClr>
              <a:buSzPts val="1100"/>
            </a:pPr>
            <a:endParaRPr lang="en-US" sz="900" dirty="0">
              <a:solidFill>
                <a:srgbClr val="52333F"/>
              </a:solidFill>
              <a:latin typeface="Press Start 2P" panose="00000500000000000000" pitchFamily="2" charset="0"/>
            </a:endParaRPr>
          </a:p>
          <a:p>
            <a:pPr marL="0" indent="0">
              <a:buClr>
                <a:srgbClr val="8F4D57"/>
              </a:buClr>
              <a:buSzPts val="1100"/>
            </a:pPr>
            <a:r>
              <a:rPr lang="en-US" sz="900" dirty="0">
                <a:solidFill>
                  <a:srgbClr val="52333F"/>
                </a:solidFill>
                <a:latin typeface="Press Start 2P" panose="00000500000000000000" pitchFamily="2" charset="0"/>
              </a:rPr>
              <a:t>(*) Does not include trailer production, translations and console porting.</a:t>
            </a:r>
          </a:p>
        </p:txBody>
      </p:sp>
    </p:spTree>
    <p:extLst>
      <p:ext uri="{BB962C8B-B14F-4D97-AF65-F5344CB8AC3E}">
        <p14:creationId xmlns:p14="http://schemas.microsoft.com/office/powerpoint/2010/main" val="3332739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hlinkClick r:id="rId2"/>
            <a:extLst>
              <a:ext uri="{FF2B5EF4-FFF2-40B4-BE49-F238E27FC236}">
                <a16:creationId xmlns:a16="http://schemas.microsoft.com/office/drawing/2014/main" id="{4EE37A1B-0844-B835-01EE-E3866ED0D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5" y="1385068"/>
            <a:ext cx="2782856" cy="150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F5A200B-19FA-BC96-10A2-0CB1C9FCA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17" y="3056579"/>
            <a:ext cx="2670932" cy="60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999;p37">
            <a:extLst>
              <a:ext uri="{FF2B5EF4-FFF2-40B4-BE49-F238E27FC236}">
                <a16:creationId xmlns:a16="http://schemas.microsoft.com/office/drawing/2014/main" id="{856F3467-6603-8DB2-81CB-15303D5894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424" y="292588"/>
            <a:ext cx="7709100" cy="33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solidFill>
                  <a:srgbClr val="AB5130"/>
                </a:solidFill>
              </a:rPr>
              <a:t>Our Games</a:t>
            </a:r>
            <a:endParaRPr sz="2400" dirty="0">
              <a:solidFill>
                <a:srgbClr val="AB5130"/>
              </a:solidFill>
            </a:endParaRPr>
          </a:p>
        </p:txBody>
      </p:sp>
      <p:pic>
        <p:nvPicPr>
          <p:cNvPr id="1030" name="Picture 6">
            <a:hlinkClick r:id="rId5"/>
            <a:extLst>
              <a:ext uri="{FF2B5EF4-FFF2-40B4-BE49-F238E27FC236}">
                <a16:creationId xmlns:a16="http://schemas.microsoft.com/office/drawing/2014/main" id="{F5ECA793-C0AA-9C78-EC1D-C21FF9E5D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269" y="1379996"/>
            <a:ext cx="2782856" cy="1504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079C4FF-36E5-5645-D3A8-3EFD476B1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269" y="2977308"/>
            <a:ext cx="2685408" cy="959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hlinkClick r:id="rId8"/>
            <a:extLst>
              <a:ext uri="{FF2B5EF4-FFF2-40B4-BE49-F238E27FC236}">
                <a16:creationId xmlns:a16="http://schemas.microsoft.com/office/drawing/2014/main" id="{6EC53590-1EC8-46ED-2532-C64EFC910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939" y="1379996"/>
            <a:ext cx="2576062" cy="1509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061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8">
          <a:extLst>
            <a:ext uri="{FF2B5EF4-FFF2-40B4-BE49-F238E27FC236}">
              <a16:creationId xmlns:a16="http://schemas.microsoft.com/office/drawing/2014/main" id="{2C8D7569-5C51-B680-59E6-28E308016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37">
            <a:extLst>
              <a:ext uri="{FF2B5EF4-FFF2-40B4-BE49-F238E27FC236}">
                <a16:creationId xmlns:a16="http://schemas.microsoft.com/office/drawing/2014/main" id="{3D66167E-39B7-42B9-5AB8-EC778F55CB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13957" y="3250484"/>
            <a:ext cx="6917960" cy="40029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1" indent="0">
              <a:buClr>
                <a:srgbClr val="8F4D57"/>
              </a:buClr>
              <a:buSzPts val="1100"/>
            </a:pPr>
            <a:r>
              <a:rPr lang="en-US" sz="3200" dirty="0">
                <a:solidFill>
                  <a:srgbClr val="F6CA15"/>
                </a:solidFill>
                <a:latin typeface="Press Start 2P" panose="00000500000000000000" pitchFamily="2" charset="0"/>
              </a:rPr>
              <a:t>Thanks!</a:t>
            </a:r>
          </a:p>
        </p:txBody>
      </p:sp>
      <p:pic>
        <p:nvPicPr>
          <p:cNvPr id="4" name="Picture 3" descr="A yellow and black logo&#10;&#10;AI-generated content may be incorrect.">
            <a:extLst>
              <a:ext uri="{FF2B5EF4-FFF2-40B4-BE49-F238E27FC236}">
                <a16:creationId xmlns:a16="http://schemas.microsoft.com/office/drawing/2014/main" id="{1C37E350-5E37-7DF8-8F33-CC092C157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2122" y="585465"/>
            <a:ext cx="4136911" cy="2665019"/>
          </a:xfrm>
          <a:prstGeom prst="rect">
            <a:avLst/>
          </a:prstGeom>
        </p:spPr>
      </p:pic>
      <p:sp>
        <p:nvSpPr>
          <p:cNvPr id="9" name="Google Shape;1000;p37">
            <a:extLst>
              <a:ext uri="{FF2B5EF4-FFF2-40B4-BE49-F238E27FC236}">
                <a16:creationId xmlns:a16="http://schemas.microsoft.com/office/drawing/2014/main" id="{6BDF5982-633B-86FA-6FA7-C6EE42A7023E}"/>
              </a:ext>
            </a:extLst>
          </p:cNvPr>
          <p:cNvSpPr txBox="1">
            <a:spLocks/>
          </p:cNvSpPr>
          <p:nvPr/>
        </p:nvSpPr>
        <p:spPr>
          <a:xfrm>
            <a:off x="1013957" y="4453848"/>
            <a:ext cx="6917960" cy="400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1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ven Pro"/>
              <a:buNone/>
              <a:defRPr sz="2800" b="0" i="0" u="none" strike="noStrike" cap="none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pPr marL="457200" lvl="1" indent="0">
              <a:buClr>
                <a:srgbClr val="8F4D57"/>
              </a:buClr>
              <a:buSzPts val="1100"/>
            </a:pPr>
            <a:r>
              <a:rPr lang="en-US" sz="1600" dirty="0">
                <a:solidFill>
                  <a:srgbClr val="F6CA15"/>
                </a:solidFill>
                <a:latin typeface="Press Start 2P" panose="000005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indiesruption.com</a:t>
            </a:r>
            <a:endParaRPr lang="en-US" sz="1600" dirty="0">
              <a:solidFill>
                <a:srgbClr val="F6CA15"/>
              </a:solidFill>
              <a:latin typeface="Press Start 2P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476586"/>
      </p:ext>
    </p:extLst>
  </p:cSld>
  <p:clrMapOvr>
    <a:masterClrMapping/>
  </p:clrMapOvr>
</p:sld>
</file>

<file path=ppt/theme/theme1.xml><?xml version="1.0" encoding="utf-8"?>
<a:theme xmlns:a="http://schemas.openxmlformats.org/drawingml/2006/main" name="Super Pixel Vintage Gaming by Slidesgo">
  <a:themeElements>
    <a:clrScheme name="Simple Light">
      <a:dk1>
        <a:srgbClr val="FFFF00"/>
      </a:dk1>
      <a:lt1>
        <a:srgbClr val="FFFFFF"/>
      </a:lt1>
      <a:dk2>
        <a:srgbClr val="0E2433"/>
      </a:dk2>
      <a:lt2>
        <a:srgbClr val="45B6FE"/>
      </a:lt2>
      <a:accent1>
        <a:srgbClr val="3792CB"/>
      </a:accent1>
      <a:accent2>
        <a:srgbClr val="296D98"/>
      </a:accent2>
      <a:accent3>
        <a:srgbClr val="1C4966"/>
      </a:accent3>
      <a:accent4>
        <a:srgbClr val="000000"/>
      </a:accent4>
      <a:accent5>
        <a:srgbClr val="0E2433"/>
      </a:accent5>
      <a:accent6>
        <a:srgbClr val="45B6FE"/>
      </a:accent6>
      <a:hlink>
        <a:srgbClr val="FFFF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</TotalTime>
  <Words>1381</Words>
  <Application>Microsoft Office PowerPoint</Application>
  <PresentationFormat>On-screen Show (16:9)</PresentationFormat>
  <Paragraphs>138</Paragraphs>
  <Slides>31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Press Start 2P</vt:lpstr>
      <vt:lpstr>Arial</vt:lpstr>
      <vt:lpstr>Maven Pro</vt:lpstr>
      <vt:lpstr>Super Pixel Vintage Gaming by Slidesgo</vt:lpstr>
      <vt:lpstr>When hell runs a horror ride, no one is safe.</vt:lpstr>
      <vt:lpstr>Overview</vt:lpstr>
      <vt:lpstr>Specifications</vt:lpstr>
      <vt:lpstr>The Horror Ride</vt:lpstr>
      <vt:lpstr>Background Story (1/3)</vt:lpstr>
      <vt:lpstr>Background Story (2/3)</vt:lpstr>
      <vt:lpstr>Background Story (3/3)</vt:lpstr>
      <vt:lpstr>Gameplay (1/2)</vt:lpstr>
      <vt:lpstr>Gameplay (2/2)</vt:lpstr>
      <vt:lpstr>Gameplay (3/3)</vt:lpstr>
      <vt:lpstr>Core Loop</vt:lpstr>
      <vt:lpstr>Key Features (1/2)</vt:lpstr>
      <vt:lpstr>Key Features (2/2)</vt:lpstr>
      <vt:lpstr>Inventory</vt:lpstr>
      <vt:lpstr>Look &amp; Feel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Current Status</vt:lpstr>
      <vt:lpstr>Needs</vt:lpstr>
      <vt:lpstr>Future Growth</vt:lpstr>
      <vt:lpstr>Who We Are</vt:lpstr>
      <vt:lpstr>Production</vt:lpstr>
      <vt:lpstr>Our Games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Diego Canepa</dc:creator>
  <cp:lastModifiedBy>Diego Canepa</cp:lastModifiedBy>
  <cp:revision>278</cp:revision>
  <dcterms:modified xsi:type="dcterms:W3CDTF">2025-09-03T17:39:57Z</dcterms:modified>
</cp:coreProperties>
</file>