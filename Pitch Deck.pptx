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9"/>
  </p:notesMasterIdLst>
  <p:sldIdLst>
    <p:sldId id="330" r:id="rId2"/>
    <p:sldId id="260" r:id="rId3"/>
    <p:sldId id="350" r:id="rId4"/>
    <p:sldId id="360" r:id="rId5"/>
    <p:sldId id="351" r:id="rId6"/>
    <p:sldId id="345" r:id="rId7"/>
    <p:sldId id="355" r:id="rId8"/>
    <p:sldId id="357" r:id="rId9"/>
    <p:sldId id="359" r:id="rId10"/>
    <p:sldId id="349" r:id="rId11"/>
    <p:sldId id="333" r:id="rId12"/>
    <p:sldId id="323" r:id="rId13"/>
    <p:sldId id="324" r:id="rId14"/>
    <p:sldId id="320" r:id="rId15"/>
    <p:sldId id="358" r:id="rId16"/>
    <p:sldId id="343" r:id="rId17"/>
    <p:sldId id="321" r:id="rId18"/>
  </p:sldIdLst>
  <p:sldSz cx="9144000" cy="5143500" type="screen16x9"/>
  <p:notesSz cx="6858000" cy="9144000"/>
  <p:embeddedFontLst>
    <p:embeddedFont>
      <p:font typeface="Maven Pro" panose="020B0604020202020204" charset="0"/>
      <p:regular r:id="rId20"/>
      <p:bold r:id="rId21"/>
    </p:embeddedFont>
    <p:embeddedFont>
      <p:font typeface="Press Start 2P" panose="00000500000000000000" pitchFamily="2" charset="0"/>
      <p:regular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6A62"/>
    <a:srgbClr val="3B7D4F"/>
    <a:srgbClr val="000000"/>
    <a:srgbClr val="8F4D57"/>
    <a:srgbClr val="AB5130"/>
    <a:srgbClr val="B73C05"/>
    <a:srgbClr val="862536"/>
    <a:srgbClr val="800000"/>
    <a:srgbClr val="92293B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610FACEB-0C26-484F-57DF-B20FCC64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AFB87AD-8EC9-6F96-32B1-B4631F4602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342A4196-67A8-DD01-C482-955E723DC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21876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0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9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11" Type="http://schemas.openxmlformats.org/officeDocument/2006/relationships/image" Target="../media/image25.png"/><Relationship Id="rId5" Type="http://schemas.openxmlformats.org/officeDocument/2006/relationships/image" Target="../media/image20.png"/><Relationship Id="rId15" Type="http://schemas.openxmlformats.org/officeDocument/2006/relationships/image" Target="../media/image16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0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11" Type="http://schemas.openxmlformats.org/officeDocument/2006/relationships/image" Target="../media/image35.png"/><Relationship Id="rId5" Type="http://schemas.openxmlformats.org/officeDocument/2006/relationships/image" Target="../media/image30.png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microsoft.com/office/2007/relationships/hdphoto" Target="../media/hdphoto6.wdp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41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2.jpeg"/><Relationship Id="rId7" Type="http://schemas.openxmlformats.org/officeDocument/2006/relationships/image" Target="../media/image45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3.jpeg"/><Relationship Id="rId9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jpeg"/><Relationship Id="rId13" Type="http://schemas.openxmlformats.org/officeDocument/2006/relationships/image" Target="../media/image52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8.jpeg"/><Relationship Id="rId11" Type="http://schemas.microsoft.com/office/2007/relationships/hdphoto" Target="../media/hdphoto7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50.png"/><Relationship Id="rId4" Type="http://schemas.openxmlformats.org/officeDocument/2006/relationships/image" Target="../media/image47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84ABEA-9A73-5284-D8EE-8AA83578D2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dark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4378" y="4384623"/>
            <a:ext cx="2077161" cy="57121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" name="Picture 2" descr="A red dragon with yellow eyes and teeth&#10;&#10;AI-generated content may be incorrect.">
            <a:extLst>
              <a:ext uri="{FF2B5EF4-FFF2-40B4-BE49-F238E27FC236}">
                <a16:creationId xmlns:a16="http://schemas.microsoft.com/office/drawing/2014/main" id="{E86C6A3E-1646-1903-1C05-6C5476FF91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2786" y="3019738"/>
            <a:ext cx="518991" cy="9452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BC3029-CF0E-7C89-B59F-BEE6CE5D59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7818184" y="538260"/>
            <a:ext cx="581212" cy="35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E0B97F6-64F4-EF3B-9E86-673E4277FB65}"/>
              </a:ext>
            </a:extLst>
          </p:cNvPr>
          <p:cNvSpPr txBox="1">
            <a:spLocks/>
          </p:cNvSpPr>
          <p:nvPr/>
        </p:nvSpPr>
        <p:spPr>
          <a:xfrm>
            <a:off x="2463150" y="4581117"/>
            <a:ext cx="4217698" cy="325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Action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+ </a:t>
            </a:r>
            <a:r>
              <a:rPr lang="en-US" sz="11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Exploration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 + </a:t>
            </a:r>
            <a:r>
              <a:rPr lang="en-US" sz="1100" dirty="0">
                <a:solidFill>
                  <a:schemeClr val="accent6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Story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D8F51A-20A0-3869-4A8E-03B81A4DBF97}"/>
              </a:ext>
            </a:extLst>
          </p:cNvPr>
          <p:cNvSpPr/>
          <p:nvPr/>
        </p:nvSpPr>
        <p:spPr>
          <a:xfrm>
            <a:off x="1116767" y="510784"/>
            <a:ext cx="6910465" cy="906288"/>
          </a:xfrm>
          <a:prstGeom prst="rect">
            <a:avLst/>
          </a:prstGeom>
          <a:solidFill>
            <a:schemeClr val="accent4">
              <a:lumMod val="95000"/>
              <a:lumOff val="5000"/>
            </a:schemeClr>
          </a:solidFill>
          <a:ln>
            <a:noFill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006761" y="600724"/>
            <a:ext cx="7130476" cy="8163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Arial"/>
              </a:rPr>
              <a:t>A 2D pixel-art roguelite action-adventure with procedural levels, where bizarre comedy collides with creepy monsters and absurd challenges.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347FFDA7-1F6A-BC1D-DF51-86F43ADFFC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801974" y="968315"/>
            <a:ext cx="3530162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art, roguelite tension and absurd/acid humor.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636991" y="968315"/>
            <a:ext cx="3630083" cy="10237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procedural horror attraction with bizarre creatures, hidden secrets, hell rings, captive celebrities and unpredictable surprises.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50778920-B19E-2C1C-6175-A1083A3288C3}"/>
              </a:ext>
            </a:extLst>
          </p:cNvPr>
          <p:cNvSpPr txBox="1">
            <a:spLocks/>
          </p:cNvSpPr>
          <p:nvPr/>
        </p:nvSpPr>
        <p:spPr>
          <a:xfrm>
            <a:off x="801973" y="1997238"/>
            <a:ext cx="3530162" cy="821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twins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sibling has unique perks and flaws adding variety and humor to every playthrough.</a:t>
            </a:r>
          </a:p>
        </p:txBody>
      </p:sp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FB5A7B89-34D9-4A72-CB2B-D26EB177519F}"/>
              </a:ext>
            </a:extLst>
          </p:cNvPr>
          <p:cNvSpPr txBox="1">
            <a:spLocks/>
          </p:cNvSpPr>
          <p:nvPr/>
        </p:nvSpPr>
        <p:spPr>
          <a:xfrm>
            <a:off x="4636991" y="2306251"/>
            <a:ext cx="3540144" cy="1025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fuels a bizarre telenovela where twisted relationships and absurd drama unfold the deeper you go.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D50014C-EF5D-87E6-56D2-DAB9C28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EFDD7D7A-9433-1F0D-9EBB-C2560300F8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2152CDD0-8A55-9B2A-6BB6-8E7396BBC1F9}"/>
              </a:ext>
            </a:extLst>
          </p:cNvPr>
          <p:cNvSpPr txBox="1">
            <a:spLocks/>
          </p:cNvSpPr>
          <p:nvPr/>
        </p:nvSpPr>
        <p:spPr>
          <a:xfrm>
            <a:off x="1540366" y="1088549"/>
            <a:ext cx="6063267" cy="2360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Binding of Isaac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structure, replayability, and run-driven progression.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South Park / Day of the Tentacle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Absurd, irreverent humor with eccentric characters and surreal situations.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2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Cult of the Lamb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Dark-comedy aesthetic and a playful contrast between cute art and sinister themes.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77CB2AA3-EF84-1617-5E58-9F29B987631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INSPIRATIONS &amp; POSITIONING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976AAC8-E755-1048-679A-3A94C6642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EA0F6D9-36E8-86EA-2DDE-BEDB8A8BB8C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89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520497" y="1137475"/>
            <a:ext cx="6103001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Roguelite/action-adventure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Pixel art/retro style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Playtime: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20-26 hours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Platform: 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Steam (PC)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Business model: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Premium + (DLCs/expansions)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Price point: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USD 14.99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dark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sneak inside to investigate chasing the story that could finally make their magazine famous.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526519" y="380990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281" y="1016282"/>
            <a:ext cx="430155" cy="645233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536" y="1016282"/>
            <a:ext cx="430150" cy="64522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40" y="3572147"/>
            <a:ext cx="935708" cy="85064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14501" y="1840368"/>
            <a:ext cx="524298" cy="940814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561910" y="887780"/>
            <a:ext cx="641579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&amp; 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Twin journalists behind Mysterious Mysteries magazine. At 41, both still live with their mom, writing about the unknown while dodging adulthood and anything that looks like effort.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561910" y="2891498"/>
            <a:ext cx="6262956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1561909" y="1782711"/>
            <a:ext cx="641578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 As a child he dreamed of having his own horror attraction. 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561909" y="3629805"/>
            <a:ext cx="641578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Famous designer of horror attractions. His masterpiece Remizione was inspired by the idea of a journey through purgatory. On opening day, he and a group of celebrities entered the ride… and never came out.</a:t>
            </a:r>
          </a:p>
        </p:txBody>
      </p:sp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3350" y="2891498"/>
            <a:ext cx="533742" cy="76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2847539" y="208880"/>
            <a:ext cx="3439188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1126328" y="1448654"/>
            <a:ext cx="9479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twin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5" y="2265872"/>
            <a:ext cx="1263403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 Entrance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15265" y="3231861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200" y="3330605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91650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351488" y="1516625"/>
            <a:ext cx="196110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defRPr sz="70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defRPr>
            </a:lvl1pPr>
          </a:lstStyle>
          <a:p>
            <a:r>
              <a:rPr lang="en-US" sz="900" dirty="0"/>
              <a:t>Find the coin.</a:t>
            </a:r>
            <a:endParaRPr lang="en-US" sz="900" dirty="0">
              <a:sym typeface="Maven Pro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435" y="2872300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tunnels,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90714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 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4597" y="369353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3903" y="4352225"/>
            <a:ext cx="32048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Lose all run progress on death.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312" y="1038190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5035232" y="3673034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2597" y="3536798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340975">
            <a:off x="6947474" y="3740353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Find memory chips to expand Percival’s computer RAM.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1882960" y="3589436"/>
            <a:ext cx="1899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RAM improves, new tiers of benefits and places become available.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7329383" y="2205142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223873">
            <a:off x="7532322" y="1599986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9570213" flipH="1">
            <a:off x="7675142" y="1971772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784153" y="2472274"/>
            <a:ext cx="1115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 completed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2453" y="2009403"/>
            <a:ext cx="501447" cy="414239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97181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06FCFC-405D-734A-4B3E-9D1240FEEDB8}"/>
              </a:ext>
            </a:extLst>
          </p:cNvPr>
          <p:cNvSpPr/>
          <p:nvPr/>
        </p:nvSpPr>
        <p:spPr>
          <a:xfrm>
            <a:off x="7780374" y="2324648"/>
            <a:ext cx="1096097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6FA3D1F-6BE1-C7A0-F748-E0572F99E3A0}"/>
              </a:ext>
            </a:extLst>
          </p:cNvPr>
          <p:cNvSpPr/>
          <p:nvPr/>
        </p:nvSpPr>
        <p:spPr>
          <a:xfrm>
            <a:off x="222192" y="2399874"/>
            <a:ext cx="712773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EBE2C-C9DF-819C-0EE9-4097EA4D30EA}"/>
              </a:ext>
            </a:extLst>
          </p:cNvPr>
          <p:cNvSpPr txBox="1"/>
          <p:nvPr/>
        </p:nvSpPr>
        <p:spPr>
          <a:xfrm>
            <a:off x="62903" y="2128128"/>
            <a:ext cx="10342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7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40356" y="2030236"/>
            <a:ext cx="264652" cy="390524"/>
          </a:xfrm>
          <a:prstGeom prst="rect">
            <a:avLst/>
          </a:prstGeom>
          <a:effectLst/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95744" y="1875210"/>
            <a:ext cx="304582" cy="429223"/>
          </a:xfrm>
          <a:prstGeom prst="rect">
            <a:avLst/>
          </a:prstGeom>
          <a:effectLst/>
        </p:spPr>
      </p:pic>
      <p:pic>
        <p:nvPicPr>
          <p:cNvPr id="25" name="Picture 24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A45B1A07-F374-6352-7E81-E041B18FD2D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1649305" y="1862316"/>
            <a:ext cx="304582" cy="44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Left Hand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Single use items from healing snacks and chili-powered speed to bizarre holy cards.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powers, masks, hats.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48384" y="1325114"/>
            <a:ext cx="471718" cy="47171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6693" y="2330364"/>
            <a:ext cx="343409" cy="34340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53500" y="3274142"/>
            <a:ext cx="428907" cy="42890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 flipH="1">
            <a:off x="967116" y="1365825"/>
            <a:ext cx="350421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295FCA-C5E5-A0B2-3AA3-3B38A68FE37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92743" y="2312163"/>
            <a:ext cx="350422" cy="35042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09007E-70B1-6CDB-C4A6-18A68100C9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22485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61392" y="1130081"/>
            <a:ext cx="3916220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 with scripting language and 2D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07670" y="2055696"/>
            <a:ext cx="3696685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expand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364105" y="32193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E70908F-3932-C13C-E841-8182090B7F2B}"/>
              </a:ext>
            </a:extLst>
          </p:cNvPr>
          <p:cNvSpPr txBox="1">
            <a:spLocks/>
          </p:cNvSpPr>
          <p:nvPr/>
        </p:nvSpPr>
        <p:spPr>
          <a:xfrm>
            <a:off x="761392" y="2055696"/>
            <a:ext cx="391622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 and lighting system.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CB948FFE-95D3-EE8E-147F-E47694E0F66B}"/>
              </a:ext>
            </a:extLst>
          </p:cNvPr>
          <p:cNvSpPr txBox="1">
            <a:spLocks/>
          </p:cNvSpPr>
          <p:nvPr/>
        </p:nvSpPr>
        <p:spPr>
          <a:xfrm>
            <a:off x="4907670" y="1130081"/>
            <a:ext cx="3756645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Tone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and absurd humor already defined in the prototype.</a:t>
            </a:r>
          </a:p>
        </p:txBody>
      </p:sp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71486" y="3428954"/>
            <a:ext cx="1096097" cy="996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52843" y="947082"/>
            <a:ext cx="2951485" cy="2222036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adventure: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creatures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100+ items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10+ secondary cast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 captive celebrities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8 bosses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tunnels &amp; rooms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Story arc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72218" y="945261"/>
            <a:ext cx="3532333" cy="1940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(*)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game is easily portable. Our code is AOT-friendly. All porting would be done by the publisher or external teams.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additional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3886199" y="229306"/>
            <a:ext cx="137160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0996" y="3612059"/>
            <a:ext cx="743248" cy="418077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063555" y="3903227"/>
            <a:ext cx="839449" cy="42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2D85B4-DEBC-D9D2-75AC-4EA1B67C181E}"/>
              </a:ext>
            </a:extLst>
          </p:cNvPr>
          <p:cNvSpPr txBox="1"/>
          <p:nvPr/>
        </p:nvSpPr>
        <p:spPr>
          <a:xfrm>
            <a:off x="2477122" y="4473077"/>
            <a:ext cx="4189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Handled by the publisher. Not included in the development budget.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450503" y="1155238"/>
            <a:ext cx="4242992" cy="211349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195k USD (*)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 distribution: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 &amp; Writing: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Programming &amp; Tools: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&amp; Music: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15%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QA/Misc: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5%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EXPANSION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87580" y="1175894"/>
            <a:ext cx="5656306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allows the game to expand indefinitely with new post-launch content.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890" y="2343150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749185" y="85994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09969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19753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2023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117956" y="10248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2025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0843" y="2096714"/>
            <a:ext cx="3253582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See you in hell!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7" y="466862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chemeClr val="accent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chemeClr val="accent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83" y="2805821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064" y="2805820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2745" y="2805821"/>
            <a:ext cx="802959" cy="802959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288935" y="3648135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840682" y="3648135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168300" y="3646989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8498" y="3493402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112" y="3493402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792" y="3483165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231474" y="22830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8210497" y="228305"/>
            <a:ext cx="603287" cy="8016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5863029" y="344265"/>
            <a:ext cx="2384666" cy="45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r">
              <a:lnSpc>
                <a:spcPct val="150000"/>
              </a:lnSpc>
            </a:pP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sz="1000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6090</TotalTime>
  <Words>946</Words>
  <Application>Microsoft Office PowerPoint</Application>
  <PresentationFormat>On-screen Show (16:9)</PresentationFormat>
  <Paragraphs>138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Maven Pro</vt:lpstr>
      <vt:lpstr>Press Start 2P</vt:lpstr>
      <vt:lpstr>Super Pixel Vintage Gaming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1227</cp:revision>
  <dcterms:modified xsi:type="dcterms:W3CDTF">2025-11-22T19:39:58Z</dcterms:modified>
</cp:coreProperties>
</file>