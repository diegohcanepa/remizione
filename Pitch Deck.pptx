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2"/>
  </p:notesMasterIdLst>
  <p:sldIdLst>
    <p:sldId id="330" r:id="rId2"/>
    <p:sldId id="260" r:id="rId3"/>
    <p:sldId id="350" r:id="rId4"/>
    <p:sldId id="351" r:id="rId5"/>
    <p:sldId id="345" r:id="rId6"/>
    <p:sldId id="352" r:id="rId7"/>
    <p:sldId id="353" r:id="rId8"/>
    <p:sldId id="349" r:id="rId9"/>
    <p:sldId id="333" r:id="rId10"/>
    <p:sldId id="342" r:id="rId11"/>
    <p:sldId id="348" r:id="rId12"/>
    <p:sldId id="331" r:id="rId13"/>
    <p:sldId id="335" r:id="rId14"/>
    <p:sldId id="337" r:id="rId15"/>
    <p:sldId id="323" r:id="rId16"/>
    <p:sldId id="324" r:id="rId17"/>
    <p:sldId id="326" r:id="rId18"/>
    <p:sldId id="320" r:id="rId19"/>
    <p:sldId id="343" r:id="rId20"/>
    <p:sldId id="321" r:id="rId21"/>
  </p:sldIdLst>
  <p:sldSz cx="9144000" cy="5143500" type="screen16x9"/>
  <p:notesSz cx="6858000" cy="9144000"/>
  <p:embeddedFontLst>
    <p:embeddedFont>
      <p:font typeface="Maven Pro" panose="020B0604020202020204" charset="0"/>
      <p:regular r:id="rId23"/>
      <p:bold r:id="rId24"/>
    </p:embeddedFont>
    <p:embeddedFont>
      <p:font typeface="Press Start 2P" panose="00000500000000000000" pitchFamily="2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CA15"/>
    <a:srgbClr val="AB5130"/>
    <a:srgbClr val="BD6A62"/>
    <a:srgbClr val="52333F"/>
    <a:srgbClr val="8F4D57"/>
    <a:srgbClr val="3B7D4F"/>
    <a:srgbClr val="800000"/>
    <a:srgbClr val="CCCC00"/>
    <a:srgbClr val="F0B541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38" d="100"/>
          <a:sy n="138" d="100"/>
        </p:scale>
        <p:origin x="78" y="1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ECC582F1-875B-7DBC-56D0-69B4298D6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3DE2446-3686-79A4-B521-332AE46EF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C86F04AE-24A5-AE20-9516-B53F10DC51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50345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D77629F1-C28F-E7BD-DF42-A3A4C6163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F61061F-EBEF-2E37-5F82-0583EE2CBA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61060E7-B052-DC81-16DD-BB929EE13C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6732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23.jpeg"/><Relationship Id="rId7" Type="http://schemas.openxmlformats.org/officeDocument/2006/relationships/image" Target="../media/image26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24.jpeg"/><Relationship Id="rId9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jpeg"/><Relationship Id="rId11" Type="http://schemas.microsoft.com/office/2007/relationships/hdphoto" Target="../media/hdphoto1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31.png"/><Relationship Id="rId4" Type="http://schemas.openxmlformats.org/officeDocument/2006/relationships/image" Target="../media/image28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19200"/>
            <a:ext cx="9144000" cy="39243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E6460B-88E5-EAAE-B0C1-B69450A87880}"/>
              </a:ext>
            </a:extLst>
          </p:cNvPr>
          <p:cNvSpPr txBox="1"/>
          <p:nvPr/>
        </p:nvSpPr>
        <p:spPr>
          <a:xfrm>
            <a:off x="6776093" y="4679764"/>
            <a:ext cx="2255746" cy="253916"/>
          </a:xfrm>
          <a:prstGeom prst="rect">
            <a:avLst/>
          </a:prstGeom>
          <a:noFill/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txBody>
          <a:bodyPr wrap="none" rtlCol="0">
            <a:spAutoFit/>
          </a:bodyPr>
          <a:lstStyle/>
          <a:p>
            <a:pPr>
              <a:buClr>
                <a:srgbClr val="FFFF00"/>
              </a:buClr>
              <a:buSzPts val="3000"/>
            </a:pPr>
            <a:r>
              <a:rPr lang="en-US" sz="105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By</a:t>
            </a:r>
            <a:r>
              <a:rPr lang="en-US" sz="1050" dirty="0">
                <a:solidFill>
                  <a:schemeClr val="bg1">
                    <a:lumMod val="8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 </a:t>
            </a:r>
            <a:r>
              <a:rPr lang="en-US" sz="10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Indiesruption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409076" y="301170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719136" y="857719"/>
            <a:ext cx="581662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pixel-art roguelite adventure where bizarre comedy collides with creepy monsters and absurd challenges.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 a demon-possessed horror ride where every cart is their only chance to survive. 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procedural cursed attraction packed with secrets and absurd encounters—your ultimate goal: rescue lost celebrities.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783504" y="4654947"/>
            <a:ext cx="383761" cy="191881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575" y="3893638"/>
            <a:ext cx="571500" cy="8572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602117" y="4654946"/>
            <a:ext cx="383761" cy="191881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7449" y="3836488"/>
            <a:ext cx="5715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19200"/>
            <a:ext cx="9144000" cy="39243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63301" y="921972"/>
            <a:ext cx="2574388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 horror ride with its own twisted logic, instead of generic dungeons or caves.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CC2BAE9D-D8CF-649C-93AB-CC6274E037CE}"/>
              </a:ext>
            </a:extLst>
          </p:cNvPr>
          <p:cNvSpPr txBox="1">
            <a:spLocks/>
          </p:cNvSpPr>
          <p:nvPr/>
        </p:nvSpPr>
        <p:spPr>
          <a:xfrm>
            <a:off x="3175566" y="921972"/>
            <a:ext cx="2872613" cy="1077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Bizarre comedy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mix of scares, acid humor and absurd laughs rarely seen in the genre.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338456" y="921972"/>
            <a:ext cx="2521989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87230" y="3132113"/>
            <a:ext cx="539354" cy="79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5F14BB6-487B-792E-D17E-E33AD6852B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57637" y="868673"/>
            <a:ext cx="3359530" cy="23314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audience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fans (Spelunky, Binding of Isaac).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who enjoy dark humor and absurd comedy (South Park, Adult Swim).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Gamers who like quirky pixel-art indie hits.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FA6FDA3-A8F8-EC55-8BAC-B5FAC550795A}"/>
              </a:ext>
            </a:extLst>
          </p:cNvPr>
          <p:cNvSpPr txBox="1">
            <a:spLocks/>
          </p:cNvSpPr>
          <p:nvPr/>
        </p:nvSpPr>
        <p:spPr>
          <a:xfrm>
            <a:off x="4675786" y="868673"/>
            <a:ext cx="4109594" cy="3454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 fit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are one of the strongest indie genres on PC/console.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Our mix of bizarre humor + accessible combat positions the game as an entry point for both hardcore fans and casual players.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Distinctive identity: procedural yet narrative-driven, grotesque yet funny.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Target &amp; Market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its grand opening, twelve celebrities—and the designer himself—entered... and never came back.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What they don’t know is that the ride is now ruled by Mandinga—a frustrated demon who, as a child, dreamed of having his very own horror ride, and isn’t about to give it up.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2055948" y="4505293"/>
            <a:ext cx="383761" cy="191881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1412" y="3686834"/>
            <a:ext cx="571500" cy="914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359406" y="4577239"/>
            <a:ext cx="383761" cy="191881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156203" y="3839924"/>
            <a:ext cx="571500" cy="8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997FBA5-3F09-F15F-A2AB-8C6E1AE38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2E2772C-5B45-4704-2A2B-88ACF8FAB0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ED57C0A1-77C4-2912-9899-7B0328EF154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28662" y="975918"/>
            <a:ext cx="3597172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stage has a time limit. Defeat Mandinga’s corrupted dolls to absorb their electricity and ride to the next level.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lasts 10–20 minutes (10 stages of 2 minutes each). Permadeath resets the run, but variety in items and events keeps every attempt fresh.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7969AA04-ADE9-EC89-086F-6C31251A654E}"/>
              </a:ext>
            </a:extLst>
          </p:cNvPr>
          <p:cNvSpPr txBox="1">
            <a:spLocks/>
          </p:cNvSpPr>
          <p:nvPr/>
        </p:nvSpPr>
        <p:spPr>
          <a:xfrm>
            <a:off x="4708411" y="975919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twin has a health bar—run out, and you die.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Twins start with unique perks &amp; flaws, and can unlock exclusive areas later shared between both.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combat: simple to pick up, with depth coming from creative item use rather than hardcore reflexes.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44E9473-3793-705C-B00B-26195B76C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ACE079DE-E0F2-5FCC-56FF-6339543274B6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Mechanics</a:t>
            </a:r>
          </a:p>
        </p:txBody>
      </p:sp>
    </p:spTree>
    <p:extLst>
      <p:ext uri="{BB962C8B-B14F-4D97-AF65-F5344CB8AC3E}">
        <p14:creationId xmlns:p14="http://schemas.microsoft.com/office/powerpoint/2010/main" val="1051287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E38ADF0-45F2-45B5-B25D-15245679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9C28023F-E06D-45DE-424E-ACE6952548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126BEB04-602F-33C9-A64A-EB3502EAEE4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28662" y="975918"/>
            <a:ext cx="3806926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Rescue twisted parodies of real-world celebrities, with bizarre rewards (acid humor guaranteed).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meta-goals: layers of mystery and long-term objectives beyond survival.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Procedurally generated levels: unpredictable layouts, traps, and encounters every run.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F66ECAC-3D79-E01B-9C08-632C4B880237}"/>
              </a:ext>
            </a:extLst>
          </p:cNvPr>
          <p:cNvSpPr txBox="1">
            <a:spLocks/>
          </p:cNvSpPr>
          <p:nvPr/>
        </p:nvSpPr>
        <p:spPr>
          <a:xfrm>
            <a:off x="4708411" y="975919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Atmospheric lighting: darkness itself becomes an obstacle—sometimes only your items can pierce it.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Flaws: temporary or permanent states that twist your run (e.g., overeat fast food and end up gassy mid-fight).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D0DE9CA4-9437-B209-8542-AA17F3872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79EB114-CF29-4014-4633-B2B702CE2E9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1734967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6E0AEF5-FA1E-F10A-35FA-83B2437E557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219393" y="2086623"/>
            <a:ext cx="3325000" cy="8890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and fixed states that twist your run and force players to adapt on the fly.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For example, overeat fast food and you might end up gassy, pausing mid-fight to clutch your stomach.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104175" y="1014663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108159" y="2135623"/>
            <a:ext cx="3241564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1104175" y="3242298"/>
            <a:ext cx="2995635" cy="98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170722" y="1022786"/>
            <a:ext cx="3430916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629" y="1096996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542" y="3242298"/>
            <a:ext cx="342648" cy="34264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498" y="2092603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1460" y="1012278"/>
            <a:ext cx="349730" cy="34973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BA286E8-7F1E-64DD-8808-1CFF6270D9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24629" y="2022235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video game screen of a video game">
            <a:extLst>
              <a:ext uri="{FF2B5EF4-FFF2-40B4-BE49-F238E27FC236}">
                <a16:creationId xmlns:a16="http://schemas.microsoft.com/office/drawing/2014/main" id="{0F40D3C1-D3FD-D9FE-CF8F-67C6A5B24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E68F2B-5464-E15A-128C-A410CB603FDD}"/>
              </a:ext>
            </a:extLst>
          </p:cNvPr>
          <p:cNvSpPr txBox="1"/>
          <p:nvPr/>
        </p:nvSpPr>
        <p:spPr>
          <a:xfrm>
            <a:off x="3662377" y="1114182"/>
            <a:ext cx="179568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sz="11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A8074A-0EA5-C0F0-87D6-C4519DD2C7EE}"/>
              </a:ext>
            </a:extLst>
          </p:cNvPr>
          <p:cNvSpPr txBox="1"/>
          <p:nvPr/>
        </p:nvSpPr>
        <p:spPr>
          <a:xfrm>
            <a:off x="6066210" y="1129405"/>
            <a:ext cx="15085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Begin 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B9801-8A0A-0CC6-FEE7-0E721EA1372B}"/>
              </a:ext>
            </a:extLst>
          </p:cNvPr>
          <p:cNvSpPr txBox="1"/>
          <p:nvPr/>
        </p:nvSpPr>
        <p:spPr>
          <a:xfrm>
            <a:off x="4651506" y="1710374"/>
            <a:ext cx="18753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</a:t>
            </a:r>
          </a:p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62D20E-03EE-53B7-81AD-6ABEE4E53BFC}"/>
              </a:ext>
            </a:extLst>
          </p:cNvPr>
          <p:cNvSpPr txBox="1"/>
          <p:nvPr/>
        </p:nvSpPr>
        <p:spPr>
          <a:xfrm>
            <a:off x="1633992" y="1856526"/>
            <a:ext cx="188942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 new</a:t>
            </a:r>
          </a:p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519C639E-FD6E-0639-E043-9475A0AE206F}"/>
              </a:ext>
            </a:extLst>
          </p:cNvPr>
          <p:cNvSpPr/>
          <p:nvPr/>
        </p:nvSpPr>
        <p:spPr>
          <a:xfrm>
            <a:off x="2507982" y="1288583"/>
            <a:ext cx="1217970" cy="41549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BE208F65-1ACD-404F-5122-8FDC916CD14A}"/>
              </a:ext>
            </a:extLst>
          </p:cNvPr>
          <p:cNvSpPr/>
          <p:nvPr/>
        </p:nvSpPr>
        <p:spPr>
          <a:xfrm rot="10800000">
            <a:off x="6255179" y="1589972"/>
            <a:ext cx="623048" cy="404925"/>
          </a:xfrm>
          <a:prstGeom prst="ben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5A091DE-053F-722E-EBE5-6B30D094BEAD}"/>
              </a:ext>
            </a:extLst>
          </p:cNvPr>
          <p:cNvSpPr/>
          <p:nvPr/>
        </p:nvSpPr>
        <p:spPr>
          <a:xfrm rot="16200000">
            <a:off x="3133386" y="2795485"/>
            <a:ext cx="414225" cy="17759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ABF46C45-0C82-49E1-762D-07CB71828AA5}"/>
              </a:ext>
            </a:extLst>
          </p:cNvPr>
          <p:cNvSpPr/>
          <p:nvPr/>
        </p:nvSpPr>
        <p:spPr>
          <a:xfrm>
            <a:off x="3912576" y="1782575"/>
            <a:ext cx="889987" cy="40492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3" name="Picture 1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DF71DDA2-90BF-09BF-0A82-693DF3BBF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808886" y="3661085"/>
            <a:ext cx="538376" cy="810218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9C10463-FF49-09D8-03A6-0D71C02D0DFA}"/>
              </a:ext>
            </a:extLst>
          </p:cNvPr>
          <p:cNvSpPr/>
          <p:nvPr/>
        </p:nvSpPr>
        <p:spPr>
          <a:xfrm>
            <a:off x="5434864" y="1207557"/>
            <a:ext cx="820730" cy="267987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Flowchart: Decision 3">
            <a:extLst>
              <a:ext uri="{FF2B5EF4-FFF2-40B4-BE49-F238E27FC236}">
                <a16:creationId xmlns:a16="http://schemas.microsoft.com/office/drawing/2014/main" id="{B14D1A25-1F5A-74DF-36D5-6CBB3203F698}"/>
              </a:ext>
            </a:extLst>
          </p:cNvPr>
          <p:cNvSpPr/>
          <p:nvPr/>
        </p:nvSpPr>
        <p:spPr>
          <a:xfrm>
            <a:off x="4778403" y="2716516"/>
            <a:ext cx="1602417" cy="667343"/>
          </a:xfrm>
          <a:prstGeom prst="flowChartDecision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85000"/>
                  </a:schemeClr>
                </a:solidFill>
                <a:latin typeface="Press Start 2P" panose="00000500000000000000" pitchFamily="2" charset="0"/>
              </a:rPr>
              <a:t>Last</a:t>
            </a:r>
          </a:p>
          <a:p>
            <a:pPr algn="ctr"/>
            <a:r>
              <a:rPr lang="en-US" sz="800" dirty="0">
                <a:solidFill>
                  <a:schemeClr val="bg1">
                    <a:lumMod val="85000"/>
                  </a:schemeClr>
                </a:solidFill>
                <a:latin typeface="Press Start 2P" panose="00000500000000000000" pitchFamily="2" charset="0"/>
              </a:rPr>
              <a:t>Stage?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CAC7028F-2236-D250-8B6C-809650446411}"/>
              </a:ext>
            </a:extLst>
          </p:cNvPr>
          <p:cNvSpPr/>
          <p:nvPr/>
        </p:nvSpPr>
        <p:spPr>
          <a:xfrm rot="5400000">
            <a:off x="5369591" y="2288648"/>
            <a:ext cx="439193" cy="21563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Bent 11">
            <a:extLst>
              <a:ext uri="{FF2B5EF4-FFF2-40B4-BE49-F238E27FC236}">
                <a16:creationId xmlns:a16="http://schemas.microsoft.com/office/drawing/2014/main" id="{9F485C33-58D3-49D0-DBC1-416A2E94BD7B}"/>
              </a:ext>
            </a:extLst>
          </p:cNvPr>
          <p:cNvSpPr/>
          <p:nvPr/>
        </p:nvSpPr>
        <p:spPr>
          <a:xfrm rot="16200000">
            <a:off x="4076292" y="2491230"/>
            <a:ext cx="404924" cy="855220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2DA5D3-5942-B776-D702-8B8FC61F2FD1}"/>
              </a:ext>
            </a:extLst>
          </p:cNvPr>
          <p:cNvSpPr txBox="1"/>
          <p:nvPr/>
        </p:nvSpPr>
        <p:spPr>
          <a:xfrm>
            <a:off x="4004846" y="2716378"/>
            <a:ext cx="8171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No</a:t>
            </a: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5A9A217E-F411-A017-3097-C0F86105A3AA}"/>
              </a:ext>
            </a:extLst>
          </p:cNvPr>
          <p:cNvSpPr/>
          <p:nvPr/>
        </p:nvSpPr>
        <p:spPr>
          <a:xfrm rot="10800000">
            <a:off x="5061343" y="3513315"/>
            <a:ext cx="564186" cy="4142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D6BD1F-2665-08DC-1913-F7D9C6C21342}"/>
              </a:ext>
            </a:extLst>
          </p:cNvPr>
          <p:cNvSpPr txBox="1"/>
          <p:nvPr/>
        </p:nvSpPr>
        <p:spPr>
          <a:xfrm>
            <a:off x="5522728" y="3561432"/>
            <a:ext cx="81712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A60F9-2D45-BC29-4F1F-1DF1102C0999}"/>
              </a:ext>
            </a:extLst>
          </p:cNvPr>
          <p:cNvSpPr txBox="1"/>
          <p:nvPr/>
        </p:nvSpPr>
        <p:spPr>
          <a:xfrm>
            <a:off x="3523420" y="2224498"/>
            <a:ext cx="88998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Next</a:t>
            </a:r>
          </a:p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00CC0D-DC01-E642-D9A2-4E9650D483AE}"/>
              </a:ext>
            </a:extLst>
          </p:cNvPr>
          <p:cNvSpPr txBox="1"/>
          <p:nvPr/>
        </p:nvSpPr>
        <p:spPr>
          <a:xfrm>
            <a:off x="4231592" y="3618689"/>
            <a:ext cx="8552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Exit ride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6508E62-73E6-54DC-71F0-F6DC954F317D}"/>
              </a:ext>
            </a:extLst>
          </p:cNvPr>
          <p:cNvSpPr/>
          <p:nvPr/>
        </p:nvSpPr>
        <p:spPr>
          <a:xfrm rot="16200000">
            <a:off x="2407083" y="2445736"/>
            <a:ext cx="302512" cy="21161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0A1ECD-9EA6-38D5-C131-B861460F0571}"/>
              </a:ext>
            </a:extLst>
          </p:cNvPr>
          <p:cNvSpPr txBox="1"/>
          <p:nvPr/>
        </p:nvSpPr>
        <p:spPr>
          <a:xfrm>
            <a:off x="1778416" y="2801078"/>
            <a:ext cx="163918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Enter</a:t>
            </a:r>
          </a:p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amusement park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7758279-B670-8728-6A81-D619970BE9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AA79634-EE88-8E2E-B6E8-31A1D981D6B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88582" y="4335862"/>
            <a:ext cx="383761" cy="191881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5B1F6713-DDA4-AF52-CCA9-B624EC7B75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067" y="3652358"/>
            <a:ext cx="538376" cy="794435"/>
          </a:xfrm>
          <a:prstGeom prst="rect">
            <a:avLst/>
          </a:prstGeom>
        </p:spPr>
      </p:pic>
      <p:sp>
        <p:nvSpPr>
          <p:cNvPr id="30" name="Google Shape;999;p37">
            <a:extLst>
              <a:ext uri="{FF2B5EF4-FFF2-40B4-BE49-F238E27FC236}">
                <a16:creationId xmlns:a16="http://schemas.microsoft.com/office/drawing/2014/main" id="{B319C02D-B117-F07E-114F-A1A24C3DB12C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Loop</a:t>
            </a:r>
          </a:p>
        </p:txBody>
      </p:sp>
    </p:spTree>
    <p:extLst>
      <p:ext uri="{BB962C8B-B14F-4D97-AF65-F5344CB8AC3E}">
        <p14:creationId xmlns:p14="http://schemas.microsoft.com/office/powerpoint/2010/main" val="3470125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B0B7F87B-6B8D-1AA6-F307-A244AE3BBD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89714A4-4C95-1762-D5EF-2993DAB164F0}"/>
              </a:ext>
            </a:extLst>
          </p:cNvPr>
          <p:cNvSpPr txBox="1">
            <a:spLocks/>
          </p:cNvSpPr>
          <p:nvPr/>
        </p:nvSpPr>
        <p:spPr>
          <a:xfrm>
            <a:off x="1172976" y="1437993"/>
            <a:ext cx="6798048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3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Look &amp; Feel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BB01612E-DD31-AB43-30D7-434F8A5A4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884053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168853" y="104932"/>
            <a:ext cx="28777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8F4D57"/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92817C2-921D-0572-BF19-B286028693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9A91C42-2962-3159-8631-1D07A723C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6390B03F-F3F2-3959-786F-1FB86E6AA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86FFFBA-FE05-76C7-2391-7A8913311D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3741654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 complete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engine, fully optimized and AOT-compatible (already proven on PC &amp; consoles).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gameplay loop working (movement, basic combat, carts, procedural generation, lighting).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46676" y="894843"/>
            <a:ext cx="3746947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We are seeking funding to produce the complete adventure:  expand content: bosses, biomes, items, full audio.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Dozens of environment objects, unique bosses, hundreds of items, narrative events and secrets.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CC0F2286-4A82-FDE3-FB44-1F7DB7615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5409" y="894843"/>
            <a:ext cx="400670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Full set of characters, monsters and environment assets.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 soundtrack and SFX production.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&amp; 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and professional localization to maximize reach.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promotional material.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xel art of a building">
            <a:extLst>
              <a:ext uri="{FF2B5EF4-FFF2-40B4-BE49-F238E27FC236}">
                <a16:creationId xmlns:a16="http://schemas.microsoft.com/office/drawing/2014/main" id="{BB90D463-A2DD-841D-1722-FBABDB98C69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39855" y="1099377"/>
            <a:ext cx="3462822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 with 30+ years of combined experience.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 games shipped on PC and major consoles, award-winning for creativity and originality.</a:t>
            </a:r>
          </a:p>
        </p:txBody>
      </p:sp>
      <p:pic>
        <p:nvPicPr>
          <p:cNvPr id="5" name="Picture 4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AFDED898-2CD0-5FD6-D6D5-0F23209D7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4550" y="3792305"/>
            <a:ext cx="800100" cy="1143000"/>
          </a:xfrm>
          <a:prstGeom prst="rect">
            <a:avLst/>
          </a:prstGeom>
        </p:spPr>
      </p:pic>
      <p:pic>
        <p:nvPicPr>
          <p:cNvPr id="7" name="Picture 6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4A9F576-8204-27F2-6587-AB77C5B56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859352" y="4078055"/>
            <a:ext cx="577374" cy="857250"/>
          </a:xfrm>
          <a:prstGeom prst="rect">
            <a:avLst/>
          </a:prstGeom>
        </p:spPr>
      </p:pic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7BFC70F-DA71-A68A-4A61-35A173CC42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6" name="Google Shape;999;p37">
            <a:extLst>
              <a:ext uri="{FF2B5EF4-FFF2-40B4-BE49-F238E27FC236}">
                <a16:creationId xmlns:a16="http://schemas.microsoft.com/office/drawing/2014/main" id="{CC3F05C0-B662-CD5F-CE3D-00F6D5E7E6C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Who We Are</a:t>
            </a:r>
          </a:p>
        </p:txBody>
      </p:sp>
      <p:sp>
        <p:nvSpPr>
          <p:cNvPr id="11" name="Google Shape;1000;p37">
            <a:extLst>
              <a:ext uri="{FF2B5EF4-FFF2-40B4-BE49-F238E27FC236}">
                <a16:creationId xmlns:a16="http://schemas.microsoft.com/office/drawing/2014/main" id="{7E7048C3-05FD-4259-7150-DDEC27E3B893}"/>
              </a:ext>
            </a:extLst>
          </p:cNvPr>
          <p:cNvSpPr txBox="1">
            <a:spLocks/>
          </p:cNvSpPr>
          <p:nvPr/>
        </p:nvSpPr>
        <p:spPr>
          <a:xfrm>
            <a:off x="4956255" y="1088549"/>
            <a:ext cx="3376749" cy="1123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All games with the same publisher, proving both trust in our work and our reliability as long-term partners.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reliable, passionate team focused on unique, unforgettable experiences.</a:t>
            </a:r>
          </a:p>
        </p:txBody>
      </p:sp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64104" y="987173"/>
            <a:ext cx="641579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15–25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pic>
        <p:nvPicPr>
          <p:cNvPr id="5" name="Picture 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FA8F0FE-F8BC-A2C9-AF49-8ACFCF2DD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1609" y="3412643"/>
            <a:ext cx="2862470" cy="1113183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3056579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297730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800109" y="1881515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 You!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60162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2890</TotalTime>
  <Words>977</Words>
  <Application>Microsoft Office PowerPoint</Application>
  <PresentationFormat>On-screen Show (16:9)</PresentationFormat>
  <Paragraphs>152</Paragraphs>
  <Slides>20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Press Start 2P</vt:lpstr>
      <vt:lpstr>Maven Pro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595</cp:revision>
  <dcterms:modified xsi:type="dcterms:W3CDTF">2025-09-08T17:24:28Z</dcterms:modified>
</cp:coreProperties>
</file>