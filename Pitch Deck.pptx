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1"/>
  </p:notesMasterIdLst>
  <p:sldIdLst>
    <p:sldId id="330" r:id="rId2"/>
    <p:sldId id="260" r:id="rId3"/>
    <p:sldId id="350" r:id="rId4"/>
    <p:sldId id="351" r:id="rId5"/>
    <p:sldId id="345" r:id="rId6"/>
    <p:sldId id="346" r:id="rId7"/>
    <p:sldId id="349" r:id="rId8"/>
    <p:sldId id="342" r:id="rId9"/>
    <p:sldId id="348" r:id="rId10"/>
    <p:sldId id="331" r:id="rId11"/>
    <p:sldId id="333" r:id="rId12"/>
    <p:sldId id="335" r:id="rId13"/>
    <p:sldId id="337" r:id="rId14"/>
    <p:sldId id="323" r:id="rId15"/>
    <p:sldId id="324" r:id="rId16"/>
    <p:sldId id="326" r:id="rId17"/>
    <p:sldId id="320" r:id="rId18"/>
    <p:sldId id="343" r:id="rId19"/>
    <p:sldId id="321" r:id="rId20"/>
  </p:sldIdLst>
  <p:sldSz cx="9144000" cy="5143500" type="screen16x9"/>
  <p:notesSz cx="6858000" cy="9144000"/>
  <p:embeddedFontLst>
    <p:embeddedFont>
      <p:font typeface="Maven Pro" panose="020B0604020202020204" charset="0"/>
      <p:regular r:id="rId22"/>
      <p:bold r:id="rId23"/>
    </p:embeddedFont>
    <p:embeddedFont>
      <p:font typeface="Press Start 2P" panose="00000500000000000000" pitchFamily="2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6A62"/>
    <a:srgbClr val="8F4D57"/>
    <a:srgbClr val="AB5130"/>
    <a:srgbClr val="3B7D4F"/>
    <a:srgbClr val="F6CA15"/>
    <a:srgbClr val="52333F"/>
    <a:srgbClr val="800000"/>
    <a:srgbClr val="CCCC00"/>
    <a:srgbClr val="F0B541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5BD767A2-DF76-9A6F-EF00-C1384D1B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5030D183-3FC8-E9F2-C671-87BD79B546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4576BDF4-7607-36D0-1701-C3123593B5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4635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49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14.jpeg"/><Relationship Id="rId7" Type="http://schemas.openxmlformats.org/officeDocument/2006/relationships/image" Target="../media/image17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15.jpeg"/><Relationship Id="rId9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diesruption.com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cartoon of a town at night">
            <a:extLst>
              <a:ext uri="{FF2B5EF4-FFF2-40B4-BE49-F238E27FC236}">
                <a16:creationId xmlns:a16="http://schemas.microsoft.com/office/drawing/2014/main" id="{AE77E8E0-B2B7-8D41-74D5-BC6DB166D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382223">
            <a:off x="2501939" y="2157018"/>
            <a:ext cx="4657629" cy="573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6460B-88E5-EAAE-B0C1-B69450A87880}"/>
              </a:ext>
            </a:extLst>
          </p:cNvPr>
          <p:cNvSpPr txBox="1"/>
          <p:nvPr/>
        </p:nvSpPr>
        <p:spPr>
          <a:xfrm>
            <a:off x="6594558" y="4760446"/>
            <a:ext cx="2480166" cy="276999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>
              <a:buClr>
                <a:srgbClr val="FFFF00"/>
              </a:buClr>
              <a:buSzPts val="30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By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 </a:t>
            </a:r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Indiesruption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8470" y="750520"/>
            <a:ext cx="4446165" cy="15059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2983772" y="392612"/>
            <a:ext cx="3176449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24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247129" y="1057574"/>
            <a:ext cx="6649733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grotesque horror collides with absurd comedy.</a:t>
            </a:r>
          </a:p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 where every cart is their only chance to survive.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59AAAA8F-F620-C6A9-A90D-0FF928EF483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58486" y="1184526"/>
            <a:ext cx="6027027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 and absurd laughs rarely seen in the genre.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combat focuses on items and creativity instead of twitch reflexes, opening to a wider audience.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Rebellious satire: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politically incorrect acid humor that exposes the absurdities, injustices, and horrors of our real world.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E6E32264-52A2-B655-6D15-2DC8E7C46D25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642A61D-E1CE-1E72-9D75-9AE3884FA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3140" y="981477"/>
            <a:ext cx="3898859" cy="27274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Fans of roguelites (Binding of Isaac, Spelunky).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  <a:p>
            <a:pPr marL="171450" indent="-171450">
              <a:lnSpc>
                <a:spcPct val="1500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A9363D26-FBA7-5997-1A95-6F1A7D61837D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8CE7E91-9306-6B5F-DEE5-B617A60B26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721196" y="981477"/>
            <a:ext cx="4212942" cy="345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most successful indie genres on PC/console.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Our mix of simple combat + bizarre humor opens the door to both hardcore roguelite fans and more casual players.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grotesque yet funny, procedural yet narrative-driven.</a:t>
            </a:r>
          </a:p>
        </p:txBody>
      </p:sp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1D5953C-9483-2273-2965-3304F29613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043566" y="362755"/>
            <a:ext cx="5067392" cy="52647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  <a:endParaRPr sz="24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58044" y="1005906"/>
            <a:ext cx="742791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 During its grand opening, twelve celebrities—and the designer himself—entered... and never came back.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 What they don’t know is that the ride is now ruled by Mandinga—a frustrated demon who, as a child, dreamed of having his very own horror ride, and isn’t about to give it up.</a:t>
            </a:r>
          </a:p>
        </p:txBody>
      </p:sp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8656" y="3983316"/>
            <a:ext cx="571500" cy="914400"/>
          </a:xfrm>
          <a:prstGeom prst="rect">
            <a:avLst/>
          </a:prstGeom>
        </p:spPr>
      </p:pic>
      <p:pic>
        <p:nvPicPr>
          <p:cNvPr id="13" name="Picture 12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021935B2-628F-0202-D0F8-B6FFA67C4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969043" y="3945001"/>
            <a:ext cx="571500" cy="857250"/>
          </a:xfrm>
          <a:prstGeom prst="rect">
            <a:avLst/>
          </a:prstGeom>
        </p:spPr>
      </p:pic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CD570A14-9AB3-B1FD-5DB0-393BE4F21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D60F414-D0F2-BDA9-8358-1893CC061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8CDBB24F-3CC3-7E4F-7AE3-DDC51D8FF87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07E93653-10A2-DDDD-8FC0-AD8AB57737D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8268" y="1057573"/>
            <a:ext cx="410373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an evil horror ride filled with ugly creatures, funny characters, traps, puzzles, items and secrets.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lighting-darkness itself becomes an obstacle—sometimes only your items can pierce it.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meta-goals: layers of mystery and long-term objectives beyond survival.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222FC448-A206-6ED2-5D02-283984CF433B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Gameplay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F51829-3710-F3A2-AF29-71B7F7D688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4A8C62E-6348-5319-0365-F8283626CA1A}"/>
              </a:ext>
            </a:extLst>
          </p:cNvPr>
          <p:cNvSpPr txBox="1">
            <a:spLocks/>
          </p:cNvSpPr>
          <p:nvPr/>
        </p:nvSpPr>
        <p:spPr>
          <a:xfrm>
            <a:off x="4806134" y="1054409"/>
            <a:ext cx="394362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levels making every run unpredictable.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Permadeath - each death teaches something new and unlocks items.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 as either Idle twin, each with unique abilities and sometimes exclusive paths.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celebrities—each with a ridiculous name and a bizarre quirk that mocks their persona. 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8475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48451" y="1070491"/>
            <a:ext cx="753854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fly—sometimes (e.g., Overeat fast food and you might end up gassy, pausing mid-fight to clutch your stomach.)</a:t>
            </a: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2D50CFCA-D941-CA72-1816-D8BED8BC469F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9F76C34-6F53-8942-B268-C412ACA9F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pixel art of a building">
            <a:extLst>
              <a:ext uri="{FF2B5EF4-FFF2-40B4-BE49-F238E27FC236}">
                <a16:creationId xmlns:a16="http://schemas.microsoft.com/office/drawing/2014/main" id="{70C4D7BA-8A8E-0FF1-EA15-68F4A3E926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E68F2B-5464-E15A-128C-A410CB603FDD}"/>
              </a:ext>
            </a:extLst>
          </p:cNvPr>
          <p:cNvSpPr txBox="1"/>
          <p:nvPr/>
        </p:nvSpPr>
        <p:spPr>
          <a:xfrm>
            <a:off x="3662377" y="1114182"/>
            <a:ext cx="1795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8074A-0EA5-C0F0-87D6-C4519DD2C7EE}"/>
              </a:ext>
            </a:extLst>
          </p:cNvPr>
          <p:cNvSpPr txBox="1"/>
          <p:nvPr/>
        </p:nvSpPr>
        <p:spPr>
          <a:xfrm>
            <a:off x="6066210" y="1129405"/>
            <a:ext cx="15085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Begin 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B9801-8A0A-0CC6-FEE7-0E721EA1372B}"/>
              </a:ext>
            </a:extLst>
          </p:cNvPr>
          <p:cNvSpPr txBox="1"/>
          <p:nvPr/>
        </p:nvSpPr>
        <p:spPr>
          <a:xfrm>
            <a:off x="4651506" y="1710374"/>
            <a:ext cx="18753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2D20E-03EE-53B7-81AD-6ABEE4E53BFC}"/>
              </a:ext>
            </a:extLst>
          </p:cNvPr>
          <p:cNvSpPr txBox="1"/>
          <p:nvPr/>
        </p:nvSpPr>
        <p:spPr>
          <a:xfrm>
            <a:off x="1633992" y="1856526"/>
            <a:ext cx="188942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519C639E-FD6E-0639-E043-9475A0AE206F}"/>
              </a:ext>
            </a:extLst>
          </p:cNvPr>
          <p:cNvSpPr/>
          <p:nvPr/>
        </p:nvSpPr>
        <p:spPr>
          <a:xfrm>
            <a:off x="2507982" y="1288583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BE208F65-1ACD-404F-5122-8FDC916CD14A}"/>
              </a:ext>
            </a:extLst>
          </p:cNvPr>
          <p:cNvSpPr/>
          <p:nvPr/>
        </p:nvSpPr>
        <p:spPr>
          <a:xfrm rot="10800000">
            <a:off x="6255179" y="1589972"/>
            <a:ext cx="623048" cy="404925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5A091DE-053F-722E-EBE5-6B30D094BEAD}"/>
              </a:ext>
            </a:extLst>
          </p:cNvPr>
          <p:cNvSpPr/>
          <p:nvPr/>
        </p:nvSpPr>
        <p:spPr>
          <a:xfrm rot="16200000">
            <a:off x="3133386" y="2795485"/>
            <a:ext cx="414225" cy="17759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ABF46C45-0C82-49E1-762D-07CB71828AA5}"/>
              </a:ext>
            </a:extLst>
          </p:cNvPr>
          <p:cNvSpPr/>
          <p:nvPr/>
        </p:nvSpPr>
        <p:spPr>
          <a:xfrm>
            <a:off x="3912576" y="1782575"/>
            <a:ext cx="889987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Google Shape;999;p37">
            <a:extLst>
              <a:ext uri="{FF2B5EF4-FFF2-40B4-BE49-F238E27FC236}">
                <a16:creationId xmlns:a16="http://schemas.microsoft.com/office/drawing/2014/main" id="{594AF7DC-4BBD-CDB6-4B10-1D65F8B679EB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Loop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5B1F6713-DDA4-AF52-CCA9-B624EC7B7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793762" y="3396877"/>
            <a:ext cx="607603" cy="857250"/>
          </a:xfrm>
          <a:prstGeom prst="rect">
            <a:avLst/>
          </a:prstGeom>
        </p:spPr>
      </p:pic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DF71DDA2-90BF-09BF-0A82-693DF3BBFF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082486" y="3561432"/>
            <a:ext cx="607603" cy="914400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9C10463-FF49-09D8-03A6-0D71C02D0DFA}"/>
              </a:ext>
            </a:extLst>
          </p:cNvPr>
          <p:cNvSpPr/>
          <p:nvPr/>
        </p:nvSpPr>
        <p:spPr>
          <a:xfrm>
            <a:off x="5434864" y="1207557"/>
            <a:ext cx="820730" cy="267987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Flowchart: Decision 3">
            <a:extLst>
              <a:ext uri="{FF2B5EF4-FFF2-40B4-BE49-F238E27FC236}">
                <a16:creationId xmlns:a16="http://schemas.microsoft.com/office/drawing/2014/main" id="{B14D1A25-1F5A-74DF-36D5-6CBB3203F698}"/>
              </a:ext>
            </a:extLst>
          </p:cNvPr>
          <p:cNvSpPr/>
          <p:nvPr/>
        </p:nvSpPr>
        <p:spPr>
          <a:xfrm>
            <a:off x="4778403" y="2716516"/>
            <a:ext cx="1602417" cy="667343"/>
          </a:xfrm>
          <a:prstGeom prst="flowChartDecision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Stage?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AC7028F-2236-D250-8B6C-809650446411}"/>
              </a:ext>
            </a:extLst>
          </p:cNvPr>
          <p:cNvSpPr/>
          <p:nvPr/>
        </p:nvSpPr>
        <p:spPr>
          <a:xfrm rot="5400000">
            <a:off x="5369591" y="2288648"/>
            <a:ext cx="439193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9F485C33-58D3-49D0-DBC1-416A2E94BD7B}"/>
              </a:ext>
            </a:extLst>
          </p:cNvPr>
          <p:cNvSpPr/>
          <p:nvPr/>
        </p:nvSpPr>
        <p:spPr>
          <a:xfrm rot="16200000">
            <a:off x="4076292" y="2491230"/>
            <a:ext cx="404924" cy="855220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2DA5D3-5942-B776-D702-8B8FC61F2FD1}"/>
              </a:ext>
            </a:extLst>
          </p:cNvPr>
          <p:cNvSpPr txBox="1"/>
          <p:nvPr/>
        </p:nvSpPr>
        <p:spPr>
          <a:xfrm>
            <a:off x="4004846" y="2716378"/>
            <a:ext cx="8171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5A9A217E-F411-A017-3097-C0F86105A3AA}"/>
              </a:ext>
            </a:extLst>
          </p:cNvPr>
          <p:cNvSpPr/>
          <p:nvPr/>
        </p:nvSpPr>
        <p:spPr>
          <a:xfrm rot="10800000">
            <a:off x="5061343" y="3513315"/>
            <a:ext cx="564186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D6BD1F-2665-08DC-1913-F7D9C6C21342}"/>
              </a:ext>
            </a:extLst>
          </p:cNvPr>
          <p:cNvSpPr txBox="1"/>
          <p:nvPr/>
        </p:nvSpPr>
        <p:spPr>
          <a:xfrm>
            <a:off x="5522728" y="3561432"/>
            <a:ext cx="81712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A60F9-2D45-BC29-4F1F-1DF1102C0999}"/>
              </a:ext>
            </a:extLst>
          </p:cNvPr>
          <p:cNvSpPr txBox="1"/>
          <p:nvPr/>
        </p:nvSpPr>
        <p:spPr>
          <a:xfrm>
            <a:off x="3523420" y="2224498"/>
            <a:ext cx="8899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00CC0D-DC01-E642-D9A2-4E9650D483AE}"/>
              </a:ext>
            </a:extLst>
          </p:cNvPr>
          <p:cNvSpPr txBox="1"/>
          <p:nvPr/>
        </p:nvSpPr>
        <p:spPr>
          <a:xfrm>
            <a:off x="4231592" y="3618689"/>
            <a:ext cx="8552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Exit ride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6508E62-73E6-54DC-71F0-F6DC954F317D}"/>
              </a:ext>
            </a:extLst>
          </p:cNvPr>
          <p:cNvSpPr/>
          <p:nvPr/>
        </p:nvSpPr>
        <p:spPr>
          <a:xfrm rot="16200000">
            <a:off x="2407083" y="2445736"/>
            <a:ext cx="302512" cy="21161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0A1ECD-9EA6-38D5-C131-B861460F0571}"/>
              </a:ext>
            </a:extLst>
          </p:cNvPr>
          <p:cNvSpPr txBox="1"/>
          <p:nvPr/>
        </p:nvSpPr>
        <p:spPr>
          <a:xfrm>
            <a:off x="1778416" y="2801078"/>
            <a:ext cx="16391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6" name="Picture 2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1E403FA-B25E-AF1B-ADA9-6CE981D056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470125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BB01612E-DD31-AB43-30D7-434F8A5A4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168853" y="104932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92817C2-921D-0572-BF19-B28602869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878CDF1-3B33-6849-F168-D2AABD7C3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9A91C42-2962-3159-8631-1D07A723C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6390B03F-F3F2-3959-786F-1FB86E6AA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015A17-98FF-7DD4-996D-009CB294E9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144873" y="1120127"/>
            <a:ext cx="685425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proprietary MonoGame/C# engine, fully optimized and AOT-compatible (already proven on PC &amp; consoles).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grotesque comedy + horror mix.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AC43E8CC-AFD0-67EF-0D7B-776F7B2D6E90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86FFFBA-FE05-76C7-2391-7A8913311D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16816" y="1808752"/>
            <a:ext cx="7722645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environment objects, unique bosses, hundreds of items, narrative events and secrets.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monsters, and environment assets matching our established art style.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36C3F6EB-CBF1-BC90-2148-DB8DAF51A50E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CC0F2286-4A82-FDE3-FB44-1F7DB7615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8B4A7F50-5EC1-FD4D-5356-932AC1A2B096}"/>
              </a:ext>
            </a:extLst>
          </p:cNvPr>
          <p:cNvSpPr txBox="1">
            <a:spLocks/>
          </p:cNvSpPr>
          <p:nvPr/>
        </p:nvSpPr>
        <p:spPr>
          <a:xfrm>
            <a:off x="816816" y="919526"/>
            <a:ext cx="7510368" cy="664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AB5130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</a:t>
            </a: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produce the complete adventure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, building on top of our already functional core engine and prototype. We need </a:t>
            </a: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and scale: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34303" y="1085053"/>
            <a:ext cx="6285099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9D666095-B9B5-D740-9CA3-FC46A3662514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pic>
        <p:nvPicPr>
          <p:cNvPr id="5" name="Picture 4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AFDED898-2CD0-5FD6-D6D5-0F23209D7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550" y="3792305"/>
            <a:ext cx="800100" cy="1143000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859352" y="4078055"/>
            <a:ext cx="577374" cy="857250"/>
          </a:xfrm>
          <a:prstGeom prst="rect">
            <a:avLst/>
          </a:prstGeom>
        </p:spPr>
      </p:pic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7BFC70F-DA71-A68A-4A61-35A173CC42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87425" y="1038096"/>
            <a:ext cx="7969148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Final content scope: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FCAD0BFC-A7C6-9B73-8427-C55E32DF295C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FA8F0FE-F8BC-A2C9-AF49-8ACFCF2DD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1609" y="3412643"/>
            <a:ext cx="2862470" cy="111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3056579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856F3467-6603-8DB2-81CB-15303D5894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17523" y="284058"/>
            <a:ext cx="7708900" cy="3333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rgbClr val="AB5130"/>
                </a:solidFill>
              </a:rPr>
              <a:t>Our Games</a:t>
            </a:r>
            <a:endParaRPr sz="3200" dirty="0">
              <a:solidFill>
                <a:srgbClr val="AB5130"/>
              </a:solidFill>
            </a:endParaRPr>
          </a:p>
        </p:txBody>
      </p:sp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297730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66708" y="2781296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</a:t>
            </a:r>
            <a:r>
              <a:rPr lang="en-US" sz="24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8879" y="744785"/>
            <a:ext cx="3226242" cy="207836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1732989" y="4543066"/>
            <a:ext cx="5346957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 algn="l">
              <a:buClr>
                <a:srgbClr val="8F4D57"/>
              </a:buClr>
              <a:buSzPts val="1100"/>
            </a:pPr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11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2308</TotalTime>
  <Words>881</Words>
  <Application>Microsoft Office PowerPoint</Application>
  <PresentationFormat>On-screen Show (16:9)</PresentationFormat>
  <Paragraphs>123</Paragraphs>
  <Slides>19</Slides>
  <Notes>11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Story &amp; Setting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Games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411</cp:revision>
  <dcterms:modified xsi:type="dcterms:W3CDTF">2025-09-06T02:49:02Z</dcterms:modified>
</cp:coreProperties>
</file>