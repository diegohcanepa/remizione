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22"/>
  </p:notesMasterIdLst>
  <p:sldIdLst>
    <p:sldId id="330" r:id="rId2"/>
    <p:sldId id="260" r:id="rId3"/>
    <p:sldId id="350" r:id="rId4"/>
    <p:sldId id="351" r:id="rId5"/>
    <p:sldId id="345" r:id="rId6"/>
    <p:sldId id="352" r:id="rId7"/>
    <p:sldId id="353" r:id="rId8"/>
    <p:sldId id="349" r:id="rId9"/>
    <p:sldId id="333" r:id="rId10"/>
    <p:sldId id="342" r:id="rId11"/>
    <p:sldId id="348" r:id="rId12"/>
    <p:sldId id="331" r:id="rId13"/>
    <p:sldId id="335" r:id="rId14"/>
    <p:sldId id="337" r:id="rId15"/>
    <p:sldId id="323" r:id="rId16"/>
    <p:sldId id="324" r:id="rId17"/>
    <p:sldId id="320" r:id="rId18"/>
    <p:sldId id="326" r:id="rId19"/>
    <p:sldId id="343" r:id="rId20"/>
    <p:sldId id="321" r:id="rId21"/>
  </p:sldIdLst>
  <p:sldSz cx="9144000" cy="5143500" type="screen16x9"/>
  <p:notesSz cx="6858000" cy="9144000"/>
  <p:embeddedFontLst>
    <p:embeddedFont>
      <p:font typeface="Maven Pro" panose="020B0604020202020204" charset="0"/>
      <p:regular r:id="rId23"/>
      <p:bold r:id="rId24"/>
    </p:embeddedFont>
    <p:embeddedFont>
      <p:font typeface="Press Start 2P" panose="00000500000000000000" pitchFamily="2" charset="0"/>
      <p:regular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B5130"/>
    <a:srgbClr val="BD6A62"/>
    <a:srgbClr val="F6CA15"/>
    <a:srgbClr val="52333F"/>
    <a:srgbClr val="8F4D57"/>
    <a:srgbClr val="3B7D4F"/>
    <a:srgbClr val="800000"/>
    <a:srgbClr val="CCCC00"/>
    <a:srgbClr val="F0B541"/>
    <a:srgbClr val="FF99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42" d="100"/>
          <a:sy n="142" d="100"/>
        </p:scale>
        <p:origin x="714" y="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5840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80F424A-984B-8DE7-A098-1F34836D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35DCF18-8AFB-B827-9C96-C62B578BC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56662914-27BE-EECE-904C-10C6EDE4F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56232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33ADB03-200D-258B-C7C3-7908B8426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8312192-2B63-1398-952D-E6EC0E2DBF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02890061-A834-5D1E-5E63-02581E059A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90594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EAE9E16-E741-2AFC-528A-5D362D22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9823407-3371-B2D4-9D7A-A39E9B640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C167794-BB93-5CE2-C42A-813723003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5816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ECC582F1-875B-7DBC-56D0-69B4298D6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3DE2446-3686-79A4-B521-332AE46EF9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C86F04AE-24A5-AE20-9516-B53F10DC51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950345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D77629F1-C28F-E7BD-DF42-A3A4C6163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0F61061F-EBEF-2E37-5F82-0583EE2CBA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61060E7-B052-DC81-16DD-BB929EE13C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66732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2717E27-6FB4-BC23-2466-5E75556A2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183FEBC-059D-AB63-AF33-EAD32DED9D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23BBDD17-5A60-0D6A-F8AE-B41025932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8807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1001038-85F5-AEA0-F926-465401503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FFEAD37-314D-447D-29C9-0AC7FDA245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F7959833-3711-0A8D-C2A7-C09DBEA5F6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255008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4209314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587" y="4556413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338131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587" y="4910387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335222" y="4901278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657032" y="4900639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924083" y="4209314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586942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p9"/>
          <p:cNvSpPr/>
          <p:nvPr/>
        </p:nvSpPr>
        <p:spPr>
          <a:xfrm>
            <a:off x="8924083" y="4556436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8246130" y="4900639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581508" y="4903546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916143" y="4903558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55" r:id="rId3"/>
    <p:sldLayoutId id="2147483658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2.png"/><Relationship Id="rId9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.png"/><Relationship Id="rId5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24.jpeg"/><Relationship Id="rId7" Type="http://schemas.openxmlformats.org/officeDocument/2006/relationships/image" Target="../media/image27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6.jpeg"/><Relationship Id="rId5" Type="http://schemas.openxmlformats.org/officeDocument/2006/relationships/hyperlink" Target="https://store.steampowered.com/app/1702430/Vlad_Circus_Descend_Into_Madness/" TargetMode="External"/><Relationship Id="rId10" Type="http://schemas.openxmlformats.org/officeDocument/2006/relationships/image" Target="../media/image29.png"/><Relationship Id="rId4" Type="http://schemas.openxmlformats.org/officeDocument/2006/relationships/image" Target="../media/image25.jpeg"/><Relationship Id="rId9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jpeg"/><Relationship Id="rId3" Type="http://schemas.openxmlformats.org/officeDocument/2006/relationships/hyperlink" Target="https://www.indiesruption.com/" TargetMode="External"/><Relationship Id="rId7" Type="http://schemas.openxmlformats.org/officeDocument/2006/relationships/hyperlink" Target="https://www.linkedin.com/in/pablo-mamone-262a5165/" TargetMode="External"/><Relationship Id="rId12" Type="http://schemas.openxmlformats.org/officeDocument/2006/relationships/image" Target="../media/image3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1.jpeg"/><Relationship Id="rId11" Type="http://schemas.microsoft.com/office/2007/relationships/hdphoto" Target="../media/hdphoto1.wdp"/><Relationship Id="rId5" Type="http://schemas.openxmlformats.org/officeDocument/2006/relationships/hyperlink" Target="https://www.linkedin.com/in/diegocanepa/" TargetMode="External"/><Relationship Id="rId10" Type="http://schemas.openxmlformats.org/officeDocument/2006/relationships/image" Target="../media/image33.png"/><Relationship Id="rId4" Type="http://schemas.openxmlformats.org/officeDocument/2006/relationships/image" Target="../media/image30.png"/><Relationship Id="rId9" Type="http://schemas.openxmlformats.org/officeDocument/2006/relationships/hyperlink" Target="https://www.linkedin.com/in/durga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A video game with a cartoon character">
            <a:extLst>
              <a:ext uri="{FF2B5EF4-FFF2-40B4-BE49-F238E27FC236}">
                <a16:creationId xmlns:a16="http://schemas.microsoft.com/office/drawing/2014/main" id="{EBDFCDBD-D34F-0E28-C3D8-62AEB2079B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58541" y="679076"/>
            <a:ext cx="10402541" cy="4464424"/>
          </a:xfrm>
          <a:prstGeom prst="rect">
            <a:avLst/>
          </a:prstGeom>
        </p:spPr>
      </p:pic>
      <p:sp>
        <p:nvSpPr>
          <p:cNvPr id="4" name="Google Shape;963;p33">
            <a:extLst>
              <a:ext uri="{FF2B5EF4-FFF2-40B4-BE49-F238E27FC236}">
                <a16:creationId xmlns:a16="http://schemas.microsoft.com/office/drawing/2014/main" id="{87BD1BEB-687E-94A9-55BA-36F2920CDF3D}"/>
              </a:ext>
            </a:extLst>
          </p:cNvPr>
          <p:cNvSpPr txBox="1">
            <a:spLocks/>
          </p:cNvSpPr>
          <p:nvPr/>
        </p:nvSpPr>
        <p:spPr>
          <a:xfrm rot="21281081">
            <a:off x="416655" y="1213486"/>
            <a:ext cx="4261693" cy="510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horror ride, no one is safe.</a:t>
            </a:r>
          </a:p>
        </p:txBody>
      </p:sp>
      <p:pic>
        <p:nvPicPr>
          <p:cNvPr id="17" name="Picture 1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4BEE051-0101-0660-BE69-351B97FD1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62" y="194342"/>
            <a:ext cx="3380587" cy="114503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79437D8-1552-7063-32DB-3F8A67AC3A6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272494" y="3848240"/>
            <a:ext cx="428511" cy="128553"/>
          </a:xfrm>
          <a:prstGeom prst="rect">
            <a:avLst/>
          </a:prstGeom>
        </p:spPr>
      </p:pic>
      <p:pic>
        <p:nvPicPr>
          <p:cNvPr id="21" name="Picture 20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899F904-BFCC-AD32-CD22-1A26D90845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63721" y="3200400"/>
            <a:ext cx="517112" cy="723900"/>
          </a:xfrm>
          <a:prstGeom prst="rect">
            <a:avLst/>
          </a:prstGeom>
        </p:spPr>
      </p:pic>
      <p:pic>
        <p:nvPicPr>
          <p:cNvPr id="8" name="Picture 7" descr="A yellow text on a black background&#10;&#10;AI-generated content may be incorrect.">
            <a:extLst>
              <a:ext uri="{FF2B5EF4-FFF2-40B4-BE49-F238E27FC236}">
                <a16:creationId xmlns:a16="http://schemas.microsoft.com/office/drawing/2014/main" id="{8055D018-8073-CBDF-5A7F-2A66C04AFF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8476" y="4463907"/>
            <a:ext cx="1516306" cy="41698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xel art of a building">
            <a:extLst>
              <a:ext uri="{FF2B5EF4-FFF2-40B4-BE49-F238E27FC236}">
                <a16:creationId xmlns:a16="http://schemas.microsoft.com/office/drawing/2014/main" id="{970F42B8-8149-AE99-5DCE-10D39E420DD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99" name="Google Shape;999;p37"/>
          <p:cNvSpPr txBox="1">
            <a:spLocks noGrp="1"/>
          </p:cNvSpPr>
          <p:nvPr>
            <p:ph type="title" idx="4294967295"/>
          </p:nvPr>
        </p:nvSpPr>
        <p:spPr>
          <a:xfrm>
            <a:off x="1409076" y="301170"/>
            <a:ext cx="6415790" cy="48620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Overview</a:t>
            </a:r>
            <a:endParaRPr sz="1800" dirty="0">
              <a:solidFill>
                <a:srgbClr val="AB5130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719136" y="857719"/>
            <a:ext cx="5816625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2D pixel-art roguelite adventure where bizarre comedy collides with creepy monsters and absurd challenges.</a:t>
            </a: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lazy bloggers trapped in a demon-possessed horror ride where every cart is their only chance to survive. </a:t>
            </a: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Explore a procedural cursed attraction packed with secrets and absurd encounters—your ultimate goal: rescue lost celebrities.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66806AD-98D4-D7EB-6E60-4E2D5324F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6D9444F-5F03-30D7-0B0E-CC3874350B5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3808836" y="4515822"/>
            <a:ext cx="284676" cy="142338"/>
          </a:xfrm>
          <a:prstGeom prst="rect">
            <a:avLst/>
          </a:prstGeom>
        </p:spPr>
      </p:pic>
      <p:pic>
        <p:nvPicPr>
          <p:cNvPr id="4" name="Picture 3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967DB02A-BA92-F4D6-3635-FA4B3AB08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1575" y="3893638"/>
            <a:ext cx="459695" cy="6895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11074D-EE65-7ACB-8A00-62891FE5CD3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627449" y="4515821"/>
            <a:ext cx="284676" cy="142338"/>
          </a:xfrm>
          <a:prstGeom prst="rect">
            <a:avLst/>
          </a:prstGeom>
        </p:spPr>
      </p:pic>
      <p:pic>
        <p:nvPicPr>
          <p:cNvPr id="6" name="Picture 5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37C30E45-3490-0BDF-BF95-AE40ED8069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27449" y="3836488"/>
            <a:ext cx="459695" cy="73551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9DDBFF2-B1FB-4113-D291-30E81F48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video game with a cartoon character&#10;&#10;AI-generated content may be incorrect.">
            <a:extLst>
              <a:ext uri="{FF2B5EF4-FFF2-40B4-BE49-F238E27FC236}">
                <a16:creationId xmlns:a16="http://schemas.microsoft.com/office/drawing/2014/main" id="{29986DC9-BD1C-9EA3-D511-58B7AA106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19200"/>
            <a:ext cx="9144000" cy="39243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A32EE8A-0DFD-7F7F-DA35-B894B7CD52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63301" y="921972"/>
            <a:ext cx="2574388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haunted ride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cursed horror ride with its own twisted logic, instead of generic dungeons or caves.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7" name="Google Shape;1000;p37">
            <a:extLst>
              <a:ext uri="{FF2B5EF4-FFF2-40B4-BE49-F238E27FC236}">
                <a16:creationId xmlns:a16="http://schemas.microsoft.com/office/drawing/2014/main" id="{CC2BAE9D-D8CF-649C-93AB-CC6274E037CE}"/>
              </a:ext>
            </a:extLst>
          </p:cNvPr>
          <p:cNvSpPr txBox="1">
            <a:spLocks/>
          </p:cNvSpPr>
          <p:nvPr/>
        </p:nvSpPr>
        <p:spPr>
          <a:xfrm>
            <a:off x="3175566" y="921972"/>
            <a:ext cx="2872613" cy="1077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Bizarre comedy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mix of scares, acid humor and absurd laughs rarely seen in the genre.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A02E9861-D81C-BEB4-9FF8-6059B0DF160B}"/>
              </a:ext>
            </a:extLst>
          </p:cNvPr>
          <p:cNvSpPr txBox="1">
            <a:spLocks/>
          </p:cNvSpPr>
          <p:nvPr/>
        </p:nvSpPr>
        <p:spPr>
          <a:xfrm>
            <a:off x="338456" y="921972"/>
            <a:ext cx="2521989" cy="1177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Accessible chaos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 combat that’s simple to pick up, with depth coming from creative item use rather than hardcore reflexes.</a:t>
            </a: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028DD578-F28F-5A40-3503-5915690FE3F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Why It’s Unique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D3F7298-6C89-EE89-3E9A-0B25DA9456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EF5299E-1B7C-AA97-2B00-73C53140F88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pic>
        <p:nvPicPr>
          <p:cNvPr id="17" name="Picture 1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78936B8D-6122-F985-265D-5B2E6CEC95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87230" y="3132113"/>
            <a:ext cx="539354" cy="792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5173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A87C6DD4-3F48-186B-FC05-1008CDCC1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E95556F-87C4-1552-F8EB-11CC3133BC6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5F14BB6-487B-792E-D17E-E33AD6852B4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957637" y="868673"/>
            <a:ext cx="3359530" cy="23314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AB5130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audience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Roguelites fans (Spelunky, Binding of Isaac).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Players who enjoy dark humor and absurd comedy (South Park, Adult Swim).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Gamers who like quirky pixel-art indie hits.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FA6FDA3-A8F8-EC55-8BAC-B5FAC550795A}"/>
              </a:ext>
            </a:extLst>
          </p:cNvPr>
          <p:cNvSpPr txBox="1">
            <a:spLocks/>
          </p:cNvSpPr>
          <p:nvPr/>
        </p:nvSpPr>
        <p:spPr>
          <a:xfrm>
            <a:off x="4675786" y="868673"/>
            <a:ext cx="4109594" cy="34547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AB5130"/>
              </a:buClr>
              <a:buSzPts val="1100"/>
              <a:buFont typeface="Maven Pro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 fit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Roguelites are one of the strongest indie genres on PC/console.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Our mix of bizarre humor + accessible combat positions the game as an entry point for both hardcore fans and casual players.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Distinctive identity: procedural yet narrative-driven, grotesque yet funny.</a:t>
            </a:r>
          </a:p>
        </p:txBody>
      </p:sp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EAA26DC9-34AA-AC7A-D05F-E1E80A36CD81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Target &amp; Market</a:t>
            </a:r>
          </a:p>
        </p:txBody>
      </p:sp>
      <p:pic>
        <p:nvPicPr>
          <p:cNvPr id="7" name="Picture 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58059D1C-4F8A-7E8E-18F5-B208D23AF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912989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2F170F1-E5B9-6C28-129A-6FF76EE3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3DC4AB54-366E-E0A2-1159-FF5B92ACFE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1AF0787-BB08-0706-A505-8310F24C57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8559" y="887265"/>
            <a:ext cx="3660649" cy="11128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Snuggleville’s amusement park was once home to Remizione, a grotesque horror ride built by an obsessive designer.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incident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During its grand opening, twelve celebrities—and the designer himself—entered... and never came back.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D0D7D64-8BF2-0887-A6B2-640C4F8F13F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Story &amp; Setting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2D5C695-4990-1D0D-E6CB-6796CBE63E16}"/>
              </a:ext>
            </a:extLst>
          </p:cNvPr>
          <p:cNvSpPr txBox="1">
            <a:spLocks/>
          </p:cNvSpPr>
          <p:nvPr/>
        </p:nvSpPr>
        <p:spPr>
          <a:xfrm>
            <a:off x="4744794" y="887265"/>
            <a:ext cx="390868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unexpected heroes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Years later, twins Edmund and Berta Idle sneak inside to investigate.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evil curse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What they don’t know is that the ride is now ruled by Mandinga—a frustrated demon who, as a child, dreamed of having his very own horror ride, and isn’t about to give it up.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57E524A-5833-BCC7-087B-B4832FE70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DFC314-2C6B-C30B-5D27-D980F4ABF0C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2085928" y="4405480"/>
            <a:ext cx="321103" cy="160552"/>
          </a:xfrm>
          <a:prstGeom prst="rect">
            <a:avLst/>
          </a:prstGeom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90BA5B4-62E2-6E38-89ED-FF2C6BD5D7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1392" y="3704988"/>
            <a:ext cx="478190" cy="7651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C10FDB-09DC-516C-B3B4-D44D5667B93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389386" y="4477426"/>
            <a:ext cx="321103" cy="160552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2DF15CB-D3B2-C074-8F60-A1CFC9342A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6186183" y="3848746"/>
            <a:ext cx="478190" cy="717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463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997FBA5-3F09-F15F-A2AB-8C6E1AE38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2E2772C-5B45-4704-2A2B-88ACF8FAB0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ED57C0A1-77C4-2912-9899-7B0328EF154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28662" y="975918"/>
            <a:ext cx="3597172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Stages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stage has a time limit. Defeat Mandinga’s corrupted dolls to absorb their electricity and ride to the next level.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Runs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run lasts 10–20 minutes (10 stages of 2 minutes each). Permadeath resets the run, but variety in items and events keeps every attempt fresh.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7969AA04-ADE9-EC89-086F-6C31251A654E}"/>
              </a:ext>
            </a:extLst>
          </p:cNvPr>
          <p:cNvSpPr txBox="1">
            <a:spLocks/>
          </p:cNvSpPr>
          <p:nvPr/>
        </p:nvSpPr>
        <p:spPr>
          <a:xfrm>
            <a:off x="4708411" y="975919"/>
            <a:ext cx="3806927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Main characters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twin has a health bar and unique perks &amp; flaws. They can unlock exclusive areas later shared between both.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 combat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Simple to pick up, with depth coming from creative item use rather than hardcore reflexes.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44E9473-3793-705C-B00B-26195B76C7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ACE079DE-E0F2-5FCC-56FF-6339543274B6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Core Mechanics</a:t>
            </a:r>
          </a:p>
        </p:txBody>
      </p:sp>
    </p:spTree>
    <p:extLst>
      <p:ext uri="{BB962C8B-B14F-4D97-AF65-F5344CB8AC3E}">
        <p14:creationId xmlns:p14="http://schemas.microsoft.com/office/powerpoint/2010/main" val="10512872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E38ADF0-45F2-45B5-B25D-15245679A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C28023F-E06D-45DE-424E-ACE69525480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126BEB04-602F-33C9-A64A-EB3502EAEE4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95897" y="975918"/>
            <a:ext cx="3806926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Procedurally generated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Unpredictable layouts, traps, and encounters every run.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10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Celebrities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Rescue twisted parodies of real-world celebrities, with bizarre rewards (acid humor guaranteed).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meta-goals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Layers of mystery and long-term objectives beyond survival.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F66ECAC-3D79-E01B-9C08-632C4B880237}"/>
              </a:ext>
            </a:extLst>
          </p:cNvPr>
          <p:cNvSpPr txBox="1">
            <a:spLocks/>
          </p:cNvSpPr>
          <p:nvPr/>
        </p:nvSpPr>
        <p:spPr>
          <a:xfrm>
            <a:off x="4977353" y="975918"/>
            <a:ext cx="3806927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Atmospheric lighting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Darkness itself becomes an obstacle—sometimes only your items can pierce it.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Perks &amp; Flaws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Temporary or permanent states that twist your run (e.g., overeat fast food and end up gassy mid-fight).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D0DE9CA4-9437-B209-8542-AA17F38722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79EB114-CF29-4014-4633-B2B702CE2E92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Progression</a:t>
            </a:r>
          </a:p>
        </p:txBody>
      </p:sp>
    </p:spTree>
    <p:extLst>
      <p:ext uri="{BB962C8B-B14F-4D97-AF65-F5344CB8AC3E}">
        <p14:creationId xmlns:p14="http://schemas.microsoft.com/office/powerpoint/2010/main" val="17349675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7A6B33A-CC60-92B6-4C7E-A5F0A2160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604A176A-9276-30C7-5E31-6668A3F2D2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86E0AEF5-FA1E-F10A-35FA-83B2437E557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219393" y="2086623"/>
            <a:ext cx="3325000" cy="88909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Perks &amp; Flaws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Temporary and fixed states that twist your run and force players to adapt on the fly.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For example, overeat fast food and you might end up gassy, pausing mid-fight to clutch your stomach.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DDB78A-A233-1EE0-EDBB-C6C0157D33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3602FE78-E33B-64D6-6E2C-22A7EE575F2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Inventory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4053F06-56A8-B4BD-D88F-104ED26D9250}"/>
              </a:ext>
            </a:extLst>
          </p:cNvPr>
          <p:cNvSpPr txBox="1">
            <a:spLocks/>
          </p:cNvSpPr>
          <p:nvPr/>
        </p:nvSpPr>
        <p:spPr>
          <a:xfrm>
            <a:off x="1104175" y="1014663"/>
            <a:ext cx="3101705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Junk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Odd gadgets you can equip to whack, poke, or do something questionably useful.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15C7A68C-BF17-6718-529D-370473EC7C9F}"/>
              </a:ext>
            </a:extLst>
          </p:cNvPr>
          <p:cNvSpPr txBox="1">
            <a:spLocks/>
          </p:cNvSpPr>
          <p:nvPr/>
        </p:nvSpPr>
        <p:spPr>
          <a:xfrm>
            <a:off x="1108159" y="2135623"/>
            <a:ext cx="3241564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Consumables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Eat or drink anything: from healing snacks to chili-powered speed boosts.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D689E440-227F-4A14-2F3D-DBC8F011B475}"/>
              </a:ext>
            </a:extLst>
          </p:cNvPr>
          <p:cNvSpPr txBox="1">
            <a:spLocks/>
          </p:cNvSpPr>
          <p:nvPr/>
        </p:nvSpPr>
        <p:spPr>
          <a:xfrm>
            <a:off x="1104175" y="3242298"/>
            <a:ext cx="2995635" cy="980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Key items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Scene-specific tools for interacting with the environment.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3324AE9C-7624-EC08-0A43-9411780CAFA6}"/>
              </a:ext>
            </a:extLst>
          </p:cNvPr>
          <p:cNvSpPr txBox="1">
            <a:spLocks/>
          </p:cNvSpPr>
          <p:nvPr/>
        </p:nvSpPr>
        <p:spPr>
          <a:xfrm>
            <a:off x="5170722" y="1022786"/>
            <a:ext cx="3430916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Trinkets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Passive oddities with quirky powers. One at a time, so choose wisely.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685A47C-D77C-3C70-F474-8AE699232C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629" y="1096996"/>
            <a:ext cx="419100" cy="4191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7D7128C-7ADC-493E-E204-E0ABE26C56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8542" y="3242298"/>
            <a:ext cx="342648" cy="342648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3D3CFD2-DA52-BEBF-81E3-752C2296D7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5498" y="2092603"/>
            <a:ext cx="419100" cy="4191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4010551-B5BB-68E8-D14B-EA505059695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1460" y="1012278"/>
            <a:ext cx="349730" cy="34973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ABA286E8-7F1E-64DD-8808-1CFF6270D9D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24629" y="2022235"/>
            <a:ext cx="419100" cy="4191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9805750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8F103BA-FE0A-AA41-EBEC-DC6531E5551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484214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4210573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A video game screen of a video game">
            <a:extLst>
              <a:ext uri="{FF2B5EF4-FFF2-40B4-BE49-F238E27FC236}">
                <a16:creationId xmlns:a16="http://schemas.microsoft.com/office/drawing/2014/main" id="{0F40D3C1-D3FD-D9FE-CF8F-67C6A5B246E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7E68F2B-5464-E15A-128C-A410CB603FDD}"/>
              </a:ext>
            </a:extLst>
          </p:cNvPr>
          <p:cNvSpPr txBox="1"/>
          <p:nvPr/>
        </p:nvSpPr>
        <p:spPr>
          <a:xfrm>
            <a:off x="3662377" y="1114182"/>
            <a:ext cx="179568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innerShdw blurRad="63500" dist="50800" dir="5400000">
                    <a:prstClr val="black">
                      <a:alpha val="50000"/>
                    </a:prstClr>
                  </a:innerShdw>
                </a:effectLst>
                <a:latin typeface="Press Start 2P" panose="00000500000000000000" pitchFamily="2" charset="0"/>
              </a:rPr>
              <a:t>Choose</a:t>
            </a:r>
          </a:p>
          <a:p>
            <a:pPr algn="ctr"/>
            <a:r>
              <a:rPr lang="en-US" sz="11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character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A8074A-0EA5-C0F0-87D6-C4519DD2C7EE}"/>
              </a:ext>
            </a:extLst>
          </p:cNvPr>
          <p:cNvSpPr txBox="1"/>
          <p:nvPr/>
        </p:nvSpPr>
        <p:spPr>
          <a:xfrm>
            <a:off x="6066210" y="1129405"/>
            <a:ext cx="15085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Begin ride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3B9801-8A0A-0CC6-FEE7-0E721EA1372B}"/>
              </a:ext>
            </a:extLst>
          </p:cNvPr>
          <p:cNvSpPr txBox="1"/>
          <p:nvPr/>
        </p:nvSpPr>
        <p:spPr>
          <a:xfrm>
            <a:off x="4651506" y="1710374"/>
            <a:ext cx="187536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Complete</a:t>
            </a:r>
          </a:p>
          <a:p>
            <a:pPr algn="ctr"/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stage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62D20E-03EE-53B7-81AD-6ABEE4E53BFC}"/>
              </a:ext>
            </a:extLst>
          </p:cNvPr>
          <p:cNvSpPr txBox="1"/>
          <p:nvPr/>
        </p:nvSpPr>
        <p:spPr>
          <a:xfrm>
            <a:off x="1633992" y="1856526"/>
            <a:ext cx="188942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Unlock new</a:t>
            </a:r>
          </a:p>
          <a:p>
            <a:pPr algn="ctr"/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stuff</a:t>
            </a: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519C639E-FD6E-0639-E043-9475A0AE206F}"/>
              </a:ext>
            </a:extLst>
          </p:cNvPr>
          <p:cNvSpPr/>
          <p:nvPr/>
        </p:nvSpPr>
        <p:spPr>
          <a:xfrm>
            <a:off x="2507982" y="1288583"/>
            <a:ext cx="1217970" cy="415499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BE208F65-1ACD-404F-5122-8FDC916CD14A}"/>
              </a:ext>
            </a:extLst>
          </p:cNvPr>
          <p:cNvSpPr/>
          <p:nvPr/>
        </p:nvSpPr>
        <p:spPr>
          <a:xfrm rot="10800000">
            <a:off x="6255179" y="1589972"/>
            <a:ext cx="623048" cy="404925"/>
          </a:xfrm>
          <a:prstGeom prst="bentArrow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5A091DE-053F-722E-EBE5-6B30D094BEAD}"/>
              </a:ext>
            </a:extLst>
          </p:cNvPr>
          <p:cNvSpPr/>
          <p:nvPr/>
        </p:nvSpPr>
        <p:spPr>
          <a:xfrm rot="16200000">
            <a:off x="3133386" y="2795485"/>
            <a:ext cx="414225" cy="1775928"/>
          </a:xfrm>
          <a:prstGeom prst="ben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Arrow: Bent 23">
            <a:extLst>
              <a:ext uri="{FF2B5EF4-FFF2-40B4-BE49-F238E27FC236}">
                <a16:creationId xmlns:a16="http://schemas.microsoft.com/office/drawing/2014/main" id="{ABF46C45-0C82-49E1-762D-07CB71828AA5}"/>
              </a:ext>
            </a:extLst>
          </p:cNvPr>
          <p:cNvSpPr/>
          <p:nvPr/>
        </p:nvSpPr>
        <p:spPr>
          <a:xfrm>
            <a:off x="3912576" y="1782575"/>
            <a:ext cx="889987" cy="404925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13" name="Picture 1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DF71DDA2-90BF-09BF-0A82-693DF3BBFF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7876228" y="3762429"/>
            <a:ext cx="471034" cy="708873"/>
          </a:xfrm>
          <a:prstGeom prst="rect">
            <a:avLst/>
          </a:prstGeom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C9C10463-FF49-09D8-03A6-0D71C02D0DFA}"/>
              </a:ext>
            </a:extLst>
          </p:cNvPr>
          <p:cNvSpPr/>
          <p:nvPr/>
        </p:nvSpPr>
        <p:spPr>
          <a:xfrm>
            <a:off x="5434864" y="1207557"/>
            <a:ext cx="820730" cy="267987"/>
          </a:xfrm>
          <a:prstGeom prst="righ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Flowchart: Decision 3">
            <a:extLst>
              <a:ext uri="{FF2B5EF4-FFF2-40B4-BE49-F238E27FC236}">
                <a16:creationId xmlns:a16="http://schemas.microsoft.com/office/drawing/2014/main" id="{B14D1A25-1F5A-74DF-36D5-6CBB3203F698}"/>
              </a:ext>
            </a:extLst>
          </p:cNvPr>
          <p:cNvSpPr/>
          <p:nvPr/>
        </p:nvSpPr>
        <p:spPr>
          <a:xfrm>
            <a:off x="4778403" y="2716516"/>
            <a:ext cx="1602417" cy="667343"/>
          </a:xfrm>
          <a:prstGeom prst="flowChartDecision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>
                    <a:lumMod val="85000"/>
                  </a:schemeClr>
                </a:solidFill>
                <a:latin typeface="Press Start 2P" panose="00000500000000000000" pitchFamily="2" charset="0"/>
              </a:rPr>
              <a:t>Last</a:t>
            </a:r>
          </a:p>
          <a:p>
            <a:pPr algn="ctr"/>
            <a:r>
              <a:rPr lang="en-US" sz="800" dirty="0">
                <a:solidFill>
                  <a:schemeClr val="bg1">
                    <a:lumMod val="85000"/>
                  </a:schemeClr>
                </a:solidFill>
                <a:latin typeface="Press Start 2P" panose="00000500000000000000" pitchFamily="2" charset="0"/>
              </a:rPr>
              <a:t>Stage?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CAC7028F-2236-D250-8B6C-809650446411}"/>
              </a:ext>
            </a:extLst>
          </p:cNvPr>
          <p:cNvSpPr/>
          <p:nvPr/>
        </p:nvSpPr>
        <p:spPr>
          <a:xfrm rot="5400000">
            <a:off x="5369591" y="2288648"/>
            <a:ext cx="439193" cy="215635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Arrow: Bent 11">
            <a:extLst>
              <a:ext uri="{FF2B5EF4-FFF2-40B4-BE49-F238E27FC236}">
                <a16:creationId xmlns:a16="http://schemas.microsoft.com/office/drawing/2014/main" id="{9F485C33-58D3-49D0-DBC1-416A2E94BD7B}"/>
              </a:ext>
            </a:extLst>
          </p:cNvPr>
          <p:cNvSpPr/>
          <p:nvPr/>
        </p:nvSpPr>
        <p:spPr>
          <a:xfrm rot="16200000">
            <a:off x="4076292" y="2491230"/>
            <a:ext cx="404924" cy="855220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B2DA5D3-5942-B776-D702-8B8FC61F2FD1}"/>
              </a:ext>
            </a:extLst>
          </p:cNvPr>
          <p:cNvSpPr txBox="1"/>
          <p:nvPr/>
        </p:nvSpPr>
        <p:spPr>
          <a:xfrm>
            <a:off x="4004846" y="2716378"/>
            <a:ext cx="8171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No</a:t>
            </a: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5A9A217E-F411-A017-3097-C0F86105A3AA}"/>
              </a:ext>
            </a:extLst>
          </p:cNvPr>
          <p:cNvSpPr/>
          <p:nvPr/>
        </p:nvSpPr>
        <p:spPr>
          <a:xfrm rot="10800000">
            <a:off x="5061343" y="3513315"/>
            <a:ext cx="564186" cy="414228"/>
          </a:xfrm>
          <a:prstGeom prst="ben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D6BD1F-2665-08DC-1913-F7D9C6C21342}"/>
              </a:ext>
            </a:extLst>
          </p:cNvPr>
          <p:cNvSpPr txBox="1"/>
          <p:nvPr/>
        </p:nvSpPr>
        <p:spPr>
          <a:xfrm>
            <a:off x="5522728" y="3561432"/>
            <a:ext cx="81712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Yes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6A60F9-2D45-BC29-4F1F-1DF1102C0999}"/>
              </a:ext>
            </a:extLst>
          </p:cNvPr>
          <p:cNvSpPr txBox="1"/>
          <p:nvPr/>
        </p:nvSpPr>
        <p:spPr>
          <a:xfrm>
            <a:off x="3523420" y="2224498"/>
            <a:ext cx="88998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Next</a:t>
            </a:r>
          </a:p>
          <a:p>
            <a:pPr algn="ctr"/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stage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200CC0D-DC01-E642-D9A2-4E9650D483AE}"/>
              </a:ext>
            </a:extLst>
          </p:cNvPr>
          <p:cNvSpPr txBox="1"/>
          <p:nvPr/>
        </p:nvSpPr>
        <p:spPr>
          <a:xfrm>
            <a:off x="4231592" y="3618689"/>
            <a:ext cx="85522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Exit ride</a:t>
            </a: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76508E62-73E6-54DC-71F0-F6DC954F317D}"/>
              </a:ext>
            </a:extLst>
          </p:cNvPr>
          <p:cNvSpPr/>
          <p:nvPr/>
        </p:nvSpPr>
        <p:spPr>
          <a:xfrm rot="16200000">
            <a:off x="2407083" y="2445736"/>
            <a:ext cx="302512" cy="211610"/>
          </a:xfrm>
          <a:prstGeom prst="righ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90A1ECD-9EA6-38D5-C131-B861460F0571}"/>
              </a:ext>
            </a:extLst>
          </p:cNvPr>
          <p:cNvSpPr txBox="1"/>
          <p:nvPr/>
        </p:nvSpPr>
        <p:spPr>
          <a:xfrm>
            <a:off x="1778416" y="2801078"/>
            <a:ext cx="1639183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Enter</a:t>
            </a:r>
          </a:p>
          <a:p>
            <a:pPr algn="ctr"/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amusement park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7758279-B670-8728-6A81-D619970BE9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3AA79634-EE88-8E2E-B6E8-31A1D981D6B8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836584" y="4359863"/>
            <a:ext cx="335759" cy="167880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5B1F6713-DDA4-AF52-CCA9-B624EC7B75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8409" y="3751729"/>
            <a:ext cx="471034" cy="695064"/>
          </a:xfrm>
          <a:prstGeom prst="rect">
            <a:avLst/>
          </a:prstGeom>
        </p:spPr>
      </p:pic>
      <p:sp>
        <p:nvSpPr>
          <p:cNvPr id="30" name="Google Shape;999;p37">
            <a:extLst>
              <a:ext uri="{FF2B5EF4-FFF2-40B4-BE49-F238E27FC236}">
                <a16:creationId xmlns:a16="http://schemas.microsoft.com/office/drawing/2014/main" id="{B319C02D-B117-F07E-114F-A1A24C3DB12C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Core Loop</a:t>
            </a:r>
          </a:p>
        </p:txBody>
      </p:sp>
    </p:spTree>
    <p:extLst>
      <p:ext uri="{BB962C8B-B14F-4D97-AF65-F5344CB8AC3E}">
        <p14:creationId xmlns:p14="http://schemas.microsoft.com/office/powerpoint/2010/main" val="34701258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B0B7F87B-6B8D-1AA6-F307-A244AE3BBD5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89714A4-4C95-1762-D5EF-2993DAB164F0}"/>
              </a:ext>
            </a:extLst>
          </p:cNvPr>
          <p:cNvSpPr txBox="1">
            <a:spLocks/>
          </p:cNvSpPr>
          <p:nvPr/>
        </p:nvSpPr>
        <p:spPr>
          <a:xfrm>
            <a:off x="1172976" y="1437993"/>
            <a:ext cx="6798048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32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Look &amp; Feel</a:t>
            </a:r>
          </a:p>
        </p:txBody>
      </p:sp>
    </p:spTree>
    <p:extLst>
      <p:ext uri="{BB962C8B-B14F-4D97-AF65-F5344CB8AC3E}">
        <p14:creationId xmlns:p14="http://schemas.microsoft.com/office/powerpoint/2010/main" val="28840539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E986D8D-679B-DF16-78D6-36A609285C6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8207707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9C3ACD7-63EA-AD11-D4E3-7D8D477A2334}"/>
              </a:ext>
            </a:extLst>
          </p:cNvPr>
          <p:cNvSpPr txBox="1"/>
          <p:nvPr/>
        </p:nvSpPr>
        <p:spPr>
          <a:xfrm>
            <a:off x="6733630" y="118379"/>
            <a:ext cx="23006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Lighting system</a:t>
            </a:r>
          </a:p>
        </p:txBody>
      </p:sp>
      <p:pic>
        <p:nvPicPr>
          <p:cNvPr id="5" name="Picture 4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0297262-4441-1E24-7F61-AFC13D6CFD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0698427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0609FE13-086A-FABE-04FF-6CEC053EBD8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18652787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4F11DA75-266F-FC66-E9C2-454461BDE8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6934569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043CC30-6598-3FB3-BEFB-3E4EE54F8CC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0610712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4B3AE61E-DFA3-CD24-5FE2-1DEF7521A2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188591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deo game screen with a gate and buildings">
            <a:extLst>
              <a:ext uri="{FF2B5EF4-FFF2-40B4-BE49-F238E27FC236}">
                <a16:creationId xmlns:a16="http://schemas.microsoft.com/office/drawing/2014/main" id="{73A69CEA-855A-F283-11C4-F9635E15ACB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8D40509E-E4DC-E7E6-F196-BE6FF499E1DD}"/>
              </a:ext>
            </a:extLst>
          </p:cNvPr>
          <p:cNvSpPr txBox="1">
            <a:spLocks/>
          </p:cNvSpPr>
          <p:nvPr/>
        </p:nvSpPr>
        <p:spPr>
          <a:xfrm>
            <a:off x="738907" y="1079710"/>
            <a:ext cx="3741654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 complete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Proprietary MonoGame/C# engine, fully optimized and AOT-compatible (already proven on PC &amp; consoles).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Playable prototype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gameplay loop working (movement, basic combat, carts, procedural generation, lighting).</a:t>
            </a:r>
          </a:p>
        </p:txBody>
      </p:sp>
      <p:sp>
        <p:nvSpPr>
          <p:cNvPr id="7" name="Google Shape;1000;p37">
            <a:extLst>
              <a:ext uri="{FF2B5EF4-FFF2-40B4-BE49-F238E27FC236}">
                <a16:creationId xmlns:a16="http://schemas.microsoft.com/office/drawing/2014/main" id="{19CEF1D5-BDC4-62B3-4FF0-DA57B9D7DAE1}"/>
              </a:ext>
            </a:extLst>
          </p:cNvPr>
          <p:cNvSpPr txBox="1">
            <a:spLocks/>
          </p:cNvSpPr>
          <p:nvPr/>
        </p:nvSpPr>
        <p:spPr>
          <a:xfrm>
            <a:off x="4960138" y="1079710"/>
            <a:ext cx="3654816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direction established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style defined.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Tone &amp; humor tested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Prototype already showcases the comedy + horror mix.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Ready to scale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With the base systems stable, next step is expanding into full adventure content.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9" name="Google Shape;999;p37">
            <a:extLst>
              <a:ext uri="{FF2B5EF4-FFF2-40B4-BE49-F238E27FC236}">
                <a16:creationId xmlns:a16="http://schemas.microsoft.com/office/drawing/2014/main" id="{AF682735-BDDF-12FF-4636-9FE8E6DEDB2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Current Status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08F874C-A76B-3EC9-7CAF-545BFE380E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video game screen with a gate and buildings">
            <a:extLst>
              <a:ext uri="{FF2B5EF4-FFF2-40B4-BE49-F238E27FC236}">
                <a16:creationId xmlns:a16="http://schemas.microsoft.com/office/drawing/2014/main" id="{09202AF3-ADE5-DB2F-E0A7-C2BD9B511CD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46676" y="894843"/>
            <a:ext cx="3746947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Funding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We are seeking funding to produce the complete adventure:  expand content: bosses, biomes, items, full audio.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Content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Dozens of environment objects, unique bosses, hundreds of items, narrative events and secrets.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FD809C86-5746-E53D-31F2-04E70B49972C}"/>
              </a:ext>
            </a:extLst>
          </p:cNvPr>
          <p:cNvSpPr txBox="1">
            <a:spLocks/>
          </p:cNvSpPr>
          <p:nvPr/>
        </p:nvSpPr>
        <p:spPr>
          <a:xfrm>
            <a:off x="4745409" y="894843"/>
            <a:ext cx="400670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&amp; Animation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Full set of characters, monsters and environment assets.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Audio: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complete soundtrack and SFX production.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Ports &amp; Localization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 versions and professional localization to maximize reach.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Marketing Assets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Trailers, key art, promotional material.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B275CBDA-DB79-668B-D3D1-EBDA73B0DE2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Needs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CEF86FA-FB80-2E8D-A1CF-A3B52EAB2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A2527C92-4C52-C5DA-682B-0103D81FA3D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364104" y="987173"/>
            <a:ext cx="6415790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Development time:</a:t>
            </a:r>
            <a:r>
              <a:rPr lang="en-US" sz="9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14 months.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Budget: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220K USD (*)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ts val="16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Content scope: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12+ bosses, 30+ creatures, 200+ items, 40+ environment objects, 6-8 biomes → 15–25 hours of gameplay (average run-based replayability).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team: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Designers (2)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Programmer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writer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Background Artist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2D Animator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Composer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68911" y="4340822"/>
            <a:ext cx="4806177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(*) Does not include trailer production, localization and console porting.</a:t>
            </a:r>
          </a:p>
        </p:txBody>
      </p:sp>
      <p:pic>
        <p:nvPicPr>
          <p:cNvPr id="6" name="Picture 5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5F7740B9-4FBA-4BE0-6988-0AA73B6B89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2140" y="3362385"/>
            <a:ext cx="2862470" cy="1113183"/>
          </a:xfrm>
          <a:prstGeom prst="rect">
            <a:avLst/>
          </a:prstGeom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236D66A-9C1B-969E-0CB7-A2CA3D5CD4A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Production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7F2326-3B82-0B59-0457-9CD7A3AFF8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A76CAA-2D3C-F2D5-A385-576D4CBCB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xel art of a building">
            <a:extLst>
              <a:ext uri="{FF2B5EF4-FFF2-40B4-BE49-F238E27FC236}">
                <a16:creationId xmlns:a16="http://schemas.microsoft.com/office/drawing/2014/main" id="{BB90D463-A2DD-841D-1722-FBABDB98C69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8AD04312-634D-AFE6-B193-640CD9B1337A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039855" y="1099377"/>
            <a:ext cx="3462822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Veteran indie developers with 30+ years of combined experience.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 games shipped on PC and major consoles, award-winning for creativity and originality.</a:t>
            </a:r>
          </a:p>
        </p:txBody>
      </p:sp>
      <p:sp>
        <p:nvSpPr>
          <p:cNvPr id="6" name="Google Shape;999;p37">
            <a:extLst>
              <a:ext uri="{FF2B5EF4-FFF2-40B4-BE49-F238E27FC236}">
                <a16:creationId xmlns:a16="http://schemas.microsoft.com/office/drawing/2014/main" id="{CC3F05C0-B662-CD5F-CE3D-00F6D5E7E6C4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Who We Are</a:t>
            </a:r>
          </a:p>
        </p:txBody>
      </p:sp>
      <p:sp>
        <p:nvSpPr>
          <p:cNvPr id="11" name="Google Shape;1000;p37">
            <a:extLst>
              <a:ext uri="{FF2B5EF4-FFF2-40B4-BE49-F238E27FC236}">
                <a16:creationId xmlns:a16="http://schemas.microsoft.com/office/drawing/2014/main" id="{7E7048C3-05FD-4259-7150-DDEC27E3B893}"/>
              </a:ext>
            </a:extLst>
          </p:cNvPr>
          <p:cNvSpPr txBox="1">
            <a:spLocks/>
          </p:cNvSpPr>
          <p:nvPr/>
        </p:nvSpPr>
        <p:spPr>
          <a:xfrm>
            <a:off x="4956255" y="1088549"/>
            <a:ext cx="3376749" cy="1123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All games with the same publisher, proving both trust in our work and our reliability as long-term partners.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reliable, passionate team focused on unique, unforgettable experiences.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008BE7F-9729-8408-C08D-02BEA6760E8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>
            <a:off x="4664084" y="4398246"/>
            <a:ext cx="284676" cy="142338"/>
          </a:xfrm>
          <a:prstGeom prst="rect">
            <a:avLst/>
          </a:prstGeom>
        </p:spPr>
      </p:pic>
      <p:pic>
        <p:nvPicPr>
          <p:cNvPr id="7" name="Picture 6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4A9F576-8204-27F2-6587-AB77C5B569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4444014" y="3715024"/>
            <a:ext cx="512241" cy="760544"/>
          </a:xfrm>
          <a:prstGeom prst="rect">
            <a:avLst/>
          </a:prstGeom>
        </p:spPr>
      </p:pic>
      <p:pic>
        <p:nvPicPr>
          <p:cNvPr id="8" name="Picture 7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7028691D-E798-91DD-1477-0B9A6A548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6429181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555" y="1385068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517" y="2884478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9269" y="1379996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3971" y="2884478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/>
          <a:srcRect l="3782" r="3782"/>
          <a:stretch/>
        </p:blipFill>
        <p:spPr bwMode="auto">
          <a:xfrm>
            <a:off x="6190939" y="1379996"/>
            <a:ext cx="2576062" cy="150955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5A96646F-D576-B767-2AA6-70467D7FE3A8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Our Games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721B1A-A151-8774-332A-0FC6BDD6CFD0}"/>
              </a:ext>
            </a:extLst>
          </p:cNvPr>
          <p:cNvSpPr txBox="1"/>
          <p:nvPr/>
        </p:nvSpPr>
        <p:spPr>
          <a:xfrm>
            <a:off x="1322169" y="1133775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AB5130"/>
                </a:solidFill>
                <a:latin typeface="Press Start 2P" panose="00000500000000000000" pitchFamily="2" charset="0"/>
              </a:rPr>
              <a:t>2020</a:t>
            </a:r>
            <a:endParaRPr lang="en-US" sz="800" dirty="0">
              <a:solidFill>
                <a:srgbClr val="AB5130"/>
              </a:solidFill>
              <a:latin typeface="Press Start 2P" panose="000005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D4F8DC-E5F6-BE04-F02C-762226847025}"/>
              </a:ext>
            </a:extLst>
          </p:cNvPr>
          <p:cNvSpPr txBox="1"/>
          <p:nvPr/>
        </p:nvSpPr>
        <p:spPr>
          <a:xfrm>
            <a:off x="4223186" y="1133774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AB5130"/>
                </a:solidFill>
                <a:latin typeface="Press Start 2P" panose="00000500000000000000" pitchFamily="2" charset="0"/>
              </a:rPr>
              <a:t>2023</a:t>
            </a:r>
            <a:endParaRPr lang="en-US" sz="800" dirty="0">
              <a:solidFill>
                <a:srgbClr val="AB5130"/>
              </a:solidFill>
              <a:latin typeface="Press Start 2P" panose="000005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15D1CA-B8C1-15AC-836B-47AF04BB5640}"/>
              </a:ext>
            </a:extLst>
          </p:cNvPr>
          <p:cNvSpPr txBox="1"/>
          <p:nvPr/>
        </p:nvSpPr>
        <p:spPr>
          <a:xfrm>
            <a:off x="7221598" y="1133774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AB5130"/>
                </a:solidFill>
                <a:latin typeface="Press Start 2P" panose="00000500000000000000" pitchFamily="2" charset="0"/>
              </a:rPr>
              <a:t>2025</a:t>
            </a:r>
            <a:endParaRPr lang="en-US" sz="800" dirty="0">
              <a:solidFill>
                <a:srgbClr val="AB5130"/>
              </a:solidFill>
              <a:latin typeface="Press Start 2P" panose="00000500000000000000" pitchFamily="2" charset="0"/>
            </a:endParaRPr>
          </a:p>
        </p:txBody>
      </p:sp>
      <p:pic>
        <p:nvPicPr>
          <p:cNvPr id="7" name="Picture 6" descr="A logo with a yellow ball and wings">
            <a:extLst>
              <a:ext uri="{FF2B5EF4-FFF2-40B4-BE49-F238E27FC236}">
                <a16:creationId xmlns:a16="http://schemas.microsoft.com/office/drawing/2014/main" id="{1E0A098E-35B3-919F-ACD1-30DE9683E77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24866" y="4461341"/>
            <a:ext cx="1230475" cy="636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800109" y="1881515"/>
            <a:ext cx="3279517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Thank You!</a:t>
            </a:r>
          </a:p>
        </p:txBody>
      </p:sp>
      <p:pic>
        <p:nvPicPr>
          <p:cNvPr id="4" name="Picture 3" descr="A yellow and black logo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0973" y="307539"/>
            <a:ext cx="2582052" cy="166337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9D1E934B-613C-2E14-6E91-49245FEB845B}"/>
              </a:ext>
            </a:extLst>
          </p:cNvPr>
          <p:cNvSpPr txBox="1">
            <a:spLocks/>
          </p:cNvSpPr>
          <p:nvPr/>
        </p:nvSpPr>
        <p:spPr>
          <a:xfrm>
            <a:off x="2390552" y="4484913"/>
            <a:ext cx="3989992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>
              <a:buClr>
                <a:srgbClr val="8F4D57"/>
              </a:buClr>
              <a:buSzPts val="1100"/>
            </a:pPr>
            <a:r>
              <a:rPr lang="en-US" sz="8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Contact: diego@indiesruption.com</a:t>
            </a:r>
            <a:endParaRPr lang="en-US" sz="800" dirty="0">
              <a:solidFill>
                <a:srgbClr val="F6CA15"/>
              </a:solidFill>
              <a:latin typeface="Press Start 2P" panose="00000500000000000000" pitchFamily="2" charset="0"/>
            </a:endParaRPr>
          </a:p>
        </p:txBody>
      </p:sp>
      <p:pic>
        <p:nvPicPr>
          <p:cNvPr id="1026" name="Picture 2" descr="BITBANG | Conocé al Jurado de Videojuegos 2022">
            <a:hlinkClick r:id="rId5"/>
            <a:extLst>
              <a:ext uri="{FF2B5EF4-FFF2-40B4-BE49-F238E27FC236}">
                <a16:creationId xmlns:a16="http://schemas.microsoft.com/office/drawing/2014/main" id="{4A663F81-F70C-0353-F4B4-154EFAB75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0839" y="2557504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ITBANG | Conocé al Jurado de Videojuegos 2022">
            <a:hlinkClick r:id="rId7"/>
            <a:extLst>
              <a:ext uri="{FF2B5EF4-FFF2-40B4-BE49-F238E27FC236}">
                <a16:creationId xmlns:a16="http://schemas.microsoft.com/office/drawing/2014/main" id="{C7FF3FAD-54A0-77D9-B3A8-BB22C8AB46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0520" y="2560162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urgan A. Nallar 🎲 - Escuela de Game ...">
            <a:hlinkClick r:id="rId9"/>
            <a:extLst>
              <a:ext uri="{FF2B5EF4-FFF2-40B4-BE49-F238E27FC236}">
                <a16:creationId xmlns:a16="http://schemas.microsoft.com/office/drawing/2014/main" id="{1800DAD1-03A3-67E5-DE6D-4E125651B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0201" y="2557504"/>
            <a:ext cx="802959" cy="802959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99D06E37-DAD2-26D2-9E12-52ECA2CCAF00}"/>
              </a:ext>
            </a:extLst>
          </p:cNvPr>
          <p:cNvSpPr txBox="1">
            <a:spLocks/>
          </p:cNvSpPr>
          <p:nvPr/>
        </p:nvSpPr>
        <p:spPr>
          <a:xfrm>
            <a:off x="2356391" y="3399818"/>
            <a:ext cx="1551855" cy="695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Diego Cánepa</a:t>
            </a:r>
          </a:p>
          <a:p>
            <a:pPr marL="0" indent="0" algn="ctr">
              <a:lnSpc>
                <a:spcPct val="10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Founder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 Programmer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A5F3AC40-DE36-50F1-275A-042F7E3AECE2}"/>
              </a:ext>
            </a:extLst>
          </p:cNvPr>
          <p:cNvSpPr txBox="1">
            <a:spLocks/>
          </p:cNvSpPr>
          <p:nvPr/>
        </p:nvSpPr>
        <p:spPr>
          <a:xfrm>
            <a:off x="3908138" y="3399818"/>
            <a:ext cx="1329245" cy="337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Pablo Mamone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Project Manager</a:t>
            </a: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FB2C3E88-15B8-E8A9-33BF-ED3C0D951639}"/>
              </a:ext>
            </a:extLst>
          </p:cNvPr>
          <p:cNvSpPr txBox="1">
            <a:spLocks/>
          </p:cNvSpPr>
          <p:nvPr/>
        </p:nvSpPr>
        <p:spPr>
          <a:xfrm>
            <a:off x="5235756" y="3398672"/>
            <a:ext cx="1622074" cy="47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Durgan Nallar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 Designer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Designer</a:t>
            </a:r>
          </a:p>
        </p:txBody>
      </p:sp>
      <p:pic>
        <p:nvPicPr>
          <p:cNvPr id="7" name="Picture 6" descr="A pixelated blue square with white letters">
            <a:extLst>
              <a:ext uri="{FF2B5EF4-FFF2-40B4-BE49-F238E27FC236}">
                <a16:creationId xmlns:a16="http://schemas.microsoft.com/office/drawing/2014/main" id="{7337FE17-4928-293F-1ED9-D8621D7CE74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25954" y="3245085"/>
            <a:ext cx="163824" cy="163824"/>
          </a:xfrm>
          <a:prstGeom prst="rect">
            <a:avLst/>
          </a:prstGeom>
        </p:spPr>
      </p:pic>
      <p:pic>
        <p:nvPicPr>
          <p:cNvPr id="11" name="Picture 10" descr="A pixelated blue square with white letters">
            <a:extLst>
              <a:ext uri="{FF2B5EF4-FFF2-40B4-BE49-F238E27FC236}">
                <a16:creationId xmlns:a16="http://schemas.microsoft.com/office/drawing/2014/main" id="{E82CA1BC-7566-2E35-DBA1-BC638CF7F68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91568" y="3245085"/>
            <a:ext cx="163824" cy="163824"/>
          </a:xfrm>
          <a:prstGeom prst="rect">
            <a:avLst/>
          </a:prstGeom>
        </p:spPr>
      </p:pic>
      <p:pic>
        <p:nvPicPr>
          <p:cNvPr id="12" name="Picture 11" descr="A pixelated blue square with white letters">
            <a:extLst>
              <a:ext uri="{FF2B5EF4-FFF2-40B4-BE49-F238E27FC236}">
                <a16:creationId xmlns:a16="http://schemas.microsoft.com/office/drawing/2014/main" id="{84C4BD57-46E4-5A85-9EB1-E11DF5D2835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31248" y="3234848"/>
            <a:ext cx="163824" cy="163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3045</TotalTime>
  <Words>967</Words>
  <Application>Microsoft Office PowerPoint</Application>
  <PresentationFormat>On-screen Show (16:9)</PresentationFormat>
  <Paragraphs>161</Paragraphs>
  <Slides>20</Slides>
  <Notes>13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0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Press Start 2P</vt:lpstr>
      <vt:lpstr>Arial</vt:lpstr>
      <vt:lpstr>Maven Pro</vt:lpstr>
      <vt:lpstr>Super Pixel Vintage Gaming by Slidesgo</vt:lpstr>
      <vt:lpstr>PowerPoint Presentation</vt:lpstr>
      <vt:lpstr>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620</cp:revision>
  <dcterms:modified xsi:type="dcterms:W3CDTF">2025-09-09T00:18:12Z</dcterms:modified>
</cp:coreProperties>
</file>