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18"/>
  </p:notesMasterIdLst>
  <p:sldIdLst>
    <p:sldId id="330" r:id="rId2"/>
    <p:sldId id="260" r:id="rId3"/>
    <p:sldId id="350" r:id="rId4"/>
    <p:sldId id="351" r:id="rId5"/>
    <p:sldId id="345" r:id="rId6"/>
    <p:sldId id="355" r:id="rId7"/>
    <p:sldId id="357" r:id="rId8"/>
    <p:sldId id="359" r:id="rId9"/>
    <p:sldId id="349" r:id="rId10"/>
    <p:sldId id="333" r:id="rId11"/>
    <p:sldId id="323" r:id="rId12"/>
    <p:sldId id="324" r:id="rId13"/>
    <p:sldId id="320" r:id="rId14"/>
    <p:sldId id="358" r:id="rId15"/>
    <p:sldId id="343" r:id="rId16"/>
    <p:sldId id="321" r:id="rId17"/>
  </p:sldIdLst>
  <p:sldSz cx="9144000" cy="5143500" type="screen16x9"/>
  <p:notesSz cx="6858000" cy="9144000"/>
  <p:embeddedFontLst>
    <p:embeddedFont>
      <p:font typeface="Maven Pro" panose="020B0604020202020204" charset="0"/>
      <p:regular r:id="rId19"/>
      <p:bold r:id="rId20"/>
    </p:embeddedFont>
    <p:embeddedFont>
      <p:font typeface="Press Start 2P" panose="00000500000000000000" pitchFamily="2" charset="0"/>
      <p:regular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8F4D57"/>
    <a:srgbClr val="BD6A62"/>
    <a:srgbClr val="3B7D4F"/>
    <a:srgbClr val="AB5130"/>
    <a:srgbClr val="B73C05"/>
    <a:srgbClr val="862536"/>
    <a:srgbClr val="800000"/>
    <a:srgbClr val="92293B"/>
    <a:srgbClr val="CC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7D3D775-E612-4A68-ABBB-C3B02DE864C1}">
  <a:tblStyle styleId="{67D3D775-E612-4A68-ABBB-C3B02DE864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8" d="100"/>
          <a:sy n="128" d="100"/>
        </p:scale>
        <p:origin x="1134" y="36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85840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780F424A-984B-8DE7-A098-1F34836D9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35DCF18-8AFB-B827-9C96-C62B578BC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56662914-27BE-EECE-904C-10C6EDE4F1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556232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33ADB03-200D-258B-C7C3-7908B8426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8312192-2B63-1398-952D-E6EC0E2DBF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02890061-A834-5D1E-5E63-02581E059A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90594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EAE9E16-E741-2AFC-528A-5D362D227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9823407-3371-B2D4-9D7A-A39E9B6404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C167794-BB93-5CE2-C42A-8137230037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15816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187F902-DF7D-842C-4A79-8343FC74A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0A0F839-F3B8-E88D-36F2-F51FF7A463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C3C806C-C97B-20DD-4960-1CFEDF3F2A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302859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DD1AC29-AAD8-3BF1-6128-D7D32F35D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8A8E7BC-C8A6-D3B5-2332-15BBB630AC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5569CFE-0103-6B4E-5AB0-7E5DBED158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264814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BFD44D77-5B9D-6F28-C4D9-3E104C1D9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B50D407-7A4B-492D-FE81-A914EA310E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73DE1C2E-2ADA-AC79-2815-BED275C9AE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413315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2717E27-6FB4-BC23-2466-5E75556A2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183FEBC-059D-AB63-AF33-EAD32DED9D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23BBDD17-5A60-0D6A-F8AE-B410259327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68807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74B9D20-03E9-9419-86F2-50EF17F4C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FAE5FF0C-BFBA-F92A-9C44-4B6A9AD689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B190A7B-7E94-3D7E-61E9-04A6B4738C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31956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C7A66D30-EEBA-D26C-B7E5-02FA0B754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F2516FD-8C92-0365-481F-B95A12E707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DBD48D3-210D-84C6-D120-2FBA89D21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184297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D07437F-E0EA-831F-F2B8-84F59181F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074959D-9AA7-D270-552C-3D655A2FD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63C974D2-18E8-8BEA-6DD5-A55D55F870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02484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ABBC480F-1BDD-CF52-A0AD-F5C925048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B9373A4-F5BE-B7AC-B93F-CCF5D3E1AA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B19FCD1-F79A-3F1F-80A1-83C58A4979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412898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80B67A76-22B9-84A6-E145-6E495BB36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5890F23-F67E-1640-6079-4989FAB6A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035D575-CF13-4A7B-2B86-7A49D15805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05755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Title only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9;p2">
            <a:extLst>
              <a:ext uri="{FF2B5EF4-FFF2-40B4-BE49-F238E27FC236}">
                <a16:creationId xmlns:a16="http://schemas.microsoft.com/office/drawing/2014/main" id="{B74B651D-B17C-77C1-7A71-72E8190EF5C2}"/>
              </a:ext>
            </a:extLst>
          </p:cNvPr>
          <p:cNvSpPr/>
          <p:nvPr userDrawn="1"/>
        </p:nvSpPr>
        <p:spPr>
          <a:xfrm>
            <a:off x="2358747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0;p2">
            <a:extLst>
              <a:ext uri="{FF2B5EF4-FFF2-40B4-BE49-F238E27FC236}">
                <a16:creationId xmlns:a16="http://schemas.microsoft.com/office/drawing/2014/main" id="{3435CFA5-74C7-AD14-88DC-40B1595375B8}"/>
              </a:ext>
            </a:extLst>
          </p:cNvPr>
          <p:cNvSpPr/>
          <p:nvPr userDrawn="1"/>
        </p:nvSpPr>
        <p:spPr>
          <a:xfrm>
            <a:off x="2948462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;p2">
            <a:extLst>
              <a:ext uri="{FF2B5EF4-FFF2-40B4-BE49-F238E27FC236}">
                <a16:creationId xmlns:a16="http://schemas.microsoft.com/office/drawing/2014/main" id="{0803F4CA-8D86-A4C4-B692-25D42C135A77}"/>
              </a:ext>
            </a:extLst>
          </p:cNvPr>
          <p:cNvSpPr/>
          <p:nvPr userDrawn="1"/>
        </p:nvSpPr>
        <p:spPr>
          <a:xfrm>
            <a:off x="5896249" y="60408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2;p2">
            <a:extLst>
              <a:ext uri="{FF2B5EF4-FFF2-40B4-BE49-F238E27FC236}">
                <a16:creationId xmlns:a16="http://schemas.microsoft.com/office/drawing/2014/main" id="{ECD4822F-7194-3A81-4434-79104FE737E6}"/>
              </a:ext>
            </a:extLst>
          </p:cNvPr>
          <p:cNvSpPr/>
          <p:nvPr userDrawn="1"/>
        </p:nvSpPr>
        <p:spPr>
          <a:xfrm>
            <a:off x="8256011" y="60429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3;p2">
            <a:extLst>
              <a:ext uri="{FF2B5EF4-FFF2-40B4-BE49-F238E27FC236}">
                <a16:creationId xmlns:a16="http://schemas.microsoft.com/office/drawing/2014/main" id="{6402B80D-9BE5-0C99-CB10-EEEF944BD193}"/>
              </a:ext>
            </a:extLst>
          </p:cNvPr>
          <p:cNvSpPr/>
          <p:nvPr userDrawn="1"/>
        </p:nvSpPr>
        <p:spPr>
          <a:xfrm>
            <a:off x="-146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4;p2">
            <a:extLst>
              <a:ext uri="{FF2B5EF4-FFF2-40B4-BE49-F238E27FC236}">
                <a16:creationId xmlns:a16="http://schemas.microsoft.com/office/drawing/2014/main" id="{641F2603-8162-37F9-190B-9FC9FA614BD4}"/>
              </a:ext>
            </a:extLst>
          </p:cNvPr>
          <p:cNvSpPr/>
          <p:nvPr userDrawn="1"/>
        </p:nvSpPr>
        <p:spPr>
          <a:xfrm>
            <a:off x="58957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5;p2">
            <a:extLst>
              <a:ext uri="{FF2B5EF4-FFF2-40B4-BE49-F238E27FC236}">
                <a16:creationId xmlns:a16="http://schemas.microsoft.com/office/drawing/2014/main" id="{2A934EE3-D739-7928-4671-434B3EF00098}"/>
              </a:ext>
            </a:extLst>
          </p:cNvPr>
          <p:cNvSpPr/>
          <p:nvPr userDrawn="1"/>
        </p:nvSpPr>
        <p:spPr>
          <a:xfrm>
            <a:off x="117928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16;p2">
            <a:extLst>
              <a:ext uri="{FF2B5EF4-FFF2-40B4-BE49-F238E27FC236}">
                <a16:creationId xmlns:a16="http://schemas.microsoft.com/office/drawing/2014/main" id="{9FA21B27-6F61-C00A-2BDB-ADCE7A4C9EDA}"/>
              </a:ext>
            </a:extLst>
          </p:cNvPr>
          <p:cNvSpPr/>
          <p:nvPr userDrawn="1"/>
        </p:nvSpPr>
        <p:spPr>
          <a:xfrm>
            <a:off x="176900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17;p2">
            <a:extLst>
              <a:ext uri="{FF2B5EF4-FFF2-40B4-BE49-F238E27FC236}">
                <a16:creationId xmlns:a16="http://schemas.microsoft.com/office/drawing/2014/main" id="{321A6377-A923-113C-3F04-32A14ACDA60D}"/>
              </a:ext>
            </a:extLst>
          </p:cNvPr>
          <p:cNvSpPr/>
          <p:nvPr userDrawn="1"/>
        </p:nvSpPr>
        <p:spPr>
          <a:xfrm>
            <a:off x="2948462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18;p2">
            <a:extLst>
              <a:ext uri="{FF2B5EF4-FFF2-40B4-BE49-F238E27FC236}">
                <a16:creationId xmlns:a16="http://schemas.microsoft.com/office/drawing/2014/main" id="{BD4DC746-5D3A-4CBD-6BF7-743A5CD81AFE}"/>
              </a:ext>
            </a:extLst>
          </p:cNvPr>
          <p:cNvSpPr/>
          <p:nvPr userDrawn="1"/>
        </p:nvSpPr>
        <p:spPr>
          <a:xfrm>
            <a:off x="3538177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19;p2">
            <a:extLst>
              <a:ext uri="{FF2B5EF4-FFF2-40B4-BE49-F238E27FC236}">
                <a16:creationId xmlns:a16="http://schemas.microsoft.com/office/drawing/2014/main" id="{6A1A2A16-9CB1-39D0-F713-638C4A62A220}"/>
              </a:ext>
            </a:extLst>
          </p:cNvPr>
          <p:cNvSpPr/>
          <p:nvPr userDrawn="1"/>
        </p:nvSpPr>
        <p:spPr>
          <a:xfrm>
            <a:off x="5307354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20;p2">
            <a:extLst>
              <a:ext uri="{FF2B5EF4-FFF2-40B4-BE49-F238E27FC236}">
                <a16:creationId xmlns:a16="http://schemas.microsoft.com/office/drawing/2014/main" id="{7ACC9AD9-5865-A0E9-AC52-4D33BD3690E4}"/>
              </a:ext>
            </a:extLst>
          </p:cNvPr>
          <p:cNvSpPr/>
          <p:nvPr userDrawn="1"/>
        </p:nvSpPr>
        <p:spPr>
          <a:xfrm>
            <a:off x="5897100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21;p2">
            <a:extLst>
              <a:ext uri="{FF2B5EF4-FFF2-40B4-BE49-F238E27FC236}">
                <a16:creationId xmlns:a16="http://schemas.microsoft.com/office/drawing/2014/main" id="{85053872-D365-5AD1-6905-3C4802BBB19F}"/>
              </a:ext>
            </a:extLst>
          </p:cNvPr>
          <p:cNvSpPr/>
          <p:nvPr userDrawn="1"/>
        </p:nvSpPr>
        <p:spPr>
          <a:xfrm>
            <a:off x="648681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22;p2">
            <a:extLst>
              <a:ext uri="{FF2B5EF4-FFF2-40B4-BE49-F238E27FC236}">
                <a16:creationId xmlns:a16="http://schemas.microsoft.com/office/drawing/2014/main" id="{A1A26F75-7B15-DA54-4FBA-96641762CA2A}"/>
              </a:ext>
            </a:extLst>
          </p:cNvPr>
          <p:cNvSpPr/>
          <p:nvPr userDrawn="1"/>
        </p:nvSpPr>
        <p:spPr>
          <a:xfrm>
            <a:off x="7076531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23;p2">
            <a:extLst>
              <a:ext uri="{FF2B5EF4-FFF2-40B4-BE49-F238E27FC236}">
                <a16:creationId xmlns:a16="http://schemas.microsoft.com/office/drawing/2014/main" id="{A683E51D-E37C-7B0B-ECC6-F0DC037071C3}"/>
              </a:ext>
            </a:extLst>
          </p:cNvPr>
          <p:cNvSpPr/>
          <p:nvPr userDrawn="1"/>
        </p:nvSpPr>
        <p:spPr>
          <a:xfrm>
            <a:off x="-146" y="121400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24;p2">
            <a:extLst>
              <a:ext uri="{FF2B5EF4-FFF2-40B4-BE49-F238E27FC236}">
                <a16:creationId xmlns:a16="http://schemas.microsoft.com/office/drawing/2014/main" id="{77BCE4B0-7A80-F235-966C-7335EAA88F60}"/>
              </a:ext>
            </a:extLst>
          </p:cNvPr>
          <p:cNvSpPr/>
          <p:nvPr userDrawn="1"/>
        </p:nvSpPr>
        <p:spPr>
          <a:xfrm>
            <a:off x="8256862" y="121421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28;p2">
            <a:extLst>
              <a:ext uri="{FF2B5EF4-FFF2-40B4-BE49-F238E27FC236}">
                <a16:creationId xmlns:a16="http://schemas.microsoft.com/office/drawing/2014/main" id="{39B82EB9-DFC0-1D00-9D42-668A401A6143}"/>
              </a:ext>
            </a:extLst>
          </p:cNvPr>
          <p:cNvSpPr/>
          <p:nvPr userDrawn="1"/>
        </p:nvSpPr>
        <p:spPr>
          <a:xfrm>
            <a:off x="8846619" y="167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32;p2">
            <a:extLst>
              <a:ext uri="{FF2B5EF4-FFF2-40B4-BE49-F238E27FC236}">
                <a16:creationId xmlns:a16="http://schemas.microsoft.com/office/drawing/2014/main" id="{1F4981B9-479A-35D4-F980-DD023E99E00B}"/>
              </a:ext>
            </a:extLst>
          </p:cNvPr>
          <p:cNvSpPr/>
          <p:nvPr userDrawn="1"/>
        </p:nvSpPr>
        <p:spPr>
          <a:xfrm>
            <a:off x="590482" y="121399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33;p2">
            <a:extLst>
              <a:ext uri="{FF2B5EF4-FFF2-40B4-BE49-F238E27FC236}">
                <a16:creationId xmlns:a16="http://schemas.microsoft.com/office/drawing/2014/main" id="{5BCFF738-5FB7-2F4F-B5E8-355CFFA9885E}"/>
              </a:ext>
            </a:extLst>
          </p:cNvPr>
          <p:cNvSpPr/>
          <p:nvPr userDrawn="1"/>
        </p:nvSpPr>
        <p:spPr>
          <a:xfrm>
            <a:off x="-205" y="60407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34;p2">
            <a:extLst>
              <a:ext uri="{FF2B5EF4-FFF2-40B4-BE49-F238E27FC236}">
                <a16:creationId xmlns:a16="http://schemas.microsoft.com/office/drawing/2014/main" id="{DD5D31B2-5E33-A4DA-9843-5FCBCDB16C45}"/>
              </a:ext>
            </a:extLst>
          </p:cNvPr>
          <p:cNvSpPr/>
          <p:nvPr userDrawn="1"/>
        </p:nvSpPr>
        <p:spPr>
          <a:xfrm>
            <a:off x="590014" y="6040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35;p2">
            <a:extLst>
              <a:ext uri="{FF2B5EF4-FFF2-40B4-BE49-F238E27FC236}">
                <a16:creationId xmlns:a16="http://schemas.microsoft.com/office/drawing/2014/main" id="{F7585B2B-1137-EAD1-3FA3-F5B3E8D5EE2E}"/>
              </a:ext>
            </a:extLst>
          </p:cNvPr>
          <p:cNvSpPr/>
          <p:nvPr userDrawn="1"/>
        </p:nvSpPr>
        <p:spPr>
          <a:xfrm>
            <a:off x="1179776" y="60406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36;p2">
            <a:extLst>
              <a:ext uri="{FF2B5EF4-FFF2-40B4-BE49-F238E27FC236}">
                <a16:creationId xmlns:a16="http://schemas.microsoft.com/office/drawing/2014/main" id="{8D1873A8-56F7-9529-AF1C-E1C29F74ADFC}"/>
              </a:ext>
            </a:extLst>
          </p:cNvPr>
          <p:cNvSpPr/>
          <p:nvPr userDrawn="1"/>
        </p:nvSpPr>
        <p:spPr>
          <a:xfrm>
            <a:off x="1768774" y="60235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37;p2">
            <a:extLst>
              <a:ext uri="{FF2B5EF4-FFF2-40B4-BE49-F238E27FC236}">
                <a16:creationId xmlns:a16="http://schemas.microsoft.com/office/drawing/2014/main" id="{EC8D4E83-5437-0F04-F993-5F8C5F6951E1}"/>
              </a:ext>
            </a:extLst>
          </p:cNvPr>
          <p:cNvSpPr/>
          <p:nvPr userDrawn="1"/>
        </p:nvSpPr>
        <p:spPr>
          <a:xfrm>
            <a:off x="3538190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38;p2">
            <a:extLst>
              <a:ext uri="{FF2B5EF4-FFF2-40B4-BE49-F238E27FC236}">
                <a16:creationId xmlns:a16="http://schemas.microsoft.com/office/drawing/2014/main" id="{37EB1798-9C6D-53FA-9F90-61146E011FCD}"/>
              </a:ext>
            </a:extLst>
          </p:cNvPr>
          <p:cNvSpPr/>
          <p:nvPr userDrawn="1"/>
        </p:nvSpPr>
        <p:spPr>
          <a:xfrm>
            <a:off x="4127524" y="6023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39;p2">
            <a:extLst>
              <a:ext uri="{FF2B5EF4-FFF2-40B4-BE49-F238E27FC236}">
                <a16:creationId xmlns:a16="http://schemas.microsoft.com/office/drawing/2014/main" id="{721237CB-3D42-1D0B-B98F-82AEDB6B74D6}"/>
              </a:ext>
            </a:extLst>
          </p:cNvPr>
          <p:cNvSpPr/>
          <p:nvPr userDrawn="1"/>
        </p:nvSpPr>
        <p:spPr>
          <a:xfrm>
            <a:off x="4716801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40;p2">
            <a:extLst>
              <a:ext uri="{FF2B5EF4-FFF2-40B4-BE49-F238E27FC236}">
                <a16:creationId xmlns:a16="http://schemas.microsoft.com/office/drawing/2014/main" id="{56A5222E-3CA7-90F1-4B86-CCA12686DBF1}"/>
              </a:ext>
            </a:extLst>
          </p:cNvPr>
          <p:cNvSpPr/>
          <p:nvPr userDrawn="1"/>
        </p:nvSpPr>
        <p:spPr>
          <a:xfrm>
            <a:off x="5306994" y="602348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41;p2">
            <a:extLst>
              <a:ext uri="{FF2B5EF4-FFF2-40B4-BE49-F238E27FC236}">
                <a16:creationId xmlns:a16="http://schemas.microsoft.com/office/drawing/2014/main" id="{B4577FB3-C844-1A82-1314-FCF4EAFFB67D}"/>
              </a:ext>
            </a:extLst>
          </p:cNvPr>
          <p:cNvSpPr/>
          <p:nvPr userDrawn="1"/>
        </p:nvSpPr>
        <p:spPr>
          <a:xfrm>
            <a:off x="6485958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42;p2">
            <a:extLst>
              <a:ext uri="{FF2B5EF4-FFF2-40B4-BE49-F238E27FC236}">
                <a16:creationId xmlns:a16="http://schemas.microsoft.com/office/drawing/2014/main" id="{4705CF73-B28D-791F-8AF8-9D3112CFC4E7}"/>
              </a:ext>
            </a:extLst>
          </p:cNvPr>
          <p:cNvSpPr/>
          <p:nvPr userDrawn="1"/>
        </p:nvSpPr>
        <p:spPr>
          <a:xfrm>
            <a:off x="7075680" y="60597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43;p2">
            <a:extLst>
              <a:ext uri="{FF2B5EF4-FFF2-40B4-BE49-F238E27FC236}">
                <a16:creationId xmlns:a16="http://schemas.microsoft.com/office/drawing/2014/main" id="{4AB2225D-E74B-1047-D9AD-0F6730FE6C57}"/>
              </a:ext>
            </a:extLst>
          </p:cNvPr>
          <p:cNvSpPr/>
          <p:nvPr userDrawn="1"/>
        </p:nvSpPr>
        <p:spPr>
          <a:xfrm>
            <a:off x="4127897" y="109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44;p2">
            <a:extLst>
              <a:ext uri="{FF2B5EF4-FFF2-40B4-BE49-F238E27FC236}">
                <a16:creationId xmlns:a16="http://schemas.microsoft.com/office/drawing/2014/main" id="{FE5C4FDE-9F84-7013-4329-3E08E5FA1D5D}"/>
              </a:ext>
            </a:extLst>
          </p:cNvPr>
          <p:cNvSpPr/>
          <p:nvPr userDrawn="1"/>
        </p:nvSpPr>
        <p:spPr>
          <a:xfrm>
            <a:off x="7667165" y="0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45;p2">
            <a:extLst>
              <a:ext uri="{FF2B5EF4-FFF2-40B4-BE49-F238E27FC236}">
                <a16:creationId xmlns:a16="http://schemas.microsoft.com/office/drawing/2014/main" id="{D0F50702-B225-8DD7-FD90-10AA50054A46}"/>
              </a:ext>
            </a:extLst>
          </p:cNvPr>
          <p:cNvSpPr/>
          <p:nvPr userDrawn="1"/>
        </p:nvSpPr>
        <p:spPr>
          <a:xfrm>
            <a:off x="7665392" y="602321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46;p2">
            <a:extLst>
              <a:ext uri="{FF2B5EF4-FFF2-40B4-BE49-F238E27FC236}">
                <a16:creationId xmlns:a16="http://schemas.microsoft.com/office/drawing/2014/main" id="{774551D7-1C49-B9B4-AEEB-D65EBF9649CB}"/>
              </a:ext>
            </a:extLst>
          </p:cNvPr>
          <p:cNvSpPr/>
          <p:nvPr userDrawn="1"/>
        </p:nvSpPr>
        <p:spPr>
          <a:xfrm>
            <a:off x="8256894" y="125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47;p2">
            <a:extLst>
              <a:ext uri="{FF2B5EF4-FFF2-40B4-BE49-F238E27FC236}">
                <a16:creationId xmlns:a16="http://schemas.microsoft.com/office/drawing/2014/main" id="{950DCA13-2E04-C568-390B-ECC0E1375BE8}"/>
              </a:ext>
            </a:extLst>
          </p:cNvPr>
          <p:cNvSpPr/>
          <p:nvPr userDrawn="1"/>
        </p:nvSpPr>
        <p:spPr>
          <a:xfrm>
            <a:off x="8847574" y="60384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48;p2">
            <a:extLst>
              <a:ext uri="{FF2B5EF4-FFF2-40B4-BE49-F238E27FC236}">
                <a16:creationId xmlns:a16="http://schemas.microsoft.com/office/drawing/2014/main" id="{97F06346-710C-0EC0-BA2D-E5307F955D61}"/>
              </a:ext>
            </a:extLst>
          </p:cNvPr>
          <p:cNvSpPr/>
          <p:nvPr userDrawn="1"/>
        </p:nvSpPr>
        <p:spPr>
          <a:xfrm>
            <a:off x="8847625" y="121423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21;p2">
            <a:extLst>
              <a:ext uri="{FF2B5EF4-FFF2-40B4-BE49-F238E27FC236}">
                <a16:creationId xmlns:a16="http://schemas.microsoft.com/office/drawing/2014/main" id="{04C9F06D-439A-4CC7-1865-2FBE902A9A75}"/>
              </a:ext>
            </a:extLst>
          </p:cNvPr>
          <p:cNvSpPr/>
          <p:nvPr userDrawn="1"/>
        </p:nvSpPr>
        <p:spPr>
          <a:xfrm>
            <a:off x="4714707" y="421763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8824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9"/>
          <p:cNvSpPr/>
          <p:nvPr/>
        </p:nvSpPr>
        <p:spPr>
          <a:xfrm>
            <a:off x="587" y="4209314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9"/>
          <p:cNvSpPr/>
          <p:nvPr/>
        </p:nvSpPr>
        <p:spPr>
          <a:xfrm>
            <a:off x="587" y="4556413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338131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587" y="4910387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335222" y="4901278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657032" y="4900639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9"/>
          <p:cNvSpPr/>
          <p:nvPr/>
        </p:nvSpPr>
        <p:spPr>
          <a:xfrm>
            <a:off x="8924083" y="4209314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8586942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3" name="Google Shape;243;p9"/>
          <p:cNvSpPr/>
          <p:nvPr/>
        </p:nvSpPr>
        <p:spPr>
          <a:xfrm>
            <a:off x="8924083" y="4556436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8246130" y="4900639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8581508" y="4903546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8916143" y="4903558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9"/>
          <p:cNvSpPr txBox="1">
            <a:spLocks noGrp="1"/>
          </p:cNvSpPr>
          <p:nvPr>
            <p:ph type="title"/>
          </p:nvPr>
        </p:nvSpPr>
        <p:spPr>
          <a:xfrm>
            <a:off x="1813050" y="1872881"/>
            <a:ext cx="5517900" cy="6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 dirty="0"/>
          </a:p>
        </p:txBody>
      </p:sp>
      <p:sp>
        <p:nvSpPr>
          <p:cNvPr id="248" name="Google Shape;248;p9"/>
          <p:cNvSpPr txBox="1">
            <a:spLocks noGrp="1"/>
          </p:cNvSpPr>
          <p:nvPr>
            <p:ph type="subTitle" idx="1"/>
          </p:nvPr>
        </p:nvSpPr>
        <p:spPr>
          <a:xfrm>
            <a:off x="2155200" y="2601819"/>
            <a:ext cx="4833600" cy="11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>
  <p:cSld name="ONE_COLUMN_TEXT_1_1_1_1_1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21"/>
          <p:cNvSpPr/>
          <p:nvPr/>
        </p:nvSpPr>
        <p:spPr>
          <a:xfrm flipH="1">
            <a:off x="6489629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21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29513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21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21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21"/>
          <p:cNvSpPr/>
          <p:nvPr/>
        </p:nvSpPr>
        <p:spPr>
          <a:xfrm flipH="1">
            <a:off x="3541462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21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21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21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92658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and Bottom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2" name="Google Shape;556;p21">
            <a:extLst>
              <a:ext uri="{FF2B5EF4-FFF2-40B4-BE49-F238E27FC236}">
                <a16:creationId xmlns:a16="http://schemas.microsoft.com/office/drawing/2014/main" id="{9B8C0A79-5021-E113-CC9B-869724F3B862}"/>
              </a:ext>
            </a:extLst>
          </p:cNvPr>
          <p:cNvSpPr/>
          <p:nvPr userDrawn="1"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560;p21">
            <a:extLst>
              <a:ext uri="{FF2B5EF4-FFF2-40B4-BE49-F238E27FC236}">
                <a16:creationId xmlns:a16="http://schemas.microsoft.com/office/drawing/2014/main" id="{5179C120-AEEB-B912-07D6-29CB3B25BC8E}"/>
              </a:ext>
            </a:extLst>
          </p:cNvPr>
          <p:cNvSpPr/>
          <p:nvPr userDrawn="1"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561;p21">
            <a:extLst>
              <a:ext uri="{FF2B5EF4-FFF2-40B4-BE49-F238E27FC236}">
                <a16:creationId xmlns:a16="http://schemas.microsoft.com/office/drawing/2014/main" id="{EBBE5F28-03D4-F0CE-8D41-5FC6939B5FC2}"/>
              </a:ext>
            </a:extLst>
          </p:cNvPr>
          <p:cNvSpPr/>
          <p:nvPr userDrawn="1"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562;p21">
            <a:extLst>
              <a:ext uri="{FF2B5EF4-FFF2-40B4-BE49-F238E27FC236}">
                <a16:creationId xmlns:a16="http://schemas.microsoft.com/office/drawing/2014/main" id="{EAC1E710-B1DB-284A-C287-D8D825AEAFD9}"/>
              </a:ext>
            </a:extLst>
          </p:cNvPr>
          <p:cNvSpPr/>
          <p:nvPr userDrawn="1"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563;p21">
            <a:extLst>
              <a:ext uri="{FF2B5EF4-FFF2-40B4-BE49-F238E27FC236}">
                <a16:creationId xmlns:a16="http://schemas.microsoft.com/office/drawing/2014/main" id="{4FA98739-F2A9-4256-72DF-6DA916844521}"/>
              </a:ext>
            </a:extLst>
          </p:cNvPr>
          <p:cNvSpPr/>
          <p:nvPr userDrawn="1"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568;p21">
            <a:extLst>
              <a:ext uri="{FF2B5EF4-FFF2-40B4-BE49-F238E27FC236}">
                <a16:creationId xmlns:a16="http://schemas.microsoft.com/office/drawing/2014/main" id="{A24CB6D6-FB1C-FA5F-4C4E-2F896DC5E849}"/>
              </a:ext>
            </a:extLst>
          </p:cNvPr>
          <p:cNvSpPr/>
          <p:nvPr userDrawn="1"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569;p21">
            <a:extLst>
              <a:ext uri="{FF2B5EF4-FFF2-40B4-BE49-F238E27FC236}">
                <a16:creationId xmlns:a16="http://schemas.microsoft.com/office/drawing/2014/main" id="{14992504-6549-658B-4F64-6291EC9D60A3}"/>
              </a:ext>
            </a:extLst>
          </p:cNvPr>
          <p:cNvSpPr/>
          <p:nvPr userDrawn="1"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570;p21">
            <a:extLst>
              <a:ext uri="{FF2B5EF4-FFF2-40B4-BE49-F238E27FC236}">
                <a16:creationId xmlns:a16="http://schemas.microsoft.com/office/drawing/2014/main" id="{BF6DE7E2-8DCB-DB52-41BB-8F02C936503D}"/>
              </a:ext>
            </a:extLst>
          </p:cNvPr>
          <p:cNvSpPr/>
          <p:nvPr userDrawn="1"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9196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70" r:id="rId2"/>
    <p:sldLayoutId id="2147483655" r:id="rId3"/>
    <p:sldLayoutId id="2147483658" r:id="rId4"/>
    <p:sldLayoutId id="2147483667" r:id="rId5"/>
    <p:sldLayoutId id="2147483668" r:id="rId6"/>
    <p:sldLayoutId id="2147483669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8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microsoft.com/office/2007/relationships/hdphoto" Target="../media/hdphoto1.wdp"/><Relationship Id="rId5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8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5" Type="http://schemas.openxmlformats.org/officeDocument/2006/relationships/image" Target="../media/image7.png"/><Relationship Id="rId10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3.png"/><Relationship Id="rId3" Type="http://schemas.openxmlformats.org/officeDocument/2006/relationships/image" Target="../media/image8.png"/><Relationship Id="rId7" Type="http://schemas.openxmlformats.org/officeDocument/2006/relationships/image" Target="../media/image18.png"/><Relationship Id="rId12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2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11" Type="http://schemas.openxmlformats.org/officeDocument/2006/relationships/image" Target="../media/image21.png"/><Relationship Id="rId5" Type="http://schemas.openxmlformats.org/officeDocument/2006/relationships/image" Target="../media/image13.png"/><Relationship Id="rId15" Type="http://schemas.microsoft.com/office/2007/relationships/hdphoto" Target="../media/hdphoto2.wdp"/><Relationship Id="rId10" Type="http://schemas.openxmlformats.org/officeDocument/2006/relationships/image" Target="../media/image20.png"/><Relationship Id="rId4" Type="http://schemas.openxmlformats.org/officeDocument/2006/relationships/image" Target="../media/image2.png"/><Relationship Id="rId9" Type="http://schemas.openxmlformats.org/officeDocument/2006/relationships/image" Target="../media/image19.png"/><Relationship Id="rId1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8.png"/><Relationship Id="rId7" Type="http://schemas.openxmlformats.org/officeDocument/2006/relationships/image" Target="../media/image29.png"/><Relationship Id="rId12" Type="http://schemas.openxmlformats.org/officeDocument/2006/relationships/image" Target="../media/image3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8.png"/><Relationship Id="rId11" Type="http://schemas.microsoft.com/office/2007/relationships/hdphoto" Target="../media/hdphoto3.wdp"/><Relationship Id="rId5" Type="http://schemas.openxmlformats.org/officeDocument/2006/relationships/image" Target="../media/image27.png"/><Relationship Id="rId10" Type="http://schemas.openxmlformats.org/officeDocument/2006/relationships/image" Target="../media/image32.png"/><Relationship Id="rId4" Type="http://schemas.openxmlformats.org/officeDocument/2006/relationships/image" Target="../media/image2.png"/><Relationship Id="rId9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6" Type="http://schemas.microsoft.com/office/2007/relationships/hdphoto" Target="../media/hdphoto4.wdp"/><Relationship Id="rId5" Type="http://schemas.openxmlformats.org/officeDocument/2006/relationships/image" Target="../media/image36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6" Type="http://schemas.microsoft.com/office/2007/relationships/hdphoto" Target="../media/hdphoto5.wdp"/><Relationship Id="rId5" Type="http://schemas.openxmlformats.org/officeDocument/2006/relationships/image" Target="../media/image38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png"/><Relationship Id="rId5" Type="http://schemas.openxmlformats.org/officeDocument/2006/relationships/image" Target="../media/image40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store.steampowered.com/app/1567530/Vlad_Circus_Curse_of_Asmodeus/" TargetMode="External"/><Relationship Id="rId3" Type="http://schemas.openxmlformats.org/officeDocument/2006/relationships/image" Target="../media/image41.jpeg"/><Relationship Id="rId7" Type="http://schemas.openxmlformats.org/officeDocument/2006/relationships/image" Target="../media/image44.png"/><Relationship Id="rId2" Type="http://schemas.openxmlformats.org/officeDocument/2006/relationships/hyperlink" Target="https://store.steampowered.com/app/1272580/Nine_Witches_Family_Disruption/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3.jpeg"/><Relationship Id="rId5" Type="http://schemas.openxmlformats.org/officeDocument/2006/relationships/hyperlink" Target="https://store.steampowered.com/app/1702430/Vlad_Circus_Descend_Into_Madness/" TargetMode="External"/><Relationship Id="rId4" Type="http://schemas.openxmlformats.org/officeDocument/2006/relationships/image" Target="../media/image42.jpeg"/><Relationship Id="rId9" Type="http://schemas.openxmlformats.org/officeDocument/2006/relationships/image" Target="../media/image45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jpeg"/><Relationship Id="rId13" Type="http://schemas.openxmlformats.org/officeDocument/2006/relationships/image" Target="../media/image51.png"/><Relationship Id="rId3" Type="http://schemas.openxmlformats.org/officeDocument/2006/relationships/hyperlink" Target="https://www.indiesruption.com/" TargetMode="External"/><Relationship Id="rId7" Type="http://schemas.openxmlformats.org/officeDocument/2006/relationships/hyperlink" Target="https://www.linkedin.com/in/pablo-mamone-262a5165/" TargetMode="External"/><Relationship Id="rId12" Type="http://schemas.openxmlformats.org/officeDocument/2006/relationships/image" Target="../media/image5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7.jpeg"/><Relationship Id="rId11" Type="http://schemas.microsoft.com/office/2007/relationships/hdphoto" Target="../media/hdphoto6.wdp"/><Relationship Id="rId5" Type="http://schemas.openxmlformats.org/officeDocument/2006/relationships/hyperlink" Target="https://www.linkedin.com/in/diegocanepa/" TargetMode="External"/><Relationship Id="rId10" Type="http://schemas.openxmlformats.org/officeDocument/2006/relationships/image" Target="../media/image49.png"/><Relationship Id="rId4" Type="http://schemas.openxmlformats.org/officeDocument/2006/relationships/image" Target="../media/image46.png"/><Relationship Id="rId9" Type="http://schemas.openxmlformats.org/officeDocument/2006/relationships/hyperlink" Target="https://www.linkedin.com/in/durga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284ABEA-9A73-5284-D8EE-8AA83578D2F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Google Shape;963;p33">
            <a:extLst>
              <a:ext uri="{FF2B5EF4-FFF2-40B4-BE49-F238E27FC236}">
                <a16:creationId xmlns:a16="http://schemas.microsoft.com/office/drawing/2014/main" id="{87BD1BEB-687E-94A9-55BA-36F2920CDF3D}"/>
              </a:ext>
            </a:extLst>
          </p:cNvPr>
          <p:cNvSpPr txBox="1">
            <a:spLocks/>
          </p:cNvSpPr>
          <p:nvPr/>
        </p:nvSpPr>
        <p:spPr>
          <a:xfrm rot="21281081">
            <a:off x="416655" y="1213486"/>
            <a:ext cx="4261693" cy="510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When hell runs a horror ride, no one is safe.</a:t>
            </a:r>
          </a:p>
        </p:txBody>
      </p:sp>
      <p:pic>
        <p:nvPicPr>
          <p:cNvPr id="17" name="Picture 1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4BEE051-0101-0660-BE69-351B97FD1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162" y="194342"/>
            <a:ext cx="3380587" cy="1145037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79437D8-1552-7063-32DB-3F8A67AC3A6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6640123" y="3231373"/>
            <a:ext cx="428511" cy="128553"/>
          </a:xfrm>
          <a:prstGeom prst="rect">
            <a:avLst/>
          </a:prstGeom>
        </p:spPr>
      </p:pic>
      <p:pic>
        <p:nvPicPr>
          <p:cNvPr id="8" name="Picture 7" descr="A yellow text on a black background&#10;&#10;AI-generated content may be incorrect.">
            <a:extLst>
              <a:ext uri="{FF2B5EF4-FFF2-40B4-BE49-F238E27FC236}">
                <a16:creationId xmlns:a16="http://schemas.microsoft.com/office/drawing/2014/main" id="{8055D018-8073-CBDF-5A7F-2A66C04AFF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4378" y="4384623"/>
            <a:ext cx="2077161" cy="57121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253852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70F42B8-8149-AE99-5DCE-10D39E420DD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/>
          <a:stretch/>
        </p:blipFill>
        <p:spPr>
          <a:xfrm>
            <a:off x="-28599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/>
          <p:cNvSpPr txBox="1">
            <a:spLocks noGrp="1"/>
          </p:cNvSpPr>
          <p:nvPr>
            <p:ph type="subTitle" idx="4294967295"/>
          </p:nvPr>
        </p:nvSpPr>
        <p:spPr>
          <a:xfrm>
            <a:off x="1249027" y="296673"/>
            <a:ext cx="6645945" cy="7238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ctr">
              <a:lnSpc>
                <a:spcPts val="1600"/>
              </a:lnSpc>
              <a:buClr>
                <a:srgbClr val="8F4D57"/>
              </a:buClr>
              <a:buSzPts val="1100"/>
              <a:buNone/>
            </a:pPr>
            <a:r>
              <a:rPr lang="en-US" sz="12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Arial"/>
              </a:rPr>
              <a:t>A 2D pixel-art roguelite action-adventure where bizarre comedy collides with creepy monsters and absurd challenges.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66806AD-98D4-D7EB-6E60-4E2D5324FA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9DDBFF2-B1FB-4113-D291-30E81F48E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video game screen with a building and a gate">
            <a:extLst>
              <a:ext uri="{FF2B5EF4-FFF2-40B4-BE49-F238E27FC236}">
                <a16:creationId xmlns:a16="http://schemas.microsoft.com/office/drawing/2014/main" id="{347FFDA7-1F6A-BC1D-DF51-86F43ADFFC4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A02E9861-D81C-BEB4-9FF8-6059B0DF160B}"/>
              </a:ext>
            </a:extLst>
          </p:cNvPr>
          <p:cNvSpPr txBox="1">
            <a:spLocks/>
          </p:cNvSpPr>
          <p:nvPr/>
        </p:nvSpPr>
        <p:spPr>
          <a:xfrm>
            <a:off x="629608" y="968315"/>
            <a:ext cx="3987363" cy="87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Adventure spirit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retro atmosphere fused with pixel art, roguelite tension and absurd humor.</a:t>
            </a:r>
          </a:p>
        </p:txBody>
      </p:sp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028DD578-F28F-5A40-3503-5915690FE3F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WHY IT’S UNIQUE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AD3F7298-6C89-EE89-3E9A-0B25DA9456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EF5299E-1B7C-AA97-2B00-73C53140F88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841982"/>
            <a:ext cx="493908" cy="164636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6A32EE8A-0DFD-7F7F-DA35-B894B7CD525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38415" y="3051282"/>
            <a:ext cx="3630083" cy="102373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cursed ride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procedural horror attraction with bizarre creatures, hidden secrets, captive celebrities and unpredictable surprises.</a:t>
            </a: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50778920-B19E-2C1C-6175-A1083A3288C3}"/>
              </a:ext>
            </a:extLst>
          </p:cNvPr>
          <p:cNvSpPr txBox="1">
            <a:spLocks/>
          </p:cNvSpPr>
          <p:nvPr/>
        </p:nvSpPr>
        <p:spPr>
          <a:xfrm>
            <a:off x="629608" y="1992659"/>
            <a:ext cx="4032336" cy="821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Two twins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Each sibling has unique perks and flaws adding variety and humor to every playthrough.</a:t>
            </a:r>
          </a:p>
        </p:txBody>
      </p:sp>
      <p:sp>
        <p:nvSpPr>
          <p:cNvPr id="4" name="Google Shape;1000;p37">
            <a:extLst>
              <a:ext uri="{FF2B5EF4-FFF2-40B4-BE49-F238E27FC236}">
                <a16:creationId xmlns:a16="http://schemas.microsoft.com/office/drawing/2014/main" id="{FB5A7B89-34D9-4A72-CB2B-D26EB177519F}"/>
              </a:ext>
            </a:extLst>
          </p:cNvPr>
          <p:cNvSpPr txBox="1">
            <a:spLocks/>
          </p:cNvSpPr>
          <p:nvPr/>
        </p:nvSpPr>
        <p:spPr>
          <a:xfrm>
            <a:off x="4801882" y="2122934"/>
            <a:ext cx="3630083" cy="1025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Evolving madness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Each run fuels a bizarre telenovela where twisted relationships and absurd drama unfold the deeper you go.</a:t>
            </a:r>
          </a:p>
        </p:txBody>
      </p:sp>
      <p:sp>
        <p:nvSpPr>
          <p:cNvPr id="5" name="Google Shape;1000;p37">
            <a:extLst>
              <a:ext uri="{FF2B5EF4-FFF2-40B4-BE49-F238E27FC236}">
                <a16:creationId xmlns:a16="http://schemas.microsoft.com/office/drawing/2014/main" id="{346E741B-3ED4-1CFC-3CA8-4EBBA9FB65AB}"/>
              </a:ext>
            </a:extLst>
          </p:cNvPr>
          <p:cNvSpPr txBox="1">
            <a:spLocks/>
          </p:cNvSpPr>
          <p:nvPr/>
        </p:nvSpPr>
        <p:spPr>
          <a:xfrm>
            <a:off x="4801882" y="969764"/>
            <a:ext cx="3897422" cy="10654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Hell Rings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layered descent into harder, stranger parts of the ride, each introducing new dangers and discoveries.</a:t>
            </a:r>
          </a:p>
        </p:txBody>
      </p:sp>
    </p:spTree>
    <p:extLst>
      <p:ext uri="{BB962C8B-B14F-4D97-AF65-F5344CB8AC3E}">
        <p14:creationId xmlns:p14="http://schemas.microsoft.com/office/powerpoint/2010/main" val="2935173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A87C6DD4-3F48-186B-FC05-1008CDCC1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7E95556F-87C4-1552-F8EB-11CC3133BC6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Google Shape;999;p37">
            <a:extLst>
              <a:ext uri="{FF2B5EF4-FFF2-40B4-BE49-F238E27FC236}">
                <a16:creationId xmlns:a16="http://schemas.microsoft.com/office/drawing/2014/main" id="{EAA26DC9-34AA-AC7A-D05F-E1E80A36CD81}"/>
              </a:ext>
            </a:extLst>
          </p:cNvPr>
          <p:cNvSpPr txBox="1">
            <a:spLocks/>
          </p:cNvSpPr>
          <p:nvPr/>
        </p:nvSpPr>
        <p:spPr>
          <a:xfrm>
            <a:off x="1364104" y="296673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SPECIFICATIONS</a:t>
            </a:r>
          </a:p>
        </p:txBody>
      </p:sp>
      <p:pic>
        <p:nvPicPr>
          <p:cNvPr id="7" name="Picture 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58059D1C-4F8A-7E8E-18F5-B208D23AFE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86D841F6-FB8E-4465-6E30-7C6E9B7E1BAD}"/>
              </a:ext>
            </a:extLst>
          </p:cNvPr>
          <p:cNvSpPr txBox="1">
            <a:spLocks/>
          </p:cNvSpPr>
          <p:nvPr/>
        </p:nvSpPr>
        <p:spPr>
          <a:xfrm>
            <a:off x="1759340" y="957593"/>
            <a:ext cx="5625317" cy="13759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Genre:  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2D roguelite adventure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Graphics: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 / retro style (*)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Rating: 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Mature humor, mild blood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Audience: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13+/roguelite players</a:t>
            </a: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Playtime: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20-26 hours</a:t>
            </a: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Technology: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MonoGame/Proprietary engine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Platform: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Steam (PC)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pic>
        <p:nvPicPr>
          <p:cNvPr id="8" name="Picture 7" descr="A pixelated image of a dog&#10;&#10;AI-generated content may be incorrect.">
            <a:extLst>
              <a:ext uri="{FF2B5EF4-FFF2-40B4-BE49-F238E27FC236}">
                <a16:creationId xmlns:a16="http://schemas.microsoft.com/office/drawing/2014/main" id="{04495AA6-FD25-DEAE-6B39-1715871E12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4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45053" y="3771271"/>
            <a:ext cx="664023" cy="901174"/>
          </a:xfrm>
          <a:prstGeom prst="rect">
            <a:avLst/>
          </a:prstGeom>
        </p:spPr>
      </p:pic>
      <p:pic>
        <p:nvPicPr>
          <p:cNvPr id="9" name="Picture 8" descr="A pixelated image of a dog&#10;&#10;AI-generated content may be incorrect.">
            <a:extLst>
              <a:ext uri="{FF2B5EF4-FFF2-40B4-BE49-F238E27FC236}">
                <a16:creationId xmlns:a16="http://schemas.microsoft.com/office/drawing/2014/main" id="{68A93E69-E461-0C0D-BD03-91E80670615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8337132" y="3430724"/>
            <a:ext cx="501859" cy="68109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B963E86-3304-C63F-E681-2BE5FC3034B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34924" y="500393"/>
            <a:ext cx="685800" cy="4572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EB32B4E-EF58-3837-BAD1-C038CB9BC73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flipH="1">
            <a:off x="7164225" y="328140"/>
            <a:ext cx="508195" cy="34450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325E361-DB9D-87B7-4A46-08C7E896D3B1}"/>
              </a:ext>
            </a:extLst>
          </p:cNvPr>
          <p:cNvSpPr txBox="1"/>
          <p:nvPr/>
        </p:nvSpPr>
        <p:spPr>
          <a:xfrm>
            <a:off x="1812872" y="4501062"/>
            <a:ext cx="551825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(*) Enhanced with a CRT-style filter for an authentic retro arcade feel.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37DD80-10CD-85E4-85F2-BAD1FF587BB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8254" y="201855"/>
            <a:ext cx="409927" cy="252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2989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B2F170F1-E5B9-6C28-129A-6FF76EE3A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3DC4AB54-366E-E0A2-1159-FF5B92ACFE5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1AF0787-BB08-0706-A505-8310F24C57A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38559" y="887265"/>
            <a:ext cx="3833441" cy="111283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Snuggleville’s amusement park was once home to Remizione, a grotesque horror ride.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incident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During the grand opening, the ride’s designer and a group of celebrity guests stepped into the attraction… and never came out. The park was deemed haunted and soon went bankrupt.</a:t>
            </a:r>
          </a:p>
        </p:txBody>
      </p:sp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BD0D7D64-8BF2-0887-A6B2-640C4F8F13F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STORY &amp; SETTING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52D5C695-4990-1D0D-E6CB-6796CBE63E16}"/>
              </a:ext>
            </a:extLst>
          </p:cNvPr>
          <p:cNvSpPr txBox="1">
            <a:spLocks/>
          </p:cNvSpPr>
          <p:nvPr/>
        </p:nvSpPr>
        <p:spPr>
          <a:xfrm>
            <a:off x="4744794" y="887265"/>
            <a:ext cx="3908686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unexpected heroes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Two lazy journalists sneak inside to investigate chasing the story that could finally make their magazine famous.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curse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 is now ruled by Mandinga — the Devil’s only son and heir.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F57E524A-5833-BCC7-087B-B4832FE70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DFC314-2C6B-C30B-5D27-D980F4ABF0C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120103" y="4681778"/>
            <a:ext cx="321103" cy="160552"/>
          </a:xfrm>
          <a:prstGeom prst="rect">
            <a:avLst/>
          </a:prstGeom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90BA5B4-62E2-6E38-89ED-FF2C6BD5D7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35567" y="3981286"/>
            <a:ext cx="478190" cy="7651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3C10FDB-09DC-516C-B3B4-D44D5667B93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882874" y="4681778"/>
            <a:ext cx="321103" cy="160552"/>
          </a:xfrm>
          <a:prstGeom prst="rect">
            <a:avLst/>
          </a:prstGeom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2DF15CB-D3B2-C074-8F60-A1CFC9342A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4679671" y="4053098"/>
            <a:ext cx="478190" cy="717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4632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DD1723FF-E9EE-FE68-3C65-1369673D6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8BC3450D-6942-EDAA-05D6-501443985E5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DC0A741D-EA39-9191-ED36-6BC0FFD7E1A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MAIN CAST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C75137F-5DB8-A6FB-FE99-A4F840DA7F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32AA4F5-F688-78E9-DDCB-AF9A8448CAA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526519" y="3809907"/>
            <a:ext cx="493908" cy="164636"/>
          </a:xfrm>
          <a:prstGeom prst="rect">
            <a:avLst/>
          </a:prstGeom>
        </p:spPr>
      </p:pic>
      <p:pic>
        <p:nvPicPr>
          <p:cNvPr id="3" name="Picture 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4FAB5B60-11AE-E4A4-2AB4-8BC620D740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0048" y="1016282"/>
            <a:ext cx="430155" cy="645233"/>
          </a:xfrm>
          <a:prstGeom prst="rect">
            <a:avLst/>
          </a:prstGeom>
        </p:spPr>
      </p:pic>
      <p:pic>
        <p:nvPicPr>
          <p:cNvPr id="5" name="Picture 4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09862270-43F5-6292-EB54-C4F461EFA27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9898" y="1016289"/>
            <a:ext cx="430150" cy="645226"/>
          </a:xfrm>
          <a:prstGeom prst="rect">
            <a:avLst/>
          </a:prstGeom>
        </p:spPr>
      </p:pic>
      <p:pic>
        <p:nvPicPr>
          <p:cNvPr id="15" name="Picture 14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CFEDD57E-7C8F-ACB0-4CBB-424E9AF13E7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8248" y="3572147"/>
            <a:ext cx="935708" cy="85064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E81F1C1-7C7A-D6E0-EE54-F21E4A0C706F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037612" y="1840368"/>
            <a:ext cx="524298" cy="940814"/>
          </a:xfrm>
          <a:prstGeom prst="rect">
            <a:avLst/>
          </a:prstGeom>
        </p:spPr>
      </p:pic>
      <p:sp>
        <p:nvSpPr>
          <p:cNvPr id="20" name="Google Shape;1000;p37">
            <a:extLst>
              <a:ext uri="{FF2B5EF4-FFF2-40B4-BE49-F238E27FC236}">
                <a16:creationId xmlns:a16="http://schemas.microsoft.com/office/drawing/2014/main" id="{B8DB2753-2FC1-8F9C-F97E-5CA6B1B1E579}"/>
              </a:ext>
            </a:extLst>
          </p:cNvPr>
          <p:cNvSpPr txBox="1">
            <a:spLocks/>
          </p:cNvSpPr>
          <p:nvPr/>
        </p:nvSpPr>
        <p:spPr>
          <a:xfrm>
            <a:off x="1561910" y="887780"/>
            <a:ext cx="6648740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Edmund &amp; Berta Idle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Twin journalists behind Mysterious Mysteries magazine. At 41, both still live with their mom, writing about the unknown while dodging adulthood and anything that looks like effort.</a:t>
            </a:r>
          </a:p>
        </p:txBody>
      </p:sp>
      <p:sp>
        <p:nvSpPr>
          <p:cNvPr id="22" name="Google Shape;1000;p37">
            <a:extLst>
              <a:ext uri="{FF2B5EF4-FFF2-40B4-BE49-F238E27FC236}">
                <a16:creationId xmlns:a16="http://schemas.microsoft.com/office/drawing/2014/main" id="{E5344F25-735F-82FC-85D5-9AB8E8411581}"/>
              </a:ext>
            </a:extLst>
          </p:cNvPr>
          <p:cNvSpPr txBox="1">
            <a:spLocks/>
          </p:cNvSpPr>
          <p:nvPr/>
        </p:nvSpPr>
        <p:spPr>
          <a:xfrm>
            <a:off x="1561910" y="2891498"/>
            <a:ext cx="6648740" cy="685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Sister Ham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Mandinga’s assistant. Keeps the attraction in order mostly by screaming and oinking.</a:t>
            </a:r>
          </a:p>
        </p:txBody>
      </p:sp>
      <p:sp>
        <p:nvSpPr>
          <p:cNvPr id="23" name="Google Shape;1000;p37">
            <a:extLst>
              <a:ext uri="{FF2B5EF4-FFF2-40B4-BE49-F238E27FC236}">
                <a16:creationId xmlns:a16="http://schemas.microsoft.com/office/drawing/2014/main" id="{FD248A31-65A9-BE71-69A5-C4C514B548E1}"/>
              </a:ext>
            </a:extLst>
          </p:cNvPr>
          <p:cNvSpPr txBox="1">
            <a:spLocks/>
          </p:cNvSpPr>
          <p:nvPr/>
        </p:nvSpPr>
        <p:spPr>
          <a:xfrm>
            <a:off x="1561910" y="1782711"/>
            <a:ext cx="6873226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Devil’s only son and heir. His father died in an unfortunate gas leak while trying to roast a sinner. As a child he dreamed of having his own horror attraction. Now he finally has one, and no one’s leaving.</a:t>
            </a:r>
          </a:p>
        </p:txBody>
      </p:sp>
      <p:sp>
        <p:nvSpPr>
          <p:cNvPr id="24" name="Google Shape;1000;p37">
            <a:extLst>
              <a:ext uri="{FF2B5EF4-FFF2-40B4-BE49-F238E27FC236}">
                <a16:creationId xmlns:a16="http://schemas.microsoft.com/office/drawing/2014/main" id="{79B51BDF-D15A-9491-C7D9-948FC9AB59C3}"/>
              </a:ext>
            </a:extLst>
          </p:cNvPr>
          <p:cNvSpPr txBox="1">
            <a:spLocks/>
          </p:cNvSpPr>
          <p:nvPr/>
        </p:nvSpPr>
        <p:spPr>
          <a:xfrm>
            <a:off x="1561910" y="3629805"/>
            <a:ext cx="6749112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Lord Percival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Famous designer of horror attractions. His masterpiece Remizione promised a journey through purgatory. On opening day, he and a group of celebrities entered the ride… and never came out.</a:t>
            </a:r>
          </a:p>
        </p:txBody>
      </p:sp>
      <p:pic>
        <p:nvPicPr>
          <p:cNvPr id="7" name="Picture 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051CC362-E370-95CD-DCEF-76C7BF0C59A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1127" y="2891498"/>
            <a:ext cx="533742" cy="762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7303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F179D232-38D4-F14A-01B8-48E2CCE4B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0" name="Picture 959" descr="A pixel art of a building">
            <a:extLst>
              <a:ext uri="{FF2B5EF4-FFF2-40B4-BE49-F238E27FC236}">
                <a16:creationId xmlns:a16="http://schemas.microsoft.com/office/drawing/2014/main" id="{E36C71DB-8ED4-9273-3E50-589AD5CCBF2D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4" name="Arrow: Down 23">
            <a:extLst>
              <a:ext uri="{FF2B5EF4-FFF2-40B4-BE49-F238E27FC236}">
                <a16:creationId xmlns:a16="http://schemas.microsoft.com/office/drawing/2014/main" id="{3458AECE-2E4E-8D6F-0279-9EA3929E869D}"/>
              </a:ext>
            </a:extLst>
          </p:cNvPr>
          <p:cNvSpPr/>
          <p:nvPr/>
        </p:nvSpPr>
        <p:spPr>
          <a:xfrm>
            <a:off x="1248256" y="2600704"/>
            <a:ext cx="168067" cy="560507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dirty="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7A5E139-6594-409D-CCED-9B11EBC45229}"/>
              </a:ext>
            </a:extLst>
          </p:cNvPr>
          <p:cNvSpPr/>
          <p:nvPr/>
        </p:nvSpPr>
        <p:spPr>
          <a:xfrm>
            <a:off x="572053" y="1309874"/>
            <a:ext cx="3272329" cy="2965603"/>
          </a:xfrm>
          <a:prstGeom prst="rect">
            <a:avLst/>
          </a:prstGeom>
          <a:noFill/>
          <a:ln w="28575">
            <a:solidFill>
              <a:schemeClr val="accent1">
                <a:lumMod val="50000"/>
              </a:schemeClr>
            </a:solidFill>
            <a:prstDash val="dashDot"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8368008-C579-337D-26E0-39A41FBDD99D}"/>
              </a:ext>
            </a:extLst>
          </p:cNvPr>
          <p:cNvSpPr/>
          <p:nvPr/>
        </p:nvSpPr>
        <p:spPr>
          <a:xfrm>
            <a:off x="4347393" y="1297250"/>
            <a:ext cx="4227923" cy="2965603"/>
          </a:xfrm>
          <a:prstGeom prst="rect">
            <a:avLst/>
          </a:prstGeom>
          <a:noFill/>
          <a:ln w="28575">
            <a:solidFill>
              <a:srgbClr val="800000"/>
            </a:solidFill>
            <a:prstDash val="dashDot"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B83EB26-17A9-E978-1ED1-09AA5A8852B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FCC1503D-45D8-7282-83EF-5C6D63D1305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414471" y="180724"/>
            <a:ext cx="3867562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GAME STRUCTURE</a:t>
            </a:r>
          </a:p>
        </p:txBody>
      </p:sp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6CB79E76-645B-8464-B863-7E05A3B253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3515" y="1774914"/>
            <a:ext cx="304582" cy="429223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7E5C9CEA-F308-13F2-B768-93B2E021E5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18618" y="1799626"/>
            <a:ext cx="264652" cy="39052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86BDAF4-DBDB-DF16-475D-7FD1290F59B6}"/>
              </a:ext>
            </a:extLst>
          </p:cNvPr>
          <p:cNvSpPr txBox="1"/>
          <p:nvPr/>
        </p:nvSpPr>
        <p:spPr>
          <a:xfrm>
            <a:off x="847594" y="1513138"/>
            <a:ext cx="15995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Choose twin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4E0A1D9-29D0-BD12-7B67-5B2496302C2B}"/>
              </a:ext>
            </a:extLst>
          </p:cNvPr>
          <p:cNvSpPr/>
          <p:nvPr/>
        </p:nvSpPr>
        <p:spPr>
          <a:xfrm>
            <a:off x="1046685" y="2265872"/>
            <a:ext cx="1263403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Ride Entrance</a:t>
            </a:r>
          </a:p>
        </p:txBody>
      </p:sp>
      <p:pic>
        <p:nvPicPr>
          <p:cNvPr id="19" name="Picture 18" descr="A pixel art of a computer&#10;&#10;AI-generated content may be incorrect.">
            <a:extLst>
              <a:ext uri="{FF2B5EF4-FFF2-40B4-BE49-F238E27FC236}">
                <a16:creationId xmlns:a16="http://schemas.microsoft.com/office/drawing/2014/main" id="{B2EEC177-370B-0FA0-4324-69422E01994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1114329" y="3237574"/>
            <a:ext cx="891144" cy="832648"/>
          </a:xfrm>
          <a:prstGeom prst="rect">
            <a:avLst/>
          </a:prstGeom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6" name="Arrow: Right 25">
            <a:extLst>
              <a:ext uri="{FF2B5EF4-FFF2-40B4-BE49-F238E27FC236}">
                <a16:creationId xmlns:a16="http://schemas.microsoft.com/office/drawing/2014/main" id="{50654CF7-D284-399E-B50D-F6369D4B0C16}"/>
              </a:ext>
            </a:extLst>
          </p:cNvPr>
          <p:cNvSpPr/>
          <p:nvPr/>
        </p:nvSpPr>
        <p:spPr>
          <a:xfrm>
            <a:off x="2238875" y="2381161"/>
            <a:ext cx="2440657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pic>
        <p:nvPicPr>
          <p:cNvPr id="30" name="Picture 29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6552B120-FBCE-9EE0-AE90-AF3455DED47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5253" y="3330936"/>
            <a:ext cx="829025" cy="753659"/>
          </a:xfrm>
          <a:prstGeom prst="rect">
            <a:avLst/>
          </a:prstGeom>
        </p:spPr>
      </p:pic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11BE59C-87D8-8235-EA7A-CE8C330317CF}"/>
              </a:ext>
            </a:extLst>
          </p:cNvPr>
          <p:cNvSpPr/>
          <p:nvPr/>
        </p:nvSpPr>
        <p:spPr>
          <a:xfrm>
            <a:off x="5633594" y="2205072"/>
            <a:ext cx="916501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Ride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51FA2A8-21C1-73F7-DAF3-391BDF683D55}"/>
              </a:ext>
            </a:extLst>
          </p:cNvPr>
          <p:cNvSpPr txBox="1"/>
          <p:nvPr/>
        </p:nvSpPr>
        <p:spPr>
          <a:xfrm>
            <a:off x="4381267" y="1383122"/>
            <a:ext cx="287631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algn="r">
              <a:defRPr sz="70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defRPr>
            </a:lvl1pPr>
          </a:lstStyle>
          <a:p>
            <a:r>
              <a:rPr lang="en-US" dirty="0"/>
              <a:t>Find the gold coin needed to pay Saint Peregrine’s tithe and open the next tunnel.</a:t>
            </a:r>
            <a:endParaRPr lang="en-US" dirty="0">
              <a:sym typeface="Maven Pro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D6BF02A-565A-CF4B-700D-3DE044AD46D4}"/>
              </a:ext>
            </a:extLst>
          </p:cNvPr>
          <p:cNvSpPr txBox="1"/>
          <p:nvPr/>
        </p:nvSpPr>
        <p:spPr>
          <a:xfrm>
            <a:off x="6454435" y="2872300"/>
            <a:ext cx="20555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Intense action, tunnels, dungeons, strange rooms and captive celebrities.</a:t>
            </a: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AC6261E0-24BF-CF62-6C83-79871C3D561C}"/>
              </a:ext>
            </a:extLst>
          </p:cNvPr>
          <p:cNvSpPr/>
          <p:nvPr/>
        </p:nvSpPr>
        <p:spPr>
          <a:xfrm>
            <a:off x="6413345" y="2324648"/>
            <a:ext cx="808879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15D9609-DCA6-1577-C8F7-38A27C02C81F}"/>
              </a:ext>
            </a:extLst>
          </p:cNvPr>
          <p:cNvSpPr txBox="1"/>
          <p:nvPr/>
        </p:nvSpPr>
        <p:spPr>
          <a:xfrm>
            <a:off x="4264883" y="978665"/>
            <a:ext cx="3222864" cy="309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100" dirty="0">
                <a:solidFill>
                  <a:srgbClr val="92293B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The Ride (procedural)</a:t>
            </a:r>
            <a:endParaRPr lang="en-US" sz="1100" dirty="0">
              <a:solidFill>
                <a:srgbClr val="92293B"/>
              </a:solidFill>
            </a:endParaRP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197CBE96-3607-79D1-6666-7D6A519B817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0478" y="3552382"/>
            <a:ext cx="435758" cy="29050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8956DBE-EED0-A484-F48D-AA71498BABFC}"/>
              </a:ext>
            </a:extLst>
          </p:cNvPr>
          <p:cNvSpPr txBox="1"/>
          <p:nvPr/>
        </p:nvSpPr>
        <p:spPr>
          <a:xfrm>
            <a:off x="1416910" y="2798495"/>
            <a:ext cx="1895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ATM connected to Percival’s computer</a:t>
            </a:r>
          </a:p>
        </p:txBody>
      </p:sp>
      <p:pic>
        <p:nvPicPr>
          <p:cNvPr id="12" name="Picture 11" descr="A pixelated image of a person wearing glasses&#10;&#10;AI-generated content may be incorrect.">
            <a:extLst>
              <a:ext uri="{FF2B5EF4-FFF2-40B4-BE49-F238E27FC236}">
                <a16:creationId xmlns:a16="http://schemas.microsoft.com/office/drawing/2014/main" id="{FE30F52E-2163-0C02-084F-F9C225EB415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96216" y="2046435"/>
            <a:ext cx="545063" cy="45027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71E629F-0182-F3F7-84BD-DCC9334D4400}"/>
              </a:ext>
            </a:extLst>
          </p:cNvPr>
          <p:cNvSpPr txBox="1"/>
          <p:nvPr/>
        </p:nvSpPr>
        <p:spPr>
          <a:xfrm>
            <a:off x="4273903" y="4352225"/>
            <a:ext cx="3204824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Lose all run progress on death.</a:t>
            </a:r>
          </a:p>
        </p:txBody>
      </p:sp>
      <p:pic>
        <p:nvPicPr>
          <p:cNvPr id="13" name="Picture 12" descr="A pixelated character holding a stick&#10;&#10;AI-generated content may be incorrect.">
            <a:extLst>
              <a:ext uri="{FF2B5EF4-FFF2-40B4-BE49-F238E27FC236}">
                <a16:creationId xmlns:a16="http://schemas.microsoft.com/office/drawing/2014/main" id="{26B23D96-1EE3-3EAD-B6AB-1C0DF306AA4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6312" y="1038190"/>
            <a:ext cx="610736" cy="992046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E40F8379-3EB2-FE63-08A6-F25A19BB70F1}"/>
              </a:ext>
            </a:extLst>
          </p:cNvPr>
          <p:cNvSpPr txBox="1"/>
          <p:nvPr/>
        </p:nvSpPr>
        <p:spPr>
          <a:xfrm>
            <a:off x="4922207" y="3553547"/>
            <a:ext cx="15946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Collect Tickets and buy items.</a:t>
            </a:r>
          </a:p>
        </p:txBody>
      </p:sp>
      <p:pic>
        <p:nvPicPr>
          <p:cNvPr id="53" name="Picture 52" descr="A pixelated video game of a red machine&#10;&#10;AI-generated content may be incorrect.">
            <a:extLst>
              <a:ext uri="{FF2B5EF4-FFF2-40B4-BE49-F238E27FC236}">
                <a16:creationId xmlns:a16="http://schemas.microsoft.com/office/drawing/2014/main" id="{88F7A0CA-6C05-5B02-271D-88CFCF2FBD6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322016" y="3447949"/>
            <a:ext cx="383759" cy="584776"/>
          </a:xfrm>
          <a:prstGeom prst="rect">
            <a:avLst/>
          </a:prstGeom>
        </p:spPr>
      </p:pic>
      <p:pic>
        <p:nvPicPr>
          <p:cNvPr id="54" name="Picture 53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AFC7C9FC-8591-0409-6A4E-3F73327A4B2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rot="10340975">
            <a:off x="6898151" y="3643384"/>
            <a:ext cx="379825" cy="271930"/>
          </a:xfrm>
          <a:prstGeom prst="rect">
            <a:avLst/>
          </a:prstGeom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735E49C-2FDC-7F6C-6A71-A5D9FC72BA94}"/>
              </a:ext>
            </a:extLst>
          </p:cNvPr>
          <p:cNvSpPr txBox="1"/>
          <p:nvPr/>
        </p:nvSpPr>
        <p:spPr>
          <a:xfrm>
            <a:off x="4498522" y="2973934"/>
            <a:ext cx="2055597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Find memory chips to expand Percival’s computer RAM.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21BBAB1-0D66-527E-9B0E-BB559039143D}"/>
              </a:ext>
            </a:extLst>
          </p:cNvPr>
          <p:cNvSpPr txBox="1"/>
          <p:nvPr/>
        </p:nvSpPr>
        <p:spPr>
          <a:xfrm>
            <a:off x="2056189" y="3567992"/>
            <a:ext cx="164230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As RAM improves, new tiers of benefits become available.</a:t>
            </a:r>
          </a:p>
        </p:txBody>
      </p:sp>
      <p:pic>
        <p:nvPicPr>
          <p:cNvPr id="4" name="Picture 3" descr="A pixelated coin with a black background&#10;&#10;AI-generated content may be incorrect.">
            <a:extLst>
              <a:ext uri="{FF2B5EF4-FFF2-40B4-BE49-F238E27FC236}">
                <a16:creationId xmlns:a16="http://schemas.microsoft.com/office/drawing/2014/main" id="{E0B8356C-3BBB-07AE-07BA-7C42FE25C706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291456" y="1483648"/>
            <a:ext cx="304710" cy="30471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47A4C5D-9C45-A11D-9B6F-1FC3B26F9F8D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flipH="1">
            <a:off x="7283280" y="2221885"/>
            <a:ext cx="406290" cy="457200"/>
          </a:xfrm>
          <a:prstGeom prst="rect">
            <a:avLst/>
          </a:prstGeom>
        </p:spPr>
      </p:pic>
      <p:pic>
        <p:nvPicPr>
          <p:cNvPr id="20" name="Picture 19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4021958B-03FA-8C26-8E8B-AD07CD79C84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rot="10223873">
            <a:off x="7599669" y="1593303"/>
            <a:ext cx="314495" cy="271930"/>
          </a:xfrm>
          <a:prstGeom prst="rect">
            <a:avLst/>
          </a:prstGeom>
          <a:effectLst/>
        </p:spPr>
      </p:pic>
      <p:pic>
        <p:nvPicPr>
          <p:cNvPr id="38" name="Picture 37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7F446D89-3FDA-7ABB-BB72-229634B1183A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rot="9570213" flipH="1">
            <a:off x="7675142" y="1971772"/>
            <a:ext cx="330686" cy="271930"/>
          </a:xfrm>
          <a:prstGeom prst="rect">
            <a:avLst/>
          </a:prstGeom>
          <a:effectLst/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928D0947-B869-6CE5-A83F-A50831FED34A}"/>
              </a:ext>
            </a:extLst>
          </p:cNvPr>
          <p:cNvSpPr txBox="1"/>
          <p:nvPr/>
        </p:nvSpPr>
        <p:spPr>
          <a:xfrm>
            <a:off x="7784153" y="2472274"/>
            <a:ext cx="111535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Run completed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7ADA7947-112C-0491-C958-850A72FB2BB4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689273" y="2247190"/>
            <a:ext cx="406289" cy="457200"/>
          </a:xfrm>
          <a:prstGeom prst="rect">
            <a:avLst/>
          </a:prstGeom>
        </p:spPr>
      </p:pic>
      <p:pic>
        <p:nvPicPr>
          <p:cNvPr id="50" name="Picture 49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FB878227-670D-072A-D405-02DDB42A8BC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rot="12747042">
            <a:off x="6306438" y="2556486"/>
            <a:ext cx="727223" cy="271930"/>
          </a:xfrm>
          <a:prstGeom prst="rect">
            <a:avLst/>
          </a:prstGeom>
          <a:effectLst/>
        </p:spPr>
      </p:pic>
      <p:pic>
        <p:nvPicPr>
          <p:cNvPr id="52" name="Picture 51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AF7C986D-AD4A-F358-5956-96DB9B5CCC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20856" y="1891825"/>
            <a:ext cx="264652" cy="390524"/>
          </a:xfrm>
          <a:prstGeom prst="rect">
            <a:avLst/>
          </a:prstGeom>
          <a:effectLst/>
        </p:spPr>
      </p:pic>
      <p:pic>
        <p:nvPicPr>
          <p:cNvPr id="56" name="Picture 55" descr="A pixelated image of a person wearing glasses&#10;&#10;AI-generated content may be incorrect.">
            <a:extLst>
              <a:ext uri="{FF2B5EF4-FFF2-40B4-BE49-F238E27FC236}">
                <a16:creationId xmlns:a16="http://schemas.microsoft.com/office/drawing/2014/main" id="{B49185EA-B50B-A504-17C3-EE7ECA528F5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95401" y="1865053"/>
            <a:ext cx="545063" cy="450270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C717E3B2-75C9-84EE-0BDC-030E86FB1AE4}"/>
              </a:ext>
            </a:extLst>
          </p:cNvPr>
          <p:cNvSpPr/>
          <p:nvPr/>
        </p:nvSpPr>
        <p:spPr>
          <a:xfrm>
            <a:off x="5168479" y="2329839"/>
            <a:ext cx="360273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3D87AB-218E-6708-1FD7-542C6C8599EA}"/>
              </a:ext>
            </a:extLst>
          </p:cNvPr>
          <p:cNvSpPr txBox="1"/>
          <p:nvPr/>
        </p:nvSpPr>
        <p:spPr>
          <a:xfrm>
            <a:off x="426747" y="987485"/>
            <a:ext cx="1979173" cy="309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100" dirty="0">
                <a:solidFill>
                  <a:schemeClr val="tx2">
                    <a:lumMod val="5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Theme park</a:t>
            </a:r>
            <a:endParaRPr lang="en-US" sz="11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E5AD0A2D-C6E3-14E4-959C-9FECBBA6C10D}"/>
              </a:ext>
            </a:extLst>
          </p:cNvPr>
          <p:cNvSpPr/>
          <p:nvPr/>
        </p:nvSpPr>
        <p:spPr>
          <a:xfrm>
            <a:off x="5920056" y="2502193"/>
            <a:ext cx="197818" cy="467060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dirty="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A306FCFC-405D-734A-4B3E-9D1240FEEDB8}"/>
              </a:ext>
            </a:extLst>
          </p:cNvPr>
          <p:cNvSpPr/>
          <p:nvPr/>
        </p:nvSpPr>
        <p:spPr>
          <a:xfrm>
            <a:off x="7780374" y="2324648"/>
            <a:ext cx="1096097" cy="200830"/>
          </a:xfrm>
          <a:prstGeom prst="rightArrow">
            <a:avLst/>
          </a:prstGeom>
          <a:solidFill>
            <a:srgbClr val="3B7D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46FA3D1F-6BE1-C7A0-F748-E0572F99E3A0}"/>
              </a:ext>
            </a:extLst>
          </p:cNvPr>
          <p:cNvSpPr/>
          <p:nvPr/>
        </p:nvSpPr>
        <p:spPr>
          <a:xfrm>
            <a:off x="222192" y="2399874"/>
            <a:ext cx="712773" cy="200830"/>
          </a:xfrm>
          <a:prstGeom prst="rightArrow">
            <a:avLst/>
          </a:prstGeom>
          <a:solidFill>
            <a:srgbClr val="3B7D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CDEBE2C-C9DF-819C-0EE9-4097EA4D30EA}"/>
              </a:ext>
            </a:extLst>
          </p:cNvPr>
          <p:cNvSpPr txBox="1"/>
          <p:nvPr/>
        </p:nvSpPr>
        <p:spPr>
          <a:xfrm>
            <a:off x="62903" y="2128128"/>
            <a:ext cx="10342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 lang="en-US" sz="7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26261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434B4B9-2F9D-C387-813A-2865AA29A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774C63A-9ABA-9EA7-050A-D8B048B4858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663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7A6B33A-CC60-92B6-4C7E-A5F0A2160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604A176A-9276-30C7-5E31-6668A3F2D2C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DDB78A-A233-1EE0-EDBB-C6C0157D33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3602FE78-E33B-64D6-6E2C-22A7EE575F2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PILGRIM SACK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54053F06-56A8-B4BD-D88F-104ED26D9250}"/>
              </a:ext>
            </a:extLst>
          </p:cNvPr>
          <p:cNvSpPr txBox="1">
            <a:spLocks/>
          </p:cNvSpPr>
          <p:nvPr/>
        </p:nvSpPr>
        <p:spPr>
          <a:xfrm>
            <a:off x="1343165" y="1271698"/>
            <a:ext cx="3228835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Junk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Odd junk you can equip to whack, shoot, or do something questionably effective.</a:t>
            </a:r>
          </a:p>
        </p:txBody>
      </p:sp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15C7A68C-BF17-6718-529D-370473EC7C9F}"/>
              </a:ext>
            </a:extLst>
          </p:cNvPr>
          <p:cNvSpPr txBox="1">
            <a:spLocks/>
          </p:cNvSpPr>
          <p:nvPr/>
        </p:nvSpPr>
        <p:spPr>
          <a:xfrm>
            <a:off x="1343165" y="3289798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Consumables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Eat or drink anything: from healing snacks to chili-powered speed boosts.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D689E440-227F-4A14-2F3D-DBC8F011B475}"/>
              </a:ext>
            </a:extLst>
          </p:cNvPr>
          <p:cNvSpPr txBox="1">
            <a:spLocks/>
          </p:cNvSpPr>
          <p:nvPr/>
        </p:nvSpPr>
        <p:spPr>
          <a:xfrm>
            <a:off x="5408075" y="2280748"/>
            <a:ext cx="3161540" cy="834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Key items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Scene-specific tools for interacting with the environment.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3324AE9C-7624-EC08-0A43-9411780CAFA6}"/>
              </a:ext>
            </a:extLst>
          </p:cNvPr>
          <p:cNvSpPr txBox="1">
            <a:spLocks/>
          </p:cNvSpPr>
          <p:nvPr/>
        </p:nvSpPr>
        <p:spPr>
          <a:xfrm>
            <a:off x="5408075" y="1271698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Trinkets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Passive oddities with quirky powers. One at a time, so choose wisely.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685A47C-D77C-3C70-F474-8AE699232C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0410" y="1510263"/>
            <a:ext cx="492624" cy="49262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7D7128C-7ADC-493E-E204-E0ABE26C56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4991" y="2467247"/>
            <a:ext cx="443462" cy="443462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3D3CFD2-DA52-BEBF-81E3-752C2296D7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991" y="3393585"/>
            <a:ext cx="550853" cy="550853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4010551-B5BB-68E8-D14B-EA505059695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792991" y="1493369"/>
            <a:ext cx="538094" cy="489176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26756623-FBDD-3129-C1CF-53A52E8DFD5F}"/>
              </a:ext>
            </a:extLst>
          </p:cNvPr>
          <p:cNvSpPr txBox="1">
            <a:spLocks/>
          </p:cNvSpPr>
          <p:nvPr/>
        </p:nvSpPr>
        <p:spPr>
          <a:xfrm>
            <a:off x="1343165" y="2280748"/>
            <a:ext cx="3228835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Gadgets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Useful contraptions for odd jobs — dig, plant, prank, or blow stuff up.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30E914A-F62A-1024-7A0E-CDAAA49E3C0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3989" y="2444390"/>
            <a:ext cx="489176" cy="489176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EE53C2B-5FAD-273D-B325-62B09B901388}"/>
              </a:ext>
            </a:extLst>
          </p:cNvPr>
          <p:cNvSpPr txBox="1"/>
          <p:nvPr/>
        </p:nvSpPr>
        <p:spPr>
          <a:xfrm>
            <a:off x="1568346" y="716578"/>
            <a:ext cx="600730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Collect and adapt with whatever bizarre items you find along the way.</a:t>
            </a:r>
          </a:p>
        </p:txBody>
      </p:sp>
      <p:pic>
        <p:nvPicPr>
          <p:cNvPr id="13" name="Picture 12" descr="A pixelated image of a horse&#10;&#10;AI-generated content may be incorrect.">
            <a:extLst>
              <a:ext uri="{FF2B5EF4-FFF2-40B4-BE49-F238E27FC236}">
                <a16:creationId xmlns:a16="http://schemas.microsoft.com/office/drawing/2014/main" id="{2BD38C97-A01D-E2D2-E3F0-612A6544C5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8188311" y="3393585"/>
            <a:ext cx="762607" cy="894163"/>
          </a:xfrm>
          <a:prstGeom prst="rect">
            <a:avLst/>
          </a:prstGeom>
        </p:spPr>
      </p:pic>
      <p:pic>
        <p:nvPicPr>
          <p:cNvPr id="14" name="Picture 13" descr="A pixelated image of a horse&#10;&#10;AI-generated content may be incorrect.">
            <a:extLst>
              <a:ext uri="{FF2B5EF4-FFF2-40B4-BE49-F238E27FC236}">
                <a16:creationId xmlns:a16="http://schemas.microsoft.com/office/drawing/2014/main" id="{784E6801-EB8F-12D5-8FBD-96C419F43D8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7263077" y="3521083"/>
            <a:ext cx="762607" cy="894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05750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7109007E-70B1-6CDB-C4A6-18A68100C9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2485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0573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C2F54A8F-EF3B-1D1C-8DB9-0F87D8160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video game screen with a gate and buildings">
            <a:extLst>
              <a:ext uri="{FF2B5EF4-FFF2-40B4-BE49-F238E27FC236}">
                <a16:creationId xmlns:a16="http://schemas.microsoft.com/office/drawing/2014/main" id="{73A69CEA-855A-F283-11C4-F9635E15ACB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Google Shape;1000;p37">
            <a:extLst>
              <a:ext uri="{FF2B5EF4-FFF2-40B4-BE49-F238E27FC236}">
                <a16:creationId xmlns:a16="http://schemas.microsoft.com/office/drawing/2014/main" id="{8D40509E-E4DC-E7E6-F196-BE6FF499E1DD}"/>
              </a:ext>
            </a:extLst>
          </p:cNvPr>
          <p:cNvSpPr txBox="1">
            <a:spLocks/>
          </p:cNvSpPr>
          <p:nvPr/>
        </p:nvSpPr>
        <p:spPr>
          <a:xfrm>
            <a:off x="761392" y="1130081"/>
            <a:ext cx="3916220" cy="8765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Proprietary MonoGame/C# engine with scripting language and 2D lighting system.</a:t>
            </a:r>
          </a:p>
        </p:txBody>
      </p:sp>
      <p:sp>
        <p:nvSpPr>
          <p:cNvPr id="7" name="Google Shape;1000;p37">
            <a:extLst>
              <a:ext uri="{FF2B5EF4-FFF2-40B4-BE49-F238E27FC236}">
                <a16:creationId xmlns:a16="http://schemas.microsoft.com/office/drawing/2014/main" id="{19CEF1D5-BDC4-62B3-4FF0-DA57B9D7DAE1}"/>
              </a:ext>
            </a:extLst>
          </p:cNvPr>
          <p:cNvSpPr txBox="1">
            <a:spLocks/>
          </p:cNvSpPr>
          <p:nvPr/>
        </p:nvSpPr>
        <p:spPr>
          <a:xfrm>
            <a:off x="4817729" y="2055696"/>
            <a:ext cx="3696685" cy="8765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Ready to expand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With the base systems stable, next step is expanding into full adventure content.</a:t>
            </a:r>
          </a:p>
        </p:txBody>
      </p:sp>
      <p:sp>
        <p:nvSpPr>
          <p:cNvPr id="9" name="Google Shape;999;p37">
            <a:extLst>
              <a:ext uri="{FF2B5EF4-FFF2-40B4-BE49-F238E27FC236}">
                <a16:creationId xmlns:a16="http://schemas.microsoft.com/office/drawing/2014/main" id="{AF682735-BDDF-12FF-4636-9FE8E6DEDB2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CURRENT STATUS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908F874C-A76B-3EC9-7CAF-545BFE380E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0" name="Picture 9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AE43CDBC-F02F-38AD-2DE1-3D949F93AE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763468" y="3332568"/>
            <a:ext cx="1257300" cy="1143000"/>
          </a:xfrm>
          <a:prstGeom prst="rect">
            <a:avLst/>
          </a:prstGeom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DE70908F-3932-C13C-E841-8182090B7F2B}"/>
              </a:ext>
            </a:extLst>
          </p:cNvPr>
          <p:cNvSpPr txBox="1">
            <a:spLocks/>
          </p:cNvSpPr>
          <p:nvPr/>
        </p:nvSpPr>
        <p:spPr>
          <a:xfrm>
            <a:off x="761392" y="2055696"/>
            <a:ext cx="3916220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Playable prototype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Simple core gameplay loop including procedural generation, basic combat, and our custom lighting system.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CB948FFE-95D3-EE8E-147F-E47694E0F66B}"/>
              </a:ext>
            </a:extLst>
          </p:cNvPr>
          <p:cNvSpPr txBox="1">
            <a:spLocks/>
          </p:cNvSpPr>
          <p:nvPr/>
        </p:nvSpPr>
        <p:spPr>
          <a:xfrm>
            <a:off x="4817729" y="1130081"/>
            <a:ext cx="3756645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&amp; Tone established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 style and absurd humor already defined.</a:t>
            </a:r>
          </a:p>
        </p:txBody>
      </p:sp>
    </p:spTree>
    <p:extLst>
      <p:ext uri="{BB962C8B-B14F-4D97-AF65-F5344CB8AC3E}">
        <p14:creationId xmlns:p14="http://schemas.microsoft.com/office/powerpoint/2010/main" val="14006778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6A86AC5-F113-3FE1-F4B1-30BA556D2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9202AF3-ADE5-DB2F-E0A7-C2BD9B511CD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duotone>
              <a:prstClr val="black"/>
              <a:schemeClr val="accent6">
                <a:lumMod val="75000"/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AA063CD-4D2E-8BC6-45A7-88F34494330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352843" y="947082"/>
            <a:ext cx="2951485" cy="2222036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Funding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 produce the full adventure: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30+ creatures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100+ items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10+ secondary cast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12 captive celebrities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8 bosses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New tunnels &amp; rooms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Story arc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Original soundtrack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FD809C86-5746-E53D-31F2-04E70B49972C}"/>
              </a:ext>
            </a:extLst>
          </p:cNvPr>
          <p:cNvSpPr txBox="1">
            <a:spLocks/>
          </p:cNvSpPr>
          <p:nvPr/>
        </p:nvSpPr>
        <p:spPr>
          <a:xfrm>
            <a:off x="4772218" y="945261"/>
            <a:ext cx="3532333" cy="1940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Localization (*)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Professional localization to reach a wider audience.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Console porting (*) 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game is easily portable Our code is AOT-friendly. All porting would be done by the publisher or external teams.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Marketing Assets (*)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Trailers, key art, and additional promotional materials.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B275CBDA-DB79-668B-D3D1-EBDA73B0DE20}"/>
              </a:ext>
            </a:extLst>
          </p:cNvPr>
          <p:cNvSpPr txBox="1">
            <a:spLocks/>
          </p:cNvSpPr>
          <p:nvPr/>
        </p:nvSpPr>
        <p:spPr>
          <a:xfrm>
            <a:off x="3886199" y="229306"/>
            <a:ext cx="137160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NEEDS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CEF86FA-FB80-2E8D-A1CF-A3B52EAB28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5" name="Picture 4" descr="A pixelated image of a person's face&#10;&#10;AI-generated content may be incorrect.">
            <a:extLst>
              <a:ext uri="{FF2B5EF4-FFF2-40B4-BE49-F238E27FC236}">
                <a16:creationId xmlns:a16="http://schemas.microsoft.com/office/drawing/2014/main" id="{71693FFB-ADE4-3EBC-B6CD-5BB70BBBAA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240996" y="3612059"/>
            <a:ext cx="743248" cy="418077"/>
          </a:xfrm>
          <a:prstGeom prst="rect">
            <a:avLst/>
          </a:prstGeom>
        </p:spPr>
      </p:pic>
      <p:pic>
        <p:nvPicPr>
          <p:cNvPr id="8" name="Picture 7" descr="A pixelated image of a person's face&#10;&#10;AI-generated content may be incorrect.">
            <a:extLst>
              <a:ext uri="{FF2B5EF4-FFF2-40B4-BE49-F238E27FC236}">
                <a16:creationId xmlns:a16="http://schemas.microsoft.com/office/drawing/2014/main" id="{A08857F8-BD63-FA8D-214F-E2427BEA4AC2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 flipH="1">
            <a:off x="6063555" y="3903227"/>
            <a:ext cx="839449" cy="42566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22D85B4-DEBC-D9D2-75AC-4EA1B67C181E}"/>
              </a:ext>
            </a:extLst>
          </p:cNvPr>
          <p:cNvSpPr txBox="1"/>
          <p:nvPr/>
        </p:nvSpPr>
        <p:spPr>
          <a:xfrm>
            <a:off x="2477122" y="4473077"/>
            <a:ext cx="41897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(*) Handled by the publisher. Not included in the development budget.</a:t>
            </a:r>
          </a:p>
        </p:txBody>
      </p:sp>
    </p:spTree>
    <p:extLst>
      <p:ext uri="{BB962C8B-B14F-4D97-AF65-F5344CB8AC3E}">
        <p14:creationId xmlns:p14="http://schemas.microsoft.com/office/powerpoint/2010/main" val="42897355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FA0D57-4FED-6D68-B23C-04A721D1D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A2527C92-4C52-C5DA-682B-0103D81FA3D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A8D6F54E-62B3-B106-ECAB-706E807DFDE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2450503" y="1155238"/>
            <a:ext cx="4242992" cy="2113495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Development time:</a:t>
            </a:r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14 months</a:t>
            </a:r>
            <a:b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1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Budget:</a:t>
            </a:r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210k USD (*)</a:t>
            </a:r>
            <a:b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1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Budget distribution: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Design &amp; Writing: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20%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&amp; Animation: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30%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Programming &amp; Tools: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30%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Audio &amp; Music: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15%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QA/Misc: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5%</a:t>
            </a: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B077C8FF-47C0-25E2-4134-3456BD44E543}"/>
              </a:ext>
            </a:extLst>
          </p:cNvPr>
          <p:cNvSpPr txBox="1">
            <a:spLocks/>
          </p:cNvSpPr>
          <p:nvPr/>
        </p:nvSpPr>
        <p:spPr>
          <a:xfrm>
            <a:off x="2168911" y="4340822"/>
            <a:ext cx="4806177" cy="6595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buClr>
                <a:srgbClr val="8F4D57"/>
              </a:buClr>
              <a:buSzPts val="1100"/>
            </a:pPr>
            <a:endParaRPr lang="en-US" sz="900" dirty="0">
              <a:solidFill>
                <a:schemeClr val="bg1">
                  <a:lumMod val="50000"/>
                </a:schemeClr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buClr>
                <a:srgbClr val="8F4D57"/>
              </a:buClr>
              <a:buSzPts val="1100"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(*) Does not include trailer production, localization and console porting.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2236D66A-9C1B-969E-0CB7-A2CA3D5CD4A0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PRODUCTION</a:t>
            </a:r>
          </a:p>
        </p:txBody>
      </p:sp>
    </p:spTree>
    <p:extLst>
      <p:ext uri="{BB962C8B-B14F-4D97-AF65-F5344CB8AC3E}">
        <p14:creationId xmlns:p14="http://schemas.microsoft.com/office/powerpoint/2010/main" val="33327391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96DB6AC6-AD3B-C709-6996-1F000F84C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521D29B5-C7F6-1F20-1200-9DDB9CBF462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B2E0ECE-E3C6-0307-BDD0-041A9A6115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052E82F6-CC2E-9851-4B04-145BE01BA38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EXPANSION POTENTIAL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4FE932DA-096D-E842-1AB1-CB0B8695D228}"/>
              </a:ext>
            </a:extLst>
          </p:cNvPr>
          <p:cNvSpPr txBox="1">
            <a:spLocks/>
          </p:cNvSpPr>
          <p:nvPr/>
        </p:nvSpPr>
        <p:spPr>
          <a:xfrm>
            <a:off x="2018658" y="1145913"/>
            <a:ext cx="5106683" cy="1334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The procedural and ride architecture allow the game to expand indefinitely with new post-launch content.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The modular design enables cost-efficient updates and multiple sales cycles over time.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</p:txBody>
      </p:sp>
      <p:pic>
        <p:nvPicPr>
          <p:cNvPr id="2" name="Picture 1" descr="A pixelated red and black object&#10;&#10;AI-generated content may be incorrect.">
            <a:extLst>
              <a:ext uri="{FF2B5EF4-FFF2-40B4-BE49-F238E27FC236}">
                <a16:creationId xmlns:a16="http://schemas.microsoft.com/office/drawing/2014/main" id="{B57A6D10-C620-52BE-600A-C9F16DF70B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7615" y="3729147"/>
            <a:ext cx="2862470" cy="111318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2D859C4-8368-588E-720E-A72CF71FE6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0890" y="2343150"/>
            <a:ext cx="685800" cy="457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A23DAE3-A901-AEAA-51E2-3DCFB64C82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7749185" y="859949"/>
            <a:ext cx="77097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546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hlinkClick r:id="rId2"/>
            <a:extLst>
              <a:ext uri="{FF2B5EF4-FFF2-40B4-BE49-F238E27FC236}">
                <a16:creationId xmlns:a16="http://schemas.microsoft.com/office/drawing/2014/main" id="{4EE37A1B-0844-B835-01EE-E3866ED0D1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003" y="1277484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F5A200B-19FA-BC96-10A2-0CB1C9FCA0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965" y="2776894"/>
            <a:ext cx="2670932" cy="60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hlinkClick r:id="rId5"/>
            <a:extLst>
              <a:ext uri="{FF2B5EF4-FFF2-40B4-BE49-F238E27FC236}">
                <a16:creationId xmlns:a16="http://schemas.microsoft.com/office/drawing/2014/main" id="{F5ECA793-C0AA-9C78-EC1D-C21FF9E5D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717" y="1272412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079C4FF-36E5-5645-D3A8-3EFD476B17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7419" y="2776894"/>
            <a:ext cx="2685408" cy="959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hlinkClick r:id="rId8"/>
            <a:extLst>
              <a:ext uri="{FF2B5EF4-FFF2-40B4-BE49-F238E27FC236}">
                <a16:creationId xmlns:a16="http://schemas.microsoft.com/office/drawing/2014/main" id="{6EC53590-1EC8-46ED-2532-C64EFC910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/>
          <a:srcRect l="3782" r="3782"/>
          <a:stretch/>
        </p:blipFill>
        <p:spPr bwMode="auto">
          <a:xfrm>
            <a:off x="6204387" y="1272412"/>
            <a:ext cx="2576062" cy="150955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5A96646F-D576-B767-2AA6-70467D7FE3A8}"/>
              </a:ext>
            </a:extLst>
          </p:cNvPr>
          <p:cNvSpPr txBox="1">
            <a:spLocks/>
          </p:cNvSpPr>
          <p:nvPr/>
        </p:nvSpPr>
        <p:spPr>
          <a:xfrm>
            <a:off x="1364103" y="295581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OUR GAMES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721B1A-A151-8774-332A-0FC6BDD6CFD0}"/>
              </a:ext>
            </a:extLst>
          </p:cNvPr>
          <p:cNvSpPr txBox="1"/>
          <p:nvPr/>
        </p:nvSpPr>
        <p:spPr>
          <a:xfrm>
            <a:off x="1309969" y="102619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2020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D4F8DC-E5F6-BE04-F02C-762226847025}"/>
              </a:ext>
            </a:extLst>
          </p:cNvPr>
          <p:cNvSpPr txBox="1"/>
          <p:nvPr/>
        </p:nvSpPr>
        <p:spPr>
          <a:xfrm>
            <a:off x="4197536" y="102619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2023</a:t>
            </a: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15D1CA-B8C1-15AC-836B-47AF04BB5640}"/>
              </a:ext>
            </a:extLst>
          </p:cNvPr>
          <p:cNvSpPr txBox="1"/>
          <p:nvPr/>
        </p:nvSpPr>
        <p:spPr>
          <a:xfrm>
            <a:off x="7117956" y="1024836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2025</a:t>
            </a: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A5C56A-74D6-047C-12D8-E79197F5082D}"/>
              </a:ext>
            </a:extLst>
          </p:cNvPr>
          <p:cNvSpPr txBox="1"/>
          <p:nvPr/>
        </p:nvSpPr>
        <p:spPr>
          <a:xfrm>
            <a:off x="1799334" y="4478587"/>
            <a:ext cx="5642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Shipped on PC and major consoles, award-winning for creativity and originality.</a:t>
            </a:r>
          </a:p>
        </p:txBody>
      </p:sp>
    </p:spTree>
    <p:extLst>
      <p:ext uri="{BB962C8B-B14F-4D97-AF65-F5344CB8AC3E}">
        <p14:creationId xmlns:p14="http://schemas.microsoft.com/office/powerpoint/2010/main" val="26840617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2C8D7569-5C51-B680-59E6-28E308016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3D66167E-39B7-42B9-5AB8-EC778F55CBC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730843" y="2096714"/>
            <a:ext cx="3253582" cy="40029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1" indent="0"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See you in hell!</a:t>
            </a:r>
          </a:p>
        </p:txBody>
      </p:sp>
      <p:pic>
        <p:nvPicPr>
          <p:cNvPr id="4" name="Picture 3" descr="A yellow and black logo&#10;&#10;AI-generated content may be incorrect.">
            <a:hlinkClick r:id="rId3"/>
            <a:extLst>
              <a:ext uri="{FF2B5EF4-FFF2-40B4-BE49-F238E27FC236}">
                <a16:creationId xmlns:a16="http://schemas.microsoft.com/office/drawing/2014/main" id="{1C37E350-5E37-7DF8-8F33-CC092C1573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0977" y="466862"/>
            <a:ext cx="2582052" cy="166337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9D1E934B-613C-2E14-6E91-49245FEB845B}"/>
              </a:ext>
            </a:extLst>
          </p:cNvPr>
          <p:cNvSpPr txBox="1">
            <a:spLocks/>
          </p:cNvSpPr>
          <p:nvPr/>
        </p:nvSpPr>
        <p:spPr>
          <a:xfrm>
            <a:off x="2390552" y="4484913"/>
            <a:ext cx="3989992" cy="400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457200" lvl="1" indent="0">
              <a:buClr>
                <a:srgbClr val="8F4D57"/>
              </a:buClr>
              <a:buSzPts val="1100"/>
            </a:pPr>
            <a:r>
              <a:rPr lang="en-US" sz="800" dirty="0">
                <a:solidFill>
                  <a:schemeClr val="accent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Contact: diego@indiesruption.com</a:t>
            </a:r>
            <a:endParaRPr lang="en-US" sz="800" dirty="0">
              <a:solidFill>
                <a:schemeClr val="accent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pic>
        <p:nvPicPr>
          <p:cNvPr id="1026" name="Picture 2" descr="BITBANG | Conocé al Jurado de Videojuegos 2022">
            <a:hlinkClick r:id="rId5"/>
            <a:extLst>
              <a:ext uri="{FF2B5EF4-FFF2-40B4-BE49-F238E27FC236}">
                <a16:creationId xmlns:a16="http://schemas.microsoft.com/office/drawing/2014/main" id="{4A663F81-F70C-0353-F4B4-154EFAB75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3383" y="2805821"/>
            <a:ext cx="802960" cy="802960"/>
          </a:xfrm>
          <a:prstGeom prst="rect">
            <a:avLst/>
          </a:prstGeom>
          <a:noFill/>
          <a:ln w="19050">
            <a:solidFill>
              <a:schemeClr val="bg2">
                <a:lumMod val="75000"/>
                <a:lumOff val="2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ITBANG | Conocé al Jurado de Videojuegos 2022">
            <a:hlinkClick r:id="rId7"/>
            <a:extLst>
              <a:ext uri="{FF2B5EF4-FFF2-40B4-BE49-F238E27FC236}">
                <a16:creationId xmlns:a16="http://schemas.microsoft.com/office/drawing/2014/main" id="{C7FF3FAD-54A0-77D9-B3A8-BB22C8AB46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03064" y="2805820"/>
            <a:ext cx="802960" cy="802960"/>
          </a:xfrm>
          <a:prstGeom prst="rect">
            <a:avLst/>
          </a:prstGeom>
          <a:noFill/>
          <a:ln w="19050">
            <a:solidFill>
              <a:schemeClr val="bg2">
                <a:lumMod val="75000"/>
                <a:lumOff val="2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urgan A. Nallar 🎲 - Escuela de Game ...">
            <a:hlinkClick r:id="rId9"/>
            <a:extLst>
              <a:ext uri="{FF2B5EF4-FFF2-40B4-BE49-F238E27FC236}">
                <a16:creationId xmlns:a16="http://schemas.microsoft.com/office/drawing/2014/main" id="{1800DAD1-03A3-67E5-DE6D-4E125651B6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2745" y="2805821"/>
            <a:ext cx="802959" cy="802959"/>
          </a:xfrm>
          <a:prstGeom prst="rect">
            <a:avLst/>
          </a:prstGeom>
          <a:noFill/>
          <a:ln w="19050">
            <a:solidFill>
              <a:schemeClr val="bg2">
                <a:lumMod val="75000"/>
                <a:lumOff val="2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99D06E37-DAD2-26D2-9E12-52ECA2CCAF00}"/>
              </a:ext>
            </a:extLst>
          </p:cNvPr>
          <p:cNvSpPr txBox="1">
            <a:spLocks/>
          </p:cNvSpPr>
          <p:nvPr/>
        </p:nvSpPr>
        <p:spPr>
          <a:xfrm>
            <a:off x="2288935" y="3648135"/>
            <a:ext cx="1551855" cy="695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Diego Cánepa</a:t>
            </a:r>
          </a:p>
          <a:p>
            <a:pPr marL="0" indent="0" algn="ctr">
              <a:lnSpc>
                <a:spcPct val="10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Founder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 Programmer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A5F3AC40-DE36-50F1-275A-042F7E3AECE2}"/>
              </a:ext>
            </a:extLst>
          </p:cNvPr>
          <p:cNvSpPr txBox="1">
            <a:spLocks/>
          </p:cNvSpPr>
          <p:nvPr/>
        </p:nvSpPr>
        <p:spPr>
          <a:xfrm>
            <a:off x="3840682" y="3648135"/>
            <a:ext cx="1329245" cy="337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Pablo Mamone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Project Manager</a:t>
            </a: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FB2C3E88-15B8-E8A9-33BF-ED3C0D951639}"/>
              </a:ext>
            </a:extLst>
          </p:cNvPr>
          <p:cNvSpPr txBox="1">
            <a:spLocks/>
          </p:cNvSpPr>
          <p:nvPr/>
        </p:nvSpPr>
        <p:spPr>
          <a:xfrm>
            <a:off x="5168300" y="3646989"/>
            <a:ext cx="1622074" cy="474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Durgan Nallar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Game Designer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Designer</a:t>
            </a:r>
          </a:p>
        </p:txBody>
      </p:sp>
      <p:pic>
        <p:nvPicPr>
          <p:cNvPr id="7" name="Picture 6" descr="A pixelated blue square with white letters">
            <a:extLst>
              <a:ext uri="{FF2B5EF4-FFF2-40B4-BE49-F238E27FC236}">
                <a16:creationId xmlns:a16="http://schemas.microsoft.com/office/drawing/2014/main" id="{7337FE17-4928-293F-1ED9-D8621D7CE74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58498" y="3493402"/>
            <a:ext cx="163824" cy="163824"/>
          </a:xfrm>
          <a:prstGeom prst="rect">
            <a:avLst/>
          </a:prstGeom>
        </p:spPr>
      </p:pic>
      <p:pic>
        <p:nvPicPr>
          <p:cNvPr id="11" name="Picture 10" descr="A pixelated blue square with white letters">
            <a:extLst>
              <a:ext uri="{FF2B5EF4-FFF2-40B4-BE49-F238E27FC236}">
                <a16:creationId xmlns:a16="http://schemas.microsoft.com/office/drawing/2014/main" id="{E82CA1BC-7566-2E35-DBA1-BC638CF7F68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24112" y="3493402"/>
            <a:ext cx="163824" cy="163824"/>
          </a:xfrm>
          <a:prstGeom prst="rect">
            <a:avLst/>
          </a:prstGeom>
        </p:spPr>
      </p:pic>
      <p:pic>
        <p:nvPicPr>
          <p:cNvPr id="12" name="Picture 11" descr="A pixelated blue square with white letters">
            <a:extLst>
              <a:ext uri="{FF2B5EF4-FFF2-40B4-BE49-F238E27FC236}">
                <a16:creationId xmlns:a16="http://schemas.microsoft.com/office/drawing/2014/main" id="{84C4BD57-46E4-5A85-9EB1-E11DF5D2835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63792" y="3483165"/>
            <a:ext cx="163824" cy="1638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3BBEF9C-4610-6A66-CE93-0BCA6E411C45}"/>
              </a:ext>
            </a:extLst>
          </p:cNvPr>
          <p:cNvSpPr txBox="1"/>
          <p:nvPr/>
        </p:nvSpPr>
        <p:spPr>
          <a:xfrm>
            <a:off x="231474" y="228305"/>
            <a:ext cx="2971881" cy="685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Veteran indie developers</a:t>
            </a:r>
            <a:b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30+ years of combined experience.</a:t>
            </a:r>
            <a:endParaRPr lang="en-US" sz="900" dirty="0"/>
          </a:p>
        </p:txBody>
      </p:sp>
      <p:pic>
        <p:nvPicPr>
          <p:cNvPr id="14" name="Picture 13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1429B171-F070-225A-6645-A09EB7F9A7A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flipH="1">
            <a:off x="8210497" y="228305"/>
            <a:ext cx="603287" cy="80163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BA75673-0B50-6F0B-7154-3F32894857F4}"/>
              </a:ext>
            </a:extLst>
          </p:cNvPr>
          <p:cNvSpPr txBox="1"/>
          <p:nvPr/>
        </p:nvSpPr>
        <p:spPr>
          <a:xfrm>
            <a:off x="5863029" y="344265"/>
            <a:ext cx="2384666" cy="4537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Celebrity found!</a:t>
            </a:r>
          </a:p>
          <a:p>
            <a:pPr algn="r">
              <a:lnSpc>
                <a:spcPct val="150000"/>
              </a:lnSpc>
            </a:pPr>
            <a:r>
              <a:rPr lang="en-US" sz="10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Bill Doors</a:t>
            </a:r>
            <a:endParaRPr lang="en-US" sz="1000" dirty="0">
              <a:solidFill>
                <a:srgbClr val="AB513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7476586"/>
      </p:ext>
    </p:extLst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5941</TotalTime>
  <Words>904</Words>
  <Application>Microsoft Office PowerPoint</Application>
  <PresentationFormat>On-screen Show (16:9)</PresentationFormat>
  <Paragraphs>131</Paragraphs>
  <Slides>16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Maven Pro</vt:lpstr>
      <vt:lpstr>Press Start 2P</vt:lpstr>
      <vt:lpstr>Super Pixel Vintage Gaming by Slidesgo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Diego Canepa</dc:creator>
  <cp:lastModifiedBy>Diego Canepa</cp:lastModifiedBy>
  <cp:revision>1169</cp:revision>
  <dcterms:modified xsi:type="dcterms:W3CDTF">2025-11-14T14:05:14Z</dcterms:modified>
</cp:coreProperties>
</file>