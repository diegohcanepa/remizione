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33"/>
  </p:notesMasterIdLst>
  <p:sldIdLst>
    <p:sldId id="256" r:id="rId2"/>
    <p:sldId id="260" r:id="rId3"/>
    <p:sldId id="311" r:id="rId4"/>
    <p:sldId id="317" r:id="rId5"/>
    <p:sldId id="344" r:id="rId6"/>
    <p:sldId id="318" r:id="rId7"/>
    <p:sldId id="319" r:id="rId8"/>
    <p:sldId id="316" r:id="rId9"/>
    <p:sldId id="325" r:id="rId10"/>
    <p:sldId id="341" r:id="rId11"/>
    <p:sldId id="342" r:id="rId12"/>
    <p:sldId id="312" r:id="rId13"/>
    <p:sldId id="315" r:id="rId14"/>
    <p:sldId id="322" r:id="rId15"/>
    <p:sldId id="338" r:id="rId16"/>
    <p:sldId id="327" r:id="rId17"/>
    <p:sldId id="328" r:id="rId18"/>
    <p:sldId id="330" r:id="rId19"/>
    <p:sldId id="331" r:id="rId20"/>
    <p:sldId id="333" r:id="rId21"/>
    <p:sldId id="334" r:id="rId22"/>
    <p:sldId id="335" r:id="rId23"/>
    <p:sldId id="337" r:id="rId24"/>
    <p:sldId id="339" r:id="rId25"/>
    <p:sldId id="323" r:id="rId26"/>
    <p:sldId id="324" r:id="rId27"/>
    <p:sldId id="340" r:id="rId28"/>
    <p:sldId id="326" r:id="rId29"/>
    <p:sldId id="320" r:id="rId30"/>
    <p:sldId id="343" r:id="rId31"/>
    <p:sldId id="321" r:id="rId32"/>
  </p:sldIdLst>
  <p:sldSz cx="9144000" cy="5143500" type="screen16x9"/>
  <p:notesSz cx="6858000" cy="9144000"/>
  <p:embeddedFontLst>
    <p:embeddedFont>
      <p:font typeface="Maven Pro" panose="020B0604020202020204" charset="0"/>
      <p:regular r:id="rId34"/>
      <p:bold r:id="rId35"/>
    </p:embeddedFont>
    <p:embeddedFont>
      <p:font typeface="Press Start 2P" panose="00000500000000000000" pitchFamily="2" charset="0"/>
      <p:regular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2333F"/>
    <a:srgbClr val="8F4D57"/>
    <a:srgbClr val="AB5130"/>
    <a:srgbClr val="BD6A62"/>
    <a:srgbClr val="3B7D4F"/>
    <a:srgbClr val="800000"/>
    <a:srgbClr val="F6CA15"/>
    <a:srgbClr val="CCCC00"/>
    <a:srgbClr val="F0B541"/>
    <a:srgbClr val="FF99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134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gace710277d_0_4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1" name="Google Shape;961;gace710277d_0_4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682875E9-27A2-3C49-1D62-10E06056F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59571C4-C56F-06DC-7FB1-5CE9F156BB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69EDA3B-E13C-3B18-1F1E-AA1FA4A52F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196958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7">
          <a:extLst>
            <a:ext uri="{FF2B5EF4-FFF2-40B4-BE49-F238E27FC236}">
              <a16:creationId xmlns:a16="http://schemas.microsoft.com/office/drawing/2014/main" id="{E3C3F598-5512-431F-27EB-57FCD88B5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ad10344254_0_475:notes">
            <a:extLst>
              <a:ext uri="{FF2B5EF4-FFF2-40B4-BE49-F238E27FC236}">
                <a16:creationId xmlns:a16="http://schemas.microsoft.com/office/drawing/2014/main" id="{1F904204-4C62-D1DD-07DF-71D1158A0D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9" name="Google Shape;1209;gad10344254_0_475:notes">
            <a:extLst>
              <a:ext uri="{FF2B5EF4-FFF2-40B4-BE49-F238E27FC236}">
                <a16:creationId xmlns:a16="http://schemas.microsoft.com/office/drawing/2014/main" id="{37DC1BDE-B7D2-745B-F22C-9631757D47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40054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7">
          <a:extLst>
            <a:ext uri="{FF2B5EF4-FFF2-40B4-BE49-F238E27FC236}">
              <a16:creationId xmlns:a16="http://schemas.microsoft.com/office/drawing/2014/main" id="{98D839D0-8EE2-8BD8-D028-1E9EADCB6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ad10344254_0_475:notes">
            <a:extLst>
              <a:ext uri="{FF2B5EF4-FFF2-40B4-BE49-F238E27FC236}">
                <a16:creationId xmlns:a16="http://schemas.microsoft.com/office/drawing/2014/main" id="{EFF678D2-467D-0D2A-A4E0-4AE8213C81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9" name="Google Shape;1209;gad10344254_0_475:notes">
            <a:extLst>
              <a:ext uri="{FF2B5EF4-FFF2-40B4-BE49-F238E27FC236}">
                <a16:creationId xmlns:a16="http://schemas.microsoft.com/office/drawing/2014/main" id="{2AF5F4E0-27F3-8FED-E4B5-58275B63B1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26888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7">
          <a:extLst>
            <a:ext uri="{FF2B5EF4-FFF2-40B4-BE49-F238E27FC236}">
              <a16:creationId xmlns:a16="http://schemas.microsoft.com/office/drawing/2014/main" id="{D7D1845E-975B-A33A-A53F-01F9585B7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ad10344254_0_475:notes">
            <a:extLst>
              <a:ext uri="{FF2B5EF4-FFF2-40B4-BE49-F238E27FC236}">
                <a16:creationId xmlns:a16="http://schemas.microsoft.com/office/drawing/2014/main" id="{18B5B6EC-2A60-5984-3E04-5C1E566306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9" name="Google Shape;1209;gad10344254_0_475:notes">
            <a:extLst>
              <a:ext uri="{FF2B5EF4-FFF2-40B4-BE49-F238E27FC236}">
                <a16:creationId xmlns:a16="http://schemas.microsoft.com/office/drawing/2014/main" id="{43670A9B-C312-5532-7D12-4F22B7298E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2888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7">
          <a:extLst>
            <a:ext uri="{FF2B5EF4-FFF2-40B4-BE49-F238E27FC236}">
              <a16:creationId xmlns:a16="http://schemas.microsoft.com/office/drawing/2014/main" id="{E70E1E3C-7897-9789-4045-4E2719CF6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ad10344254_0_475:notes">
            <a:extLst>
              <a:ext uri="{FF2B5EF4-FFF2-40B4-BE49-F238E27FC236}">
                <a16:creationId xmlns:a16="http://schemas.microsoft.com/office/drawing/2014/main" id="{7D8F75EC-961B-A0F1-2B26-0A04A8124B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9" name="Google Shape;1209;gad10344254_0_475:notes">
            <a:extLst>
              <a:ext uri="{FF2B5EF4-FFF2-40B4-BE49-F238E27FC236}">
                <a16:creationId xmlns:a16="http://schemas.microsoft.com/office/drawing/2014/main" id="{F3B7CB06-99B0-EE5E-F0EA-8AC4A18FA2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96872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D6399B5-E114-24AB-1C08-5BF0EF240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1BEEEB24-5EB5-682C-D2B4-AACAC5A68A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C2D2093F-64EF-878F-0029-D6CECBB8DC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21125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E6F6FE94-7BC2-26C1-E44D-469310551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5678F27-9769-0866-5D0B-FD5BEAB2FF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E7634D8D-9DEB-7333-9CC2-2F82F90C65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83121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36BCEC85-0DEF-E91A-41E3-0A983C3A4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6BB76B50-6E6F-BF7C-721E-8D307DD624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BFE06106-E09F-A83E-F379-1799415260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074122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7">
          <a:extLst>
            <a:ext uri="{FF2B5EF4-FFF2-40B4-BE49-F238E27FC236}">
              <a16:creationId xmlns:a16="http://schemas.microsoft.com/office/drawing/2014/main" id="{B36EFF47-599B-30D7-452B-3AD4B00B8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ad10344254_0_475:notes">
            <a:extLst>
              <a:ext uri="{FF2B5EF4-FFF2-40B4-BE49-F238E27FC236}">
                <a16:creationId xmlns:a16="http://schemas.microsoft.com/office/drawing/2014/main" id="{0A41FF68-8463-EC70-94F6-793B8C59A7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9" name="Google Shape;1209;gad10344254_0_475:notes">
            <a:extLst>
              <a:ext uri="{FF2B5EF4-FFF2-40B4-BE49-F238E27FC236}">
                <a16:creationId xmlns:a16="http://schemas.microsoft.com/office/drawing/2014/main" id="{C0D3BA32-6F6C-9BEE-0DBB-512A7B22B8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27987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7">
          <a:extLst>
            <a:ext uri="{FF2B5EF4-FFF2-40B4-BE49-F238E27FC236}">
              <a16:creationId xmlns:a16="http://schemas.microsoft.com/office/drawing/2014/main" id="{0293FD43-4699-F63C-474C-31139402D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ad10344254_0_475:notes">
            <a:extLst>
              <a:ext uri="{FF2B5EF4-FFF2-40B4-BE49-F238E27FC236}">
                <a16:creationId xmlns:a16="http://schemas.microsoft.com/office/drawing/2014/main" id="{44E095F7-06E3-02CE-D0B0-3D3B0D086A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9" name="Google Shape;1209;gad10344254_0_475:notes">
            <a:extLst>
              <a:ext uri="{FF2B5EF4-FFF2-40B4-BE49-F238E27FC236}">
                <a16:creationId xmlns:a16="http://schemas.microsoft.com/office/drawing/2014/main" id="{B6B7DB37-4B3B-3197-4982-07341BBE19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18391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7">
          <a:extLst>
            <a:ext uri="{FF2B5EF4-FFF2-40B4-BE49-F238E27FC236}">
              <a16:creationId xmlns:a16="http://schemas.microsoft.com/office/drawing/2014/main" id="{59800AC7-E31E-3063-7D39-42896FC8D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ad10344254_0_475:notes">
            <a:extLst>
              <a:ext uri="{FF2B5EF4-FFF2-40B4-BE49-F238E27FC236}">
                <a16:creationId xmlns:a16="http://schemas.microsoft.com/office/drawing/2014/main" id="{62D457C9-A18D-720D-D2AC-9B3A1B5D8F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9" name="Google Shape;1209;gad10344254_0_475:notes">
            <a:extLst>
              <a:ext uri="{FF2B5EF4-FFF2-40B4-BE49-F238E27FC236}">
                <a16:creationId xmlns:a16="http://schemas.microsoft.com/office/drawing/2014/main" id="{FC346CC1-6A55-4589-C391-A5B1913D8F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21359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9">
          <a:extLst>
            <a:ext uri="{FF2B5EF4-FFF2-40B4-BE49-F238E27FC236}">
              <a16:creationId xmlns:a16="http://schemas.microsoft.com/office/drawing/2014/main" id="{58ED8A5F-CE5B-79F6-AF7B-CA1F8F705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gace710277d_0_491:notes">
            <a:extLst>
              <a:ext uri="{FF2B5EF4-FFF2-40B4-BE49-F238E27FC236}">
                <a16:creationId xmlns:a16="http://schemas.microsoft.com/office/drawing/2014/main" id="{EC5C9D01-0B94-DF03-3314-71C805DA4B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1" name="Google Shape;961;gace710277d_0_491:notes">
            <a:extLst>
              <a:ext uri="{FF2B5EF4-FFF2-40B4-BE49-F238E27FC236}">
                <a16:creationId xmlns:a16="http://schemas.microsoft.com/office/drawing/2014/main" id="{22D684D1-198A-4850-36DC-CC2944A220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780585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33366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DCE523C-DE26-5190-B97C-FF87F49A9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707DD896-8C3B-1E11-4786-5F30C1622A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91901726-2938-2326-9227-D4BA020AE4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765443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1001038-85F5-AEA0-F926-465401503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FFEAD37-314D-447D-29C9-0AC7FDA245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F7959833-3711-0A8D-C2A7-C09DBEA5F6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25500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"/>
          <p:cNvSpPr/>
          <p:nvPr/>
        </p:nvSpPr>
        <p:spPr>
          <a:xfrm flipH="1">
            <a:off x="589991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3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3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3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3"/>
          <p:cNvSpPr/>
          <p:nvPr/>
        </p:nvSpPr>
        <p:spPr>
          <a:xfrm flipH="1">
            <a:off x="531019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3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3"/>
          <p:cNvSpPr/>
          <p:nvPr/>
        </p:nvSpPr>
        <p:spPr>
          <a:xfrm flipH="1">
            <a:off x="1771844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3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3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3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3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3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3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3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3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3"/>
          <p:cNvSpPr/>
          <p:nvPr/>
        </p:nvSpPr>
        <p:spPr>
          <a:xfrm flipH="1">
            <a:off x="1183064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3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3"/>
          <p:cNvSpPr/>
          <p:nvPr/>
        </p:nvSpPr>
        <p:spPr>
          <a:xfrm flipH="1">
            <a:off x="592413" y="4239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3"/>
          <p:cNvSpPr txBox="1">
            <a:spLocks noGrp="1"/>
          </p:cNvSpPr>
          <p:nvPr>
            <p:ph type="title"/>
          </p:nvPr>
        </p:nvSpPr>
        <p:spPr>
          <a:xfrm>
            <a:off x="1207825" y="3983254"/>
            <a:ext cx="6700500" cy="66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78" name="Google Shape;78;p3"/>
          <p:cNvSpPr txBox="1">
            <a:spLocks noGrp="1"/>
          </p:cNvSpPr>
          <p:nvPr>
            <p:ph type="title" idx="2" hasCustomPrompt="1"/>
          </p:nvPr>
        </p:nvSpPr>
        <p:spPr>
          <a:xfrm>
            <a:off x="3722450" y="526575"/>
            <a:ext cx="1699200" cy="319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362934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700" y="423236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590919" y="4232339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700" y="483539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590919" y="4835364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1180681" y="483537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848893" y="362932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259244" y="4232339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9"/>
          <p:cNvSpPr/>
          <p:nvPr/>
        </p:nvSpPr>
        <p:spPr>
          <a:xfrm>
            <a:off x="8849581" y="4232351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7669025" y="483539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259244" y="4835364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849006" y="483537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49" r:id="rId3"/>
    <p:sldLayoutId id="2147483655" r:id="rId4"/>
    <p:sldLayoutId id="2147483658" r:id="rId5"/>
    <p:sldLayoutId id="2147483667" r:id="rId6"/>
    <p:sldLayoutId id="2147483668" r:id="rId7"/>
    <p:sldLayoutId id="2147483669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3.em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oleObject" Target="../embeddings/oleObject7.bin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oleObject" Target="../embeddings/oleObject9.bin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18.jpeg"/><Relationship Id="rId7" Type="http://schemas.openxmlformats.org/officeDocument/2006/relationships/image" Target="../media/image21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0.jpeg"/><Relationship Id="rId5" Type="http://schemas.openxmlformats.org/officeDocument/2006/relationships/hyperlink" Target="https://store.steampowered.com/app/1702430/Vlad_Circus_Descend_Into_Madness/" TargetMode="External"/><Relationship Id="rId4" Type="http://schemas.openxmlformats.org/officeDocument/2006/relationships/image" Target="../media/image19.jpeg"/><Relationship Id="rId9" Type="http://schemas.openxmlformats.org/officeDocument/2006/relationships/image" Target="../media/image2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indiesruption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p33"/>
          <p:cNvSpPr txBox="1">
            <a:spLocks noGrp="1"/>
          </p:cNvSpPr>
          <p:nvPr>
            <p:ph type="ctrTitle" idx="4294967295"/>
          </p:nvPr>
        </p:nvSpPr>
        <p:spPr>
          <a:xfrm>
            <a:off x="2425459" y="2054783"/>
            <a:ext cx="4293070" cy="57308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sz="1400" dirty="0">
                <a:solidFill>
                  <a:srgbClr val="8F4D57"/>
                </a:solidFill>
              </a:rPr>
              <a:t>When hell runs a horror ride, no one is safe.</a:t>
            </a:r>
          </a:p>
        </p:txBody>
      </p:sp>
      <p:sp>
        <p:nvSpPr>
          <p:cNvPr id="965" name="Google Shape;965;p33"/>
          <p:cNvSpPr txBox="1">
            <a:spLocks noGrp="1"/>
          </p:cNvSpPr>
          <p:nvPr>
            <p:ph type="ctrTitle" idx="4294967295"/>
          </p:nvPr>
        </p:nvSpPr>
        <p:spPr>
          <a:xfrm>
            <a:off x="712784" y="1376922"/>
            <a:ext cx="7718425" cy="73183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>
                <a:solidFill>
                  <a:srgbClr val="AB5130"/>
                </a:solidFill>
              </a:rPr>
              <a:t>REMIZIONE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E77CD3-1A65-914C-B261-4BE2BB959A67}"/>
              </a:ext>
            </a:extLst>
          </p:cNvPr>
          <p:cNvSpPr txBox="1"/>
          <p:nvPr/>
        </p:nvSpPr>
        <p:spPr>
          <a:xfrm>
            <a:off x="3402444" y="3645120"/>
            <a:ext cx="233910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b="1" dirty="0">
                <a:solidFill>
                  <a:srgbClr val="F6CA15"/>
                </a:solidFill>
                <a:latin typeface="Press Start 2P" panose="00000500000000000000" pitchFamily="2" charset="0"/>
              </a:rPr>
              <a:t>By Indiesruption</a:t>
            </a:r>
          </a:p>
        </p:txBody>
      </p:sp>
      <p:pic>
        <p:nvPicPr>
          <p:cNvPr id="15" name="Picture 14" descr="A yellow ball with wings and a black background&#10;&#10;AI-generated content may be incorrect.">
            <a:extLst>
              <a:ext uri="{FF2B5EF4-FFF2-40B4-BE49-F238E27FC236}">
                <a16:creationId xmlns:a16="http://schemas.microsoft.com/office/drawing/2014/main" id="{A91F8DE5-F92B-A53E-5266-3D97D51A13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793" b="10103"/>
          <a:stretch>
            <a:fillRect/>
          </a:stretch>
        </p:blipFill>
        <p:spPr>
          <a:xfrm>
            <a:off x="4277663" y="3131823"/>
            <a:ext cx="588663" cy="48331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EFE8D09-385D-19CC-B21B-1FE9FC336EB3}"/>
              </a:ext>
            </a:extLst>
          </p:cNvPr>
          <p:cNvSpPr txBox="1"/>
          <p:nvPr/>
        </p:nvSpPr>
        <p:spPr>
          <a:xfrm>
            <a:off x="3671747" y="322198"/>
            <a:ext cx="180049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b="1" dirty="0">
                <a:solidFill>
                  <a:srgbClr val="52333F"/>
                </a:solidFill>
                <a:latin typeface="Press Start 2P" panose="00000500000000000000" pitchFamily="2" charset="0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/>
          <p:cNvSpPr txBox="1">
            <a:spLocks noGrp="1"/>
          </p:cNvSpPr>
          <p:nvPr>
            <p:ph type="title"/>
          </p:nvPr>
        </p:nvSpPr>
        <p:spPr>
          <a:xfrm>
            <a:off x="717450" y="225131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 dirty="0">
                <a:solidFill>
                  <a:srgbClr val="AB5130"/>
                </a:solidFill>
              </a:rPr>
              <a:t>Overview</a:t>
            </a:r>
            <a:endParaRPr sz="2400" dirty="0">
              <a:solidFill>
                <a:srgbClr val="AB5130"/>
              </a:solidFill>
            </a:endParaRPr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126408" y="1219551"/>
            <a:ext cx="6891183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Clr>
                <a:srgbClr val="8F4D57"/>
              </a:buClr>
              <a:buSzPts val="1100"/>
              <a:buNone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A 2D procedural roguelite adventure with permadeath, dark humor, missing celebrities, ridiculous monsters and hundred of items.</a:t>
            </a:r>
          </a:p>
          <a:p>
            <a:pPr marL="171450" lvl="0" indent="-1714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0" lvl="0" indent="0">
              <a:buClr>
                <a:srgbClr val="8F4D57"/>
              </a:buClr>
              <a:buSzPts val="1100"/>
              <a:buNone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Two mediocre journalists against a demon-possessed horror ride. Every place is a ticking time bomb, every monster a cruel joke, and every cart you push is your only shot at escape.</a:t>
            </a:r>
          </a:p>
        </p:txBody>
      </p:sp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837261C2-E554-BDA3-809B-9103289662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7293" y="3924909"/>
            <a:ext cx="571500" cy="914400"/>
          </a:xfrm>
          <a:prstGeom prst="rect">
            <a:avLst/>
          </a:prstGeom>
        </p:spPr>
      </p:pic>
      <p:pic>
        <p:nvPicPr>
          <p:cNvPr id="13" name="Picture 12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393C2DE5-CEC6-ED5E-DDE1-1263A050D2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6825208" y="3983316"/>
            <a:ext cx="571500" cy="8572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C20DCB5-CFC1-13FD-C801-E2F4E227C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>
            <a:extLst>
              <a:ext uri="{FF2B5EF4-FFF2-40B4-BE49-F238E27FC236}">
                <a16:creationId xmlns:a16="http://schemas.microsoft.com/office/drawing/2014/main" id="{0C192364-E381-EB17-974B-88B0574F27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50" y="225130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 dirty="0">
                <a:solidFill>
                  <a:srgbClr val="AB5130"/>
                </a:solidFill>
              </a:rPr>
              <a:t>Specifications</a:t>
            </a:r>
            <a:endParaRPr sz="2400" dirty="0">
              <a:solidFill>
                <a:srgbClr val="AB5130"/>
              </a:solidFill>
            </a:endParaRPr>
          </a:p>
        </p:txBody>
      </p:sp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0B12A6F6-08FC-0869-A660-A142C2E9BEF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649217" y="1099641"/>
            <a:ext cx="6138173" cy="1112837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Genre: 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2D roguelite adventure.</a:t>
            </a: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Graphic style: 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Pixel-art / 2.5D.</a:t>
            </a: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Rating: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 Adult language, some blood.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Audience: 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roguelike players and indie fans, 13+ years old.</a:t>
            </a: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Development Platform: 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MonoGame/C#</a:t>
            </a:r>
          </a:p>
        </p:txBody>
      </p:sp>
      <p:pic>
        <p:nvPicPr>
          <p:cNvPr id="3" name="Picture 2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D320EBAA-263B-2492-E802-4ABC8EF4DE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7899815" y="3709128"/>
            <a:ext cx="80665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54743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0">
          <a:extLst>
            <a:ext uri="{FF2B5EF4-FFF2-40B4-BE49-F238E27FC236}">
              <a16:creationId xmlns:a16="http://schemas.microsoft.com/office/drawing/2014/main" id="{32EA34DB-0FFB-BABC-45AA-48FA3C701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48">
            <a:extLst>
              <a:ext uri="{FF2B5EF4-FFF2-40B4-BE49-F238E27FC236}">
                <a16:creationId xmlns:a16="http://schemas.microsoft.com/office/drawing/2014/main" id="{A14A1B33-924F-C42C-5622-4047D003828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25" y="330062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AB5130"/>
                </a:solidFill>
              </a:rPr>
              <a:t>The Horror Ride</a:t>
            </a:r>
            <a:endParaRPr sz="1400" dirty="0">
              <a:solidFill>
                <a:srgbClr val="AB5130"/>
              </a:solidFill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1019D6BE-C0A5-8020-2027-6C04C4022226}"/>
              </a:ext>
            </a:extLst>
          </p:cNvPr>
          <p:cNvSpPr txBox="1">
            <a:spLocks/>
          </p:cNvSpPr>
          <p:nvPr/>
        </p:nvSpPr>
        <p:spPr>
          <a:xfrm>
            <a:off x="717425" y="979065"/>
            <a:ext cx="7709100" cy="1113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Back in its glory days, Snuggleville Amusement Park wanted to add a new attraction. The answer was Remizione, a horror ride designed to drag visitors through a delirious journey into the torments of purgatory.</a:t>
            </a:r>
          </a:p>
          <a:p>
            <a:pPr>
              <a:buClr>
                <a:srgbClr val="8F4D57"/>
              </a:buClr>
              <a:buSzPts val="1100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The project was handed to William Boo, a ride designer notorious for his unhealthy obsession with terrifying dolls.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The result was a ride as grotesque as it was mesmerizing: a mechanical parade of sins, animatronics, canned screams, and smoke-scented junk that sparked more nervous laughter than joy.</a:t>
            </a:r>
          </a:p>
          <a:p>
            <a:pPr>
              <a:buClr>
                <a:srgbClr val="8F4D57"/>
              </a:buClr>
              <a:buSzPts val="1100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Then a demon moved in and—bam—suddenly the ride wasn’t a ride anymore. It was purgatory with bad hydraulics.</a:t>
            </a:r>
          </a:p>
        </p:txBody>
      </p:sp>
    </p:spTree>
    <p:extLst>
      <p:ext uri="{BB962C8B-B14F-4D97-AF65-F5344CB8AC3E}">
        <p14:creationId xmlns:p14="http://schemas.microsoft.com/office/powerpoint/2010/main" val="9030360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0">
          <a:extLst>
            <a:ext uri="{FF2B5EF4-FFF2-40B4-BE49-F238E27FC236}">
              <a16:creationId xmlns:a16="http://schemas.microsoft.com/office/drawing/2014/main" id="{0D87EB59-D081-CEBD-2DF0-EE2AE312A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48">
            <a:extLst>
              <a:ext uri="{FF2B5EF4-FFF2-40B4-BE49-F238E27FC236}">
                <a16:creationId xmlns:a16="http://schemas.microsoft.com/office/drawing/2014/main" id="{FE58B46F-00AF-CC38-8882-041DE55F46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25" y="330062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AB5130"/>
                </a:solidFill>
              </a:rPr>
              <a:t>Background Story</a:t>
            </a:r>
            <a:br>
              <a:rPr lang="en-US" sz="2800" dirty="0">
                <a:solidFill>
                  <a:srgbClr val="AB5130"/>
                </a:solidFill>
              </a:rPr>
            </a:br>
            <a:r>
              <a:rPr lang="en-US" sz="1400" dirty="0">
                <a:solidFill>
                  <a:srgbClr val="AB5130"/>
                </a:solidFill>
              </a:rPr>
              <a:t>(1/3)</a:t>
            </a:r>
            <a:endParaRPr sz="1400" dirty="0">
              <a:solidFill>
                <a:srgbClr val="AB5130"/>
              </a:solidFill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503EA60E-0DB4-0F57-12A9-69F7F7941B8C}"/>
              </a:ext>
            </a:extLst>
          </p:cNvPr>
          <p:cNvSpPr txBox="1">
            <a:spLocks/>
          </p:cNvSpPr>
          <p:nvPr/>
        </p:nvSpPr>
        <p:spPr>
          <a:xfrm>
            <a:off x="768221" y="1121471"/>
            <a:ext cx="7607508" cy="1113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rgbClr val="8F4D57"/>
              </a:buClr>
              <a:buSzPts val="1100"/>
            </a:pPr>
            <a:r>
              <a:rPr lang="en-US" dirty="0">
                <a:solidFill>
                  <a:srgbClr val="BD6A62"/>
                </a:solidFill>
                <a:latin typeface="Press Start 2P" panose="00000500000000000000" pitchFamily="2" charset="0"/>
              </a:rPr>
              <a:t>The Mystery of Snuggleville</a:t>
            </a:r>
          </a:p>
          <a:p>
            <a:pPr algn="ctr">
              <a:buClr>
                <a:srgbClr val="8F4D57"/>
              </a:buClr>
              <a:buSzPts val="1100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In Snuggleville, a town famous for gossip and its amusement park, everything was laughter and cotton candy. At least, until the grand opening of Remizione, a horror ride so ambitious its creator was a deranged obsessive who even kept track of the puppets’ warts.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For the premiere, they invited the 12 most “important” personalities of the town. They boarded smiling, of course. Did they come back? Not a chance. The creator? Gone too. The park, turned into a cursed meme and went bankrupt faster than a politician’s morals.</a:t>
            </a:r>
          </a:p>
        </p:txBody>
      </p:sp>
    </p:spTree>
    <p:extLst>
      <p:ext uri="{BB962C8B-B14F-4D97-AF65-F5344CB8AC3E}">
        <p14:creationId xmlns:p14="http://schemas.microsoft.com/office/powerpoint/2010/main" val="8027272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0">
          <a:extLst>
            <a:ext uri="{FF2B5EF4-FFF2-40B4-BE49-F238E27FC236}">
              <a16:creationId xmlns:a16="http://schemas.microsoft.com/office/drawing/2014/main" id="{0EE3EFC0-8FF1-8C88-9661-E159BDB46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48">
            <a:extLst>
              <a:ext uri="{FF2B5EF4-FFF2-40B4-BE49-F238E27FC236}">
                <a16:creationId xmlns:a16="http://schemas.microsoft.com/office/drawing/2014/main" id="{1DFFFF5B-04E2-42C6-743D-75FAC4BC0B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50" y="330062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AB5130"/>
                </a:solidFill>
              </a:rPr>
              <a:t>Background Story</a:t>
            </a:r>
            <a:br>
              <a:rPr lang="en-US" sz="3600" dirty="0">
                <a:solidFill>
                  <a:srgbClr val="AB5130"/>
                </a:solidFill>
              </a:rPr>
            </a:br>
            <a:r>
              <a:rPr lang="en-US" sz="1400" dirty="0">
                <a:solidFill>
                  <a:srgbClr val="AB5130"/>
                </a:solidFill>
              </a:rPr>
              <a:t>(2/3)</a:t>
            </a:r>
            <a:endParaRPr sz="1400" dirty="0">
              <a:solidFill>
                <a:srgbClr val="AB5130"/>
              </a:solidFill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1FD9671E-9B31-9C0C-1DB7-B08F30288F1E}"/>
              </a:ext>
            </a:extLst>
          </p:cNvPr>
          <p:cNvSpPr txBox="1">
            <a:spLocks/>
          </p:cNvSpPr>
          <p:nvPr/>
        </p:nvSpPr>
        <p:spPr>
          <a:xfrm>
            <a:off x="1047438" y="1128966"/>
            <a:ext cx="7049124" cy="1113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rgbClr val="8F4D57"/>
              </a:buClr>
              <a:buSzPts val="1100"/>
            </a:pPr>
            <a:r>
              <a:rPr lang="en-US" dirty="0">
                <a:solidFill>
                  <a:srgbClr val="BD6A62"/>
                </a:solidFill>
                <a:latin typeface="Press Start 2P" panose="00000500000000000000" pitchFamily="2" charset="0"/>
              </a:rPr>
              <a:t>The Most Unlikely Heroes</a:t>
            </a:r>
          </a:p>
          <a:p>
            <a:pPr>
              <a:buClr>
                <a:srgbClr val="8F4D57"/>
              </a:buClr>
              <a:buSzPts val="1100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Many years later, twins Edmundo and Berta Idle, editors of Mysterious Mysteries magazine, decide to investigate the case. Their plan: sneak into the abandoned park at night, armed with more enthusiasm than brains and dreaming of a Pulitzer Prize.</a:t>
            </a:r>
          </a:p>
          <a:p>
            <a:pPr>
              <a:buClr>
                <a:srgbClr val="8F4D57"/>
              </a:buClr>
              <a:buSzPts val="1100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What they don’t know is that the attraction is now home to Mandinga, a frustrated demon who, as a child, dreamed of having his very own horror ride—and isn’t about to give it up.</a:t>
            </a:r>
          </a:p>
        </p:txBody>
      </p:sp>
    </p:spTree>
    <p:extLst>
      <p:ext uri="{BB962C8B-B14F-4D97-AF65-F5344CB8AC3E}">
        <p14:creationId xmlns:p14="http://schemas.microsoft.com/office/powerpoint/2010/main" val="4125863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0">
          <a:extLst>
            <a:ext uri="{FF2B5EF4-FFF2-40B4-BE49-F238E27FC236}">
              <a16:creationId xmlns:a16="http://schemas.microsoft.com/office/drawing/2014/main" id="{BDC17088-3EBD-136B-4A40-4026446C7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48">
            <a:extLst>
              <a:ext uri="{FF2B5EF4-FFF2-40B4-BE49-F238E27FC236}">
                <a16:creationId xmlns:a16="http://schemas.microsoft.com/office/drawing/2014/main" id="{90B3AC64-5AAB-673C-42A2-61E42D6C11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25" y="330064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AB5130"/>
                </a:solidFill>
              </a:rPr>
              <a:t>Background Story</a:t>
            </a:r>
            <a:br>
              <a:rPr lang="en-US" sz="3600" dirty="0">
                <a:solidFill>
                  <a:srgbClr val="AB5130"/>
                </a:solidFill>
              </a:rPr>
            </a:br>
            <a:r>
              <a:rPr lang="en-US" sz="1400" dirty="0">
                <a:solidFill>
                  <a:srgbClr val="AB5130"/>
                </a:solidFill>
              </a:rPr>
              <a:t>(3/3)</a:t>
            </a:r>
            <a:endParaRPr sz="1400" dirty="0">
              <a:solidFill>
                <a:srgbClr val="AB5130"/>
              </a:solidFill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A5797C6C-D604-8583-D088-57411C24F938}"/>
              </a:ext>
            </a:extLst>
          </p:cNvPr>
          <p:cNvSpPr txBox="1">
            <a:spLocks/>
          </p:cNvSpPr>
          <p:nvPr/>
        </p:nvSpPr>
        <p:spPr>
          <a:xfrm>
            <a:off x="768221" y="1106480"/>
            <a:ext cx="7607508" cy="1113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rgbClr val="8F4D57"/>
              </a:buClr>
              <a:buSzPts val="1100"/>
            </a:pPr>
            <a:r>
              <a:rPr lang="en-US" dirty="0">
                <a:solidFill>
                  <a:srgbClr val="BD6A62"/>
                </a:solidFill>
                <a:latin typeface="Press Start 2P" panose="00000500000000000000" pitchFamily="2" charset="0"/>
              </a:rPr>
              <a:t>A Journey Bound to Go Wrong</a:t>
            </a:r>
          </a:p>
          <a:p>
            <a:pPr>
              <a:buClr>
                <a:srgbClr val="8F4D57"/>
              </a:buClr>
              <a:buSzPts val="1100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On a night full of absurd scares and very real danger, the Idle twins face a challenge way beyond their league.</a:t>
            </a:r>
          </a:p>
          <a:p>
            <a:pPr>
              <a:buClr>
                <a:srgbClr val="8F4D57"/>
              </a:buClr>
              <a:buSzPts val="1100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Will the twins manage to become the town’s heroes? Or will they end up trapped forever with the others? </a:t>
            </a:r>
          </a:p>
          <a:p>
            <a:pPr>
              <a:buClr>
                <a:srgbClr val="8F4D57"/>
              </a:buClr>
              <a:buSzPts val="1100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One thing is certain: what they’re about to experience is a monumental stupidity.</a:t>
            </a:r>
          </a:p>
        </p:txBody>
      </p:sp>
      <p:pic>
        <p:nvPicPr>
          <p:cNvPr id="4" name="Picture 3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8441BCC3-5DB9-58CC-BA9A-A1EAB00691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0344" y="3918712"/>
            <a:ext cx="571500" cy="914400"/>
          </a:xfrm>
          <a:prstGeom prst="rect">
            <a:avLst/>
          </a:prstGeom>
        </p:spPr>
      </p:pic>
      <p:pic>
        <p:nvPicPr>
          <p:cNvPr id="6" name="Picture 5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6D1FFAB1-499C-969B-58B6-C602645FE8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8001936" y="3975862"/>
            <a:ext cx="571500" cy="85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8290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05E3E87C-07D7-F3F3-2C64-9167B8881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>
            <a:extLst>
              <a:ext uri="{FF2B5EF4-FFF2-40B4-BE49-F238E27FC236}">
                <a16:creationId xmlns:a16="http://schemas.microsoft.com/office/drawing/2014/main" id="{154DE6E0-3E5A-7625-F8BC-406F3F42C8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48" y="307578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 dirty="0">
                <a:solidFill>
                  <a:srgbClr val="AB5130"/>
                </a:solidFill>
              </a:rPr>
              <a:t>Gameplay</a:t>
            </a:r>
            <a:br>
              <a:rPr lang="en" sz="2400" dirty="0">
                <a:solidFill>
                  <a:srgbClr val="AB5130"/>
                </a:solidFill>
              </a:rPr>
            </a:br>
            <a:r>
              <a:rPr lang="en" sz="1400" dirty="0">
                <a:solidFill>
                  <a:srgbClr val="AB5130"/>
                </a:solidFill>
              </a:rPr>
              <a:t>(1/2)</a:t>
            </a:r>
            <a:endParaRPr sz="1400" dirty="0">
              <a:solidFill>
                <a:srgbClr val="AB5130"/>
              </a:solidFill>
            </a:endParaRPr>
          </a:p>
        </p:txBody>
      </p:sp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4B8BBCFE-17C0-31CE-E552-926C0026605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890903" y="1149430"/>
            <a:ext cx="7362190" cy="1112837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Explore an evil horror ride filled with ugly creatures, traps, puzzles, items and secrets.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Simple 2D bizarre action. Push carts and face grotesque monsters and bosses.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Permadeath: each death teaches something new and unlocks items.</a:t>
            </a: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Unlocks are diverse and surprising: players can earn new content by defeating bosses, surviving a set number of runs, discovering secret areas, or completing bizarre hidden tasks.</a:t>
            </a:r>
          </a:p>
        </p:txBody>
      </p:sp>
    </p:spTree>
    <p:extLst>
      <p:ext uri="{BB962C8B-B14F-4D97-AF65-F5344CB8AC3E}">
        <p14:creationId xmlns:p14="http://schemas.microsoft.com/office/powerpoint/2010/main" val="2429485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17F92BE7-960D-34A7-3D0E-A486740DB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>
            <a:extLst>
              <a:ext uri="{FF2B5EF4-FFF2-40B4-BE49-F238E27FC236}">
                <a16:creationId xmlns:a16="http://schemas.microsoft.com/office/drawing/2014/main" id="{FC7B9843-0163-D72F-A279-607895F20B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48" y="307578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 dirty="0">
                <a:solidFill>
                  <a:srgbClr val="AB5130"/>
                </a:solidFill>
              </a:rPr>
              <a:t>Gameplay</a:t>
            </a:r>
            <a:br>
              <a:rPr lang="en" sz="2400" dirty="0">
                <a:solidFill>
                  <a:srgbClr val="AB5130"/>
                </a:solidFill>
              </a:rPr>
            </a:br>
            <a:r>
              <a:rPr lang="en" sz="1400" dirty="0">
                <a:solidFill>
                  <a:srgbClr val="AB5130"/>
                </a:solidFill>
              </a:rPr>
              <a:t>(2/2)</a:t>
            </a:r>
            <a:endParaRPr sz="1400" dirty="0">
              <a:solidFill>
                <a:srgbClr val="AB5130"/>
              </a:solidFill>
            </a:endParaRPr>
          </a:p>
        </p:txBody>
      </p:sp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D650DE06-3101-1F1D-6E24-53D1E44B7FF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803717" y="1144120"/>
            <a:ext cx="7536561" cy="1112837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Loot-Creatures spits out items and energy to power each exit cart; your choices shape survival.</a:t>
            </a: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Choose which twin to use—each with unique traits. Some areas of the attraction can only be unlocked by a specific character.</a:t>
            </a: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Find the ride’s deranged designer to unlock the abandoned park’s ATM, where your hard-earned tickets turn into points to buy unique items and hidden areas of the attraction.</a:t>
            </a:r>
          </a:p>
        </p:txBody>
      </p:sp>
    </p:spTree>
    <p:extLst>
      <p:ext uri="{BB962C8B-B14F-4D97-AF65-F5344CB8AC3E}">
        <p14:creationId xmlns:p14="http://schemas.microsoft.com/office/powerpoint/2010/main" val="15892622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A34EBE2-BDE0-E941-7C1E-4D85528B7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>
            <a:extLst>
              <a:ext uri="{FF2B5EF4-FFF2-40B4-BE49-F238E27FC236}">
                <a16:creationId xmlns:a16="http://schemas.microsoft.com/office/drawing/2014/main" id="{327D8213-6DEC-B768-FCFB-573865E123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48" y="307578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 dirty="0">
                <a:solidFill>
                  <a:srgbClr val="AB5130"/>
                </a:solidFill>
              </a:rPr>
              <a:t>Gameplay</a:t>
            </a:r>
            <a:br>
              <a:rPr lang="en" sz="2400" dirty="0">
                <a:solidFill>
                  <a:srgbClr val="AB5130"/>
                </a:solidFill>
              </a:rPr>
            </a:br>
            <a:r>
              <a:rPr lang="en" sz="1400" dirty="0">
                <a:solidFill>
                  <a:srgbClr val="AB5130"/>
                </a:solidFill>
              </a:rPr>
              <a:t>(3/3)</a:t>
            </a:r>
            <a:endParaRPr sz="1400" dirty="0">
              <a:solidFill>
                <a:srgbClr val="AB5130"/>
              </a:solidFill>
            </a:endParaRPr>
          </a:p>
        </p:txBody>
      </p:sp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79AA150-F2D4-5127-A6F1-F7EF1FC46C4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947998" y="1111953"/>
            <a:ext cx="7248000" cy="1112837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Inventory growth is permanent: expand your slots by stitching them with needles and thread found during runs—once unlocked, they never shrink back.</a:t>
            </a: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Meta-objectives: Rescue twisted parodies of real-world celebrities—each with a ridiculous name and a bizarre quirk that mocks their persona. 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For example, Bill Doors might give you a tip for the ATM, only to trigger a Windows-style “blue screen of death” error.</a:t>
            </a: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51848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7E68F2B-5464-E15A-128C-A410CB603FDD}"/>
              </a:ext>
            </a:extLst>
          </p:cNvPr>
          <p:cNvSpPr txBox="1"/>
          <p:nvPr/>
        </p:nvSpPr>
        <p:spPr>
          <a:xfrm>
            <a:off x="3674157" y="1477427"/>
            <a:ext cx="17956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8F4D57"/>
                </a:solidFill>
                <a:latin typeface="Press Start 2P" panose="00000500000000000000" pitchFamily="2" charset="0"/>
              </a:rPr>
              <a:t>Choose</a:t>
            </a:r>
          </a:p>
          <a:p>
            <a:pPr algn="ctr"/>
            <a:r>
              <a:rPr lang="en-US" dirty="0">
                <a:solidFill>
                  <a:srgbClr val="8F4D57"/>
                </a:solidFill>
                <a:latin typeface="Press Start 2P" panose="00000500000000000000" pitchFamily="2" charset="0"/>
              </a:rPr>
              <a:t>character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A8074A-0EA5-C0F0-87D6-C4519DD2C7EE}"/>
              </a:ext>
            </a:extLst>
          </p:cNvPr>
          <p:cNvSpPr txBox="1"/>
          <p:nvPr/>
        </p:nvSpPr>
        <p:spPr>
          <a:xfrm>
            <a:off x="5669681" y="2423247"/>
            <a:ext cx="10823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BD6A62"/>
                </a:solidFill>
                <a:latin typeface="Press Start 2P" panose="00000500000000000000" pitchFamily="2" charset="0"/>
              </a:rPr>
              <a:t>Begin</a:t>
            </a:r>
          </a:p>
          <a:p>
            <a:pPr algn="ctr"/>
            <a:r>
              <a:rPr lang="en-US" dirty="0">
                <a:solidFill>
                  <a:srgbClr val="BD6A62"/>
                </a:solidFill>
                <a:latin typeface="Press Start 2P" panose="00000500000000000000" pitchFamily="2" charset="0"/>
              </a:rPr>
              <a:t>ride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3B9801-8A0A-0CC6-FEE7-0E721EA1372B}"/>
              </a:ext>
            </a:extLst>
          </p:cNvPr>
          <p:cNvSpPr txBox="1"/>
          <p:nvPr/>
        </p:nvSpPr>
        <p:spPr>
          <a:xfrm>
            <a:off x="3634317" y="3459677"/>
            <a:ext cx="18753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AB5130"/>
                </a:solidFill>
                <a:latin typeface="Press Start 2P" panose="00000500000000000000" pitchFamily="2" charset="0"/>
              </a:rPr>
              <a:t>Survive ride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62D20E-03EE-53B7-81AD-6ABEE4E53BFC}"/>
              </a:ext>
            </a:extLst>
          </p:cNvPr>
          <p:cNvSpPr txBox="1"/>
          <p:nvPr/>
        </p:nvSpPr>
        <p:spPr>
          <a:xfrm>
            <a:off x="1523065" y="2401210"/>
            <a:ext cx="21510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3B7D4F"/>
                </a:solidFill>
                <a:latin typeface="Press Start 2P" panose="00000500000000000000" pitchFamily="2" charset="0"/>
              </a:rPr>
              <a:t>Unlock </a:t>
            </a:r>
          </a:p>
          <a:p>
            <a:pPr algn="ctr"/>
            <a:r>
              <a:rPr lang="en-US" dirty="0">
                <a:solidFill>
                  <a:srgbClr val="3B7D4F"/>
                </a:solidFill>
                <a:latin typeface="Press Start 2P" panose="00000500000000000000" pitchFamily="2" charset="0"/>
              </a:rPr>
              <a:t>new stuff</a:t>
            </a: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519C639E-FD6E-0639-E043-9475A0AE206F}"/>
              </a:ext>
            </a:extLst>
          </p:cNvPr>
          <p:cNvSpPr/>
          <p:nvPr/>
        </p:nvSpPr>
        <p:spPr>
          <a:xfrm rot="5400000">
            <a:off x="5688794" y="1644374"/>
            <a:ext cx="611370" cy="699519"/>
          </a:xfrm>
          <a:prstGeom prst="bentArrow">
            <a:avLst/>
          </a:prstGeom>
          <a:solidFill>
            <a:schemeClr val="accent4"/>
          </a:solidFill>
          <a:ln>
            <a:solidFill>
              <a:srgbClr val="8F4D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BE208F65-1ACD-404F-5122-8FDC916CD14A}"/>
              </a:ext>
            </a:extLst>
          </p:cNvPr>
          <p:cNvSpPr/>
          <p:nvPr/>
        </p:nvSpPr>
        <p:spPr>
          <a:xfrm rot="10800000">
            <a:off x="5536659" y="3109917"/>
            <a:ext cx="699520" cy="699519"/>
          </a:xfrm>
          <a:prstGeom prst="bentArrow">
            <a:avLst/>
          </a:prstGeom>
          <a:solidFill>
            <a:schemeClr val="accent4"/>
          </a:solidFill>
          <a:ln>
            <a:solidFill>
              <a:srgbClr val="8F4D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5A091DE-053F-722E-EBE5-6B30D094BEAD}"/>
              </a:ext>
            </a:extLst>
          </p:cNvPr>
          <p:cNvSpPr/>
          <p:nvPr/>
        </p:nvSpPr>
        <p:spPr>
          <a:xfrm rot="16200000">
            <a:off x="2799757" y="3019307"/>
            <a:ext cx="699520" cy="699519"/>
          </a:xfrm>
          <a:prstGeom prst="bentArrow">
            <a:avLst/>
          </a:prstGeom>
          <a:solidFill>
            <a:schemeClr val="accent4"/>
          </a:solidFill>
          <a:ln>
            <a:solidFill>
              <a:srgbClr val="8F4D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Arrow: Bent 23">
            <a:extLst>
              <a:ext uri="{FF2B5EF4-FFF2-40B4-BE49-F238E27FC236}">
                <a16:creationId xmlns:a16="http://schemas.microsoft.com/office/drawing/2014/main" id="{ABF46C45-0C82-49E1-762D-07CB71828AA5}"/>
              </a:ext>
            </a:extLst>
          </p:cNvPr>
          <p:cNvSpPr/>
          <p:nvPr/>
        </p:nvSpPr>
        <p:spPr>
          <a:xfrm>
            <a:off x="2882175" y="1626178"/>
            <a:ext cx="617102" cy="680156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chemeClr val="accent4"/>
          </a:solidFill>
          <a:ln>
            <a:solidFill>
              <a:srgbClr val="8F4D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6" name="Google Shape;999;p37">
            <a:extLst>
              <a:ext uri="{FF2B5EF4-FFF2-40B4-BE49-F238E27FC236}">
                <a16:creationId xmlns:a16="http://schemas.microsoft.com/office/drawing/2014/main" id="{1FE58226-C9BB-533D-9C74-0BDAC7965A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47" y="225477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 dirty="0">
                <a:solidFill>
                  <a:srgbClr val="AB5130"/>
                </a:solidFill>
              </a:rPr>
              <a:t>Core Loop</a:t>
            </a:r>
            <a:endParaRPr sz="2400" dirty="0">
              <a:solidFill>
                <a:srgbClr val="AB5130"/>
              </a:solidFill>
            </a:endParaRPr>
          </a:p>
        </p:txBody>
      </p:sp>
      <p:pic>
        <p:nvPicPr>
          <p:cNvPr id="28" name="Picture 27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FE307EF4-372B-75C5-7547-8272A8BBED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3503" y="2287993"/>
            <a:ext cx="1016989" cy="884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125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0">
          <a:extLst>
            <a:ext uri="{FF2B5EF4-FFF2-40B4-BE49-F238E27FC236}">
              <a16:creationId xmlns:a16="http://schemas.microsoft.com/office/drawing/2014/main" id="{AD58A570-97FC-D60B-AE8B-84EC1A6FF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48">
            <a:extLst>
              <a:ext uri="{FF2B5EF4-FFF2-40B4-BE49-F238E27FC236}">
                <a16:creationId xmlns:a16="http://schemas.microsoft.com/office/drawing/2014/main" id="{A42D8231-D375-BDDB-3AA3-3E46C8E8F9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25" y="315072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AB5130"/>
                </a:solidFill>
              </a:rPr>
              <a:t>Key Features</a:t>
            </a:r>
            <a:br>
              <a:rPr lang="en-US" sz="3600" dirty="0">
                <a:solidFill>
                  <a:srgbClr val="AB5130"/>
                </a:solidFill>
              </a:rPr>
            </a:br>
            <a:r>
              <a:rPr lang="en-US" sz="1400" dirty="0">
                <a:solidFill>
                  <a:srgbClr val="AB5130"/>
                </a:solidFill>
              </a:rPr>
              <a:t>(1/2)</a:t>
            </a:r>
            <a:endParaRPr sz="1400" dirty="0">
              <a:solidFill>
                <a:srgbClr val="AB5130"/>
              </a:solidFill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E59BED5C-9ACE-29D6-91CE-98F38D025527}"/>
              </a:ext>
            </a:extLst>
          </p:cNvPr>
          <p:cNvSpPr txBox="1">
            <a:spLocks/>
          </p:cNvSpPr>
          <p:nvPr/>
        </p:nvSpPr>
        <p:spPr>
          <a:xfrm>
            <a:off x="957096" y="1116986"/>
            <a:ext cx="7229758" cy="1113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Unique art and humor blending the grotesque with the comedic.</a:t>
            </a: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Procedurally generated levels making every run unpredictable.</a:t>
            </a: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Bizarre creatures and items. Everyday amenities—like toilets and kiosks—remain in use inside the attraction.</a:t>
            </a: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Earn tickets and exchange them for strange but useful souvenirs.</a:t>
            </a: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’90s-style MIDI-inspired soundtrack combining jazz, lounge, and retro adventure vibes to match the humor and chaos of the game.</a:t>
            </a:r>
          </a:p>
        </p:txBody>
      </p:sp>
      <p:pic>
        <p:nvPicPr>
          <p:cNvPr id="5" name="Picture 4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046FB048-7B42-D2DD-B242-D4B9246DD1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621863" flipH="1">
            <a:off x="7074414" y="4443837"/>
            <a:ext cx="914400" cy="514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4730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0">
          <a:extLst>
            <a:ext uri="{FF2B5EF4-FFF2-40B4-BE49-F238E27FC236}">
              <a16:creationId xmlns:a16="http://schemas.microsoft.com/office/drawing/2014/main" id="{93F8DD1F-AEE0-2EBD-FB5C-AD70427AD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48">
            <a:extLst>
              <a:ext uri="{FF2B5EF4-FFF2-40B4-BE49-F238E27FC236}">
                <a16:creationId xmlns:a16="http://schemas.microsoft.com/office/drawing/2014/main" id="{2B56387C-23F8-0E7E-B964-47786892E0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24" y="315072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sz="2400" dirty="0">
                <a:solidFill>
                  <a:srgbClr val="AB5130"/>
                </a:solidFill>
              </a:rPr>
              <a:t>Key Features</a:t>
            </a:r>
            <a:br>
              <a:rPr lang="en-US" sz="3600" dirty="0">
                <a:solidFill>
                  <a:srgbClr val="AB5130"/>
                </a:solidFill>
              </a:rPr>
            </a:br>
            <a:r>
              <a:rPr lang="en-US" sz="1400" dirty="0">
                <a:solidFill>
                  <a:srgbClr val="AB5130"/>
                </a:solidFill>
              </a:rPr>
              <a:t>(2/2)</a:t>
            </a:r>
            <a:endParaRPr sz="1400" dirty="0">
              <a:solidFill>
                <a:srgbClr val="AB5130"/>
              </a:solidFill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3BBCC2C-FD49-30B4-D1AA-1F0F7730982C}"/>
              </a:ext>
            </a:extLst>
          </p:cNvPr>
          <p:cNvSpPr txBox="1">
            <a:spLocks/>
          </p:cNvSpPr>
          <p:nvPr/>
        </p:nvSpPr>
        <p:spPr>
          <a:xfrm>
            <a:off x="812306" y="1064519"/>
            <a:ext cx="7519336" cy="1113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Risk/reward mechanics (optional bosses, secret rooms).</a:t>
            </a: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Atmospheric 2D lighting — sometimes only your items can pierce it.</a:t>
            </a: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Encounter a cast of bizarre characters, from Mandinga—the demon that hijacked the ghost train—to his assistant Sister Ham, and countless other oddballs populating the ride.</a:t>
            </a: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Narrative twist with meta-goals to bring layers of mystery and long-term goals.</a:t>
            </a: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Break dungeon gates with your items, run after run, until you finally face the boss and rescue a lost celebrity.</a:t>
            </a:r>
          </a:p>
          <a:p>
            <a:pPr marL="171450" indent="-1714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65937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0">
          <a:extLst>
            <a:ext uri="{FF2B5EF4-FFF2-40B4-BE49-F238E27FC236}">
              <a16:creationId xmlns:a16="http://schemas.microsoft.com/office/drawing/2014/main" id="{045E9FA8-FCC8-C729-E049-85878A428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48">
            <a:extLst>
              <a:ext uri="{FF2B5EF4-FFF2-40B4-BE49-F238E27FC236}">
                <a16:creationId xmlns:a16="http://schemas.microsoft.com/office/drawing/2014/main" id="{D1036F77-09C1-4DB1-07F8-A69EC9A1F2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45760" y="32240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sz="2400" dirty="0">
                <a:solidFill>
                  <a:srgbClr val="AB5130"/>
                </a:solidFill>
              </a:rPr>
              <a:t>Inventory</a:t>
            </a:r>
            <a:endParaRPr sz="1400" dirty="0">
              <a:solidFill>
                <a:srgbClr val="AB5130"/>
              </a:solidFill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DB42E67C-23FC-8C3E-34A6-389B3FCEDD7F}"/>
              </a:ext>
            </a:extLst>
          </p:cNvPr>
          <p:cNvSpPr txBox="1">
            <a:spLocks/>
          </p:cNvSpPr>
          <p:nvPr/>
        </p:nvSpPr>
        <p:spPr>
          <a:xfrm>
            <a:off x="745760" y="1057851"/>
            <a:ext cx="7652479" cy="3551624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lvl="7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Junk: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 Odd gadgets you can equip to whack, poke, or do something questionably useful.</a:t>
            </a:r>
          </a:p>
          <a:p>
            <a:pPr marL="285750" lvl="7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lvl="7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Consumables: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 Eat or drink anything: from healing snacks to chili-powered speed boosts.</a:t>
            </a:r>
          </a:p>
          <a:p>
            <a:pPr marL="285750" lvl="7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lvl="7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Key items: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 Scene-specific tools for interacting with the environment: pick locks, operate machines, use kiosks, trigger devices.</a:t>
            </a:r>
          </a:p>
          <a:p>
            <a:pPr marL="285750" lvl="7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lvl="7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Trinkets: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 Passive oddities with quirky powers. One at a time, so choose your curse wisely.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lvl="7" indent="-285750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latin typeface="Press Start 2P" panose="00000500000000000000" pitchFamily="2" charset="0"/>
              </a:rPr>
              <a:t>Perks &amp; Flaws: 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Temporary and fixed states that twist your run and force players to adapt on the fly—sometimes (e.g., Overeat fast food and you might end up gassy, pausing mid-fight to clutch your stomach.)</a:t>
            </a:r>
          </a:p>
        </p:txBody>
      </p:sp>
    </p:spTree>
    <p:extLst>
      <p:ext uri="{BB962C8B-B14F-4D97-AF65-F5344CB8AC3E}">
        <p14:creationId xmlns:p14="http://schemas.microsoft.com/office/powerpoint/2010/main" val="6171763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2">
          <a:extLst>
            <a:ext uri="{FF2B5EF4-FFF2-40B4-BE49-F238E27FC236}">
              <a16:creationId xmlns:a16="http://schemas.microsoft.com/office/drawing/2014/main" id="{C64EAA93-1721-BC85-30CA-5C7E0C194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5" name="Google Shape;965;p33">
            <a:extLst>
              <a:ext uri="{FF2B5EF4-FFF2-40B4-BE49-F238E27FC236}">
                <a16:creationId xmlns:a16="http://schemas.microsoft.com/office/drawing/2014/main" id="{53C5982A-982E-9EB0-4AC2-4BB9AE06E7F2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896633" y="1922358"/>
            <a:ext cx="5350733" cy="73183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rgbClr val="AB5130"/>
                </a:solidFill>
              </a:rPr>
              <a:t>Look &amp; Feel</a:t>
            </a:r>
          </a:p>
        </p:txBody>
      </p:sp>
    </p:spTree>
    <p:extLst>
      <p:ext uri="{BB962C8B-B14F-4D97-AF65-F5344CB8AC3E}">
        <p14:creationId xmlns:p14="http://schemas.microsoft.com/office/powerpoint/2010/main" val="3186715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07CBC33B-E902-C9C1-E4A2-DB31CB7DE3A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69914966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704747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520A34BF-F6DA-A8CB-13AF-57B44024624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39789484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8809953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AE691B5A-1392-38BA-3EF5-742B618FEB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23675194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E986D8D-679B-DF16-78D6-36A609285C6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8207707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9C3ACD7-63EA-AD11-D4E3-7D8D477A2334}"/>
              </a:ext>
            </a:extLst>
          </p:cNvPr>
          <p:cNvSpPr txBox="1"/>
          <p:nvPr/>
        </p:nvSpPr>
        <p:spPr>
          <a:xfrm>
            <a:off x="6266289" y="97437"/>
            <a:ext cx="28777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Press Start 2P" panose="00000500000000000000" pitchFamily="2" charset="0"/>
              </a:rPr>
              <a:t>Lighting system</a:t>
            </a:r>
          </a:p>
        </p:txBody>
      </p:sp>
    </p:spTree>
    <p:extLst>
      <p:ext uri="{BB962C8B-B14F-4D97-AF65-F5344CB8AC3E}">
        <p14:creationId xmlns:p14="http://schemas.microsoft.com/office/powerpoint/2010/main" val="20698427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8F103BA-FE0A-AA41-EBEC-DC6531E5551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484214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C639D306-BBE1-54B8-D927-D6DA7E79A97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59075831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23457131" imgH="13194723" progId="">
                  <p:embed/>
                </p:oleObj>
              </mc:Choice>
              <mc:Fallback>
                <p:oleObj r:id="rId3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6990236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0609FE13-086A-FABE-04FF-6CEC053EBD8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18652787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AFD6570-631D-946D-F571-B3634B9B61FA}"/>
              </a:ext>
            </a:extLst>
          </p:cNvPr>
          <p:cNvSpPr txBox="1"/>
          <p:nvPr/>
        </p:nvSpPr>
        <p:spPr>
          <a:xfrm>
            <a:off x="7066535" y="97437"/>
            <a:ext cx="198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Press Start 2P" panose="00000500000000000000" pitchFamily="2" charset="0"/>
              </a:rPr>
              <a:t>Raw assets</a:t>
            </a:r>
          </a:p>
        </p:txBody>
      </p:sp>
    </p:spTree>
    <p:extLst>
      <p:ext uri="{BB962C8B-B14F-4D97-AF65-F5344CB8AC3E}">
        <p14:creationId xmlns:p14="http://schemas.microsoft.com/office/powerpoint/2010/main" val="6934569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043CC30-6598-3FB3-BEFB-3E4EE54F8CC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610712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30500CB-5776-7D8A-4813-57E210F15183}"/>
              </a:ext>
            </a:extLst>
          </p:cNvPr>
          <p:cNvSpPr txBox="1"/>
          <p:nvPr/>
        </p:nvSpPr>
        <p:spPr>
          <a:xfrm>
            <a:off x="7066535" y="97439"/>
            <a:ext cx="198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Press Start 2P" panose="00000500000000000000" pitchFamily="2" charset="0"/>
              </a:rPr>
              <a:t>Raw assets</a:t>
            </a:r>
          </a:p>
        </p:txBody>
      </p:sp>
    </p:spTree>
    <p:extLst>
      <p:ext uri="{BB962C8B-B14F-4D97-AF65-F5344CB8AC3E}">
        <p14:creationId xmlns:p14="http://schemas.microsoft.com/office/powerpoint/2010/main" val="3188591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F78FB3C6-D040-27C0-5DCA-923B4B80EA5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93839471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43A94ABC-D25A-A9C7-92DF-C42CDB8CA0FB}"/>
              </a:ext>
            </a:extLst>
          </p:cNvPr>
          <p:cNvSpPr txBox="1"/>
          <p:nvPr/>
        </p:nvSpPr>
        <p:spPr>
          <a:xfrm>
            <a:off x="7066535" y="97437"/>
            <a:ext cx="198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Press Start 2P" panose="00000500000000000000" pitchFamily="2" charset="0"/>
              </a:rPr>
              <a:t>Raw assets</a:t>
            </a:r>
          </a:p>
        </p:txBody>
      </p:sp>
    </p:spTree>
    <p:extLst>
      <p:ext uri="{BB962C8B-B14F-4D97-AF65-F5344CB8AC3E}">
        <p14:creationId xmlns:p14="http://schemas.microsoft.com/office/powerpoint/2010/main" val="17812682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>
            <a:extLst>
              <a:ext uri="{FF2B5EF4-FFF2-40B4-BE49-F238E27FC236}">
                <a16:creationId xmlns:a16="http://schemas.microsoft.com/office/drawing/2014/main" id="{3FF335F1-C8A9-3024-0C02-3494A47B4C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24" y="315073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 dirty="0">
                <a:solidFill>
                  <a:srgbClr val="AB5130"/>
                </a:solidFill>
              </a:rPr>
              <a:t>Current Status</a:t>
            </a:r>
            <a:endParaRPr sz="2400" dirty="0">
              <a:solidFill>
                <a:srgbClr val="AB5130"/>
              </a:solidFill>
            </a:endParaRPr>
          </a:p>
        </p:txBody>
      </p:sp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015A17-98FF-7DD4-996D-009CB294E92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975206" y="1042648"/>
            <a:ext cx="7193536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Proprietary engine ready - developed in C# with MonoGame has its own scripting language and has proven its robustness and efficiency across 3 shipped titles for PC and consoles.</a:t>
            </a: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Core gameplay loop defined and partially playable in prototype form.</a:t>
            </a: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Procedural level generation implemented and stable and ready to be loaded with a ton of art.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Inventory management functional.</a:t>
            </a: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Visual identity and bizarre humor strongly established.</a:t>
            </a:r>
          </a:p>
        </p:txBody>
      </p:sp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>
            <a:extLst>
              <a:ext uri="{FF2B5EF4-FFF2-40B4-BE49-F238E27FC236}">
                <a16:creationId xmlns:a16="http://schemas.microsoft.com/office/drawing/2014/main" id="{13A39A8C-8340-EA93-71E8-78AFCC1F05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24" y="292588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 dirty="0">
                <a:solidFill>
                  <a:srgbClr val="AB5130"/>
                </a:solidFill>
              </a:rPr>
              <a:t>Needs</a:t>
            </a:r>
            <a:endParaRPr sz="2400" dirty="0">
              <a:solidFill>
                <a:srgbClr val="AB5130"/>
              </a:solidFill>
            </a:endParaRPr>
          </a:p>
        </p:txBody>
      </p:sp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7424" y="1088404"/>
            <a:ext cx="7709100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Funding to create the adventure and the huge content of assets (items, characters, monsters and a variety of assets for the procedural environments.)</a:t>
            </a: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Marketing and publishing + trailers production.</a:t>
            </a: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Professional translations.</a:t>
            </a: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Console porting (if needed): We don’t handle this area, but our code is 100% AOT compatible to ensure smooth and efficient transition for potential platform development. All our three games were successfully ported to al major consoles.</a:t>
            </a: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475C2DD-0B55-73BB-627B-13753326C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>
            <a:extLst>
              <a:ext uri="{FF2B5EF4-FFF2-40B4-BE49-F238E27FC236}">
                <a16:creationId xmlns:a16="http://schemas.microsoft.com/office/drawing/2014/main" id="{027DA172-9CAF-76D4-BE44-524F25A9C2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24" y="292588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 dirty="0">
                <a:solidFill>
                  <a:srgbClr val="AB5130"/>
                </a:solidFill>
              </a:rPr>
              <a:t>Future Growth</a:t>
            </a:r>
            <a:endParaRPr sz="2400" dirty="0">
              <a:solidFill>
                <a:srgbClr val="AB5130"/>
              </a:solidFill>
            </a:endParaRPr>
          </a:p>
        </p:txBody>
      </p:sp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1B6F1C17-A735-E874-93DD-AEAEEA9D8F4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333559" y="1257665"/>
            <a:ext cx="6476829" cy="777871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The game world can smoothly expand over time with DLCs, new creatures, places, items, and ever-changing procedural content.</a:t>
            </a:r>
          </a:p>
        </p:txBody>
      </p:sp>
      <p:pic>
        <p:nvPicPr>
          <p:cNvPr id="7" name="Picture 6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291CFB07-6019-4BA9-C919-6AAEC0AD64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1449" y="2793112"/>
            <a:ext cx="3021047" cy="1174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15662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A76CAA-2D3C-F2D5-A385-576D4CBCB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>
            <a:extLst>
              <a:ext uri="{FF2B5EF4-FFF2-40B4-BE49-F238E27FC236}">
                <a16:creationId xmlns:a16="http://schemas.microsoft.com/office/drawing/2014/main" id="{7DC74442-6CB9-3B3E-2DF3-902CE1AB43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50" y="225130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 dirty="0">
                <a:solidFill>
                  <a:srgbClr val="AB5130"/>
                </a:solidFill>
              </a:rPr>
              <a:t>Who We Are</a:t>
            </a:r>
            <a:endParaRPr sz="2400" dirty="0">
              <a:solidFill>
                <a:srgbClr val="AB5130"/>
              </a:solidFill>
            </a:endParaRPr>
          </a:p>
        </p:txBody>
      </p:sp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8AD04312-634D-AFE6-B193-640CD9B1337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200545" y="994708"/>
            <a:ext cx="6742910" cy="1112837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Veteran indie developers with 30+ years of industry experience.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Published 3 games on PC and all major consoles (PlayStation, Xbox, Switch). All with the same publisher, proving both trust in our work and our reliability as long-term partners.</a:t>
            </a: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Our games have earned multiple awards, recognized for creativity and originality.</a:t>
            </a: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Passion-driven team focused on delivering unique, and unforgettable experiences.</a:t>
            </a:r>
          </a:p>
        </p:txBody>
      </p:sp>
    </p:spTree>
    <p:extLst>
      <p:ext uri="{BB962C8B-B14F-4D97-AF65-F5344CB8AC3E}">
        <p14:creationId xmlns:p14="http://schemas.microsoft.com/office/powerpoint/2010/main" val="6429181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>
            <a:extLst>
              <a:ext uri="{FF2B5EF4-FFF2-40B4-BE49-F238E27FC236}">
                <a16:creationId xmlns:a16="http://schemas.microsoft.com/office/drawing/2014/main" id="{7348F0E1-AB40-8BC8-1E51-80D46F4B20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50" y="292587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 dirty="0">
                <a:solidFill>
                  <a:srgbClr val="AB5130"/>
                </a:solidFill>
              </a:rPr>
              <a:t>Production</a:t>
            </a:r>
            <a:endParaRPr sz="2400" dirty="0">
              <a:solidFill>
                <a:srgbClr val="AB5130"/>
              </a:solidFill>
            </a:endParaRPr>
          </a:p>
        </p:txBody>
      </p:sp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053903" y="989585"/>
            <a:ext cx="6918325" cy="1112837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Development time: 14 months.</a:t>
            </a:r>
            <a:b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</a:br>
            <a:endParaRPr lang="en-US" sz="1200" dirty="0">
              <a:solidFill>
                <a:srgbClr val="8F4D57"/>
              </a:solidFill>
              <a:latin typeface="Press Start 2P" panose="00000500000000000000" pitchFamily="2" charset="0"/>
            </a:endParaRPr>
          </a:p>
          <a:p>
            <a:pPr marL="285750" indent="-285750" algn="l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Development cost with recoup: </a:t>
            </a:r>
            <a:r>
              <a:rPr lang="en-US" sz="1200" dirty="0" err="1">
                <a:solidFill>
                  <a:srgbClr val="8F4D57"/>
                </a:solidFill>
                <a:latin typeface="Press Start 2P" panose="00000500000000000000" pitchFamily="2" charset="0"/>
              </a:rPr>
              <a:t>xxxK</a:t>
            </a: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 U$S (*)</a:t>
            </a:r>
          </a:p>
          <a:p>
            <a:pPr marL="742950" lvl="1" indent="-285750">
              <a:lnSpc>
                <a:spcPct val="1000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Lead designers (2)</a:t>
            </a:r>
          </a:p>
          <a:p>
            <a:pPr marL="742950" lvl="1" indent="-285750" algn="l">
              <a:lnSpc>
                <a:spcPct val="100000"/>
              </a:lnSpc>
              <a:buClr>
                <a:srgbClr val="8F4D57"/>
              </a:buClr>
              <a:buSzPct val="92000"/>
              <a:buFont typeface="Press Start 2P" panose="00000500000000000000" pitchFamily="2" charset="0"/>
              <a:buChar char="♦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Programmer</a:t>
            </a:r>
          </a:p>
          <a:p>
            <a:pPr marL="742950" lvl="1" indent="-285750" algn="l">
              <a:lnSpc>
                <a:spcPct val="100000"/>
              </a:lnSpc>
              <a:buClr>
                <a:srgbClr val="8F4D57"/>
              </a:buClr>
              <a:buSzPct val="92000"/>
              <a:buFont typeface="Press Start 2P" panose="00000500000000000000" pitchFamily="2" charset="0"/>
              <a:buChar char="♦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Writer</a:t>
            </a:r>
          </a:p>
          <a:p>
            <a:pPr marL="742950" lvl="1" indent="-285750" algn="l">
              <a:lnSpc>
                <a:spcPct val="100000"/>
              </a:lnSpc>
              <a:buClr>
                <a:srgbClr val="8F4D57"/>
              </a:buClr>
              <a:buSzPct val="92000"/>
              <a:buFont typeface="Press Start 2P" panose="00000500000000000000" pitchFamily="2" charset="0"/>
              <a:buChar char="♦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Background artist</a:t>
            </a:r>
          </a:p>
          <a:p>
            <a:pPr marL="742950" lvl="1" indent="-285750" algn="l">
              <a:lnSpc>
                <a:spcPct val="100000"/>
              </a:lnSpc>
              <a:buClr>
                <a:srgbClr val="8F4D57"/>
              </a:buClr>
              <a:buSzPct val="92000"/>
              <a:buFont typeface="Press Start 2P" panose="00000500000000000000" pitchFamily="2" charset="0"/>
              <a:buChar char="♦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2D Animator</a:t>
            </a:r>
          </a:p>
          <a:p>
            <a:pPr marL="742950" lvl="1" indent="-285750" algn="l">
              <a:lnSpc>
                <a:spcPct val="100000"/>
              </a:lnSpc>
              <a:buClr>
                <a:srgbClr val="8F4D57"/>
              </a:buClr>
              <a:buSzPct val="92000"/>
              <a:buFont typeface="Press Start 2P" panose="00000500000000000000" pitchFamily="2" charset="0"/>
              <a:buChar char="♦"/>
            </a:pPr>
            <a:r>
              <a:rPr lang="en-US" sz="1200" dirty="0">
                <a:solidFill>
                  <a:srgbClr val="8F4D57"/>
                </a:solidFill>
                <a:latin typeface="Press Start 2P" panose="00000500000000000000" pitchFamily="2" charset="0"/>
              </a:rPr>
              <a:t>Original soundtrack</a:t>
            </a: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1390426" y="4362135"/>
            <a:ext cx="6245278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rgbClr val="52333F"/>
              </a:solidFill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rgbClr val="52333F"/>
                </a:solidFill>
                <a:latin typeface="Press Start 2P" panose="00000500000000000000" pitchFamily="2" charset="0"/>
              </a:rPr>
              <a:t>(*) Does not include trailer production, translations and console porting.</a:t>
            </a:r>
          </a:p>
        </p:txBody>
      </p:sp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555" y="1385068"/>
            <a:ext cx="2782856" cy="1504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517" y="3056579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856F3467-6603-8DB2-81CB-15303D58944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7424" y="292588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 dirty="0">
                <a:solidFill>
                  <a:srgbClr val="AB5130"/>
                </a:solidFill>
              </a:rPr>
              <a:t>Our Games</a:t>
            </a:r>
            <a:endParaRPr sz="2400" dirty="0">
              <a:solidFill>
                <a:srgbClr val="AB5130"/>
              </a:solidFill>
            </a:endParaRPr>
          </a:p>
        </p:txBody>
      </p:sp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9269" y="1379996"/>
            <a:ext cx="2782856" cy="1504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9269" y="2977308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0939" y="1379996"/>
            <a:ext cx="2576062" cy="1509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013957" y="3250484"/>
            <a:ext cx="6917960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3200" dirty="0">
                <a:solidFill>
                  <a:srgbClr val="F6CA15"/>
                </a:solidFill>
                <a:latin typeface="Press Start 2P" panose="00000500000000000000" pitchFamily="2" charset="0"/>
              </a:rPr>
              <a:t>Thanks!</a:t>
            </a:r>
          </a:p>
        </p:txBody>
      </p:sp>
      <p:pic>
        <p:nvPicPr>
          <p:cNvPr id="4" name="Picture 3" descr="A yellow and black logo&#10;&#10;AI-generated content may be incorrect."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2122" y="585465"/>
            <a:ext cx="4136911" cy="2665019"/>
          </a:xfrm>
          <a:prstGeom prst="rect">
            <a:avLst/>
          </a:prstGeom>
        </p:spPr>
      </p:pic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6BDF5982-633B-86FA-6FA7-C6EE42A7023E}"/>
              </a:ext>
            </a:extLst>
          </p:cNvPr>
          <p:cNvSpPr txBox="1">
            <a:spLocks/>
          </p:cNvSpPr>
          <p:nvPr/>
        </p:nvSpPr>
        <p:spPr>
          <a:xfrm>
            <a:off x="1013957" y="4453848"/>
            <a:ext cx="6917960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1600" dirty="0">
                <a:solidFill>
                  <a:srgbClr val="F6CA15"/>
                </a:solidFill>
                <a:latin typeface="Press Start 2P" panose="000005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indiesruption.com</a:t>
            </a:r>
            <a:endParaRPr lang="en-US" sz="1600" dirty="0">
              <a:solidFill>
                <a:srgbClr val="F6CA15"/>
              </a:solidFill>
              <a:latin typeface="Press Start 2P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1250</TotalTime>
  <Words>1387</Words>
  <Application>Microsoft Office PowerPoint</Application>
  <PresentationFormat>On-screen Show (16:9)</PresentationFormat>
  <Paragraphs>141</Paragraphs>
  <Slides>31</Slides>
  <Notes>21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Arial</vt:lpstr>
      <vt:lpstr>Maven Pro</vt:lpstr>
      <vt:lpstr>Press Start 2P</vt:lpstr>
      <vt:lpstr>Super Pixel Vintage Gaming by Slidesgo</vt:lpstr>
      <vt:lpstr>When hell runs a horror ride, no one is safe.</vt:lpstr>
      <vt:lpstr>Overview</vt:lpstr>
      <vt:lpstr>Specifications</vt:lpstr>
      <vt:lpstr>The Horror Ride</vt:lpstr>
      <vt:lpstr>Background Story (1/3)</vt:lpstr>
      <vt:lpstr>Background Story (2/3)</vt:lpstr>
      <vt:lpstr>Background Story (3/3)</vt:lpstr>
      <vt:lpstr>Gameplay (1/2)</vt:lpstr>
      <vt:lpstr>Gameplay (2/2)</vt:lpstr>
      <vt:lpstr>Gameplay (3/3)</vt:lpstr>
      <vt:lpstr>Core Loop</vt:lpstr>
      <vt:lpstr>Key Features (1/2)</vt:lpstr>
      <vt:lpstr>Key Features (2/2)</vt:lpstr>
      <vt:lpstr>Inventory</vt:lpstr>
      <vt:lpstr>Look &amp; Feel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Current Status</vt:lpstr>
      <vt:lpstr>Needs</vt:lpstr>
      <vt:lpstr>Future Growth</vt:lpstr>
      <vt:lpstr>Who We Are</vt:lpstr>
      <vt:lpstr>Production</vt:lpstr>
      <vt:lpstr>Our Games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277</cp:revision>
  <dcterms:modified xsi:type="dcterms:W3CDTF">2025-09-03T15:51:40Z</dcterms:modified>
</cp:coreProperties>
</file>