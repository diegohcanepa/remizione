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4D57"/>
    <a:srgbClr val="BD6A62"/>
    <a:srgbClr val="3B7D4F"/>
    <a:srgbClr val="AB5130"/>
    <a:srgbClr val="B73C05"/>
    <a:srgbClr val="862536"/>
    <a:srgbClr val="800000"/>
    <a:srgbClr val="92293B"/>
    <a:srgbClr val="CC0000"/>
    <a:srgbClr val="660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7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3.png"/><Relationship Id="rId3" Type="http://schemas.openxmlformats.org/officeDocument/2006/relationships/image" Target="../media/image8.png"/><Relationship Id="rId7" Type="http://schemas.openxmlformats.org/officeDocument/2006/relationships/image" Target="../media/image18.png"/><Relationship Id="rId12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11" Type="http://schemas.openxmlformats.org/officeDocument/2006/relationships/image" Target="../media/image21.png"/><Relationship Id="rId5" Type="http://schemas.openxmlformats.org/officeDocument/2006/relationships/image" Target="../media/image13.png"/><Relationship Id="rId15" Type="http://schemas.microsoft.com/office/2007/relationships/hdphoto" Target="../media/hdphoto2.wdp"/><Relationship Id="rId10" Type="http://schemas.openxmlformats.org/officeDocument/2006/relationships/image" Target="../media/image20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8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40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1.jpeg"/><Relationship Id="rId7" Type="http://schemas.openxmlformats.org/officeDocument/2006/relationships/image" Target="../media/image44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2.jpeg"/><Relationship Id="rId9" Type="http://schemas.openxmlformats.org/officeDocument/2006/relationships/image" Target="../media/image4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jpeg"/><Relationship Id="rId13" Type="http://schemas.openxmlformats.org/officeDocument/2006/relationships/image" Target="../media/image51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9.png"/><Relationship Id="rId4" Type="http://schemas.openxmlformats.org/officeDocument/2006/relationships/image" Target="../media/image46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84ABEA-9A73-5284-D8EE-8AA83578D2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4378" y="4384623"/>
            <a:ext cx="2077161" cy="57121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249027" y="296673"/>
            <a:ext cx="6645945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 algn="ctr">
              <a:lnSpc>
                <a:spcPts val="1700"/>
              </a:lnSpc>
              <a:buClr>
                <a:srgbClr val="8F4D57"/>
              </a:buClr>
              <a:buSzPts val="1100"/>
              <a:buNone/>
            </a:pPr>
            <a:r>
              <a:rPr lang="en-US" sz="12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Arial"/>
              </a:rPr>
              <a:t>A 2D pixel-art roguelite action-adventure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video game screen with a building and a gate">
            <a:extLst>
              <a:ext uri="{FF2B5EF4-FFF2-40B4-BE49-F238E27FC236}">
                <a16:creationId xmlns:a16="http://schemas.microsoft.com/office/drawing/2014/main" id="{347FFDA7-1F6A-BC1D-DF51-86F43ADFFC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584636" y="1059863"/>
            <a:ext cx="3809948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art, roguelite tension and absurd humor.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items, areas, and secrets may unlock as you keep playing. Even in failure.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801884" y="1059863"/>
            <a:ext cx="3630083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procedural horror attraction with bizarre creatures, hidden secrets, captive celebrities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fuels a bizarre telenovela where twisted relationships and absurd drama unfold the deeper you go.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957593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Playtime: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20-26 hours</a:t>
            </a: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Platform: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Steam (PC)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2" y="4501062"/>
            <a:ext cx="55182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Enhanced with a CRT-style filter for an authentic retro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sneak inside to investigate chasing the story that could finally make their magazine famous.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526519" y="380990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0048" y="1016282"/>
            <a:ext cx="430155" cy="645233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898" y="1016289"/>
            <a:ext cx="430150" cy="64522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248" y="3572147"/>
            <a:ext cx="935708" cy="85064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37612" y="1840368"/>
            <a:ext cx="524298" cy="940814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561910" y="887780"/>
            <a:ext cx="6648740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&amp; 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Twin journalists behind Mysterious Mysteries magazine. At 41, both still live with their mom, writing about the unknown while dodging adulthood and anything that looks like effort.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1561910" y="2891498"/>
            <a:ext cx="6648740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 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1561910" y="1782711"/>
            <a:ext cx="68732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 As a child he dreamed of having his own horror attraction. 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561910" y="3629805"/>
            <a:ext cx="6749112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Famous designer of horror attractions. His masterpiece Remizione promised a journey through purgatory. On opening day, he and a group of celebrities entered the ride… and never came out.</a:t>
            </a:r>
          </a:p>
        </p:txBody>
      </p:sp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127" y="2891498"/>
            <a:ext cx="533742" cy="76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248256" y="2600704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A5E139-6594-409D-CCED-9B11EBC45229}"/>
              </a:ext>
            </a:extLst>
          </p:cNvPr>
          <p:cNvSpPr/>
          <p:nvPr/>
        </p:nvSpPr>
        <p:spPr>
          <a:xfrm>
            <a:off x="572053" y="1309874"/>
            <a:ext cx="3272329" cy="2965603"/>
          </a:xfrm>
          <a:prstGeom prst="rect">
            <a:avLst/>
          </a:prstGeom>
          <a:noFill/>
          <a:ln w="28575">
            <a:solidFill>
              <a:schemeClr val="accent1">
                <a:lumMod val="50000"/>
              </a:schemeClr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347393" y="1297250"/>
            <a:ext cx="4227923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14471" y="180724"/>
            <a:ext cx="3867562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GAME STRUCTURE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3515" y="1774914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8618" y="1799626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847594" y="1513138"/>
            <a:ext cx="15995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twin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046685" y="2265872"/>
            <a:ext cx="1263403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 Entrance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114329" y="3237574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38875" y="2381161"/>
            <a:ext cx="2440657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253" y="3330936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633594" y="2205072"/>
            <a:ext cx="91650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381267" y="1383122"/>
            <a:ext cx="28763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algn="r">
              <a:defRPr sz="70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defRPr>
            </a:lvl1pPr>
          </a:lstStyle>
          <a:p>
            <a:r>
              <a:rPr lang="en-US" dirty="0"/>
              <a:t>Find the gold coin to pay Saint Peregrine’s tithe and open the next tunnel.</a:t>
            </a:r>
            <a:endParaRPr lang="en-US" dirty="0">
              <a:sym typeface="Maven Pro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6454435" y="2872300"/>
            <a:ext cx="2055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Intense action, tunnels, dungeons, strange rooms and captive celebrities.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413345" y="2324648"/>
            <a:ext cx="808879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4264883" y="978665"/>
            <a:ext cx="3222864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 Ride (procedural)</a:t>
            </a:r>
            <a:endParaRPr lang="en-US" sz="11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478" y="355238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416910" y="2798495"/>
            <a:ext cx="18955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96216" y="2046435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273903" y="4352225"/>
            <a:ext cx="320482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Lose run progress upon death.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6312" y="1038190"/>
            <a:ext cx="610736" cy="992046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922207" y="3553547"/>
            <a:ext cx="1594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Tickets and buy items.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2016" y="3447949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340975">
            <a:off x="6898151" y="3643384"/>
            <a:ext cx="379825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4498522" y="2973934"/>
            <a:ext cx="2055597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Find memory chips to expand Percival’s computer RAM.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2056189" y="3567992"/>
            <a:ext cx="164230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pic>
        <p:nvPicPr>
          <p:cNvPr id="4" name="Picture 3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E0B8356C-3BBB-07AE-07BA-7C42FE25C70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1456" y="1483648"/>
            <a:ext cx="304710" cy="30471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47A4C5D-9C45-A11D-9B6F-1FC3B26F9F8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H="1">
            <a:off x="7283280" y="2221885"/>
            <a:ext cx="406290" cy="457200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223873">
            <a:off x="7599669" y="1593303"/>
            <a:ext cx="314495" cy="271930"/>
          </a:xfrm>
          <a:prstGeom prst="rect">
            <a:avLst/>
          </a:prstGeom>
          <a:effectLst/>
        </p:spPr>
      </p:pic>
      <p:pic>
        <p:nvPicPr>
          <p:cNvPr id="38" name="Picture 3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7F446D89-3FDA-7ABB-BB72-229634B118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9570213" flipH="1">
            <a:off x="7675142" y="1971772"/>
            <a:ext cx="330686" cy="271930"/>
          </a:xfrm>
          <a:prstGeom prst="rect">
            <a:avLst/>
          </a:prstGeom>
          <a:effectLst/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928D0947-B869-6CE5-A83F-A50831FED34A}"/>
              </a:ext>
            </a:extLst>
          </p:cNvPr>
          <p:cNvSpPr txBox="1"/>
          <p:nvPr/>
        </p:nvSpPr>
        <p:spPr>
          <a:xfrm>
            <a:off x="7784153" y="2472274"/>
            <a:ext cx="11153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 completed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7ADA7947-112C-0491-C958-850A72FB2B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9273" y="2247190"/>
            <a:ext cx="406289" cy="457200"/>
          </a:xfrm>
          <a:prstGeom prst="rect">
            <a:avLst/>
          </a:prstGeom>
        </p:spPr>
      </p:pic>
      <p:pic>
        <p:nvPicPr>
          <p:cNvPr id="50" name="Picture 4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FB878227-670D-072A-D405-02DDB42A8BC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2747042">
            <a:off x="6306438" y="2556486"/>
            <a:ext cx="727223" cy="271930"/>
          </a:xfrm>
          <a:prstGeom prst="rect">
            <a:avLst/>
          </a:prstGeom>
          <a:effectLst/>
        </p:spPr>
      </p:pic>
      <p:pic>
        <p:nvPicPr>
          <p:cNvPr id="52" name="Picture 51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AF7C986D-AD4A-F358-5956-96DB9B5CCC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0856" y="1891825"/>
            <a:ext cx="264652" cy="390524"/>
          </a:xfrm>
          <a:prstGeom prst="rect">
            <a:avLst/>
          </a:prstGeom>
          <a:effectLst/>
        </p:spPr>
      </p:pic>
      <p:pic>
        <p:nvPicPr>
          <p:cNvPr id="56" name="Picture 55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B49185EA-B50B-A504-17C3-EE7ECA528F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5401" y="1865053"/>
            <a:ext cx="545063" cy="45027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C717E3B2-75C9-84EE-0BDC-030E86FB1AE4}"/>
              </a:ext>
            </a:extLst>
          </p:cNvPr>
          <p:cNvSpPr/>
          <p:nvPr/>
        </p:nvSpPr>
        <p:spPr>
          <a:xfrm>
            <a:off x="5168479" y="2329839"/>
            <a:ext cx="360273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D87AB-218E-6708-1FD7-542C6C8599EA}"/>
              </a:ext>
            </a:extLst>
          </p:cNvPr>
          <p:cNvSpPr txBox="1"/>
          <p:nvPr/>
        </p:nvSpPr>
        <p:spPr>
          <a:xfrm>
            <a:off x="426747" y="987485"/>
            <a:ext cx="1979173" cy="309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2">
                    <a:lumMod val="5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  <a:endParaRPr lang="en-US" sz="11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E5AD0A2D-C6E3-14E4-959C-9FECBBA6C10D}"/>
              </a:ext>
            </a:extLst>
          </p:cNvPr>
          <p:cNvSpPr/>
          <p:nvPr/>
        </p:nvSpPr>
        <p:spPr>
          <a:xfrm>
            <a:off x="5920056" y="2502193"/>
            <a:ext cx="197818" cy="467060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306FCFC-405D-734A-4B3E-9D1240FEEDB8}"/>
              </a:ext>
            </a:extLst>
          </p:cNvPr>
          <p:cNvSpPr/>
          <p:nvPr/>
        </p:nvSpPr>
        <p:spPr>
          <a:xfrm>
            <a:off x="7780374" y="2324648"/>
            <a:ext cx="1096097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6FA3D1F-6BE1-C7A0-F748-E0572F99E3A0}"/>
              </a:ext>
            </a:extLst>
          </p:cNvPr>
          <p:cNvSpPr/>
          <p:nvPr/>
        </p:nvSpPr>
        <p:spPr>
          <a:xfrm>
            <a:off x="222192" y="2399874"/>
            <a:ext cx="712773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EBE2C-C9DF-819C-0EE9-4097EA4D30EA}"/>
              </a:ext>
            </a:extLst>
          </p:cNvPr>
          <p:cNvSpPr txBox="1"/>
          <p:nvPr/>
        </p:nvSpPr>
        <p:spPr>
          <a:xfrm>
            <a:off x="62903" y="2128128"/>
            <a:ext cx="103424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US" sz="7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7109007E-70B1-6CDB-C4A6-18A68100C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485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61392" y="1130081"/>
            <a:ext cx="3916220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Proprietary MonoGame/C# engine with scripting language and 2D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817729" y="2055696"/>
            <a:ext cx="3696685" cy="876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63468" y="3332568"/>
            <a:ext cx="1257300" cy="1143000"/>
          </a:xfrm>
          <a:prstGeom prst="rect">
            <a:avLst/>
          </a:prstGeom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DE70908F-3932-C13C-E841-8182090B7F2B}"/>
              </a:ext>
            </a:extLst>
          </p:cNvPr>
          <p:cNvSpPr txBox="1">
            <a:spLocks/>
          </p:cNvSpPr>
          <p:nvPr/>
        </p:nvSpPr>
        <p:spPr>
          <a:xfrm>
            <a:off x="761392" y="2055696"/>
            <a:ext cx="391622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CB948FFE-95D3-EE8E-147F-E47694E0F66B}"/>
              </a:ext>
            </a:extLst>
          </p:cNvPr>
          <p:cNvSpPr txBox="1">
            <a:spLocks/>
          </p:cNvSpPr>
          <p:nvPr/>
        </p:nvSpPr>
        <p:spPr>
          <a:xfrm>
            <a:off x="4817729" y="1130081"/>
            <a:ext cx="3756645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Tone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and absurd humor already defined.</a:t>
            </a:r>
          </a:p>
        </p:txBody>
      </p:sp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  <a:duotone>
              <a:prstClr val="black"/>
              <a:schemeClr val="accent6">
                <a:lumMod val="75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52843" y="947082"/>
            <a:ext cx="2951485" cy="2222036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adventure: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creatures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100+ items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10+ secondary cast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 captive celebrities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8 bosses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New tunnels &amp; rooms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Story arc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Original soundtrack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72218" y="945262"/>
            <a:ext cx="3532333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porting (*)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game is easily portable thanks to AOT-friendly code. All porting would be done by the publisher or external teams.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 (*)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additional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3886199" y="229306"/>
            <a:ext cx="137160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40996" y="3612059"/>
            <a:ext cx="743248" cy="418077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063555" y="3903227"/>
            <a:ext cx="839449" cy="4256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2D85B4-DEBC-D9D2-75AC-4EA1B67C181E}"/>
              </a:ext>
            </a:extLst>
          </p:cNvPr>
          <p:cNvSpPr txBox="1"/>
          <p:nvPr/>
        </p:nvSpPr>
        <p:spPr>
          <a:xfrm>
            <a:off x="2477122" y="4473077"/>
            <a:ext cx="4189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Handled by the publisher. Not included in the development budget.</a:t>
            </a:r>
          </a:p>
        </p:txBody>
      </p:sp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450503" y="1155238"/>
            <a:ext cx="4242992" cy="2113495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  <a:b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1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 distribution: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 &amp; Writing: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Programming &amp; Tools: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30%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&amp; Music: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15%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•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QA/Misc: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5%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EXPANSION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2018658" y="1145913"/>
            <a:ext cx="5106683" cy="1334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and ride architecture allow the game to expand indefinitely with new post-launch content.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♥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890" y="2343150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749185" y="85994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09969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19753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2023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117956" y="1024836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2025</a:t>
            </a: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730843" y="2096714"/>
            <a:ext cx="3253582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See you in hell!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7" y="466862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chemeClr val="accent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chemeClr val="accent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83" y="2805821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3064" y="2805820"/>
            <a:ext cx="802960" cy="802960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2745" y="2805821"/>
            <a:ext cx="802959" cy="802959"/>
          </a:xfrm>
          <a:prstGeom prst="rect">
            <a:avLst/>
          </a:prstGeom>
          <a:noFill/>
          <a:ln w="19050">
            <a:solidFill>
              <a:schemeClr val="bg2">
                <a:lumMod val="75000"/>
                <a:lumOff val="2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288935" y="3648135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840682" y="3648135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168300" y="3646989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58498" y="3493402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112" y="3493402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63792" y="3483165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231474" y="22830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8210497" y="228305"/>
            <a:ext cx="603287" cy="8016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5863029" y="344265"/>
            <a:ext cx="2384666" cy="4537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r">
              <a:lnSpc>
                <a:spcPct val="150000"/>
              </a:lnSpc>
            </a:pP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sz="1000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5862</TotalTime>
  <Words>894</Words>
  <Application>Microsoft Office PowerPoint</Application>
  <PresentationFormat>On-screen Show (16:9)</PresentationFormat>
  <Paragraphs>132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Press Start 2P</vt:lpstr>
      <vt:lpstr>Maven Pro</vt:lpstr>
      <vt:lpstr>Arial</vt:lpstr>
      <vt:lpstr>Super Pixel Vintage Gaming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1154</cp:revision>
  <dcterms:modified xsi:type="dcterms:W3CDTF">2025-11-13T17:25:38Z</dcterms:modified>
</cp:coreProperties>
</file>