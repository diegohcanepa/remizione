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23"/>
  </p:notesMasterIdLst>
  <p:sldIdLst>
    <p:sldId id="330" r:id="rId2"/>
    <p:sldId id="260" r:id="rId3"/>
    <p:sldId id="350" r:id="rId4"/>
    <p:sldId id="355" r:id="rId5"/>
    <p:sldId id="351" r:id="rId6"/>
    <p:sldId id="345" r:id="rId7"/>
    <p:sldId id="352" r:id="rId8"/>
    <p:sldId id="353" r:id="rId9"/>
    <p:sldId id="349" r:id="rId10"/>
    <p:sldId id="333" r:id="rId11"/>
    <p:sldId id="354" r:id="rId12"/>
    <p:sldId id="348" r:id="rId13"/>
    <p:sldId id="331" r:id="rId14"/>
    <p:sldId id="335" r:id="rId15"/>
    <p:sldId id="337" r:id="rId16"/>
    <p:sldId id="323" r:id="rId17"/>
    <p:sldId id="324" r:id="rId18"/>
    <p:sldId id="326" r:id="rId19"/>
    <p:sldId id="320" r:id="rId20"/>
    <p:sldId id="343" r:id="rId21"/>
    <p:sldId id="321" r:id="rId22"/>
  </p:sldIdLst>
  <p:sldSz cx="9144000" cy="5143500" type="screen16x9"/>
  <p:notesSz cx="6858000" cy="9144000"/>
  <p:embeddedFontLst>
    <p:embeddedFont>
      <p:font typeface="Maven Pro" panose="020B0604020202020204" charset="0"/>
      <p:regular r:id="rId24"/>
      <p:bold r:id="rId25"/>
    </p:embeddedFont>
    <p:embeddedFont>
      <p:font typeface="Press Start 2P" panose="00000500000000000000" pitchFamily="2" charset="0"/>
      <p:regular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7D4F"/>
    <a:srgbClr val="AB5130"/>
    <a:srgbClr val="F6CA15"/>
    <a:srgbClr val="333300"/>
    <a:srgbClr val="8F4D57"/>
    <a:srgbClr val="52333F"/>
    <a:srgbClr val="BD6A62"/>
    <a:srgbClr val="FFFFFF"/>
    <a:srgbClr val="800000"/>
    <a:srgbClr val="CC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ECC582F1-875B-7DBC-56D0-69B4298D6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3DE2446-3686-79A4-B521-332AE46EF9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C86F04AE-24A5-AE20-9516-B53F10DC51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50345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D77629F1-C28F-E7BD-DF42-A3A4C6163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0F61061F-EBEF-2E37-5F82-0583EE2CBA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61060E7-B052-DC81-16DD-BB929EE13C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66732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1001038-85F5-AEA0-F926-465401503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FFEAD37-314D-447D-29C9-0AC7FDA245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F7959833-3711-0A8D-C2A7-C09DBEA5F6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25500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6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2.png"/><Relationship Id="rId9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9.png"/><Relationship Id="rId7" Type="http://schemas.openxmlformats.org/officeDocument/2006/relationships/image" Target="../media/image22.png"/><Relationship Id="rId12" Type="http://schemas.openxmlformats.org/officeDocument/2006/relationships/image" Target="../media/image2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11" Type="http://schemas.openxmlformats.org/officeDocument/2006/relationships/image" Target="../media/image26.png"/><Relationship Id="rId5" Type="http://schemas.openxmlformats.org/officeDocument/2006/relationships/image" Target="../media/image7.png"/><Relationship Id="rId10" Type="http://schemas.openxmlformats.org/officeDocument/2006/relationships/image" Target="../media/image25.png"/><Relationship Id="rId4" Type="http://schemas.openxmlformats.org/officeDocument/2006/relationships/image" Target="../media/image2.png"/><Relationship Id="rId9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.png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.png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32.jpeg"/><Relationship Id="rId7" Type="http://schemas.openxmlformats.org/officeDocument/2006/relationships/image" Target="../media/image35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jpeg"/><Relationship Id="rId5" Type="http://schemas.openxmlformats.org/officeDocument/2006/relationships/hyperlink" Target="https://store.steampowered.com/app/1702430/Vlad_Circus_Descend_Into_Madness/" TargetMode="External"/><Relationship Id="rId10" Type="http://schemas.openxmlformats.org/officeDocument/2006/relationships/image" Target="../media/image37.png"/><Relationship Id="rId4" Type="http://schemas.openxmlformats.org/officeDocument/2006/relationships/image" Target="../media/image33.jpeg"/><Relationship Id="rId9" Type="http://schemas.openxmlformats.org/officeDocument/2006/relationships/image" Target="../media/image36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jpe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9.jpeg"/><Relationship Id="rId11" Type="http://schemas.microsoft.com/office/2007/relationships/hdphoto" Target="../media/hdphoto1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41.png"/><Relationship Id="rId4" Type="http://schemas.openxmlformats.org/officeDocument/2006/relationships/image" Target="../media/image38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video game with a cartoon character">
            <a:extLst>
              <a:ext uri="{FF2B5EF4-FFF2-40B4-BE49-F238E27FC236}">
                <a16:creationId xmlns:a16="http://schemas.microsoft.com/office/drawing/2014/main" id="{EBDFCDBD-D34F-0E28-C3D8-62AEB2079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58541" y="679076"/>
            <a:ext cx="10402541" cy="4464424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272494" y="3848240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63721" y="3200400"/>
            <a:ext cx="517112" cy="723900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476" y="4463907"/>
            <a:ext cx="1516306" cy="41698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409076" y="301170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719136" y="857719"/>
            <a:ext cx="5816625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2D pixel-art roguelite adventure where bizarre comedy collides with creepy monsters and absurd challenges.</a:t>
            </a: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trapped in a demon-possessed horror ride, where every cart is a one-way ticket to survival.</a:t>
            </a: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procedural cursed attraction packed with secrets and absurd encounters—your ultimate goal: rescue lost celebrities.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3808836" y="4515822"/>
            <a:ext cx="284676" cy="142338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1575" y="3893638"/>
            <a:ext cx="459695" cy="6895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627449" y="4515821"/>
            <a:ext cx="284676" cy="142338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27449" y="3836488"/>
            <a:ext cx="459695" cy="73551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79832"/>
            <a:ext cx="9144000" cy="39243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758180" y="921972"/>
            <a:ext cx="3431570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Bizarre comedy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mix of scares, acid humor and absurd laughs rarely seen in the genre.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 horror ride with its own twisted logic, instead of generic dungeons or caves.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36300" y="4157050"/>
            <a:ext cx="539354" cy="792187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703463" y="921972"/>
            <a:ext cx="4135527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LucasArts-style retro atmosphere fused with pixel art and roguelite tension—a mix of nostalgia, absurd humor, and unforgiving stakes.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Beyond its roguelite loop, the story grows into a twisted telenovela—new characters, religions, and absurd factions join the chaos as you progress, bringing fresh items, quests, and surprises.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C75137F-5DB8-A6FB-FE99-A4F840DA7F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73" y="993704"/>
            <a:ext cx="571500" cy="857250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0634" y="1018349"/>
            <a:ext cx="571500" cy="914400"/>
          </a:xfrm>
          <a:prstGeom prst="rect">
            <a:avLst/>
          </a:prstGeom>
        </p:spPr>
      </p:pic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330" y="2298932"/>
            <a:ext cx="800100" cy="1143000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18" y="3518197"/>
            <a:ext cx="1257300" cy="1143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804312" y="2112621"/>
            <a:ext cx="739008" cy="1428750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293518" y="894264"/>
            <a:ext cx="3431570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up, with depth coming from creative item use rather than hardcore reflexes</a:t>
            </a:r>
          </a:p>
        </p:txBody>
      </p:sp>
      <p:sp>
        <p:nvSpPr>
          <p:cNvPr id="21" name="Google Shape;1000;p37">
            <a:extLst>
              <a:ext uri="{FF2B5EF4-FFF2-40B4-BE49-F238E27FC236}">
                <a16:creationId xmlns:a16="http://schemas.microsoft.com/office/drawing/2014/main" id="{621B3F80-D839-0F51-3D70-77CAAA9A2559}"/>
              </a:ext>
            </a:extLst>
          </p:cNvPr>
          <p:cNvSpPr txBox="1">
            <a:spLocks/>
          </p:cNvSpPr>
          <p:nvPr/>
        </p:nvSpPr>
        <p:spPr>
          <a:xfrm>
            <a:off x="5622544" y="923591"/>
            <a:ext cx="3431570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up, with depth coming from creative item use rather than hardcore reflexes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1293518" y="2298932"/>
            <a:ext cx="3431570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up, with depth coming from creative item use rather than hardcore reflexes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5622544" y="2163719"/>
            <a:ext cx="3431570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up, with depth coming from creative item use rather than hardcore reflexes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293518" y="3561632"/>
            <a:ext cx="3431570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up, with depth coming from creative item use rather than hardcore reflexes</a:t>
            </a:r>
          </a:p>
        </p:txBody>
      </p:sp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5F14BB6-487B-792E-D17E-E33AD6852B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57637" y="868673"/>
            <a:ext cx="3359530" cy="23314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audience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fans (Spelunky, Binding of Isaac).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Players who enjoy dark humor and absurd comedy (South Park, Adult Swim).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Gamers who like quirky pixel-art indie hits.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FA6FDA3-A8F8-EC55-8BAC-B5FAC550795A}"/>
              </a:ext>
            </a:extLst>
          </p:cNvPr>
          <p:cNvSpPr txBox="1">
            <a:spLocks/>
          </p:cNvSpPr>
          <p:nvPr/>
        </p:nvSpPr>
        <p:spPr>
          <a:xfrm>
            <a:off x="4675786" y="868673"/>
            <a:ext cx="3816142" cy="2579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Font typeface="Maven Pro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 fit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remain one of the strongest indie genres, and our bizarre mix of humor, pixel art, and accessible combat positions the game to stand out in a crowded market.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Distinctive identity: procedural yet narrative-driven, grotesque yet funny.</a:t>
            </a:r>
          </a:p>
        </p:txBody>
      </p:sp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Target &amp; Market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660649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 built by an obsessive designer.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its grand opening, twelve celebrities—and the designer himself—entered... and never came back.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What they don’t know is that the attraction is now ruled by Mandinga—the Devil himself, who as a child dreamed of owning a horror ride his parents never allowed and he’s not giving it up now.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2085928" y="4405480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1392" y="3704988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389386" y="4477426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186183" y="3848746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997FBA5-3F09-F15F-A2AB-8C6E1AE38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2E2772C-5B45-4704-2A2B-88ACF8FAB0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ED57C0A1-77C4-2912-9899-7B0328EF154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28662" y="975918"/>
            <a:ext cx="3597172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stage has a time limit. Defeat Mandinga’s corrupted dolls to absorb their electricity and ride to the next level.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Runs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run lasts 10–20 minutes Permadeath resets the run, but variety in items and events keeps every attempt fresh.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7969AA04-ADE9-EC89-086F-6C31251A654E}"/>
              </a:ext>
            </a:extLst>
          </p:cNvPr>
          <p:cNvSpPr txBox="1">
            <a:spLocks/>
          </p:cNvSpPr>
          <p:nvPr/>
        </p:nvSpPr>
        <p:spPr>
          <a:xfrm>
            <a:off x="4854496" y="977475"/>
            <a:ext cx="3806927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Main characters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twin has a health bar and can unlock exclusive areas later shared between both.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to pick up, with depth coming from creative item use rather than hardcore reflexes.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44E9473-3793-705C-B00B-26195B76C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ACE079DE-E0F2-5FCC-56FF-6339543274B6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Core Mechanics</a:t>
            </a:r>
          </a:p>
        </p:txBody>
      </p:sp>
    </p:spTree>
    <p:extLst>
      <p:ext uri="{BB962C8B-B14F-4D97-AF65-F5344CB8AC3E}">
        <p14:creationId xmlns:p14="http://schemas.microsoft.com/office/powerpoint/2010/main" val="1051287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E38ADF0-45F2-45B5-B25D-15245679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C28023F-E06D-45DE-424E-ACE69525480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126BEB04-602F-33C9-A64A-EB3502EAEE4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95897" y="975918"/>
            <a:ext cx="3806926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Procedurally generated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Unpredictable layouts, traps, and encounters every run.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Celebrities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Rescue twisted parodies of real-world celebrities, with bizarre rewards (acid humor guaranteed).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meta-goals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Layers of mystery and long-term objectives beyond survival.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F66ECAC-3D79-E01B-9C08-632C4B880237}"/>
              </a:ext>
            </a:extLst>
          </p:cNvPr>
          <p:cNvSpPr txBox="1">
            <a:spLocks/>
          </p:cNvSpPr>
          <p:nvPr/>
        </p:nvSpPr>
        <p:spPr>
          <a:xfrm>
            <a:off x="4977353" y="975918"/>
            <a:ext cx="3806927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Atmospheric lighting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Darkness itself becomes an obstacle—sometimes only your items can pierce it.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Perks &amp; Flaws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Temporary or permanent states that twist your run (e.g., overeat fast food and end up gassy mid-fight).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D0DE9CA4-9437-B209-8542-AA17F38722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79EB114-CF29-4014-4633-B2B702CE2E92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Progression</a:t>
            </a:r>
          </a:p>
        </p:txBody>
      </p:sp>
    </p:spTree>
    <p:extLst>
      <p:ext uri="{BB962C8B-B14F-4D97-AF65-F5344CB8AC3E}">
        <p14:creationId xmlns:p14="http://schemas.microsoft.com/office/powerpoint/2010/main" val="17349675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6E0AEF5-FA1E-F10A-35FA-83B2437E557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399214" y="1931829"/>
            <a:ext cx="3325000" cy="8890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Quirks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Temporary and fixed states that twist your run and force players to adapt on the fly.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For example, overeat fast food and you might end up gassy, pausing mid-fight to clutch your stomach.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994173" y="1831551"/>
            <a:ext cx="310170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gadgets you can equip to whack, poke, or do something questionably useful.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957670" y="933165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994173" y="3641036"/>
            <a:ext cx="3581658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346256" y="987312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114" y="1060970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207" y="3677807"/>
            <a:ext cx="342648" cy="34264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073" y="887446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09758" y="1897997"/>
            <a:ext cx="349730" cy="31793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ABA286E8-7F1E-64DD-8808-1CFF6270D9D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86683" y="1876409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994173" y="2736294"/>
            <a:ext cx="3325000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Thingies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items you can equip for odd jobs—dig, plant, prank, or blow stuff up.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0E914A-F62A-1024-7A0E-CDAAA49E3C0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758" y="2769523"/>
            <a:ext cx="349730" cy="34973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8F103BA-FE0A-AA41-EBEC-DC6531E555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484214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3EF39-F619-3E1B-2A92-3B39F9652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pixel art of a building">
            <a:extLst>
              <a:ext uri="{FF2B5EF4-FFF2-40B4-BE49-F238E27FC236}">
                <a16:creationId xmlns:a16="http://schemas.microsoft.com/office/drawing/2014/main" id="{0785CA79-B4CD-DB66-1B85-1DD0639334C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8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4ADA005-E790-D848-5000-CFE5A8549319}"/>
              </a:ext>
            </a:extLst>
          </p:cNvPr>
          <p:cNvSpPr txBox="1"/>
          <p:nvPr/>
        </p:nvSpPr>
        <p:spPr>
          <a:xfrm>
            <a:off x="3671683" y="1472447"/>
            <a:ext cx="1795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innerShdw blurRad="63500" dist="50800" dir="5400000">
                    <a:prstClr val="black">
                      <a:alpha val="50000"/>
                    </a:prstClr>
                  </a:innerShdw>
                </a:effectLst>
                <a:latin typeface="Press Start 2P" panose="00000500000000000000" pitchFamily="2" charset="0"/>
              </a:rPr>
              <a:t>Choose</a:t>
            </a:r>
          </a:p>
          <a:p>
            <a:pPr algn="ctr"/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character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A303FC-6E87-43D3-8DA2-714D4130C689}"/>
              </a:ext>
            </a:extLst>
          </p:cNvPr>
          <p:cNvSpPr txBox="1"/>
          <p:nvPr/>
        </p:nvSpPr>
        <p:spPr>
          <a:xfrm>
            <a:off x="5832505" y="1510617"/>
            <a:ext cx="1508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Enter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ride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C101CC-9518-4E5A-B7FE-74167C745F9C}"/>
              </a:ext>
            </a:extLst>
          </p:cNvPr>
          <p:cNvSpPr txBox="1"/>
          <p:nvPr/>
        </p:nvSpPr>
        <p:spPr>
          <a:xfrm>
            <a:off x="4725709" y="2036840"/>
            <a:ext cx="1875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Unlock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door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EE6C27-5280-DD08-6CA6-FC0F06AAD4F9}"/>
              </a:ext>
            </a:extLst>
          </p:cNvPr>
          <p:cNvSpPr txBox="1"/>
          <p:nvPr/>
        </p:nvSpPr>
        <p:spPr>
          <a:xfrm>
            <a:off x="1957878" y="2036840"/>
            <a:ext cx="1433844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ATM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Unlock new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Stuff</a:t>
            </a: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B13D75A5-F2AB-10F1-CB9E-4CFCB2FF61ED}"/>
              </a:ext>
            </a:extLst>
          </p:cNvPr>
          <p:cNvSpPr/>
          <p:nvPr/>
        </p:nvSpPr>
        <p:spPr>
          <a:xfrm>
            <a:off x="2672058" y="1599671"/>
            <a:ext cx="1217970" cy="368459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2AA34E06-57F3-C5CA-246C-D36FED0794FE}"/>
              </a:ext>
            </a:extLst>
          </p:cNvPr>
          <p:cNvSpPr/>
          <p:nvPr/>
        </p:nvSpPr>
        <p:spPr>
          <a:xfrm rot="10800000">
            <a:off x="6225766" y="1944610"/>
            <a:ext cx="421312" cy="369331"/>
          </a:xfrm>
          <a:prstGeom prst="ben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690EB706-6F64-D870-290E-92FE54398975}"/>
              </a:ext>
            </a:extLst>
          </p:cNvPr>
          <p:cNvSpPr/>
          <p:nvPr/>
        </p:nvSpPr>
        <p:spPr>
          <a:xfrm rot="16200000">
            <a:off x="2823189" y="3353456"/>
            <a:ext cx="374073" cy="766927"/>
          </a:xfrm>
          <a:prstGeom prst="ben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" name="Arrow: Bent 23">
            <a:extLst>
              <a:ext uri="{FF2B5EF4-FFF2-40B4-BE49-F238E27FC236}">
                <a16:creationId xmlns:a16="http://schemas.microsoft.com/office/drawing/2014/main" id="{1165AEAF-8E21-6787-59FD-382D7D88E7E1}"/>
              </a:ext>
            </a:extLst>
          </p:cNvPr>
          <p:cNvSpPr/>
          <p:nvPr/>
        </p:nvSpPr>
        <p:spPr>
          <a:xfrm>
            <a:off x="4072857" y="2113013"/>
            <a:ext cx="1015781" cy="404925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3" name="Picture 1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F06D8485-957F-172B-CC81-C93874D887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80748" y="1002160"/>
            <a:ext cx="278421" cy="41900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F22C779F-9395-8E8D-C654-AA3B0A86C6D4}"/>
              </a:ext>
            </a:extLst>
          </p:cNvPr>
          <p:cNvSpPr/>
          <p:nvPr/>
        </p:nvSpPr>
        <p:spPr>
          <a:xfrm>
            <a:off x="5245880" y="1588713"/>
            <a:ext cx="820730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85D39C4-8030-7534-CE98-F31AD36CBD68}"/>
              </a:ext>
            </a:extLst>
          </p:cNvPr>
          <p:cNvSpPr/>
          <p:nvPr/>
        </p:nvSpPr>
        <p:spPr>
          <a:xfrm rot="5400000">
            <a:off x="5374340" y="2670267"/>
            <a:ext cx="572052" cy="215635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Arrow: Bent 11">
            <a:extLst>
              <a:ext uri="{FF2B5EF4-FFF2-40B4-BE49-F238E27FC236}">
                <a16:creationId xmlns:a16="http://schemas.microsoft.com/office/drawing/2014/main" id="{76C7C008-7BF5-286A-2ECA-32359EB5C70F}"/>
              </a:ext>
            </a:extLst>
          </p:cNvPr>
          <p:cNvSpPr/>
          <p:nvPr/>
        </p:nvSpPr>
        <p:spPr>
          <a:xfrm rot="16200000">
            <a:off x="4357274" y="2666833"/>
            <a:ext cx="404924" cy="1079682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27BFC-9642-1FC4-C859-BF297E0E5923}"/>
              </a:ext>
            </a:extLst>
          </p:cNvPr>
          <p:cNvSpPr txBox="1"/>
          <p:nvPr/>
        </p:nvSpPr>
        <p:spPr>
          <a:xfrm>
            <a:off x="4563188" y="3016412"/>
            <a:ext cx="8171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No</a:t>
            </a: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CB9046B2-02AA-583C-1995-848BA2D058DF}"/>
              </a:ext>
            </a:extLst>
          </p:cNvPr>
          <p:cNvSpPr/>
          <p:nvPr/>
        </p:nvSpPr>
        <p:spPr>
          <a:xfrm rot="10800000">
            <a:off x="4700266" y="3549884"/>
            <a:ext cx="1019925" cy="414228"/>
          </a:xfrm>
          <a:prstGeom prst="ben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1E9445-F552-DC00-43A5-2C512E23E500}"/>
              </a:ext>
            </a:extLst>
          </p:cNvPr>
          <p:cNvSpPr txBox="1"/>
          <p:nvPr/>
        </p:nvSpPr>
        <p:spPr>
          <a:xfrm>
            <a:off x="5561209" y="3575299"/>
            <a:ext cx="8171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7AE9BA-56A1-1E49-BDB9-3C7741D745B3}"/>
              </a:ext>
            </a:extLst>
          </p:cNvPr>
          <p:cNvSpPr txBox="1"/>
          <p:nvPr/>
        </p:nvSpPr>
        <p:spPr>
          <a:xfrm>
            <a:off x="3733657" y="2573782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Next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58F989B-FD15-7628-5903-8E0703C40E4B}"/>
              </a:ext>
            </a:extLst>
          </p:cNvPr>
          <p:cNvSpPr/>
          <p:nvPr/>
        </p:nvSpPr>
        <p:spPr>
          <a:xfrm rot="16200000">
            <a:off x="2465008" y="2738606"/>
            <a:ext cx="491162" cy="21161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4071A1D-DD0C-508B-3D87-E6A924627D13}"/>
              </a:ext>
            </a:extLst>
          </p:cNvPr>
          <p:cNvSpPr txBox="1"/>
          <p:nvPr/>
        </p:nvSpPr>
        <p:spPr>
          <a:xfrm>
            <a:off x="3435687" y="3603407"/>
            <a:ext cx="128576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Back to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amusement park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7CD6E57-2E56-B7B7-AC9A-26A897F06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115668D-30E5-0F42-9DBC-A573154CECA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836584" y="4359863"/>
            <a:ext cx="335759" cy="167880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B173AB46-CC53-5249-CC84-08C7CB3828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1553" y="1002160"/>
            <a:ext cx="283001" cy="4176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0" name="Google Shape;999;p37">
            <a:extLst>
              <a:ext uri="{FF2B5EF4-FFF2-40B4-BE49-F238E27FC236}">
                <a16:creationId xmlns:a16="http://schemas.microsoft.com/office/drawing/2014/main" id="{34FBC438-7E4E-5F9C-3251-1BD586CC39F2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Core Gameplay Loop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3919A0-DB76-2DD1-A781-0BD8BEDCC8CE}"/>
              </a:ext>
            </a:extLst>
          </p:cNvPr>
          <p:cNvSpPr txBox="1"/>
          <p:nvPr/>
        </p:nvSpPr>
        <p:spPr>
          <a:xfrm>
            <a:off x="4956775" y="3104021"/>
            <a:ext cx="1417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Last</a:t>
            </a:r>
          </a:p>
          <a:p>
            <a:pPr algn="ctr"/>
            <a:r>
              <a:rPr lang="en-US" sz="9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stage?</a:t>
            </a:r>
          </a:p>
        </p:txBody>
      </p:sp>
      <p:pic>
        <p:nvPicPr>
          <p:cNvPr id="33" name="Picture 32" descr="A pixelated cartoon of a person&#10;&#10;AI-generated content may be incorrect.">
            <a:extLst>
              <a:ext uri="{FF2B5EF4-FFF2-40B4-BE49-F238E27FC236}">
                <a16:creationId xmlns:a16="http://schemas.microsoft.com/office/drawing/2014/main" id="{612E389D-B7EA-BE22-6937-F177775CA0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71093" y="4175673"/>
            <a:ext cx="586525" cy="510022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94F18B31-4EE0-997C-F6F5-4B825886ED1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93687" y="2571750"/>
            <a:ext cx="381000" cy="4572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3" name="Picture 5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CF90A4AD-CACD-DD0F-2EAE-0B9C2BC1505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6158" y="1002160"/>
            <a:ext cx="575100" cy="500087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DF9EF179-0DCC-0FFA-A1B2-5D052543FEBF}"/>
              </a:ext>
            </a:extLst>
          </p:cNvPr>
          <p:cNvSpPr txBox="1"/>
          <p:nvPr/>
        </p:nvSpPr>
        <p:spPr>
          <a:xfrm>
            <a:off x="2069032" y="3207158"/>
            <a:ext cx="121201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Tickets</a:t>
            </a:r>
          </a:p>
        </p:txBody>
      </p:sp>
      <p:pic>
        <p:nvPicPr>
          <p:cNvPr id="4" name="Picture 3" descr="A pixel art of a computer&#10;&#10;AI-generated content may be incorrect.">
            <a:extLst>
              <a:ext uri="{FF2B5EF4-FFF2-40B4-BE49-F238E27FC236}">
                <a16:creationId xmlns:a16="http://schemas.microsoft.com/office/drawing/2014/main" id="{E095BE06-2921-3B73-F9C3-08D1E50EFE5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flipH="1">
            <a:off x="868759" y="1613696"/>
            <a:ext cx="1267088" cy="1183914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43" name="Picture 42" descr="A pixelated image of a yellow rectangular object&#10;&#10;AI-generated content may be incorrect.">
            <a:extLst>
              <a:ext uri="{FF2B5EF4-FFF2-40B4-BE49-F238E27FC236}">
                <a16:creationId xmlns:a16="http://schemas.microsoft.com/office/drawing/2014/main" id="{242FE0B8-86AB-03C8-43F8-EED5C8C7D51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57878" y="3241291"/>
            <a:ext cx="245713" cy="232062"/>
          </a:xfrm>
          <a:prstGeom prst="rect">
            <a:avLst/>
          </a:prstGeom>
        </p:spPr>
      </p:pic>
      <p:pic>
        <p:nvPicPr>
          <p:cNvPr id="18" name="Picture 17" descr="A red and yellow pixelated object&#10;&#10;AI-generated content may be incorrect.">
            <a:extLst>
              <a:ext uri="{FF2B5EF4-FFF2-40B4-BE49-F238E27FC236}">
                <a16:creationId xmlns:a16="http://schemas.microsoft.com/office/drawing/2014/main" id="{31629D0C-9916-4B0A-A3CE-F67ABF47429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93890" y="2393277"/>
            <a:ext cx="352268" cy="273986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DF1A9F9-F6CD-611F-DEA9-33052BCC5AAC}"/>
              </a:ext>
            </a:extLst>
          </p:cNvPr>
          <p:cNvSpPr txBox="1"/>
          <p:nvPr/>
        </p:nvSpPr>
        <p:spPr>
          <a:xfrm>
            <a:off x="6273265" y="2434866"/>
            <a:ext cx="1875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Magnetic</a:t>
            </a:r>
          </a:p>
          <a:p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card</a:t>
            </a:r>
          </a:p>
        </p:txBody>
      </p:sp>
    </p:spTree>
    <p:extLst>
      <p:ext uri="{BB962C8B-B14F-4D97-AF65-F5344CB8AC3E}">
        <p14:creationId xmlns:p14="http://schemas.microsoft.com/office/powerpoint/2010/main" val="38662444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B0B7F87B-6B8D-1AA6-F307-A244AE3BBD5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89714A4-4C95-1762-D5EF-2993DAB164F0}"/>
              </a:ext>
            </a:extLst>
          </p:cNvPr>
          <p:cNvSpPr txBox="1">
            <a:spLocks/>
          </p:cNvSpPr>
          <p:nvPr/>
        </p:nvSpPr>
        <p:spPr>
          <a:xfrm>
            <a:off x="1172976" y="1437993"/>
            <a:ext cx="6798048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32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Look &amp; Feel</a:t>
            </a:r>
          </a:p>
        </p:txBody>
      </p:sp>
    </p:spTree>
    <p:extLst>
      <p:ext uri="{BB962C8B-B14F-4D97-AF65-F5344CB8AC3E}">
        <p14:creationId xmlns:p14="http://schemas.microsoft.com/office/powerpoint/2010/main" val="28840539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E986D8D-679B-DF16-78D6-36A609285C6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820770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9C3ACD7-63EA-AD11-D4E3-7D8D477A2334}"/>
              </a:ext>
            </a:extLst>
          </p:cNvPr>
          <p:cNvSpPr txBox="1"/>
          <p:nvPr/>
        </p:nvSpPr>
        <p:spPr>
          <a:xfrm>
            <a:off x="6733630" y="118379"/>
            <a:ext cx="23006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Lighting system</a:t>
            </a:r>
          </a:p>
        </p:txBody>
      </p:sp>
      <p:pic>
        <p:nvPicPr>
          <p:cNvPr id="5" name="Picture 4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0297262-4441-1E24-7F61-AFC13D6CFD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0698427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0609FE13-086A-FABE-04FF-6CEC053EBD8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1865278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F11DA75-266F-FC66-E9C2-454461BDE8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6934569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043CC30-6598-3FB3-BEFB-3E4EE54F8CC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610712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B3AE61E-DFA3-CD24-5FE2-1DEF7521A2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188591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38907" y="1079710"/>
            <a:ext cx="3741654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 complete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Built on our proven MonoGame/C# engine, fully optimized for PC &amp; consoles.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gameplay loop working (movement, basic combat, carts, procedural generation, lighting).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60138" y="1079710"/>
            <a:ext cx="3654816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the comedy + horror mix.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46676" y="894843"/>
            <a:ext cx="3746947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We are seeking funding to produce the complete adventure:  expand content: bosses, biomes, items, full audio.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Dozens of unique creatures, hundreds of bizarre items, narrative events, secrets, and twisted environments.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45409" y="894843"/>
            <a:ext cx="400670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Animation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Full set of characters, monsters and environment assets.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complete soundtrack and SFX production.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&amp; Localization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and professional localization to maximize reach.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promotional material.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A76CAA-2D3C-F2D5-A385-576D4CBC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xel art of a building">
            <a:extLst>
              <a:ext uri="{FF2B5EF4-FFF2-40B4-BE49-F238E27FC236}">
                <a16:creationId xmlns:a16="http://schemas.microsoft.com/office/drawing/2014/main" id="{BB90D463-A2DD-841D-1722-FBABDB98C69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AD04312-634D-AFE6-B193-640CD9B1337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039855" y="1099377"/>
            <a:ext cx="3462822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 with 30+ years of combined experience.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 games shipped on PC and major consoles, award-winning for creativity and originality.</a:t>
            </a:r>
          </a:p>
        </p:txBody>
      </p:sp>
      <p:sp>
        <p:nvSpPr>
          <p:cNvPr id="6" name="Google Shape;999;p37">
            <a:extLst>
              <a:ext uri="{FF2B5EF4-FFF2-40B4-BE49-F238E27FC236}">
                <a16:creationId xmlns:a16="http://schemas.microsoft.com/office/drawing/2014/main" id="{CC3F05C0-B662-CD5F-CE3D-00F6D5E7E6C4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Who We Are</a:t>
            </a:r>
          </a:p>
        </p:txBody>
      </p:sp>
      <p:sp>
        <p:nvSpPr>
          <p:cNvPr id="11" name="Google Shape;1000;p37">
            <a:extLst>
              <a:ext uri="{FF2B5EF4-FFF2-40B4-BE49-F238E27FC236}">
                <a16:creationId xmlns:a16="http://schemas.microsoft.com/office/drawing/2014/main" id="{7E7048C3-05FD-4259-7150-DDEC27E3B893}"/>
              </a:ext>
            </a:extLst>
          </p:cNvPr>
          <p:cNvSpPr txBox="1">
            <a:spLocks/>
          </p:cNvSpPr>
          <p:nvPr/>
        </p:nvSpPr>
        <p:spPr>
          <a:xfrm>
            <a:off x="4956255" y="1088549"/>
            <a:ext cx="3376749" cy="1123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All games with the same publisher, proving both trust in our work and our reliability as long-term partners.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reliable, passionate team focused on unique, unforgettable experiences.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08BE7F-9729-8408-C08D-02BEA6760E8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4664084" y="4398246"/>
            <a:ext cx="284676" cy="142338"/>
          </a:xfrm>
          <a:prstGeom prst="rect">
            <a:avLst/>
          </a:prstGeom>
        </p:spPr>
      </p:pic>
      <p:pic>
        <p:nvPicPr>
          <p:cNvPr id="7" name="Picture 6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4A9F576-8204-27F2-6587-AB77C5B569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4444014" y="3715024"/>
            <a:ext cx="512241" cy="760544"/>
          </a:xfrm>
          <a:prstGeom prst="rect">
            <a:avLst/>
          </a:prstGeom>
        </p:spPr>
      </p:pic>
      <p:pic>
        <p:nvPicPr>
          <p:cNvPr id="8" name="Picture 7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7028691D-E798-91DD-1477-0B9A6A54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6429181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64104" y="987173"/>
            <a:ext cx="641579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90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ts val="16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scope: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12+ bosses, 30+ creatures, 200+ items, 40+ environment objects, 6-8 biomes → 15–25 hours of gameplay (average run-based replayability).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Designers (2)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Programmer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writer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Background Artist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Animator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Composer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pic>
        <p:nvPicPr>
          <p:cNvPr id="6" name="Picture 5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5F7740B9-4FBA-4BE0-6988-0AA73B6B8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2140" y="3362385"/>
            <a:ext cx="2862470" cy="1113183"/>
          </a:xfrm>
          <a:prstGeom prst="rect">
            <a:avLst/>
          </a:prstGeom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7F2326-3B82-0B59-0457-9CD7A3AFF8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555" y="1385068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517" y="2884478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269" y="1379996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3971" y="2884478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190939" y="1379996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22169" y="1133775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2020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223186" y="1133774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2023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221598" y="1133774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2025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pic>
        <p:nvPicPr>
          <p:cNvPr id="7" name="Picture 6" descr="A logo with a yellow ball and wings">
            <a:extLst>
              <a:ext uri="{FF2B5EF4-FFF2-40B4-BE49-F238E27FC236}">
                <a16:creationId xmlns:a16="http://schemas.microsoft.com/office/drawing/2014/main" id="{1E0A098E-35B3-919F-ACD1-30DE9683E77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24866" y="4461341"/>
            <a:ext cx="1230475" cy="636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800109" y="1881515"/>
            <a:ext cx="3279517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 You!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3" y="307539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839" y="2557504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520" y="2560162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0201" y="2557504"/>
            <a:ext cx="802959" cy="802959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356391" y="3399818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908138" y="3399818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235756" y="3398672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5954" y="3245085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568" y="3245085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1248" y="3234848"/>
            <a:ext cx="163824" cy="163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3211</TotalTime>
  <Words>1134</Words>
  <Application>Microsoft Office PowerPoint</Application>
  <PresentationFormat>On-screen Show (16:9)</PresentationFormat>
  <Paragraphs>181</Paragraphs>
  <Slides>21</Slides>
  <Notes>14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Press Start 2P</vt:lpstr>
      <vt:lpstr>Maven Pro</vt:lpstr>
      <vt:lpstr>Arial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678</cp:revision>
  <dcterms:modified xsi:type="dcterms:W3CDTF">2025-10-08T18:42:19Z</dcterms:modified>
</cp:coreProperties>
</file>