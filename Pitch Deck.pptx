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8" r:id="rId1"/>
  </p:sldMasterIdLst>
  <p:notesMasterIdLst>
    <p:notesMasterId r:id="rId18"/>
  </p:notesMasterIdLst>
  <p:sldIdLst>
    <p:sldId id="330" r:id="rId2"/>
    <p:sldId id="260" r:id="rId3"/>
    <p:sldId id="350" r:id="rId4"/>
    <p:sldId id="351" r:id="rId5"/>
    <p:sldId id="345" r:id="rId6"/>
    <p:sldId id="355" r:id="rId7"/>
    <p:sldId id="357" r:id="rId8"/>
    <p:sldId id="359" r:id="rId9"/>
    <p:sldId id="349" r:id="rId10"/>
    <p:sldId id="333" r:id="rId11"/>
    <p:sldId id="323" r:id="rId12"/>
    <p:sldId id="324" r:id="rId13"/>
    <p:sldId id="320" r:id="rId14"/>
    <p:sldId id="358" r:id="rId15"/>
    <p:sldId id="343" r:id="rId16"/>
    <p:sldId id="321" r:id="rId17"/>
  </p:sldIdLst>
  <p:sldSz cx="9144000" cy="5143500" type="screen16x9"/>
  <p:notesSz cx="6858000" cy="9144000"/>
  <p:embeddedFontLst>
    <p:embeddedFont>
      <p:font typeface="Maven Pro" panose="020B0604020202020204" charset="0"/>
      <p:regular r:id="rId19"/>
      <p:bold r:id="rId20"/>
    </p:embeddedFont>
    <p:embeddedFont>
      <p:font typeface="Press Start 2P" panose="00000500000000000000" pitchFamily="2" charset="0"/>
      <p:regular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2293B"/>
    <a:srgbClr val="CC0000"/>
    <a:srgbClr val="800000"/>
    <a:srgbClr val="660033"/>
    <a:srgbClr val="AB5130"/>
    <a:srgbClr val="BD6A62"/>
    <a:srgbClr val="8F4D57"/>
    <a:srgbClr val="3B7D4F"/>
    <a:srgbClr val="FF2121"/>
    <a:srgbClr val="5233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7D3D775-E612-4A68-ABBB-C3B02DE864C1}">
  <a:tblStyle styleId="{67D3D775-E612-4A68-ABBB-C3B02DE864C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8" d="100"/>
          <a:sy n="128" d="100"/>
        </p:scale>
        <p:origin x="1134" y="33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85840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780F424A-984B-8DE7-A098-1F34836D91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35DCF18-8AFB-B827-9C96-C62B578BCB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56662914-27BE-EECE-904C-10C6EDE4F1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556232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933ADB03-200D-258B-C7C3-7908B8426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8312192-2B63-1398-952D-E6EC0E2DBF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02890061-A834-5D1E-5E63-02581E059A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690594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EAE9E16-E741-2AFC-528A-5D362D227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E9823407-3371-B2D4-9D7A-A39E9B6404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C167794-BB93-5CE2-C42A-8137230037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115816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4187F902-DF7D-842C-4A79-8343FC74A7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30A0F839-F3B8-E88D-36F2-F51FF7A463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C3C806C-C97B-20DD-4960-1CFEDF3F2A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3028598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9DD1AC29-AAD8-3BF1-6128-D7D32F35D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38A8E7BC-C8A6-D3B5-2332-15BBB630ACC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5569CFE-0103-6B4E-5AB0-7E5DBED158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2648146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BFD44D77-5B9D-6F28-C4D9-3E104C1D9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BB50D407-7A4B-492D-FE81-A914EA310ED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73DE1C2E-2ADA-AC79-2815-BED275C9AE4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4133150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22717E27-6FB4-BC23-2466-5E75556A2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183FEBC-059D-AB63-AF33-EAD32DED9D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23BBDD17-5A60-0D6A-F8AE-B410259327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4688075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74B9D20-03E9-9419-86F2-50EF17F4C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FAE5FF0C-BFBA-F92A-9C44-4B6A9AD689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B190A7B-7E94-3D7E-61E9-04A6B4738C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2319568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C7A66D30-EEBA-D26C-B7E5-02FA0B754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2F2516FD-8C92-0365-481F-B95A12E707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DBD48D3-210D-84C6-D120-2FBA89D216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1842973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4D07437F-E0EA-831F-F2B8-84F59181F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074959D-9AA7-D270-552C-3D655A2FDB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63C974D2-18E8-8BEA-6DD5-A55D55F870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9502484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ABBC480F-1BDD-CF52-A0AD-F5C925048E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EB9373A4-F5BE-B7AC-B93F-CCF5D3E1AA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B19FCD1-F79A-3F1F-80A1-83C58A4979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4128988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80B67A76-22B9-84A6-E145-6E495BB36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B5890F23-F67E-1640-6079-4989FAB6A9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035D575-CF13-4A7B-2B86-7A49D15805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05755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2"/>
          <p:cNvSpPr txBox="1">
            <a:spLocks noGrp="1"/>
          </p:cNvSpPr>
          <p:nvPr>
            <p:ph type="ctrTitle"/>
          </p:nvPr>
        </p:nvSpPr>
        <p:spPr>
          <a:xfrm>
            <a:off x="1841100" y="2279225"/>
            <a:ext cx="5461800" cy="9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3500">
                <a:solidFill>
                  <a:srgbClr val="FFFFFF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/>
          </a:p>
        </p:txBody>
      </p:sp>
      <p:sp>
        <p:nvSpPr>
          <p:cNvPr id="55" name="Google Shape;55;p2"/>
          <p:cNvSpPr txBox="1">
            <a:spLocks noGrp="1"/>
          </p:cNvSpPr>
          <p:nvPr>
            <p:ph type="subTitle" idx="1"/>
          </p:nvPr>
        </p:nvSpPr>
        <p:spPr>
          <a:xfrm>
            <a:off x="2358950" y="3281500"/>
            <a:ext cx="4283100" cy="5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6" name="Google Shape;56;p2"/>
          <p:cNvSpPr txBox="1">
            <a:spLocks noGrp="1"/>
          </p:cNvSpPr>
          <p:nvPr>
            <p:ph type="ctrTitle" idx="2"/>
          </p:nvPr>
        </p:nvSpPr>
        <p:spPr>
          <a:xfrm>
            <a:off x="713100" y="1323175"/>
            <a:ext cx="7717800" cy="73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4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 userDrawn="1">
  <p:cSld name="Title only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9;p2">
            <a:extLst>
              <a:ext uri="{FF2B5EF4-FFF2-40B4-BE49-F238E27FC236}">
                <a16:creationId xmlns:a16="http://schemas.microsoft.com/office/drawing/2014/main" id="{B74B651D-B17C-77C1-7A71-72E8190EF5C2}"/>
              </a:ext>
            </a:extLst>
          </p:cNvPr>
          <p:cNvSpPr/>
          <p:nvPr userDrawn="1"/>
        </p:nvSpPr>
        <p:spPr>
          <a:xfrm>
            <a:off x="2358747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10;p2">
            <a:extLst>
              <a:ext uri="{FF2B5EF4-FFF2-40B4-BE49-F238E27FC236}">
                <a16:creationId xmlns:a16="http://schemas.microsoft.com/office/drawing/2014/main" id="{3435CFA5-74C7-AD14-88DC-40B1595375B8}"/>
              </a:ext>
            </a:extLst>
          </p:cNvPr>
          <p:cNvSpPr/>
          <p:nvPr userDrawn="1"/>
        </p:nvSpPr>
        <p:spPr>
          <a:xfrm>
            <a:off x="2948462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1;p2">
            <a:extLst>
              <a:ext uri="{FF2B5EF4-FFF2-40B4-BE49-F238E27FC236}">
                <a16:creationId xmlns:a16="http://schemas.microsoft.com/office/drawing/2014/main" id="{0803F4CA-8D86-A4C4-B692-25D42C135A77}"/>
              </a:ext>
            </a:extLst>
          </p:cNvPr>
          <p:cNvSpPr/>
          <p:nvPr userDrawn="1"/>
        </p:nvSpPr>
        <p:spPr>
          <a:xfrm>
            <a:off x="5896249" y="60408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12;p2">
            <a:extLst>
              <a:ext uri="{FF2B5EF4-FFF2-40B4-BE49-F238E27FC236}">
                <a16:creationId xmlns:a16="http://schemas.microsoft.com/office/drawing/2014/main" id="{ECD4822F-7194-3A81-4434-79104FE737E6}"/>
              </a:ext>
            </a:extLst>
          </p:cNvPr>
          <p:cNvSpPr/>
          <p:nvPr userDrawn="1"/>
        </p:nvSpPr>
        <p:spPr>
          <a:xfrm>
            <a:off x="8256011" y="604298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3;p2">
            <a:extLst>
              <a:ext uri="{FF2B5EF4-FFF2-40B4-BE49-F238E27FC236}">
                <a16:creationId xmlns:a16="http://schemas.microsoft.com/office/drawing/2014/main" id="{6402B80D-9BE5-0C99-CB10-EEEF944BD193}"/>
              </a:ext>
            </a:extLst>
          </p:cNvPr>
          <p:cNvSpPr/>
          <p:nvPr userDrawn="1"/>
        </p:nvSpPr>
        <p:spPr>
          <a:xfrm>
            <a:off x="-146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14;p2">
            <a:extLst>
              <a:ext uri="{FF2B5EF4-FFF2-40B4-BE49-F238E27FC236}">
                <a16:creationId xmlns:a16="http://schemas.microsoft.com/office/drawing/2014/main" id="{641F2603-8162-37F9-190B-9FC9FA614BD4}"/>
              </a:ext>
            </a:extLst>
          </p:cNvPr>
          <p:cNvSpPr/>
          <p:nvPr userDrawn="1"/>
        </p:nvSpPr>
        <p:spPr>
          <a:xfrm>
            <a:off x="58957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15;p2">
            <a:extLst>
              <a:ext uri="{FF2B5EF4-FFF2-40B4-BE49-F238E27FC236}">
                <a16:creationId xmlns:a16="http://schemas.microsoft.com/office/drawing/2014/main" id="{2A934EE3-D739-7928-4671-434B3EF00098}"/>
              </a:ext>
            </a:extLst>
          </p:cNvPr>
          <p:cNvSpPr/>
          <p:nvPr userDrawn="1"/>
        </p:nvSpPr>
        <p:spPr>
          <a:xfrm>
            <a:off x="117928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16;p2">
            <a:extLst>
              <a:ext uri="{FF2B5EF4-FFF2-40B4-BE49-F238E27FC236}">
                <a16:creationId xmlns:a16="http://schemas.microsoft.com/office/drawing/2014/main" id="{9FA21B27-6F61-C00A-2BDB-ADCE7A4C9EDA}"/>
              </a:ext>
            </a:extLst>
          </p:cNvPr>
          <p:cNvSpPr/>
          <p:nvPr userDrawn="1"/>
        </p:nvSpPr>
        <p:spPr>
          <a:xfrm>
            <a:off x="176900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17;p2">
            <a:extLst>
              <a:ext uri="{FF2B5EF4-FFF2-40B4-BE49-F238E27FC236}">
                <a16:creationId xmlns:a16="http://schemas.microsoft.com/office/drawing/2014/main" id="{321A6377-A923-113C-3F04-32A14ACDA60D}"/>
              </a:ext>
            </a:extLst>
          </p:cNvPr>
          <p:cNvSpPr/>
          <p:nvPr userDrawn="1"/>
        </p:nvSpPr>
        <p:spPr>
          <a:xfrm>
            <a:off x="2948462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18;p2">
            <a:extLst>
              <a:ext uri="{FF2B5EF4-FFF2-40B4-BE49-F238E27FC236}">
                <a16:creationId xmlns:a16="http://schemas.microsoft.com/office/drawing/2014/main" id="{BD4DC746-5D3A-4CBD-6BF7-743A5CD81AFE}"/>
              </a:ext>
            </a:extLst>
          </p:cNvPr>
          <p:cNvSpPr/>
          <p:nvPr userDrawn="1"/>
        </p:nvSpPr>
        <p:spPr>
          <a:xfrm>
            <a:off x="3538177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19;p2">
            <a:extLst>
              <a:ext uri="{FF2B5EF4-FFF2-40B4-BE49-F238E27FC236}">
                <a16:creationId xmlns:a16="http://schemas.microsoft.com/office/drawing/2014/main" id="{6A1A2A16-9CB1-39D0-F713-638C4A62A220}"/>
              </a:ext>
            </a:extLst>
          </p:cNvPr>
          <p:cNvSpPr/>
          <p:nvPr userDrawn="1"/>
        </p:nvSpPr>
        <p:spPr>
          <a:xfrm>
            <a:off x="5307354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20;p2">
            <a:extLst>
              <a:ext uri="{FF2B5EF4-FFF2-40B4-BE49-F238E27FC236}">
                <a16:creationId xmlns:a16="http://schemas.microsoft.com/office/drawing/2014/main" id="{7ACC9AD9-5865-A0E9-AC52-4D33BD3690E4}"/>
              </a:ext>
            </a:extLst>
          </p:cNvPr>
          <p:cNvSpPr/>
          <p:nvPr userDrawn="1"/>
        </p:nvSpPr>
        <p:spPr>
          <a:xfrm>
            <a:off x="5897100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21;p2">
            <a:extLst>
              <a:ext uri="{FF2B5EF4-FFF2-40B4-BE49-F238E27FC236}">
                <a16:creationId xmlns:a16="http://schemas.microsoft.com/office/drawing/2014/main" id="{85053872-D365-5AD1-6905-3C4802BBB19F}"/>
              </a:ext>
            </a:extLst>
          </p:cNvPr>
          <p:cNvSpPr/>
          <p:nvPr userDrawn="1"/>
        </p:nvSpPr>
        <p:spPr>
          <a:xfrm>
            <a:off x="648681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22;p2">
            <a:extLst>
              <a:ext uri="{FF2B5EF4-FFF2-40B4-BE49-F238E27FC236}">
                <a16:creationId xmlns:a16="http://schemas.microsoft.com/office/drawing/2014/main" id="{A1A26F75-7B15-DA54-4FBA-96641762CA2A}"/>
              </a:ext>
            </a:extLst>
          </p:cNvPr>
          <p:cNvSpPr/>
          <p:nvPr userDrawn="1"/>
        </p:nvSpPr>
        <p:spPr>
          <a:xfrm>
            <a:off x="7076531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23;p2">
            <a:extLst>
              <a:ext uri="{FF2B5EF4-FFF2-40B4-BE49-F238E27FC236}">
                <a16:creationId xmlns:a16="http://schemas.microsoft.com/office/drawing/2014/main" id="{A683E51D-E37C-7B0B-ECC6-F0DC037071C3}"/>
              </a:ext>
            </a:extLst>
          </p:cNvPr>
          <p:cNvSpPr/>
          <p:nvPr userDrawn="1"/>
        </p:nvSpPr>
        <p:spPr>
          <a:xfrm>
            <a:off x="-146" y="121400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24;p2">
            <a:extLst>
              <a:ext uri="{FF2B5EF4-FFF2-40B4-BE49-F238E27FC236}">
                <a16:creationId xmlns:a16="http://schemas.microsoft.com/office/drawing/2014/main" id="{77BCE4B0-7A80-F235-966C-7335EAA88F60}"/>
              </a:ext>
            </a:extLst>
          </p:cNvPr>
          <p:cNvSpPr/>
          <p:nvPr userDrawn="1"/>
        </p:nvSpPr>
        <p:spPr>
          <a:xfrm>
            <a:off x="8256862" y="121421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28;p2">
            <a:extLst>
              <a:ext uri="{FF2B5EF4-FFF2-40B4-BE49-F238E27FC236}">
                <a16:creationId xmlns:a16="http://schemas.microsoft.com/office/drawing/2014/main" id="{39B82EB9-DFC0-1D00-9D42-668A401A6143}"/>
              </a:ext>
            </a:extLst>
          </p:cNvPr>
          <p:cNvSpPr/>
          <p:nvPr userDrawn="1"/>
        </p:nvSpPr>
        <p:spPr>
          <a:xfrm>
            <a:off x="8846619" y="1674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32;p2">
            <a:extLst>
              <a:ext uri="{FF2B5EF4-FFF2-40B4-BE49-F238E27FC236}">
                <a16:creationId xmlns:a16="http://schemas.microsoft.com/office/drawing/2014/main" id="{1F4981B9-479A-35D4-F980-DD023E99E00B}"/>
              </a:ext>
            </a:extLst>
          </p:cNvPr>
          <p:cNvSpPr/>
          <p:nvPr userDrawn="1"/>
        </p:nvSpPr>
        <p:spPr>
          <a:xfrm>
            <a:off x="590482" y="121399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33;p2">
            <a:extLst>
              <a:ext uri="{FF2B5EF4-FFF2-40B4-BE49-F238E27FC236}">
                <a16:creationId xmlns:a16="http://schemas.microsoft.com/office/drawing/2014/main" id="{5BCFF738-5FB7-2F4F-B5E8-355CFFA9885E}"/>
              </a:ext>
            </a:extLst>
          </p:cNvPr>
          <p:cNvSpPr/>
          <p:nvPr userDrawn="1"/>
        </p:nvSpPr>
        <p:spPr>
          <a:xfrm>
            <a:off x="-205" y="60407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34;p2">
            <a:extLst>
              <a:ext uri="{FF2B5EF4-FFF2-40B4-BE49-F238E27FC236}">
                <a16:creationId xmlns:a16="http://schemas.microsoft.com/office/drawing/2014/main" id="{DD5D31B2-5E33-A4DA-9843-5FCBCDB16C45}"/>
              </a:ext>
            </a:extLst>
          </p:cNvPr>
          <p:cNvSpPr/>
          <p:nvPr userDrawn="1"/>
        </p:nvSpPr>
        <p:spPr>
          <a:xfrm>
            <a:off x="590014" y="6040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35;p2">
            <a:extLst>
              <a:ext uri="{FF2B5EF4-FFF2-40B4-BE49-F238E27FC236}">
                <a16:creationId xmlns:a16="http://schemas.microsoft.com/office/drawing/2014/main" id="{F7585B2B-1137-EAD1-3FA3-F5B3E8D5EE2E}"/>
              </a:ext>
            </a:extLst>
          </p:cNvPr>
          <p:cNvSpPr/>
          <p:nvPr userDrawn="1"/>
        </p:nvSpPr>
        <p:spPr>
          <a:xfrm>
            <a:off x="1179776" y="60406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36;p2">
            <a:extLst>
              <a:ext uri="{FF2B5EF4-FFF2-40B4-BE49-F238E27FC236}">
                <a16:creationId xmlns:a16="http://schemas.microsoft.com/office/drawing/2014/main" id="{8D1873A8-56F7-9529-AF1C-E1C29F74ADFC}"/>
              </a:ext>
            </a:extLst>
          </p:cNvPr>
          <p:cNvSpPr/>
          <p:nvPr userDrawn="1"/>
        </p:nvSpPr>
        <p:spPr>
          <a:xfrm>
            <a:off x="1768774" y="60235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37;p2">
            <a:extLst>
              <a:ext uri="{FF2B5EF4-FFF2-40B4-BE49-F238E27FC236}">
                <a16:creationId xmlns:a16="http://schemas.microsoft.com/office/drawing/2014/main" id="{EC8D4E83-5437-0F04-F993-5F8C5F6951E1}"/>
              </a:ext>
            </a:extLst>
          </p:cNvPr>
          <p:cNvSpPr/>
          <p:nvPr userDrawn="1"/>
        </p:nvSpPr>
        <p:spPr>
          <a:xfrm>
            <a:off x="3538190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38;p2">
            <a:extLst>
              <a:ext uri="{FF2B5EF4-FFF2-40B4-BE49-F238E27FC236}">
                <a16:creationId xmlns:a16="http://schemas.microsoft.com/office/drawing/2014/main" id="{37EB1798-9C6D-53FA-9F90-61146E011FCD}"/>
              </a:ext>
            </a:extLst>
          </p:cNvPr>
          <p:cNvSpPr/>
          <p:nvPr userDrawn="1"/>
        </p:nvSpPr>
        <p:spPr>
          <a:xfrm>
            <a:off x="4127524" y="6023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39;p2">
            <a:extLst>
              <a:ext uri="{FF2B5EF4-FFF2-40B4-BE49-F238E27FC236}">
                <a16:creationId xmlns:a16="http://schemas.microsoft.com/office/drawing/2014/main" id="{721237CB-3D42-1D0B-B98F-82AEDB6B74D6}"/>
              </a:ext>
            </a:extLst>
          </p:cNvPr>
          <p:cNvSpPr/>
          <p:nvPr userDrawn="1"/>
        </p:nvSpPr>
        <p:spPr>
          <a:xfrm>
            <a:off x="4716801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40;p2">
            <a:extLst>
              <a:ext uri="{FF2B5EF4-FFF2-40B4-BE49-F238E27FC236}">
                <a16:creationId xmlns:a16="http://schemas.microsoft.com/office/drawing/2014/main" id="{56A5222E-3CA7-90F1-4B86-CCA12686DBF1}"/>
              </a:ext>
            </a:extLst>
          </p:cNvPr>
          <p:cNvSpPr/>
          <p:nvPr userDrawn="1"/>
        </p:nvSpPr>
        <p:spPr>
          <a:xfrm>
            <a:off x="5306994" y="602348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41;p2">
            <a:extLst>
              <a:ext uri="{FF2B5EF4-FFF2-40B4-BE49-F238E27FC236}">
                <a16:creationId xmlns:a16="http://schemas.microsoft.com/office/drawing/2014/main" id="{B4577FB3-C844-1A82-1314-FCF4EAFFB67D}"/>
              </a:ext>
            </a:extLst>
          </p:cNvPr>
          <p:cNvSpPr/>
          <p:nvPr userDrawn="1"/>
        </p:nvSpPr>
        <p:spPr>
          <a:xfrm>
            <a:off x="6485958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42;p2">
            <a:extLst>
              <a:ext uri="{FF2B5EF4-FFF2-40B4-BE49-F238E27FC236}">
                <a16:creationId xmlns:a16="http://schemas.microsoft.com/office/drawing/2014/main" id="{4705CF73-B28D-791F-8AF8-9D3112CFC4E7}"/>
              </a:ext>
            </a:extLst>
          </p:cNvPr>
          <p:cNvSpPr/>
          <p:nvPr userDrawn="1"/>
        </p:nvSpPr>
        <p:spPr>
          <a:xfrm>
            <a:off x="7075680" y="60597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43;p2">
            <a:extLst>
              <a:ext uri="{FF2B5EF4-FFF2-40B4-BE49-F238E27FC236}">
                <a16:creationId xmlns:a16="http://schemas.microsoft.com/office/drawing/2014/main" id="{4AB2225D-E74B-1047-D9AD-0F6730FE6C57}"/>
              </a:ext>
            </a:extLst>
          </p:cNvPr>
          <p:cNvSpPr/>
          <p:nvPr userDrawn="1"/>
        </p:nvSpPr>
        <p:spPr>
          <a:xfrm>
            <a:off x="4127897" y="1098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44;p2">
            <a:extLst>
              <a:ext uri="{FF2B5EF4-FFF2-40B4-BE49-F238E27FC236}">
                <a16:creationId xmlns:a16="http://schemas.microsoft.com/office/drawing/2014/main" id="{FE5C4FDE-9F84-7013-4329-3E08E5FA1D5D}"/>
              </a:ext>
            </a:extLst>
          </p:cNvPr>
          <p:cNvSpPr/>
          <p:nvPr userDrawn="1"/>
        </p:nvSpPr>
        <p:spPr>
          <a:xfrm>
            <a:off x="7667165" y="0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45;p2">
            <a:extLst>
              <a:ext uri="{FF2B5EF4-FFF2-40B4-BE49-F238E27FC236}">
                <a16:creationId xmlns:a16="http://schemas.microsoft.com/office/drawing/2014/main" id="{D0F50702-B225-8DD7-FD90-10AA50054A46}"/>
              </a:ext>
            </a:extLst>
          </p:cNvPr>
          <p:cNvSpPr/>
          <p:nvPr userDrawn="1"/>
        </p:nvSpPr>
        <p:spPr>
          <a:xfrm>
            <a:off x="7665392" y="602321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46;p2">
            <a:extLst>
              <a:ext uri="{FF2B5EF4-FFF2-40B4-BE49-F238E27FC236}">
                <a16:creationId xmlns:a16="http://schemas.microsoft.com/office/drawing/2014/main" id="{774551D7-1C49-B9B4-AEEB-D65EBF9649CB}"/>
              </a:ext>
            </a:extLst>
          </p:cNvPr>
          <p:cNvSpPr/>
          <p:nvPr userDrawn="1"/>
        </p:nvSpPr>
        <p:spPr>
          <a:xfrm>
            <a:off x="8256894" y="1256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47;p2">
            <a:extLst>
              <a:ext uri="{FF2B5EF4-FFF2-40B4-BE49-F238E27FC236}">
                <a16:creationId xmlns:a16="http://schemas.microsoft.com/office/drawing/2014/main" id="{950DCA13-2E04-C568-390B-ECC0E1375BE8}"/>
              </a:ext>
            </a:extLst>
          </p:cNvPr>
          <p:cNvSpPr/>
          <p:nvPr userDrawn="1"/>
        </p:nvSpPr>
        <p:spPr>
          <a:xfrm>
            <a:off x="8847574" y="60384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48;p2">
            <a:extLst>
              <a:ext uri="{FF2B5EF4-FFF2-40B4-BE49-F238E27FC236}">
                <a16:creationId xmlns:a16="http://schemas.microsoft.com/office/drawing/2014/main" id="{97F06346-710C-0EC0-BA2D-E5307F955D61}"/>
              </a:ext>
            </a:extLst>
          </p:cNvPr>
          <p:cNvSpPr/>
          <p:nvPr userDrawn="1"/>
        </p:nvSpPr>
        <p:spPr>
          <a:xfrm>
            <a:off x="8847625" y="121423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21;p2">
            <a:extLst>
              <a:ext uri="{FF2B5EF4-FFF2-40B4-BE49-F238E27FC236}">
                <a16:creationId xmlns:a16="http://schemas.microsoft.com/office/drawing/2014/main" id="{04C9F06D-439A-4CC7-1865-2FBE902A9A75}"/>
              </a:ext>
            </a:extLst>
          </p:cNvPr>
          <p:cNvSpPr/>
          <p:nvPr userDrawn="1"/>
        </p:nvSpPr>
        <p:spPr>
          <a:xfrm>
            <a:off x="4714707" y="421763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88244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9"/>
          <p:cNvSpPr/>
          <p:nvPr/>
        </p:nvSpPr>
        <p:spPr>
          <a:xfrm>
            <a:off x="587" y="4209314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9"/>
          <p:cNvSpPr/>
          <p:nvPr/>
        </p:nvSpPr>
        <p:spPr>
          <a:xfrm>
            <a:off x="587" y="4556413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p9"/>
          <p:cNvSpPr/>
          <p:nvPr/>
        </p:nvSpPr>
        <p:spPr>
          <a:xfrm>
            <a:off x="338131" y="4556413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9"/>
          <p:cNvSpPr/>
          <p:nvPr/>
        </p:nvSpPr>
        <p:spPr>
          <a:xfrm>
            <a:off x="587" y="4910387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9"/>
          <p:cNvSpPr/>
          <p:nvPr/>
        </p:nvSpPr>
        <p:spPr>
          <a:xfrm>
            <a:off x="335222" y="4901278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9"/>
          <p:cNvSpPr/>
          <p:nvPr/>
        </p:nvSpPr>
        <p:spPr>
          <a:xfrm>
            <a:off x="657032" y="4900639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9"/>
          <p:cNvSpPr/>
          <p:nvPr/>
        </p:nvSpPr>
        <p:spPr>
          <a:xfrm>
            <a:off x="8924083" y="4209314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9"/>
          <p:cNvSpPr/>
          <p:nvPr/>
        </p:nvSpPr>
        <p:spPr>
          <a:xfrm>
            <a:off x="8586942" y="4556413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43" name="Google Shape;243;p9"/>
          <p:cNvSpPr/>
          <p:nvPr/>
        </p:nvSpPr>
        <p:spPr>
          <a:xfrm>
            <a:off x="8924083" y="4556436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4" name="Google Shape;244;p9"/>
          <p:cNvSpPr/>
          <p:nvPr/>
        </p:nvSpPr>
        <p:spPr>
          <a:xfrm>
            <a:off x="8246130" y="4900639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9"/>
          <p:cNvSpPr/>
          <p:nvPr/>
        </p:nvSpPr>
        <p:spPr>
          <a:xfrm>
            <a:off x="8581508" y="4903546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" name="Google Shape;246;p9"/>
          <p:cNvSpPr/>
          <p:nvPr/>
        </p:nvSpPr>
        <p:spPr>
          <a:xfrm>
            <a:off x="8916143" y="4903558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7" name="Google Shape;247;p9"/>
          <p:cNvSpPr txBox="1">
            <a:spLocks noGrp="1"/>
          </p:cNvSpPr>
          <p:nvPr>
            <p:ph type="title"/>
          </p:nvPr>
        </p:nvSpPr>
        <p:spPr>
          <a:xfrm>
            <a:off x="1813050" y="1872881"/>
            <a:ext cx="5517900" cy="69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5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 dirty="0"/>
          </a:p>
        </p:txBody>
      </p:sp>
      <p:sp>
        <p:nvSpPr>
          <p:cNvPr id="248" name="Google Shape;248;p9"/>
          <p:cNvSpPr txBox="1">
            <a:spLocks noGrp="1"/>
          </p:cNvSpPr>
          <p:nvPr>
            <p:ph type="subTitle" idx="1"/>
          </p:nvPr>
        </p:nvSpPr>
        <p:spPr>
          <a:xfrm>
            <a:off x="2155200" y="2601819"/>
            <a:ext cx="4833600" cy="111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>
  <p:cSld name="ONE_COLUMN_TEXT_1_1_1_1_1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p21"/>
          <p:cNvSpPr/>
          <p:nvPr/>
        </p:nvSpPr>
        <p:spPr>
          <a:xfrm flipH="1">
            <a:off x="6489629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5" name="Google Shape;555;p21"/>
          <p:cNvSpPr/>
          <p:nvPr/>
        </p:nvSpPr>
        <p:spPr>
          <a:xfrm flipH="1">
            <a:off x="2951306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2588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41307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29513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3" name="Google Shape;563;p21"/>
          <p:cNvSpPr/>
          <p:nvPr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531018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5" name="Google Shape;565;p21"/>
          <p:cNvSpPr/>
          <p:nvPr/>
        </p:nvSpPr>
        <p:spPr>
          <a:xfrm flipH="1">
            <a:off x="4720963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4130723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7" name="Google Shape;567;p21"/>
          <p:cNvSpPr/>
          <p:nvPr/>
        </p:nvSpPr>
        <p:spPr>
          <a:xfrm flipH="1">
            <a:off x="3541462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21"/>
          <p:cNvSpPr/>
          <p:nvPr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9" name="Google Shape;569;p21"/>
          <p:cNvSpPr/>
          <p:nvPr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0" name="Google Shape;570;p21"/>
          <p:cNvSpPr/>
          <p:nvPr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926585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and Bottom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2" name="Google Shape;556;p21">
            <a:extLst>
              <a:ext uri="{FF2B5EF4-FFF2-40B4-BE49-F238E27FC236}">
                <a16:creationId xmlns:a16="http://schemas.microsoft.com/office/drawing/2014/main" id="{9B8C0A79-5021-E113-CC9B-869724F3B862}"/>
              </a:ext>
            </a:extLst>
          </p:cNvPr>
          <p:cNvSpPr/>
          <p:nvPr userDrawn="1"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560;p21">
            <a:extLst>
              <a:ext uri="{FF2B5EF4-FFF2-40B4-BE49-F238E27FC236}">
                <a16:creationId xmlns:a16="http://schemas.microsoft.com/office/drawing/2014/main" id="{5179C120-AEEB-B912-07D6-29CB3B25BC8E}"/>
              </a:ext>
            </a:extLst>
          </p:cNvPr>
          <p:cNvSpPr/>
          <p:nvPr userDrawn="1"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561;p21">
            <a:extLst>
              <a:ext uri="{FF2B5EF4-FFF2-40B4-BE49-F238E27FC236}">
                <a16:creationId xmlns:a16="http://schemas.microsoft.com/office/drawing/2014/main" id="{EBBE5F28-03D4-F0CE-8D41-5FC6939B5FC2}"/>
              </a:ext>
            </a:extLst>
          </p:cNvPr>
          <p:cNvSpPr/>
          <p:nvPr userDrawn="1"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562;p21">
            <a:extLst>
              <a:ext uri="{FF2B5EF4-FFF2-40B4-BE49-F238E27FC236}">
                <a16:creationId xmlns:a16="http://schemas.microsoft.com/office/drawing/2014/main" id="{EAC1E710-B1DB-284A-C287-D8D825AEAFD9}"/>
              </a:ext>
            </a:extLst>
          </p:cNvPr>
          <p:cNvSpPr/>
          <p:nvPr userDrawn="1"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563;p21">
            <a:extLst>
              <a:ext uri="{FF2B5EF4-FFF2-40B4-BE49-F238E27FC236}">
                <a16:creationId xmlns:a16="http://schemas.microsoft.com/office/drawing/2014/main" id="{4FA98739-F2A9-4256-72DF-6DA916844521}"/>
              </a:ext>
            </a:extLst>
          </p:cNvPr>
          <p:cNvSpPr/>
          <p:nvPr userDrawn="1"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568;p21">
            <a:extLst>
              <a:ext uri="{FF2B5EF4-FFF2-40B4-BE49-F238E27FC236}">
                <a16:creationId xmlns:a16="http://schemas.microsoft.com/office/drawing/2014/main" id="{A24CB6D6-FB1C-FA5F-4C4E-2F896DC5E849}"/>
              </a:ext>
            </a:extLst>
          </p:cNvPr>
          <p:cNvSpPr/>
          <p:nvPr userDrawn="1"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569;p21">
            <a:extLst>
              <a:ext uri="{FF2B5EF4-FFF2-40B4-BE49-F238E27FC236}">
                <a16:creationId xmlns:a16="http://schemas.microsoft.com/office/drawing/2014/main" id="{14992504-6549-658B-4F64-6291EC9D60A3}"/>
              </a:ext>
            </a:extLst>
          </p:cNvPr>
          <p:cNvSpPr/>
          <p:nvPr userDrawn="1"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570;p21">
            <a:extLst>
              <a:ext uri="{FF2B5EF4-FFF2-40B4-BE49-F238E27FC236}">
                <a16:creationId xmlns:a16="http://schemas.microsoft.com/office/drawing/2014/main" id="{BF6DE7E2-8DCB-DB52-41BB-8F02C936503D}"/>
              </a:ext>
            </a:extLst>
          </p:cNvPr>
          <p:cNvSpPr/>
          <p:nvPr userDrawn="1"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91964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 flip="none" rotWithShape="1">
          <a:gsLst>
            <a:gs pos="0">
              <a:schemeClr val="accent4">
                <a:lumMod val="89000"/>
              </a:schemeClr>
            </a:gs>
            <a:gs pos="23000">
              <a:schemeClr val="accent4">
                <a:lumMod val="89000"/>
              </a:schemeClr>
            </a:gs>
            <a:gs pos="69000">
              <a:schemeClr val="accent4">
                <a:lumMod val="75000"/>
              </a:schemeClr>
            </a:gs>
            <a:gs pos="97000">
              <a:schemeClr val="accent4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61881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lvl="1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lvl="2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lvl="3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lvl="4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lvl="5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lvl="6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lvl="7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lvl="8" indent="-3302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70" r:id="rId2"/>
    <p:sldLayoutId id="2147483655" r:id="rId3"/>
    <p:sldLayoutId id="2147483658" r:id="rId4"/>
    <p:sldLayoutId id="2147483667" r:id="rId5"/>
    <p:sldLayoutId id="2147483668" r:id="rId6"/>
    <p:sldLayoutId id="2147483669" r:id="rId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11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6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6" Type="http://schemas.microsoft.com/office/2007/relationships/hdphoto" Target="../media/hdphoto1.wdp"/><Relationship Id="rId5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png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5.png"/><Relationship Id="rId5" Type="http://schemas.openxmlformats.org/officeDocument/2006/relationships/image" Target="../media/image11.png"/><Relationship Id="rId10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2.png"/><Relationship Id="rId3" Type="http://schemas.openxmlformats.org/officeDocument/2006/relationships/image" Target="../media/image6.png"/><Relationship Id="rId7" Type="http://schemas.openxmlformats.org/officeDocument/2006/relationships/image" Target="../media/image18.png"/><Relationship Id="rId12" Type="http://schemas.openxmlformats.org/officeDocument/2006/relationships/image" Target="../media/image21.png"/><Relationship Id="rId17" Type="http://schemas.openxmlformats.org/officeDocument/2006/relationships/image" Target="../media/image25.png"/><Relationship Id="rId2" Type="http://schemas.openxmlformats.org/officeDocument/2006/relationships/notesSlide" Target="../notesSlides/notesSlide7.xml"/><Relationship Id="rId16" Type="http://schemas.microsoft.com/office/2007/relationships/hdphoto" Target="../media/hdphoto2.wdp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9.png"/><Relationship Id="rId15" Type="http://schemas.openxmlformats.org/officeDocument/2006/relationships/image" Target="../media/image24.png"/><Relationship Id="rId10" Type="http://schemas.openxmlformats.org/officeDocument/2006/relationships/image" Target="../media/image19.png"/><Relationship Id="rId4" Type="http://schemas.openxmlformats.org/officeDocument/2006/relationships/image" Target="../media/image2.png"/><Relationship Id="rId9" Type="http://schemas.openxmlformats.org/officeDocument/2006/relationships/image" Target="../media/image4.png"/><Relationship Id="rId1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6.png"/><Relationship Id="rId7" Type="http://schemas.openxmlformats.org/officeDocument/2006/relationships/image" Target="../media/image29.png"/><Relationship Id="rId12" Type="http://schemas.openxmlformats.org/officeDocument/2006/relationships/image" Target="../media/image3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8.png"/><Relationship Id="rId11" Type="http://schemas.microsoft.com/office/2007/relationships/hdphoto" Target="../media/hdphoto3.wdp"/><Relationship Id="rId5" Type="http://schemas.openxmlformats.org/officeDocument/2006/relationships/image" Target="../media/image27.png"/><Relationship Id="rId10" Type="http://schemas.openxmlformats.org/officeDocument/2006/relationships/image" Target="../media/image32.png"/><Relationship Id="rId4" Type="http://schemas.openxmlformats.org/officeDocument/2006/relationships/image" Target="../media/image2.png"/><Relationship Id="rId9" Type="http://schemas.openxmlformats.org/officeDocument/2006/relationships/image" Target="../media/image3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6" Type="http://schemas.microsoft.com/office/2007/relationships/hdphoto" Target="../media/hdphoto4.wdp"/><Relationship Id="rId5" Type="http://schemas.openxmlformats.org/officeDocument/2006/relationships/image" Target="../media/image36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6" Type="http://schemas.microsoft.com/office/2007/relationships/hdphoto" Target="../media/hdphoto5.wdp"/><Relationship Id="rId5" Type="http://schemas.openxmlformats.org/officeDocument/2006/relationships/image" Target="../media/image37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4.png"/><Relationship Id="rId5" Type="http://schemas.openxmlformats.org/officeDocument/2006/relationships/image" Target="../media/image39.png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hyperlink" Target="https://store.steampowered.com/app/1567530/Vlad_Circus_Curse_of_Asmodeus/" TargetMode="External"/><Relationship Id="rId3" Type="http://schemas.openxmlformats.org/officeDocument/2006/relationships/image" Target="../media/image40.jpeg"/><Relationship Id="rId7" Type="http://schemas.openxmlformats.org/officeDocument/2006/relationships/image" Target="../media/image43.png"/><Relationship Id="rId2" Type="http://schemas.openxmlformats.org/officeDocument/2006/relationships/hyperlink" Target="https://store.steampowered.com/app/1272580/Nine_Witches_Family_Disruption/" TargetMode="Externa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2.jpeg"/><Relationship Id="rId5" Type="http://schemas.openxmlformats.org/officeDocument/2006/relationships/hyperlink" Target="https://store.steampowered.com/app/1702430/Vlad_Circus_Descend_Into_Madness/" TargetMode="External"/><Relationship Id="rId4" Type="http://schemas.openxmlformats.org/officeDocument/2006/relationships/image" Target="../media/image41.jpeg"/><Relationship Id="rId9" Type="http://schemas.openxmlformats.org/officeDocument/2006/relationships/image" Target="../media/image44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jpeg"/><Relationship Id="rId13" Type="http://schemas.openxmlformats.org/officeDocument/2006/relationships/image" Target="../media/image50.png"/><Relationship Id="rId3" Type="http://schemas.openxmlformats.org/officeDocument/2006/relationships/hyperlink" Target="https://www.indiesruption.com/" TargetMode="External"/><Relationship Id="rId7" Type="http://schemas.openxmlformats.org/officeDocument/2006/relationships/hyperlink" Target="https://www.linkedin.com/in/pablo-mamone-262a5165/" TargetMode="External"/><Relationship Id="rId12" Type="http://schemas.openxmlformats.org/officeDocument/2006/relationships/image" Target="../media/image4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6.jpeg"/><Relationship Id="rId11" Type="http://schemas.microsoft.com/office/2007/relationships/hdphoto" Target="../media/hdphoto6.wdp"/><Relationship Id="rId5" Type="http://schemas.openxmlformats.org/officeDocument/2006/relationships/hyperlink" Target="https://www.linkedin.com/in/diegocanepa/" TargetMode="External"/><Relationship Id="rId10" Type="http://schemas.openxmlformats.org/officeDocument/2006/relationships/image" Target="../media/image48.png"/><Relationship Id="rId4" Type="http://schemas.openxmlformats.org/officeDocument/2006/relationships/image" Target="../media/image45.png"/><Relationship Id="rId9" Type="http://schemas.openxmlformats.org/officeDocument/2006/relationships/hyperlink" Target="https://www.linkedin.com/in/durgan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video game with a cartoon character">
            <a:extLst>
              <a:ext uri="{FF2B5EF4-FFF2-40B4-BE49-F238E27FC236}">
                <a16:creationId xmlns:a16="http://schemas.microsoft.com/office/drawing/2014/main" id="{D02AE8D6-918B-37BE-27D3-078298F391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553075" cy="5936105"/>
          </a:xfrm>
          <a:prstGeom prst="rect">
            <a:avLst/>
          </a:prstGeom>
        </p:spPr>
      </p:pic>
      <p:sp>
        <p:nvSpPr>
          <p:cNvPr id="4" name="Google Shape;963;p33">
            <a:extLst>
              <a:ext uri="{FF2B5EF4-FFF2-40B4-BE49-F238E27FC236}">
                <a16:creationId xmlns:a16="http://schemas.microsoft.com/office/drawing/2014/main" id="{87BD1BEB-687E-94A9-55BA-36F2920CDF3D}"/>
              </a:ext>
            </a:extLst>
          </p:cNvPr>
          <p:cNvSpPr txBox="1">
            <a:spLocks/>
          </p:cNvSpPr>
          <p:nvPr/>
        </p:nvSpPr>
        <p:spPr>
          <a:xfrm rot="21281081">
            <a:off x="416655" y="1213486"/>
            <a:ext cx="4261693" cy="510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11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a:rPr>
              <a:t>When hell runs a horror ride, no one is safe.</a:t>
            </a:r>
          </a:p>
        </p:txBody>
      </p:sp>
      <p:pic>
        <p:nvPicPr>
          <p:cNvPr id="17" name="Picture 16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E4BEE051-0101-0660-BE69-351B97FD12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162" y="194342"/>
            <a:ext cx="3380587" cy="1145037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79437D8-1552-7063-32DB-3F8A67AC3A6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6640123" y="3231373"/>
            <a:ext cx="428511" cy="128553"/>
          </a:xfrm>
          <a:prstGeom prst="rect">
            <a:avLst/>
          </a:prstGeom>
        </p:spPr>
      </p:pic>
      <p:pic>
        <p:nvPicPr>
          <p:cNvPr id="21" name="Picture 20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1899F904-BFCC-AD32-CD22-1A26D90845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6536532" y="2571750"/>
            <a:ext cx="517112" cy="723900"/>
          </a:xfrm>
          <a:prstGeom prst="rect">
            <a:avLst/>
          </a:prstGeom>
        </p:spPr>
      </p:pic>
      <p:pic>
        <p:nvPicPr>
          <p:cNvPr id="8" name="Picture 7" descr="A yellow text on a black background&#10;&#10;AI-generated content may be incorrect.">
            <a:extLst>
              <a:ext uri="{FF2B5EF4-FFF2-40B4-BE49-F238E27FC236}">
                <a16:creationId xmlns:a16="http://schemas.microsoft.com/office/drawing/2014/main" id="{8055D018-8073-CBDF-5A7F-2A66C04AFF2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08476" y="4463907"/>
            <a:ext cx="1516306" cy="416984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DA8662-880C-B450-2D6D-B0AA1B848C50}"/>
              </a:ext>
            </a:extLst>
          </p:cNvPr>
          <p:cNvSpPr txBox="1"/>
          <p:nvPr/>
        </p:nvSpPr>
        <p:spPr>
          <a:xfrm>
            <a:off x="82447" y="102009"/>
            <a:ext cx="149901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12538528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ixel art of a building">
            <a:extLst>
              <a:ext uri="{FF2B5EF4-FFF2-40B4-BE49-F238E27FC236}">
                <a16:creationId xmlns:a16="http://schemas.microsoft.com/office/drawing/2014/main" id="{970F42B8-8149-AE99-5DCE-10D39E420DD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-28599" y="0"/>
            <a:ext cx="9144000" cy="5143500"/>
          </a:xfrm>
          <a:prstGeom prst="rect">
            <a:avLst/>
          </a:prstGeom>
        </p:spPr>
      </p:pic>
      <p:sp>
        <p:nvSpPr>
          <p:cNvPr id="999" name="Google Shape;999;p37"/>
          <p:cNvSpPr txBox="1">
            <a:spLocks noGrp="1"/>
          </p:cNvSpPr>
          <p:nvPr>
            <p:ph type="title" idx="4294967295"/>
          </p:nvPr>
        </p:nvSpPr>
        <p:spPr>
          <a:xfrm>
            <a:off x="1364105" y="296673"/>
            <a:ext cx="6415790" cy="48620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Overview</a:t>
            </a:r>
            <a:endParaRPr sz="1800" dirty="0">
              <a:solidFill>
                <a:srgbClr val="AB5130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</a:endParaRPr>
          </a:p>
        </p:txBody>
      </p:sp>
      <p:sp>
        <p:nvSpPr>
          <p:cNvPr id="1000" name="Google Shape;1000;p37"/>
          <p:cNvSpPr txBox="1">
            <a:spLocks noGrp="1"/>
          </p:cNvSpPr>
          <p:nvPr>
            <p:ph type="subTitle" idx="4294967295"/>
          </p:nvPr>
        </p:nvSpPr>
        <p:spPr>
          <a:xfrm>
            <a:off x="1354006" y="894615"/>
            <a:ext cx="6378790" cy="7238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A 2D pixel-art roguelite adventure where bizarre comedy collides with creepy monsters and absurd challenges.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166806AD-98D4-D7EB-6E60-4E2D5324FA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6D9444F-5F03-30D7-0B0E-CC3874350B5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064330" y="4515822"/>
            <a:ext cx="284676" cy="142338"/>
          </a:xfrm>
          <a:prstGeom prst="rect">
            <a:avLst/>
          </a:prstGeom>
        </p:spPr>
      </p:pic>
      <p:pic>
        <p:nvPicPr>
          <p:cNvPr id="4" name="Picture 3" descr="A pixelated image of a person wearing sunglasses&#10;&#10;AI-generated content may be incorrect.">
            <a:extLst>
              <a:ext uri="{FF2B5EF4-FFF2-40B4-BE49-F238E27FC236}">
                <a16:creationId xmlns:a16="http://schemas.microsoft.com/office/drawing/2014/main" id="{967DB02A-BA92-F4D6-3635-FA4B3AB08F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47069" y="3893638"/>
            <a:ext cx="459695" cy="68954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B11074D-EE65-7ACB-8A00-62891FE5CD3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882943" y="4515821"/>
            <a:ext cx="284676" cy="142338"/>
          </a:xfrm>
          <a:prstGeom prst="rect">
            <a:avLst/>
          </a:prstGeom>
        </p:spPr>
      </p:pic>
      <p:pic>
        <p:nvPicPr>
          <p:cNvPr id="6" name="Picture 5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37C30E45-3490-0BDF-BF95-AE40ED80698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4707925" y="3847669"/>
            <a:ext cx="459694" cy="73551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307ABC5-4BC9-01C9-26A5-9CC39046F59E}"/>
              </a:ext>
            </a:extLst>
          </p:cNvPr>
          <p:cNvSpPr txBox="1"/>
          <p:nvPr/>
        </p:nvSpPr>
        <p:spPr>
          <a:xfrm>
            <a:off x="1528997" y="1686831"/>
            <a:ext cx="5906124" cy="18428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ts val="14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Two lazy journalists trapped inside a demon-possessed horror ride.</a:t>
            </a:r>
          </a:p>
          <a:p>
            <a:pPr marL="171450" indent="-171450">
              <a:lnSpc>
                <a:spcPts val="14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Explore a cursed attraction packed with strange items, hidden secrets, captive celebrities, and absurd encounters.</a:t>
            </a:r>
          </a:p>
          <a:p>
            <a:pPr marL="171450" indent="-171450">
              <a:lnSpc>
                <a:spcPts val="14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Survive each procedural run. Even in failure, progress often endures — new items, areas, and secrets may unlock as you keep playing.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9DDBFF2-B1FB-4113-D291-30E81F48E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video game with a cartoon character&#10;&#10;AI-generated content may be incorrect.">
            <a:extLst>
              <a:ext uri="{FF2B5EF4-FFF2-40B4-BE49-F238E27FC236}">
                <a16:creationId xmlns:a16="http://schemas.microsoft.com/office/drawing/2014/main" id="{29986DC9-BD1C-9EA3-D511-58B7AA1067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98240"/>
            <a:ext cx="9144000" cy="3924300"/>
          </a:xfrm>
          <a:prstGeom prst="rect">
            <a:avLst/>
          </a:prstGeom>
        </p:spPr>
      </p:pic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A02E9861-D81C-BEB4-9FF8-6059B0DF160B}"/>
              </a:ext>
            </a:extLst>
          </p:cNvPr>
          <p:cNvSpPr txBox="1">
            <a:spLocks/>
          </p:cNvSpPr>
          <p:nvPr/>
        </p:nvSpPr>
        <p:spPr>
          <a:xfrm>
            <a:off x="487199" y="962531"/>
            <a:ext cx="3994860" cy="1177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Adventure spirit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retro atmosphere fused with pixel art and roguelite tension — blending nostalgia, absurd humor, and high-stakes exploration.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Accessible chaos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Active, easy-to-grasp combat powered by creative item use.</a:t>
            </a:r>
          </a:p>
        </p:txBody>
      </p:sp>
      <p:sp>
        <p:nvSpPr>
          <p:cNvPr id="12" name="Google Shape;999;p37">
            <a:extLst>
              <a:ext uri="{FF2B5EF4-FFF2-40B4-BE49-F238E27FC236}">
                <a16:creationId xmlns:a16="http://schemas.microsoft.com/office/drawing/2014/main" id="{028DD578-F28F-5A40-3503-5915690FE3FF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Why It’s Unique</a:t>
            </a:r>
          </a:p>
        </p:txBody>
      </p:sp>
      <p:pic>
        <p:nvPicPr>
          <p:cNvPr id="13" name="Picture 1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AD3F7298-6C89-EE89-3E9A-0B25DA9456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2EF5299E-1B7C-AA97-2B00-73C53140F88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0000"/>
          </a:blip>
          <a:stretch>
            <a:fillRect/>
          </a:stretch>
        </p:blipFill>
        <p:spPr>
          <a:xfrm>
            <a:off x="6301667" y="3841982"/>
            <a:ext cx="493908" cy="164636"/>
          </a:xfrm>
          <a:prstGeom prst="rect">
            <a:avLst/>
          </a:prstGeom>
        </p:spPr>
      </p:pic>
      <p:pic>
        <p:nvPicPr>
          <p:cNvPr id="17" name="Picture 16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78936B8D-6122-F985-265D-5B2E6CEC95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6136300" y="4157050"/>
            <a:ext cx="539354" cy="792187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6A32EE8A-0DFD-7F7F-DA35-B894B7CD5258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943938" y="962531"/>
            <a:ext cx="3873094" cy="11128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haunted ride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cursed, procedural horror attraction with its own twisted logic and unpredictable surprises.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Evolving madness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growing telenovela of bizarre characters, new realms, and ever-escalating insanity.</a:t>
            </a:r>
          </a:p>
        </p:txBody>
      </p:sp>
    </p:spTree>
    <p:extLst>
      <p:ext uri="{BB962C8B-B14F-4D97-AF65-F5344CB8AC3E}">
        <p14:creationId xmlns:p14="http://schemas.microsoft.com/office/powerpoint/2010/main" val="29351732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A87C6DD4-3F48-186B-FC05-1008CDCC1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7E95556F-87C4-1552-F8EB-11CC3133BC6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Google Shape;999;p37">
            <a:extLst>
              <a:ext uri="{FF2B5EF4-FFF2-40B4-BE49-F238E27FC236}">
                <a16:creationId xmlns:a16="http://schemas.microsoft.com/office/drawing/2014/main" id="{EAA26DC9-34AA-AC7A-D05F-E1E80A36CD81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Specifications</a:t>
            </a:r>
          </a:p>
        </p:txBody>
      </p:sp>
      <p:pic>
        <p:nvPicPr>
          <p:cNvPr id="7" name="Picture 6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58059D1C-4F8A-7E8E-18F5-B208D23AFE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86D841F6-FB8E-4465-6E30-7C6E9B7E1BAD}"/>
              </a:ext>
            </a:extLst>
          </p:cNvPr>
          <p:cNvSpPr txBox="1">
            <a:spLocks/>
          </p:cNvSpPr>
          <p:nvPr/>
        </p:nvSpPr>
        <p:spPr>
          <a:xfrm>
            <a:off x="1759341" y="1195776"/>
            <a:ext cx="5625317" cy="13759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Genre:   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2D roguelite adventure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Graphics: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Pixel art / retro style (*)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Rating:  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Mature humor, mild blood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Audience: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13+/roguelite players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Technology: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MonoGame/Proprietary engine</a:t>
            </a:r>
          </a:p>
        </p:txBody>
      </p:sp>
      <p:pic>
        <p:nvPicPr>
          <p:cNvPr id="8" name="Picture 7" descr="A pixelated image of a dog&#10;&#10;AI-generated content may be incorrect.">
            <a:extLst>
              <a:ext uri="{FF2B5EF4-FFF2-40B4-BE49-F238E27FC236}">
                <a16:creationId xmlns:a16="http://schemas.microsoft.com/office/drawing/2014/main" id="{04495AA6-FD25-DEAE-6B39-1715871E12A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4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45053" y="3771271"/>
            <a:ext cx="664023" cy="901174"/>
          </a:xfrm>
          <a:prstGeom prst="rect">
            <a:avLst/>
          </a:prstGeom>
        </p:spPr>
      </p:pic>
      <p:pic>
        <p:nvPicPr>
          <p:cNvPr id="9" name="Picture 8" descr="A pixelated image of a dog&#10;&#10;AI-generated content may be incorrect.">
            <a:extLst>
              <a:ext uri="{FF2B5EF4-FFF2-40B4-BE49-F238E27FC236}">
                <a16:creationId xmlns:a16="http://schemas.microsoft.com/office/drawing/2014/main" id="{68A93E69-E461-0C0D-BD03-91E80670615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8337132" y="3430724"/>
            <a:ext cx="501859" cy="68109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B963E86-3304-C63F-E681-2BE5FC3034B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34924" y="500393"/>
            <a:ext cx="685800" cy="4572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EB32B4E-EF58-3837-BAD1-C038CB9BC73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flipH="1">
            <a:off x="7164225" y="328140"/>
            <a:ext cx="508195" cy="34450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325E361-DB9D-87B7-4A46-08C7E896D3B1}"/>
              </a:ext>
            </a:extLst>
          </p:cNvPr>
          <p:cNvSpPr txBox="1"/>
          <p:nvPr/>
        </p:nvSpPr>
        <p:spPr>
          <a:xfrm>
            <a:off x="1812874" y="4261361"/>
            <a:ext cx="5518252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(*) Native low resolution scaled to HD, enhanced with a CRT-style filter for an authentic arcade feel.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D37DD80-10CD-85E4-85F2-BAD1FF587BB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8254" y="201855"/>
            <a:ext cx="409927" cy="252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29890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B2F170F1-E5B9-6C28-129A-6FF76EE3A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3DC4AB54-366E-E0A2-1159-FF5B92ACFE5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1AF0787-BB08-0706-A505-8310F24C57A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38559" y="887265"/>
            <a:ext cx="3833441" cy="111283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attraction</a:t>
            </a: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Snuggleville’s amusement park was once home to Remizione, a grotesque horror ride.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incident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During the grand opening, the ride’s designer and a group of celebrity guests stepped into the attraction… and never came out. The park was deemed haunted and soon went bankrupt.</a:t>
            </a:r>
          </a:p>
        </p:txBody>
      </p:sp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BD0D7D64-8BF2-0887-A6B2-640C4F8F13FA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Story &amp; Setting</a:t>
            </a:r>
          </a:p>
        </p:txBody>
      </p:sp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52D5C695-4990-1D0D-E6CB-6796CBE63E16}"/>
              </a:ext>
            </a:extLst>
          </p:cNvPr>
          <p:cNvSpPr txBox="1">
            <a:spLocks/>
          </p:cNvSpPr>
          <p:nvPr/>
        </p:nvSpPr>
        <p:spPr>
          <a:xfrm>
            <a:off x="4744794" y="887265"/>
            <a:ext cx="3908686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unexpected heroes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Many years later, twins Edmund and Berta Idle sneak inside to investigate.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evil curse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attraction is now ruled by Mandinga — the Devil’s only son and heir.</a:t>
            </a:r>
          </a:p>
        </p:txBody>
      </p:sp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F57E524A-5833-BCC7-087B-B4832FE700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6DFC314-2C6B-C30B-5D27-D980F4ABF0C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120103" y="4681778"/>
            <a:ext cx="321103" cy="160552"/>
          </a:xfrm>
          <a:prstGeom prst="rect">
            <a:avLst/>
          </a:prstGeom>
        </p:spPr>
      </p:pic>
      <p:pic>
        <p:nvPicPr>
          <p:cNvPr id="11" name="Picture 10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90BA5B4-62E2-6E38-89ED-FF2C6BD5D7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35567" y="3981286"/>
            <a:ext cx="478190" cy="76510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3C10FDB-09DC-516C-B3B4-D44D5667B93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882874" y="4681778"/>
            <a:ext cx="321103" cy="160552"/>
          </a:xfrm>
          <a:prstGeom prst="rect">
            <a:avLst/>
          </a:prstGeom>
        </p:spPr>
      </p:pic>
      <p:pic>
        <p:nvPicPr>
          <p:cNvPr id="10" name="Picture 9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2DF15CB-D3B2-C074-8F60-A1CFC9342AB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4679671" y="4053098"/>
            <a:ext cx="478190" cy="717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94632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DD1723FF-E9EE-FE68-3C65-1369673D6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xel art of a building">
            <a:extLst>
              <a:ext uri="{FF2B5EF4-FFF2-40B4-BE49-F238E27FC236}">
                <a16:creationId xmlns:a16="http://schemas.microsoft.com/office/drawing/2014/main" id="{8BC3450D-6942-EDAA-05D6-501443985E5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2" name="Google Shape;999;p37">
            <a:extLst>
              <a:ext uri="{FF2B5EF4-FFF2-40B4-BE49-F238E27FC236}">
                <a16:creationId xmlns:a16="http://schemas.microsoft.com/office/drawing/2014/main" id="{DC0A741D-EA39-9191-ED36-6BC0FFD7E1AF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Main Cast</a:t>
            </a:r>
          </a:p>
        </p:txBody>
      </p:sp>
      <p:pic>
        <p:nvPicPr>
          <p:cNvPr id="13" name="Picture 1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0C75137F-5DB8-A6FB-FE99-A4F840DA7F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32AA4F5-F688-78E9-DDCB-AF9A8448CAAF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0000"/>
          </a:blip>
          <a:stretch>
            <a:fillRect/>
          </a:stretch>
        </p:blipFill>
        <p:spPr>
          <a:xfrm>
            <a:off x="6301667" y="3794917"/>
            <a:ext cx="493908" cy="164636"/>
          </a:xfrm>
          <a:prstGeom prst="rect">
            <a:avLst/>
          </a:prstGeom>
        </p:spPr>
      </p:pic>
      <p:pic>
        <p:nvPicPr>
          <p:cNvPr id="3" name="Picture 2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4FAB5B60-11AE-E4A4-2AB4-8BC620D7406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965" y="1042405"/>
            <a:ext cx="485514" cy="728272"/>
          </a:xfrm>
          <a:prstGeom prst="rect">
            <a:avLst/>
          </a:prstGeom>
        </p:spPr>
      </p:pic>
      <p:pic>
        <p:nvPicPr>
          <p:cNvPr id="5" name="Picture 4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09862270-43F5-6292-EB54-C4F461EFA27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0034" y="2141383"/>
            <a:ext cx="455170" cy="728272"/>
          </a:xfrm>
          <a:prstGeom prst="rect">
            <a:avLst/>
          </a:prstGeom>
        </p:spPr>
      </p:pic>
      <p:pic>
        <p:nvPicPr>
          <p:cNvPr id="7" name="Picture 6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051CC362-E370-95CD-DCEF-76C7BF0C59A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98634" y="1066548"/>
            <a:ext cx="624580" cy="892256"/>
          </a:xfrm>
          <a:prstGeom prst="rect">
            <a:avLst/>
          </a:prstGeom>
        </p:spPr>
      </p:pic>
      <p:pic>
        <p:nvPicPr>
          <p:cNvPr id="15" name="Picture 14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CFEDD57E-7C8F-ACB0-4CBB-424E9AF13E7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3466" y="3045216"/>
            <a:ext cx="1046610" cy="95146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E81F1C1-7C7A-D6E0-EE54-F21E4A0C706F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4975198" y="2372835"/>
            <a:ext cx="671452" cy="1298140"/>
          </a:xfrm>
          <a:prstGeom prst="rect">
            <a:avLst/>
          </a:prstGeom>
        </p:spPr>
      </p:pic>
      <p:sp>
        <p:nvSpPr>
          <p:cNvPr id="20" name="Google Shape;1000;p37">
            <a:extLst>
              <a:ext uri="{FF2B5EF4-FFF2-40B4-BE49-F238E27FC236}">
                <a16:creationId xmlns:a16="http://schemas.microsoft.com/office/drawing/2014/main" id="{B8DB2753-2FC1-8F9C-F97E-5CA6B1B1E579}"/>
              </a:ext>
            </a:extLst>
          </p:cNvPr>
          <p:cNvSpPr txBox="1">
            <a:spLocks/>
          </p:cNvSpPr>
          <p:nvPr/>
        </p:nvSpPr>
        <p:spPr>
          <a:xfrm>
            <a:off x="1046182" y="902675"/>
            <a:ext cx="3675719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Edmund Idle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Co-writes “Mysterious Mysteries” magazine with his twin sister.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At 41, he still lives with his mom and sister Berta.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8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21" name="Google Shape;1000;p37">
            <a:extLst>
              <a:ext uri="{FF2B5EF4-FFF2-40B4-BE49-F238E27FC236}">
                <a16:creationId xmlns:a16="http://schemas.microsoft.com/office/drawing/2014/main" id="{621B3F80-D839-0F51-3D70-77CAAA9A2559}"/>
              </a:ext>
            </a:extLst>
          </p:cNvPr>
          <p:cNvSpPr txBox="1">
            <a:spLocks/>
          </p:cNvSpPr>
          <p:nvPr/>
        </p:nvSpPr>
        <p:spPr>
          <a:xfrm>
            <a:off x="1048053" y="2070650"/>
            <a:ext cx="3841447" cy="839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Berta Idle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Co-writes with her brother Edmund. At 41, still at home, avoiding both responsibility and fatigue.</a:t>
            </a:r>
          </a:p>
        </p:txBody>
      </p:sp>
      <p:sp>
        <p:nvSpPr>
          <p:cNvPr id="22" name="Google Shape;1000;p37">
            <a:extLst>
              <a:ext uri="{FF2B5EF4-FFF2-40B4-BE49-F238E27FC236}">
                <a16:creationId xmlns:a16="http://schemas.microsoft.com/office/drawing/2014/main" id="{E5344F25-735F-82FC-85D5-9AB8E8411581}"/>
              </a:ext>
            </a:extLst>
          </p:cNvPr>
          <p:cNvSpPr txBox="1">
            <a:spLocks/>
          </p:cNvSpPr>
          <p:nvPr/>
        </p:nvSpPr>
        <p:spPr>
          <a:xfrm>
            <a:off x="5702124" y="902675"/>
            <a:ext cx="2994969" cy="685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Sister Ham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Mandinga’s assistant. Keeps the attraction in order—mostly by screaming and oinking.</a:t>
            </a:r>
          </a:p>
        </p:txBody>
      </p:sp>
      <p:sp>
        <p:nvSpPr>
          <p:cNvPr id="23" name="Google Shape;1000;p37">
            <a:extLst>
              <a:ext uri="{FF2B5EF4-FFF2-40B4-BE49-F238E27FC236}">
                <a16:creationId xmlns:a16="http://schemas.microsoft.com/office/drawing/2014/main" id="{FD248A31-65A9-BE71-69A5-C4C514B548E1}"/>
              </a:ext>
            </a:extLst>
          </p:cNvPr>
          <p:cNvSpPr txBox="1">
            <a:spLocks/>
          </p:cNvSpPr>
          <p:nvPr/>
        </p:nvSpPr>
        <p:spPr>
          <a:xfrm>
            <a:off x="5679563" y="2202691"/>
            <a:ext cx="3083826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Mandinga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Devil’s only son and heir. His father died in an unfortunate gas leak while trying to roast a sinner.</a:t>
            </a:r>
            <a:b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b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As a child he dreamed of having his own horror attraction—now he finally has one, and no one’s leaving.</a:t>
            </a:r>
          </a:p>
        </p:txBody>
      </p:sp>
      <p:sp>
        <p:nvSpPr>
          <p:cNvPr id="24" name="Google Shape;1000;p37">
            <a:extLst>
              <a:ext uri="{FF2B5EF4-FFF2-40B4-BE49-F238E27FC236}">
                <a16:creationId xmlns:a16="http://schemas.microsoft.com/office/drawing/2014/main" id="{79B51BDF-D15A-9491-C7D9-948FC9AB59C3}"/>
              </a:ext>
            </a:extLst>
          </p:cNvPr>
          <p:cNvSpPr txBox="1">
            <a:spLocks/>
          </p:cNvSpPr>
          <p:nvPr/>
        </p:nvSpPr>
        <p:spPr>
          <a:xfrm>
            <a:off x="1046182" y="3024520"/>
            <a:ext cx="3579605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Lord Percival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Designer of horror attractions. His masterpiece Remizione promised a journey through purgatory. On opening day, he and a group of celebrities entered the ride… and never came out.</a:t>
            </a:r>
          </a:p>
        </p:txBody>
      </p:sp>
    </p:spTree>
    <p:extLst>
      <p:ext uri="{BB962C8B-B14F-4D97-AF65-F5344CB8AC3E}">
        <p14:creationId xmlns:p14="http://schemas.microsoft.com/office/powerpoint/2010/main" val="7573031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F179D232-38D4-F14A-01B8-48E2CCE4B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08368008-C579-337D-26E0-39A41FBDD99D}"/>
              </a:ext>
            </a:extLst>
          </p:cNvPr>
          <p:cNvSpPr/>
          <p:nvPr/>
        </p:nvSpPr>
        <p:spPr>
          <a:xfrm>
            <a:off x="4611068" y="1299814"/>
            <a:ext cx="4030762" cy="2100854"/>
          </a:xfrm>
          <a:prstGeom prst="rect">
            <a:avLst/>
          </a:prstGeom>
          <a:noFill/>
          <a:ln w="28575">
            <a:solidFill>
              <a:srgbClr val="800000"/>
            </a:solidFill>
            <a:prstDash val="dashDot"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960" name="Picture 959" descr="A pixel art of a building">
            <a:extLst>
              <a:ext uri="{FF2B5EF4-FFF2-40B4-BE49-F238E27FC236}">
                <a16:creationId xmlns:a16="http://schemas.microsoft.com/office/drawing/2014/main" id="{E36C71DB-8ED4-9273-3E50-589AD5CCBF2D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3">
            <a:alphaModFix amt="3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0B83EB26-17A9-E978-1ED1-09AA5A8852B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FCC1503D-45D8-7282-83EF-5C6D63D13057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Anatomy of the Game</a:t>
            </a:r>
          </a:p>
        </p:txBody>
      </p:sp>
      <p:pic>
        <p:nvPicPr>
          <p:cNvPr id="10" name="Picture 9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6CB79E76-645B-8464-B863-7E05A3B253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1915461" y="1601648"/>
            <a:ext cx="330557" cy="497465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1" name="Picture 10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7E5C9CEA-F308-13F2-B768-93B2E021E5B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7900" y="1600012"/>
            <a:ext cx="335994" cy="495798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286BDAF4-DBDB-DF16-475D-7FD1290F59B6}"/>
              </a:ext>
            </a:extLst>
          </p:cNvPr>
          <p:cNvSpPr txBox="1"/>
          <p:nvPr/>
        </p:nvSpPr>
        <p:spPr>
          <a:xfrm>
            <a:off x="915148" y="1073686"/>
            <a:ext cx="16841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Choose your twin and board the ride car</a:t>
            </a:r>
          </a:p>
        </p:txBody>
      </p:sp>
      <p:sp>
        <p:nvSpPr>
          <p:cNvPr id="17" name="Arrow: Down 16">
            <a:extLst>
              <a:ext uri="{FF2B5EF4-FFF2-40B4-BE49-F238E27FC236}">
                <a16:creationId xmlns:a16="http://schemas.microsoft.com/office/drawing/2014/main" id="{CD2A2BC3-97C4-6062-C96D-195081CCD045}"/>
              </a:ext>
            </a:extLst>
          </p:cNvPr>
          <p:cNvSpPr/>
          <p:nvPr/>
        </p:nvSpPr>
        <p:spPr>
          <a:xfrm rot="10800000">
            <a:off x="1708036" y="1535350"/>
            <a:ext cx="119868" cy="630987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4E0A1D9-29D0-BD12-7B67-5B2496302C2B}"/>
              </a:ext>
            </a:extLst>
          </p:cNvPr>
          <p:cNvSpPr/>
          <p:nvPr/>
        </p:nvSpPr>
        <p:spPr>
          <a:xfrm>
            <a:off x="1208941" y="2147847"/>
            <a:ext cx="1098800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Theme</a:t>
            </a:r>
          </a:p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Park</a:t>
            </a:r>
          </a:p>
        </p:txBody>
      </p:sp>
      <p:pic>
        <p:nvPicPr>
          <p:cNvPr id="19" name="Picture 18" descr="A pixel art of a computer&#10;&#10;AI-generated content may be incorrect.">
            <a:extLst>
              <a:ext uri="{FF2B5EF4-FFF2-40B4-BE49-F238E27FC236}">
                <a16:creationId xmlns:a16="http://schemas.microsoft.com/office/drawing/2014/main" id="{B2EEC177-370B-0FA0-4324-69422E01994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1228026" y="3215670"/>
            <a:ext cx="891144" cy="832648"/>
          </a:xfrm>
          <a:prstGeom prst="rect">
            <a:avLst/>
          </a:prstGeom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D58649CA-4D01-D5EC-9EE2-9579DF4AF215}"/>
              </a:ext>
            </a:extLst>
          </p:cNvPr>
          <p:cNvSpPr txBox="1"/>
          <p:nvPr/>
        </p:nvSpPr>
        <p:spPr>
          <a:xfrm>
            <a:off x="597153" y="4148685"/>
            <a:ext cx="22673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Burn tickets to unlock new items, areas and gateways to the Under-Ride.</a:t>
            </a:r>
          </a:p>
        </p:txBody>
      </p:sp>
      <p:sp>
        <p:nvSpPr>
          <p:cNvPr id="24" name="Arrow: Down 23">
            <a:extLst>
              <a:ext uri="{FF2B5EF4-FFF2-40B4-BE49-F238E27FC236}">
                <a16:creationId xmlns:a16="http://schemas.microsoft.com/office/drawing/2014/main" id="{3458AECE-2E4E-8D6F-0279-9EA3929E869D}"/>
              </a:ext>
            </a:extLst>
          </p:cNvPr>
          <p:cNvSpPr/>
          <p:nvPr/>
        </p:nvSpPr>
        <p:spPr>
          <a:xfrm>
            <a:off x="1719114" y="2554796"/>
            <a:ext cx="108791" cy="560507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 dirty="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2EDB3A8-51ED-551F-C32B-3CB5707AE5C7}"/>
              </a:ext>
            </a:extLst>
          </p:cNvPr>
          <p:cNvSpPr/>
          <p:nvPr/>
        </p:nvSpPr>
        <p:spPr>
          <a:xfrm>
            <a:off x="2976551" y="2147847"/>
            <a:ext cx="1204929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Loading</a:t>
            </a:r>
          </a:p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Zone</a:t>
            </a:r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50654CF7-D284-399E-B50D-F6369D4B0C16}"/>
              </a:ext>
            </a:extLst>
          </p:cNvPr>
          <p:cNvSpPr/>
          <p:nvPr/>
        </p:nvSpPr>
        <p:spPr>
          <a:xfrm>
            <a:off x="2265910" y="2255171"/>
            <a:ext cx="576026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sp>
        <p:nvSpPr>
          <p:cNvPr id="28" name="Arrow: Down 27">
            <a:extLst>
              <a:ext uri="{FF2B5EF4-FFF2-40B4-BE49-F238E27FC236}">
                <a16:creationId xmlns:a16="http://schemas.microsoft.com/office/drawing/2014/main" id="{3BBED3EF-1969-846C-D755-0D20CA165F71}"/>
              </a:ext>
            </a:extLst>
          </p:cNvPr>
          <p:cNvSpPr/>
          <p:nvPr/>
        </p:nvSpPr>
        <p:spPr>
          <a:xfrm>
            <a:off x="3516682" y="2571750"/>
            <a:ext cx="118556" cy="269264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6194A65-A661-0BA4-4AEE-6670C54D551F}"/>
              </a:ext>
            </a:extLst>
          </p:cNvPr>
          <p:cNvSpPr txBox="1"/>
          <p:nvPr/>
        </p:nvSpPr>
        <p:spPr>
          <a:xfrm>
            <a:off x="2641646" y="2886087"/>
            <a:ext cx="19027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Meet NPCs and access secret areas.</a:t>
            </a:r>
          </a:p>
        </p:txBody>
      </p:sp>
      <p:pic>
        <p:nvPicPr>
          <p:cNvPr id="30" name="Picture 29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6552B120-FBCE-9EE0-AE90-AF3455DED47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4573" y="3307627"/>
            <a:ext cx="829025" cy="753659"/>
          </a:xfrm>
          <a:prstGeom prst="rect">
            <a:avLst/>
          </a:prstGeom>
        </p:spPr>
      </p:pic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811BE59C-87D8-8235-EA7A-CE8C330317CF}"/>
              </a:ext>
            </a:extLst>
          </p:cNvPr>
          <p:cNvSpPr/>
          <p:nvPr/>
        </p:nvSpPr>
        <p:spPr>
          <a:xfrm>
            <a:off x="5022634" y="2147847"/>
            <a:ext cx="1204929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The Ride</a:t>
            </a:r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552C7965-B1D4-EB6B-B905-AFF17290F051}"/>
              </a:ext>
            </a:extLst>
          </p:cNvPr>
          <p:cNvSpPr/>
          <p:nvPr/>
        </p:nvSpPr>
        <p:spPr>
          <a:xfrm>
            <a:off x="4155154" y="2257301"/>
            <a:ext cx="751600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pic>
        <p:nvPicPr>
          <p:cNvPr id="34" name="Picture 33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165D74D9-BA53-FDA9-D7B3-C0F90C45D6A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04546" y="1459859"/>
            <a:ext cx="453946" cy="648493"/>
          </a:xfrm>
          <a:prstGeom prst="rect">
            <a:avLst/>
          </a:prstGeom>
        </p:spPr>
      </p:pic>
      <p:pic>
        <p:nvPicPr>
          <p:cNvPr id="35" name="Picture 34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9262E4AB-3BA8-3BA9-3D0F-33916C38B89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flipH="1">
            <a:off x="3457838" y="1420364"/>
            <a:ext cx="799938" cy="672243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151FA2A8-21C1-73F7-DAF3-391BDF683D55}"/>
              </a:ext>
            </a:extLst>
          </p:cNvPr>
          <p:cNvSpPr txBox="1"/>
          <p:nvPr/>
        </p:nvSpPr>
        <p:spPr>
          <a:xfrm>
            <a:off x="5452222" y="1358868"/>
            <a:ext cx="247968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Offer coins to Saint Peregrine’s statue to open the way forward.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D6BF02A-565A-CF4B-700D-3DE044AD46D4}"/>
              </a:ext>
            </a:extLst>
          </p:cNvPr>
          <p:cNvSpPr txBox="1"/>
          <p:nvPr/>
        </p:nvSpPr>
        <p:spPr>
          <a:xfrm>
            <a:off x="4655188" y="2780298"/>
            <a:ext cx="38628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Enter Mandinga’s own domain through hidden (unlockable) gateways: caves, dungeons, strange rooms and free captive celebrities.</a:t>
            </a: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A389E0FF-FD65-FEC6-FC2B-DE3E2CBAC623}"/>
              </a:ext>
            </a:extLst>
          </p:cNvPr>
          <p:cNvSpPr/>
          <p:nvPr/>
        </p:nvSpPr>
        <p:spPr>
          <a:xfrm>
            <a:off x="6927211" y="2141762"/>
            <a:ext cx="1508051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The</a:t>
            </a:r>
          </a:p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Under-Ride</a:t>
            </a:r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AC6261E0-24BF-CF62-6C83-79871C3D561C}"/>
              </a:ext>
            </a:extLst>
          </p:cNvPr>
          <p:cNvSpPr/>
          <p:nvPr/>
        </p:nvSpPr>
        <p:spPr>
          <a:xfrm>
            <a:off x="5880406" y="2281349"/>
            <a:ext cx="958494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153808B0-6BD4-AEB1-04F0-1C99683AC639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 flipH="1">
            <a:off x="7940839" y="1386449"/>
            <a:ext cx="494423" cy="922923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C15D9609-DCA6-1577-C8F7-38A27C02C81F}"/>
              </a:ext>
            </a:extLst>
          </p:cNvPr>
          <p:cNvSpPr txBox="1"/>
          <p:nvPr/>
        </p:nvSpPr>
        <p:spPr>
          <a:xfrm>
            <a:off x="6509635" y="808849"/>
            <a:ext cx="2223971" cy="4928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en-US" sz="1050" dirty="0">
                <a:solidFill>
                  <a:srgbClr val="92293B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Procedural Run </a:t>
            </a:r>
            <a:r>
              <a:rPr lang="en-US" sz="800" dirty="0">
                <a:solidFill>
                  <a:srgbClr val="92293B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(save disabled)</a:t>
            </a:r>
            <a:endParaRPr lang="en-US" sz="800" dirty="0">
              <a:solidFill>
                <a:srgbClr val="92293B"/>
              </a:solidFill>
            </a:endParaRP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197CBE96-3607-79D1-6666-7D6A519B817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55154" y="3773081"/>
            <a:ext cx="435758" cy="29050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8956DBE-EED0-A484-F48D-AA71498BABFC}"/>
              </a:ext>
            </a:extLst>
          </p:cNvPr>
          <p:cNvSpPr txBox="1"/>
          <p:nvPr/>
        </p:nvSpPr>
        <p:spPr>
          <a:xfrm>
            <a:off x="196121" y="2759512"/>
            <a:ext cx="1438053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ATM connected to Percival's C66</a:t>
            </a:r>
          </a:p>
        </p:txBody>
      </p:sp>
      <p:pic>
        <p:nvPicPr>
          <p:cNvPr id="8" name="Picture 7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627DB5D3-DC03-84C0-6ACE-F8363CC5F60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11152718">
            <a:off x="1216470" y="3110319"/>
            <a:ext cx="373608" cy="271930"/>
          </a:xfrm>
          <a:prstGeom prst="rect">
            <a:avLst/>
          </a:prstGeom>
          <a:effectLst>
            <a:glow rad="101600">
              <a:schemeClr val="accent5">
                <a:satMod val="175000"/>
                <a:alpha val="40000"/>
              </a:schemeClr>
            </a:glow>
          </a:effectLst>
        </p:spPr>
      </p:pic>
      <p:pic>
        <p:nvPicPr>
          <p:cNvPr id="12" name="Picture 11" descr="A pixelated image of a person wearing glasses&#10;&#10;AI-generated content may be incorrect.">
            <a:extLst>
              <a:ext uri="{FF2B5EF4-FFF2-40B4-BE49-F238E27FC236}">
                <a16:creationId xmlns:a16="http://schemas.microsoft.com/office/drawing/2014/main" id="{FE30F52E-2163-0C02-084F-F9C225EB4153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27823" y="1117412"/>
            <a:ext cx="545063" cy="45027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71E629F-0182-F3F7-84BD-DCC9334D4400}"/>
              </a:ext>
            </a:extLst>
          </p:cNvPr>
          <p:cNvSpPr txBox="1"/>
          <p:nvPr/>
        </p:nvSpPr>
        <p:spPr>
          <a:xfrm>
            <a:off x="6583475" y="3469788"/>
            <a:ext cx="2142636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7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Inventory &amp; tickets reset at the end of each run.</a:t>
            </a:r>
          </a:p>
        </p:txBody>
      </p:sp>
      <p:pic>
        <p:nvPicPr>
          <p:cNvPr id="13" name="Picture 12" descr="A pixelated character holding a stick&#10;&#10;AI-generated content may be incorrect.">
            <a:extLst>
              <a:ext uri="{FF2B5EF4-FFF2-40B4-BE49-F238E27FC236}">
                <a16:creationId xmlns:a16="http://schemas.microsoft.com/office/drawing/2014/main" id="{26B23D96-1EE3-3EAD-B6AB-1C0DF306AA4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 flipH="1">
            <a:off x="4265349" y="745065"/>
            <a:ext cx="641405" cy="992046"/>
          </a:xfrm>
          <a:prstGeom prst="rect">
            <a:avLst/>
          </a:prstGeom>
        </p:spPr>
      </p:pic>
      <p:pic>
        <p:nvPicPr>
          <p:cNvPr id="15" name="Picture 14" descr="A pixelated coin with a black background&#10;&#10;AI-generated content may be incorrect.">
            <a:extLst>
              <a:ext uri="{FF2B5EF4-FFF2-40B4-BE49-F238E27FC236}">
                <a16:creationId xmlns:a16="http://schemas.microsoft.com/office/drawing/2014/main" id="{A6AEBFDF-6CAE-54FC-8B0C-AA1CAE0B6C86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157810" y="1447566"/>
            <a:ext cx="282195" cy="282195"/>
          </a:xfrm>
          <a:prstGeom prst="rect">
            <a:avLst/>
          </a:prstGeom>
        </p:spPr>
      </p:pic>
      <p:pic>
        <p:nvPicPr>
          <p:cNvPr id="20" name="Picture 19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4021958B-03FA-8C26-8E8B-AD07CD79C84F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923810" y="1171237"/>
            <a:ext cx="373608" cy="271930"/>
          </a:xfrm>
          <a:prstGeom prst="rect">
            <a:avLst/>
          </a:prstGeom>
          <a:effectLst/>
        </p:spPr>
      </p:pic>
      <p:sp>
        <p:nvSpPr>
          <p:cNvPr id="9" name="Arrow: Down 8">
            <a:extLst>
              <a:ext uri="{FF2B5EF4-FFF2-40B4-BE49-F238E27FC236}">
                <a16:creationId xmlns:a16="http://schemas.microsoft.com/office/drawing/2014/main" id="{5AEC1187-DF3E-BEF2-5BB8-2C6C472A7112}"/>
              </a:ext>
            </a:extLst>
          </p:cNvPr>
          <p:cNvSpPr/>
          <p:nvPr/>
        </p:nvSpPr>
        <p:spPr>
          <a:xfrm>
            <a:off x="7654793" y="2598208"/>
            <a:ext cx="88101" cy="180953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F3AB66BA-2CB4-B6B8-8B8F-E1F50EFA80CF}"/>
              </a:ext>
            </a:extLst>
          </p:cNvPr>
          <p:cNvSpPr/>
          <p:nvPr/>
        </p:nvSpPr>
        <p:spPr>
          <a:xfrm rot="10800000">
            <a:off x="5698292" y="1812809"/>
            <a:ext cx="110171" cy="361637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40F8379-3EB2-FE63-08A6-F25A19BB70F1}"/>
              </a:ext>
            </a:extLst>
          </p:cNvPr>
          <p:cNvSpPr txBox="1"/>
          <p:nvPr/>
        </p:nvSpPr>
        <p:spPr>
          <a:xfrm>
            <a:off x="3932331" y="3517256"/>
            <a:ext cx="90242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Tickets</a:t>
            </a:r>
          </a:p>
        </p:txBody>
      </p:sp>
      <p:pic>
        <p:nvPicPr>
          <p:cNvPr id="53" name="Picture 52" descr="A pixelated video game of a red machine&#10;&#10;AI-generated content may be incorrect.">
            <a:extLst>
              <a:ext uri="{FF2B5EF4-FFF2-40B4-BE49-F238E27FC236}">
                <a16:creationId xmlns:a16="http://schemas.microsoft.com/office/drawing/2014/main" id="{88F7A0CA-6C05-5B02-271D-88CFCF2FBD6A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068463" y="3663925"/>
            <a:ext cx="383759" cy="584776"/>
          </a:xfrm>
          <a:prstGeom prst="rect">
            <a:avLst/>
          </a:prstGeom>
        </p:spPr>
      </p:pic>
      <p:pic>
        <p:nvPicPr>
          <p:cNvPr id="54" name="Picture 53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AFC7C9FC-8591-0409-6A4E-3F73327A4B2F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10037086">
            <a:off x="4656395" y="3838973"/>
            <a:ext cx="373608" cy="271930"/>
          </a:xfrm>
          <a:prstGeom prst="rect">
            <a:avLst/>
          </a:prstGeom>
          <a:effectLst>
            <a:glow rad="101600">
              <a:schemeClr val="accent5">
                <a:satMod val="175000"/>
                <a:alpha val="40000"/>
              </a:schemeClr>
            </a:glow>
          </a:effectLst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D46E1894-55E4-5904-451B-29CDF1240185}"/>
              </a:ext>
            </a:extLst>
          </p:cNvPr>
          <p:cNvSpPr txBox="1"/>
          <p:nvPr/>
        </p:nvSpPr>
        <p:spPr>
          <a:xfrm>
            <a:off x="4691706" y="4259946"/>
            <a:ext cx="113727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Expending machine</a:t>
            </a:r>
          </a:p>
        </p:txBody>
      </p:sp>
      <p:pic>
        <p:nvPicPr>
          <p:cNvPr id="56" name="Picture 55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C5CF16C1-1B95-5A04-2689-B3DC6C95300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17435484">
            <a:off x="4359312" y="3226490"/>
            <a:ext cx="373608" cy="271930"/>
          </a:xfrm>
          <a:prstGeom prst="rect">
            <a:avLst/>
          </a:prstGeom>
          <a:effectLst/>
        </p:spPr>
      </p:pic>
      <p:sp>
        <p:nvSpPr>
          <p:cNvPr id="58" name="Arrow: Right 57">
            <a:extLst>
              <a:ext uri="{FF2B5EF4-FFF2-40B4-BE49-F238E27FC236}">
                <a16:creationId xmlns:a16="http://schemas.microsoft.com/office/drawing/2014/main" id="{0DE69412-7E26-F2C0-E7CF-77C7190DF337}"/>
              </a:ext>
            </a:extLst>
          </p:cNvPr>
          <p:cNvSpPr/>
          <p:nvPr/>
        </p:nvSpPr>
        <p:spPr>
          <a:xfrm>
            <a:off x="5541655" y="3946643"/>
            <a:ext cx="287098" cy="176685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1BF9864-61E4-B62B-E87F-66E55A6A55F6}"/>
              </a:ext>
            </a:extLst>
          </p:cNvPr>
          <p:cNvSpPr txBox="1"/>
          <p:nvPr/>
        </p:nvSpPr>
        <p:spPr>
          <a:xfrm>
            <a:off x="5781312" y="3916014"/>
            <a:ext cx="77633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Items</a:t>
            </a:r>
          </a:p>
        </p:txBody>
      </p:sp>
      <p:pic>
        <p:nvPicPr>
          <p:cNvPr id="2" name="Picture 1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CAD96655-EA4B-2AC0-8C05-8A7037BB47C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6533951" y="3808108"/>
            <a:ext cx="344462" cy="495798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26326261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3434B4B9-2F9D-C387-813A-2865AA29A5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774C63A-9ABA-9EA7-050A-D8B048B4858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7663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7A6B33A-CC60-92B6-4C7E-A5F0A2160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xel art of a building">
            <a:extLst>
              <a:ext uri="{FF2B5EF4-FFF2-40B4-BE49-F238E27FC236}">
                <a16:creationId xmlns:a16="http://schemas.microsoft.com/office/drawing/2014/main" id="{604A176A-9276-30C7-5E31-6668A3F2D2C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3FDDB78A-A233-1EE0-EDBB-C6C0157D33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5" name="Google Shape;999;p37">
            <a:extLst>
              <a:ext uri="{FF2B5EF4-FFF2-40B4-BE49-F238E27FC236}">
                <a16:creationId xmlns:a16="http://schemas.microsoft.com/office/drawing/2014/main" id="{3602FE78-E33B-64D6-6E2C-22A7EE575F25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Inventory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54053F06-56A8-B4BD-D88F-104ED26D9250}"/>
              </a:ext>
            </a:extLst>
          </p:cNvPr>
          <p:cNvSpPr txBox="1">
            <a:spLocks/>
          </p:cNvSpPr>
          <p:nvPr/>
        </p:nvSpPr>
        <p:spPr>
          <a:xfrm>
            <a:off x="1343165" y="1271698"/>
            <a:ext cx="3228835" cy="11128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Junk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Odd junk you can equip to whack, shoot, or do something questionably effective.</a:t>
            </a:r>
          </a:p>
        </p:txBody>
      </p:sp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15C7A68C-BF17-6718-529D-370473EC7C9F}"/>
              </a:ext>
            </a:extLst>
          </p:cNvPr>
          <p:cNvSpPr txBox="1">
            <a:spLocks/>
          </p:cNvSpPr>
          <p:nvPr/>
        </p:nvSpPr>
        <p:spPr>
          <a:xfrm>
            <a:off x="1343165" y="3289798"/>
            <a:ext cx="3430916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Consumables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Eat or drink anything: from healing snacks to chili-powered speed boosts.</a:t>
            </a:r>
          </a:p>
        </p:txBody>
      </p:sp>
      <p:sp>
        <p:nvSpPr>
          <p:cNvPr id="9" name="Google Shape;1000;p37">
            <a:extLst>
              <a:ext uri="{FF2B5EF4-FFF2-40B4-BE49-F238E27FC236}">
                <a16:creationId xmlns:a16="http://schemas.microsoft.com/office/drawing/2014/main" id="{D689E440-227F-4A14-2F3D-DBC8F011B475}"/>
              </a:ext>
            </a:extLst>
          </p:cNvPr>
          <p:cNvSpPr txBox="1">
            <a:spLocks/>
          </p:cNvSpPr>
          <p:nvPr/>
        </p:nvSpPr>
        <p:spPr>
          <a:xfrm>
            <a:off x="5408075" y="2280748"/>
            <a:ext cx="3161540" cy="834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Key items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Scene-specific tools for interacting with the environment.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10" name="Google Shape;1000;p37">
            <a:extLst>
              <a:ext uri="{FF2B5EF4-FFF2-40B4-BE49-F238E27FC236}">
                <a16:creationId xmlns:a16="http://schemas.microsoft.com/office/drawing/2014/main" id="{3324AE9C-7624-EC08-0A43-9411780CAFA6}"/>
              </a:ext>
            </a:extLst>
          </p:cNvPr>
          <p:cNvSpPr txBox="1">
            <a:spLocks/>
          </p:cNvSpPr>
          <p:nvPr/>
        </p:nvSpPr>
        <p:spPr>
          <a:xfrm>
            <a:off x="5408075" y="1271698"/>
            <a:ext cx="3430916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Trinkets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Passive oddities with quirky powers. One at a time, so choose wisely.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3685A47C-D77C-3C70-F474-8AE699232C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0410" y="1510263"/>
            <a:ext cx="492624" cy="492624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87D7128C-7ADC-493E-E204-E0ABE26C56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04991" y="2467247"/>
            <a:ext cx="443462" cy="443462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C3D3CFD2-DA52-BEBF-81E3-752C2296D7A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2991" y="3393585"/>
            <a:ext cx="550853" cy="550853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D4010551-B5BB-68E8-D14B-EA505059695C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792991" y="1493369"/>
            <a:ext cx="538094" cy="489176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26756623-FBDD-3129-C1CF-53A52E8DFD5F}"/>
              </a:ext>
            </a:extLst>
          </p:cNvPr>
          <p:cNvSpPr txBox="1">
            <a:spLocks/>
          </p:cNvSpPr>
          <p:nvPr/>
        </p:nvSpPr>
        <p:spPr>
          <a:xfrm>
            <a:off x="1343165" y="2280748"/>
            <a:ext cx="3228835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Gadgets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Useful contraptions for odd jobs — dig, plant, prank, or blow stuff up.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30E914A-F62A-1024-7A0E-CDAAA49E3C0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3989" y="2444390"/>
            <a:ext cx="489176" cy="489176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EE53C2B-5FAD-273D-B325-62B09B901388}"/>
              </a:ext>
            </a:extLst>
          </p:cNvPr>
          <p:cNvSpPr txBox="1"/>
          <p:nvPr/>
        </p:nvSpPr>
        <p:spPr>
          <a:xfrm>
            <a:off x="1568346" y="716578"/>
            <a:ext cx="600730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Collect and adapt with whatever bizarre items you find along the way.</a:t>
            </a:r>
          </a:p>
        </p:txBody>
      </p:sp>
      <p:pic>
        <p:nvPicPr>
          <p:cNvPr id="13" name="Picture 12" descr="A pixelated image of a horse&#10;&#10;AI-generated content may be incorrect.">
            <a:extLst>
              <a:ext uri="{FF2B5EF4-FFF2-40B4-BE49-F238E27FC236}">
                <a16:creationId xmlns:a16="http://schemas.microsoft.com/office/drawing/2014/main" id="{2BD38C97-A01D-E2D2-E3F0-612A6544C5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rightnessContrast brigh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flipH="1">
            <a:off x="8188311" y="3393585"/>
            <a:ext cx="762607" cy="894163"/>
          </a:xfrm>
          <a:prstGeom prst="rect">
            <a:avLst/>
          </a:prstGeom>
        </p:spPr>
      </p:pic>
      <p:pic>
        <p:nvPicPr>
          <p:cNvPr id="14" name="Picture 13" descr="A pixelated image of a horse&#10;&#10;AI-generated content may be incorrect.">
            <a:extLst>
              <a:ext uri="{FF2B5EF4-FFF2-40B4-BE49-F238E27FC236}">
                <a16:creationId xmlns:a16="http://schemas.microsoft.com/office/drawing/2014/main" id="{784E6801-EB8F-12D5-8FBD-96C419F43D83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rightnessContrast brigh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flipH="1">
            <a:off x="7263077" y="3521083"/>
            <a:ext cx="762607" cy="894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05750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152398ED-DA4C-9EEF-D76C-0F47FA3AFE65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Inventory</a:t>
            </a:r>
          </a:p>
        </p:txBody>
      </p:sp>
      <p:pic>
        <p:nvPicPr>
          <p:cNvPr id="7" name="Picture 6" descr="A screenshot of a video game">
            <a:extLst>
              <a:ext uri="{FF2B5EF4-FFF2-40B4-BE49-F238E27FC236}">
                <a16:creationId xmlns:a16="http://schemas.microsoft.com/office/drawing/2014/main" id="{67C76C6D-2EEB-6DEF-1CA9-77FD389528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855" y="787379"/>
            <a:ext cx="8477312" cy="3739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10573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C2F54A8F-EF3B-1D1C-8DB9-0F87D8160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video game screen with a gate and buildings">
            <a:extLst>
              <a:ext uri="{FF2B5EF4-FFF2-40B4-BE49-F238E27FC236}">
                <a16:creationId xmlns:a16="http://schemas.microsoft.com/office/drawing/2014/main" id="{73A69CEA-855A-F283-11C4-F9635E15ACB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Google Shape;1000;p37">
            <a:extLst>
              <a:ext uri="{FF2B5EF4-FFF2-40B4-BE49-F238E27FC236}">
                <a16:creationId xmlns:a16="http://schemas.microsoft.com/office/drawing/2014/main" id="{8D40509E-E4DC-E7E6-F196-BE6FF499E1DD}"/>
              </a:ext>
            </a:extLst>
          </p:cNvPr>
          <p:cNvSpPr txBox="1">
            <a:spLocks/>
          </p:cNvSpPr>
          <p:nvPr/>
        </p:nvSpPr>
        <p:spPr>
          <a:xfrm>
            <a:off x="738907" y="1079710"/>
            <a:ext cx="4020470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Technology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Built on our proven MonoGame/C# 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engine, fully optimized for PC &amp; 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consoles.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Playable prototype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Simple core gameplay loop including procedural generation, basic combat, and our custom lighting system.</a:t>
            </a:r>
          </a:p>
        </p:txBody>
      </p:sp>
      <p:sp>
        <p:nvSpPr>
          <p:cNvPr id="7" name="Google Shape;1000;p37">
            <a:extLst>
              <a:ext uri="{FF2B5EF4-FFF2-40B4-BE49-F238E27FC236}">
                <a16:creationId xmlns:a16="http://schemas.microsoft.com/office/drawing/2014/main" id="{19CEF1D5-BDC4-62B3-4FF0-DA57B9D7DAE1}"/>
              </a:ext>
            </a:extLst>
          </p:cNvPr>
          <p:cNvSpPr txBox="1">
            <a:spLocks/>
          </p:cNvSpPr>
          <p:nvPr/>
        </p:nvSpPr>
        <p:spPr>
          <a:xfrm>
            <a:off x="4960138" y="1079710"/>
            <a:ext cx="3654816" cy="526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Art direction established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Pixel art style defined.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Tone &amp; humor tested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Prototype already showcases the comedy + horror mix.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Ready to scale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With the base systems stable, next step is expanding into full adventure content.</a:t>
            </a:r>
          </a:p>
        </p:txBody>
      </p:sp>
      <p:sp>
        <p:nvSpPr>
          <p:cNvPr id="9" name="Google Shape;999;p37">
            <a:extLst>
              <a:ext uri="{FF2B5EF4-FFF2-40B4-BE49-F238E27FC236}">
                <a16:creationId xmlns:a16="http://schemas.microsoft.com/office/drawing/2014/main" id="{AF682735-BDDF-12FF-4636-9FE8E6DEDB2A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Current Status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908F874C-A76B-3EC9-7CAF-545BFE380E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0" name="Picture 9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AE43CDBC-F02F-38AD-2DE1-3D949F93AE7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830924" y="3575166"/>
            <a:ext cx="1257300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06778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36A86AC5-F113-3FE1-F4B1-30BA556D2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video game screen with a gate and buildings">
            <a:extLst>
              <a:ext uri="{FF2B5EF4-FFF2-40B4-BE49-F238E27FC236}">
                <a16:creationId xmlns:a16="http://schemas.microsoft.com/office/drawing/2014/main" id="{09202AF3-ADE5-DB2F-E0A7-C2BD9B511CD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AA063CD-4D2E-8BC6-45A7-88F34494330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53539" y="1030831"/>
            <a:ext cx="3671123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Funding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To produce the full adventure.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Procedural Content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Creation of creatures, bosses, hundreds of items, narrative events and Under-Ride stages.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Audio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Audio – soundtrack &amp; SFX production.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FD809C86-5746-E53D-31F2-04E70B49972C}"/>
              </a:ext>
            </a:extLst>
          </p:cNvPr>
          <p:cNvSpPr txBox="1">
            <a:spLocks/>
          </p:cNvSpPr>
          <p:nvPr/>
        </p:nvSpPr>
        <p:spPr>
          <a:xfrm>
            <a:off x="4740089" y="1029694"/>
            <a:ext cx="3750372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Localization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Professional localization to reach a wider audience.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Ports (External)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Console versions to be handled by an external partner or publisher.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Marketing Assets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Trailers, key art, and promotional materials.</a:t>
            </a:r>
          </a:p>
        </p:txBody>
      </p:sp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B275CBDA-DB79-668B-D3D1-EBDA73B0DE20}"/>
              </a:ext>
            </a:extLst>
          </p:cNvPr>
          <p:cNvSpPr txBox="1">
            <a:spLocks/>
          </p:cNvSpPr>
          <p:nvPr/>
        </p:nvSpPr>
        <p:spPr>
          <a:xfrm>
            <a:off x="1289154" y="274276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Needs</a:t>
            </a:r>
          </a:p>
        </p:txBody>
      </p:sp>
      <p:pic>
        <p:nvPicPr>
          <p:cNvPr id="2" name="Picture 1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1CEF86FA-FB80-2E8D-A1CF-A3B52EAB28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5" name="Picture 4" descr="A pixelated image of a person's face&#10;&#10;AI-generated content may be incorrect.">
            <a:extLst>
              <a:ext uri="{FF2B5EF4-FFF2-40B4-BE49-F238E27FC236}">
                <a16:creationId xmlns:a16="http://schemas.microsoft.com/office/drawing/2014/main" id="{71693FFB-ADE4-3EBC-B6CD-5BB70BBBAA2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502526" y="4316743"/>
            <a:ext cx="914400" cy="514350"/>
          </a:xfrm>
          <a:prstGeom prst="rect">
            <a:avLst/>
          </a:prstGeom>
        </p:spPr>
      </p:pic>
      <p:pic>
        <p:nvPicPr>
          <p:cNvPr id="8" name="Picture 7" descr="A pixelated image of a person's face&#10;&#10;AI-generated content may be incorrect.">
            <a:extLst>
              <a:ext uri="{FF2B5EF4-FFF2-40B4-BE49-F238E27FC236}">
                <a16:creationId xmlns:a16="http://schemas.microsoft.com/office/drawing/2014/main" id="{A08857F8-BD63-FA8D-214F-E2427BEA4AC2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</a:blip>
          <a:stretch>
            <a:fillRect/>
          </a:stretch>
        </p:blipFill>
        <p:spPr>
          <a:xfrm flipH="1">
            <a:off x="6288373" y="4049899"/>
            <a:ext cx="839449" cy="425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97355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84FA0D57-4FED-6D68-B23C-04A721D1D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xel art of a building">
            <a:extLst>
              <a:ext uri="{FF2B5EF4-FFF2-40B4-BE49-F238E27FC236}">
                <a16:creationId xmlns:a16="http://schemas.microsoft.com/office/drawing/2014/main" id="{A2527C92-4C52-C5DA-682B-0103D81FA3D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A8D6F54E-62B3-B106-ECAB-706E807DFDE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2067096" y="914518"/>
            <a:ext cx="5459510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Development time:</a:t>
            </a:r>
            <a:r>
              <a:rPr lang="en-US" sz="10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14 months</a:t>
            </a:r>
          </a:p>
          <a:p>
            <a:pPr marL="285750" indent="-2857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Budget:</a:t>
            </a:r>
            <a:r>
              <a:rPr lang="en-US" sz="10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230k USD (*)</a:t>
            </a:r>
          </a:p>
          <a:p>
            <a:pPr marL="285750" indent="-2857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Core team: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 Lead Designers Programmer, Narrative Writer, Background Artist, 2D Animator, Composer.</a:t>
            </a:r>
          </a:p>
          <a:p>
            <a:pPr marL="285750" indent="-2857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B077C8FF-47C0-25E2-4134-3456BD44E543}"/>
              </a:ext>
            </a:extLst>
          </p:cNvPr>
          <p:cNvSpPr txBox="1">
            <a:spLocks/>
          </p:cNvSpPr>
          <p:nvPr/>
        </p:nvSpPr>
        <p:spPr>
          <a:xfrm>
            <a:off x="2168911" y="4340822"/>
            <a:ext cx="4806177" cy="6595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buClr>
                <a:srgbClr val="8F4D57"/>
              </a:buClr>
              <a:buSzPts val="1100"/>
            </a:pPr>
            <a:endParaRPr lang="en-US" sz="900" dirty="0">
              <a:solidFill>
                <a:schemeClr val="bg1">
                  <a:lumMod val="50000"/>
                </a:schemeClr>
              </a:solidFill>
              <a:effectLst>
                <a:glow rad="1397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buClr>
                <a:srgbClr val="8F4D57"/>
              </a:buClr>
              <a:buSzPts val="1100"/>
            </a:pPr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(*) Does not include trailer production, localization and console porting.</a:t>
            </a:r>
          </a:p>
        </p:txBody>
      </p:sp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2236D66A-9C1B-969E-0CB7-A2CA3D5CD4A0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Production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3F7F2326-3B82-0B59-0457-9CD7A3AFF8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5" name="Google Shape;1000;p37">
            <a:extLst>
              <a:ext uri="{FF2B5EF4-FFF2-40B4-BE49-F238E27FC236}">
                <a16:creationId xmlns:a16="http://schemas.microsoft.com/office/drawing/2014/main" id="{0EA81D93-A2BF-0832-935F-0A717E36252A}"/>
              </a:ext>
            </a:extLst>
          </p:cNvPr>
          <p:cNvSpPr txBox="1">
            <a:spLocks/>
          </p:cNvSpPr>
          <p:nvPr/>
        </p:nvSpPr>
        <p:spPr>
          <a:xfrm>
            <a:off x="1044126" y="2296901"/>
            <a:ext cx="7505450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Content scope:</a:t>
            </a:r>
            <a:b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richly handcrafted adventure featuring around a dozen unique bosses, several dozen creatures, hundreds of items, and multiple Under-Ride biomes, story arcs, and captive celebrities — all procedurally assembled to ensure strong replayability (20–30 hours) and scalable content production.</a:t>
            </a:r>
          </a:p>
        </p:txBody>
      </p:sp>
    </p:spTree>
    <p:extLst>
      <p:ext uri="{BB962C8B-B14F-4D97-AF65-F5344CB8AC3E}">
        <p14:creationId xmlns:p14="http://schemas.microsoft.com/office/powerpoint/2010/main" val="33327391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96DB6AC6-AD3B-C709-6996-1F000F84C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xel art of a building">
            <a:extLst>
              <a:ext uri="{FF2B5EF4-FFF2-40B4-BE49-F238E27FC236}">
                <a16:creationId xmlns:a16="http://schemas.microsoft.com/office/drawing/2014/main" id="{521D29B5-C7F6-1F20-1200-9DDB9CBF462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EB2E0ECE-E3C6-0307-BDD0-041A9A6115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5" name="Google Shape;999;p37">
            <a:extLst>
              <a:ext uri="{FF2B5EF4-FFF2-40B4-BE49-F238E27FC236}">
                <a16:creationId xmlns:a16="http://schemas.microsoft.com/office/drawing/2014/main" id="{052E82F6-CC2E-9851-4B04-145BE01BA385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Future Potential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4FE932DA-096D-E842-1AB1-CB0B8695D228}"/>
              </a:ext>
            </a:extLst>
          </p:cNvPr>
          <p:cNvSpPr txBox="1">
            <a:spLocks/>
          </p:cNvSpPr>
          <p:nvPr/>
        </p:nvSpPr>
        <p:spPr>
          <a:xfrm>
            <a:off x="1703814" y="981005"/>
            <a:ext cx="5826313" cy="1774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The procedural architecture and Under-Ride structure allow the game to expand indefinitely.</a:t>
            </a:r>
            <a:b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</a:b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New biomes, enemies, characters, items, and story arcs can be added as post-launch content or DLCs.</a:t>
            </a:r>
            <a:b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</a:b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The modular design enables cost-efficient updates and multiple sales cycles over time.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</p:txBody>
      </p:sp>
      <p:pic>
        <p:nvPicPr>
          <p:cNvPr id="2" name="Picture 1" descr="A pixelated red and black object&#10;&#10;AI-generated content may be incorrect.">
            <a:extLst>
              <a:ext uri="{FF2B5EF4-FFF2-40B4-BE49-F238E27FC236}">
                <a16:creationId xmlns:a16="http://schemas.microsoft.com/office/drawing/2014/main" id="{B57A6D10-C620-52BE-600A-C9F16DF70B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37615" y="3729147"/>
            <a:ext cx="2862470" cy="111318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2D859C4-8368-588E-720E-A72CF71FE66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5782" y="981005"/>
            <a:ext cx="685800" cy="4572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A23DAE3-A901-AEAA-51E2-3DCFB64C825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7053896" y="330179"/>
            <a:ext cx="77097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0546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hlinkClick r:id="rId2"/>
            <a:extLst>
              <a:ext uri="{FF2B5EF4-FFF2-40B4-BE49-F238E27FC236}">
                <a16:creationId xmlns:a16="http://schemas.microsoft.com/office/drawing/2014/main" id="{4EE37A1B-0844-B835-01EE-E3866ED0D1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003" y="1277484"/>
            <a:ext cx="2782856" cy="150448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7F5A200B-19FA-BC96-10A2-0CB1C9FCA0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965" y="2776894"/>
            <a:ext cx="2670932" cy="603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hlinkClick r:id="rId5"/>
            <a:extLst>
              <a:ext uri="{FF2B5EF4-FFF2-40B4-BE49-F238E27FC236}">
                <a16:creationId xmlns:a16="http://schemas.microsoft.com/office/drawing/2014/main" id="{F5ECA793-C0AA-9C78-EC1D-C21FF9E5D0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2717" y="1272412"/>
            <a:ext cx="2782856" cy="150448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E079C4FF-36E5-5645-D3A8-3EFD476B17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7419" y="2776894"/>
            <a:ext cx="2685408" cy="959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hlinkClick r:id="rId8"/>
            <a:extLst>
              <a:ext uri="{FF2B5EF4-FFF2-40B4-BE49-F238E27FC236}">
                <a16:creationId xmlns:a16="http://schemas.microsoft.com/office/drawing/2014/main" id="{6EC53590-1EC8-46ED-2532-C64EFC9107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/>
          <a:srcRect l="3782" r="3782"/>
          <a:stretch/>
        </p:blipFill>
        <p:spPr bwMode="auto">
          <a:xfrm>
            <a:off x="6204387" y="1272412"/>
            <a:ext cx="2576062" cy="1509554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5A96646F-D576-B767-2AA6-70467D7FE3A8}"/>
              </a:ext>
            </a:extLst>
          </p:cNvPr>
          <p:cNvSpPr txBox="1">
            <a:spLocks/>
          </p:cNvSpPr>
          <p:nvPr/>
        </p:nvSpPr>
        <p:spPr>
          <a:xfrm>
            <a:off x="1364103" y="295581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Our Games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721B1A-A151-8774-332A-0FC6BDD6CFD0}"/>
              </a:ext>
            </a:extLst>
          </p:cNvPr>
          <p:cNvSpPr txBox="1"/>
          <p:nvPr/>
        </p:nvSpPr>
        <p:spPr>
          <a:xfrm>
            <a:off x="1335617" y="1026191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AB5130"/>
                </a:solidFill>
                <a:latin typeface="Press Start 2P" panose="00000500000000000000" pitchFamily="2" charset="0"/>
              </a:rPr>
              <a:t>2020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D4F8DC-E5F6-BE04-F02C-762226847025}"/>
              </a:ext>
            </a:extLst>
          </p:cNvPr>
          <p:cNvSpPr txBox="1"/>
          <p:nvPr/>
        </p:nvSpPr>
        <p:spPr>
          <a:xfrm>
            <a:off x="4236634" y="1026190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AB5130"/>
                </a:solidFill>
                <a:latin typeface="Press Start 2P" panose="00000500000000000000" pitchFamily="2" charset="0"/>
              </a:rPr>
              <a:t>2023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15D1CA-B8C1-15AC-836B-47AF04BB5640}"/>
              </a:ext>
            </a:extLst>
          </p:cNvPr>
          <p:cNvSpPr txBox="1"/>
          <p:nvPr/>
        </p:nvSpPr>
        <p:spPr>
          <a:xfrm>
            <a:off x="7235046" y="1026190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AB5130"/>
                </a:solidFill>
                <a:latin typeface="Press Start 2P" panose="00000500000000000000" pitchFamily="2" charset="0"/>
              </a:rPr>
              <a:t>2025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A5C56A-74D6-047C-12D8-E79197F5082D}"/>
              </a:ext>
            </a:extLst>
          </p:cNvPr>
          <p:cNvSpPr txBox="1"/>
          <p:nvPr/>
        </p:nvSpPr>
        <p:spPr>
          <a:xfrm>
            <a:off x="1799334" y="4478587"/>
            <a:ext cx="56427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Shipped on PC and major consoles, award-winning for creativity and originality.</a:t>
            </a:r>
          </a:p>
        </p:txBody>
      </p:sp>
    </p:spTree>
    <p:extLst>
      <p:ext uri="{BB962C8B-B14F-4D97-AF65-F5344CB8AC3E}">
        <p14:creationId xmlns:p14="http://schemas.microsoft.com/office/powerpoint/2010/main" val="26840617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2C8D7569-5C51-B680-59E6-28E308016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3D66167E-39B7-42B9-5AB8-EC778F55CBC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241490" y="1946241"/>
            <a:ext cx="2288116" cy="40029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1" indent="0">
              <a:buClr>
                <a:srgbClr val="8F4D57"/>
              </a:buClr>
              <a:buSzPts val="1100"/>
            </a:pPr>
            <a:r>
              <a:rPr lang="en-US" sz="12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Thanks!</a:t>
            </a:r>
          </a:p>
        </p:txBody>
      </p:sp>
      <p:pic>
        <p:nvPicPr>
          <p:cNvPr id="4" name="Picture 3" descr="A yellow and black logo&#10;&#10;AI-generated content may be incorrect.">
            <a:hlinkClick r:id="rId3"/>
            <a:extLst>
              <a:ext uri="{FF2B5EF4-FFF2-40B4-BE49-F238E27FC236}">
                <a16:creationId xmlns:a16="http://schemas.microsoft.com/office/drawing/2014/main" id="{1C37E350-5E37-7DF8-8F33-CC092C1573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0973" y="307539"/>
            <a:ext cx="2582052" cy="166337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9D1E934B-613C-2E14-6E91-49245FEB845B}"/>
              </a:ext>
            </a:extLst>
          </p:cNvPr>
          <p:cNvSpPr txBox="1">
            <a:spLocks/>
          </p:cNvSpPr>
          <p:nvPr/>
        </p:nvSpPr>
        <p:spPr>
          <a:xfrm>
            <a:off x="2390552" y="4484913"/>
            <a:ext cx="3989992" cy="400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457200" lvl="1" indent="0">
              <a:buClr>
                <a:srgbClr val="8F4D57"/>
              </a:buClr>
              <a:buSzPts val="1100"/>
            </a:pPr>
            <a:r>
              <a:rPr lang="en-US" sz="8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Contact: diego@indiesruption.com</a:t>
            </a:r>
            <a:endParaRPr lang="en-US" sz="800" dirty="0">
              <a:solidFill>
                <a:srgbClr val="F6CA15"/>
              </a:solidFill>
              <a:latin typeface="Press Start 2P" panose="00000500000000000000" pitchFamily="2" charset="0"/>
            </a:endParaRPr>
          </a:p>
        </p:txBody>
      </p:sp>
      <p:pic>
        <p:nvPicPr>
          <p:cNvPr id="1026" name="Picture 2" descr="BITBANG | Conocé al Jurado de Videojuegos 2022">
            <a:hlinkClick r:id="rId5"/>
            <a:extLst>
              <a:ext uri="{FF2B5EF4-FFF2-40B4-BE49-F238E27FC236}">
                <a16:creationId xmlns:a16="http://schemas.microsoft.com/office/drawing/2014/main" id="{4A663F81-F70C-0353-F4B4-154EFAB752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30839" y="2557504"/>
            <a:ext cx="802960" cy="802960"/>
          </a:xfrm>
          <a:prstGeom prst="rect">
            <a:avLst/>
          </a:prstGeom>
          <a:noFill/>
          <a:ln w="19050">
            <a:solidFill>
              <a:srgbClr val="F6CA1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BITBANG | Conocé al Jurado de Videojuegos 2022">
            <a:hlinkClick r:id="rId7"/>
            <a:extLst>
              <a:ext uri="{FF2B5EF4-FFF2-40B4-BE49-F238E27FC236}">
                <a16:creationId xmlns:a16="http://schemas.microsoft.com/office/drawing/2014/main" id="{C7FF3FAD-54A0-77D9-B3A8-BB22C8AB46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70520" y="2557503"/>
            <a:ext cx="802960" cy="802960"/>
          </a:xfrm>
          <a:prstGeom prst="rect">
            <a:avLst/>
          </a:prstGeom>
          <a:noFill/>
          <a:ln w="19050">
            <a:solidFill>
              <a:srgbClr val="F6CA1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Durgan A. Nallar 🎲 - Escuela de Game ...">
            <a:hlinkClick r:id="rId9"/>
            <a:extLst>
              <a:ext uri="{FF2B5EF4-FFF2-40B4-BE49-F238E27FC236}">
                <a16:creationId xmlns:a16="http://schemas.microsoft.com/office/drawing/2014/main" id="{1800DAD1-03A3-67E5-DE6D-4E125651B6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10201" y="2557504"/>
            <a:ext cx="802959" cy="802959"/>
          </a:xfrm>
          <a:prstGeom prst="rect">
            <a:avLst/>
          </a:prstGeom>
          <a:noFill/>
          <a:ln w="19050">
            <a:solidFill>
              <a:srgbClr val="F6CA1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99D06E37-DAD2-26D2-9E12-52ECA2CCAF00}"/>
              </a:ext>
            </a:extLst>
          </p:cNvPr>
          <p:cNvSpPr txBox="1">
            <a:spLocks/>
          </p:cNvSpPr>
          <p:nvPr/>
        </p:nvSpPr>
        <p:spPr>
          <a:xfrm>
            <a:off x="2356391" y="3399818"/>
            <a:ext cx="1551855" cy="6959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Diego Cánepa</a:t>
            </a:r>
          </a:p>
          <a:p>
            <a:pPr marL="0" indent="0" algn="ctr">
              <a:lnSpc>
                <a:spcPct val="10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Founder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 Programmer</a:t>
            </a:r>
          </a:p>
        </p:txBody>
      </p:sp>
      <p:sp>
        <p:nvSpPr>
          <p:cNvPr id="9" name="Google Shape;1000;p37">
            <a:extLst>
              <a:ext uri="{FF2B5EF4-FFF2-40B4-BE49-F238E27FC236}">
                <a16:creationId xmlns:a16="http://schemas.microsoft.com/office/drawing/2014/main" id="{A5F3AC40-DE36-50F1-275A-042F7E3AECE2}"/>
              </a:ext>
            </a:extLst>
          </p:cNvPr>
          <p:cNvSpPr txBox="1">
            <a:spLocks/>
          </p:cNvSpPr>
          <p:nvPr/>
        </p:nvSpPr>
        <p:spPr>
          <a:xfrm>
            <a:off x="3908138" y="3399818"/>
            <a:ext cx="1329245" cy="337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Pablo Mamone</a:t>
            </a:r>
            <a:b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Project Manager</a:t>
            </a:r>
          </a:p>
        </p:txBody>
      </p:sp>
      <p:sp>
        <p:nvSpPr>
          <p:cNvPr id="10" name="Google Shape;1000;p37">
            <a:extLst>
              <a:ext uri="{FF2B5EF4-FFF2-40B4-BE49-F238E27FC236}">
                <a16:creationId xmlns:a16="http://schemas.microsoft.com/office/drawing/2014/main" id="{FB2C3E88-15B8-E8A9-33BF-ED3C0D951639}"/>
              </a:ext>
            </a:extLst>
          </p:cNvPr>
          <p:cNvSpPr txBox="1">
            <a:spLocks/>
          </p:cNvSpPr>
          <p:nvPr/>
        </p:nvSpPr>
        <p:spPr>
          <a:xfrm>
            <a:off x="5235756" y="3398672"/>
            <a:ext cx="1622074" cy="474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Durgan Nallar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Game Designer</a:t>
            </a:r>
            <a:b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Narrative Designer</a:t>
            </a:r>
          </a:p>
        </p:txBody>
      </p:sp>
      <p:pic>
        <p:nvPicPr>
          <p:cNvPr id="7" name="Picture 6" descr="A pixelated blue square with white letters">
            <a:extLst>
              <a:ext uri="{FF2B5EF4-FFF2-40B4-BE49-F238E27FC236}">
                <a16:creationId xmlns:a16="http://schemas.microsoft.com/office/drawing/2014/main" id="{7337FE17-4928-293F-1ED9-D8621D7CE74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25954" y="3245085"/>
            <a:ext cx="163824" cy="163824"/>
          </a:xfrm>
          <a:prstGeom prst="rect">
            <a:avLst/>
          </a:prstGeom>
        </p:spPr>
      </p:pic>
      <p:pic>
        <p:nvPicPr>
          <p:cNvPr id="11" name="Picture 10" descr="A pixelated blue square with white letters">
            <a:extLst>
              <a:ext uri="{FF2B5EF4-FFF2-40B4-BE49-F238E27FC236}">
                <a16:creationId xmlns:a16="http://schemas.microsoft.com/office/drawing/2014/main" id="{E82CA1BC-7566-2E35-DBA1-BC638CF7F68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91568" y="3245085"/>
            <a:ext cx="163824" cy="163824"/>
          </a:xfrm>
          <a:prstGeom prst="rect">
            <a:avLst/>
          </a:prstGeom>
        </p:spPr>
      </p:pic>
      <p:pic>
        <p:nvPicPr>
          <p:cNvPr id="12" name="Picture 11" descr="A pixelated blue square with white letters">
            <a:extLst>
              <a:ext uri="{FF2B5EF4-FFF2-40B4-BE49-F238E27FC236}">
                <a16:creationId xmlns:a16="http://schemas.microsoft.com/office/drawing/2014/main" id="{84C4BD57-46E4-5A85-9EB1-E11DF5D2835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31248" y="3234848"/>
            <a:ext cx="163824" cy="16382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3BBEF9C-4610-6A66-CE93-0BCA6E411C45}"/>
              </a:ext>
            </a:extLst>
          </p:cNvPr>
          <p:cNvSpPr txBox="1"/>
          <p:nvPr/>
        </p:nvSpPr>
        <p:spPr>
          <a:xfrm>
            <a:off x="160437" y="153975"/>
            <a:ext cx="2971881" cy="6857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Veteran indie developers</a:t>
            </a:r>
            <a:b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30+ years of combined experience.</a:t>
            </a:r>
            <a:endParaRPr lang="en-US" sz="900" dirty="0"/>
          </a:p>
        </p:txBody>
      </p:sp>
      <p:pic>
        <p:nvPicPr>
          <p:cNvPr id="14" name="Picture 13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1429B171-F070-225A-6645-A09EB7F9A7A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 flipH="1">
            <a:off x="7317661" y="685417"/>
            <a:ext cx="741416" cy="98517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BBA75673-0B50-6F0B-7154-3F32894857F4}"/>
              </a:ext>
            </a:extLst>
          </p:cNvPr>
          <p:cNvSpPr txBox="1"/>
          <p:nvPr/>
        </p:nvSpPr>
        <p:spPr>
          <a:xfrm>
            <a:off x="6228283" y="131739"/>
            <a:ext cx="2755280" cy="5536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solidFill>
                  <a:srgbClr val="3B7D4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Celebrity found!</a:t>
            </a:r>
          </a:p>
          <a:p>
            <a:pPr algn="ctr">
              <a:lnSpc>
                <a:spcPct val="150000"/>
              </a:lnSpc>
            </a:pPr>
            <a:r>
              <a:rPr lang="en-US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Bill Doors</a:t>
            </a:r>
            <a:endParaRPr lang="en-US" dirty="0">
              <a:solidFill>
                <a:srgbClr val="AB513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7476586"/>
      </p:ext>
    </p:extLst>
  </p:cSld>
  <p:clrMapOvr>
    <a:masterClrMapping/>
  </p:clrMapOvr>
</p:sld>
</file>

<file path=ppt/theme/theme1.xml><?xml version="1.0" encoding="utf-8"?>
<a:theme xmlns:a="http://schemas.openxmlformats.org/drawingml/2006/main" name="Super Pixel Vintage Gaming by Slidesgo">
  <a:themeElements>
    <a:clrScheme name="Simple Light">
      <a:dk1>
        <a:srgbClr val="FFFF00"/>
      </a:dk1>
      <a:lt1>
        <a:srgbClr val="FFFFFF"/>
      </a:lt1>
      <a:dk2>
        <a:srgbClr val="0E2433"/>
      </a:dk2>
      <a:lt2>
        <a:srgbClr val="45B6FE"/>
      </a:lt2>
      <a:accent1>
        <a:srgbClr val="3792CB"/>
      </a:accent1>
      <a:accent2>
        <a:srgbClr val="296D98"/>
      </a:accent2>
      <a:accent3>
        <a:srgbClr val="1C4966"/>
      </a:accent3>
      <a:accent4>
        <a:srgbClr val="000000"/>
      </a:accent4>
      <a:accent5>
        <a:srgbClr val="0E2433"/>
      </a:accent5>
      <a:accent6>
        <a:srgbClr val="45B6FE"/>
      </a:accent6>
      <a:hlink>
        <a:srgbClr val="FFFF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4568</TotalTime>
  <Words>1000</Words>
  <Application>Microsoft Office PowerPoint</Application>
  <PresentationFormat>On-screen Show (16:9)</PresentationFormat>
  <Paragraphs>144</Paragraphs>
  <Slides>16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Press Start 2P</vt:lpstr>
      <vt:lpstr>Maven Pro</vt:lpstr>
      <vt:lpstr>Super Pixel Vintage Gaming by Slidesgo</vt:lpstr>
      <vt:lpstr>PowerPoint Presentation</vt:lpstr>
      <vt:lpstr>Overview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Diego Canepa</dc:creator>
  <cp:lastModifiedBy>Diego Canepa</cp:lastModifiedBy>
  <cp:revision>930</cp:revision>
  <dcterms:modified xsi:type="dcterms:W3CDTF">2025-11-01T23:49:05Z</dcterms:modified>
</cp:coreProperties>
</file>