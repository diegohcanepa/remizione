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Lst>
  <p:notesMasterIdLst>
    <p:notesMasterId r:id="rId19"/>
  </p:notesMasterIdLst>
  <p:sldIdLst>
    <p:sldId id="330" r:id="rId2"/>
    <p:sldId id="260" r:id="rId3"/>
    <p:sldId id="350" r:id="rId4"/>
    <p:sldId id="351" r:id="rId5"/>
    <p:sldId id="345" r:id="rId6"/>
    <p:sldId id="355" r:id="rId7"/>
    <p:sldId id="359" r:id="rId8"/>
    <p:sldId id="357" r:id="rId9"/>
    <p:sldId id="360" r:id="rId10"/>
    <p:sldId id="349" r:id="rId11"/>
    <p:sldId id="333" r:id="rId12"/>
    <p:sldId id="323" r:id="rId13"/>
    <p:sldId id="324" r:id="rId14"/>
    <p:sldId id="320" r:id="rId15"/>
    <p:sldId id="358" r:id="rId16"/>
    <p:sldId id="343" r:id="rId17"/>
    <p:sldId id="321" r:id="rId18"/>
  </p:sldIdLst>
  <p:sldSz cx="9144000" cy="5143500" type="screen16x9"/>
  <p:notesSz cx="6858000" cy="9144000"/>
  <p:embeddedFontLst>
    <p:embeddedFont>
      <p:font typeface="Maven Pro" panose="020B0604020202020204" charset="0"/>
      <p:regular r:id="rId20"/>
      <p:bold r:id="rId21"/>
    </p:embeddedFont>
    <p:embeddedFont>
      <p:font typeface="Press Start 2P" panose="00000500000000000000" pitchFamily="2" charset="0"/>
      <p:regular r:id="rId2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4D57"/>
    <a:srgbClr val="92293B"/>
    <a:srgbClr val="CC0000"/>
    <a:srgbClr val="800000"/>
    <a:srgbClr val="660033"/>
    <a:srgbClr val="AB5130"/>
    <a:srgbClr val="BD6A62"/>
    <a:srgbClr val="3B7D4F"/>
    <a:srgbClr val="FF2121"/>
    <a:srgbClr val="52333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7D3D775-E612-4A68-ABBB-C3B02DE864C1}">
  <a:tblStyle styleId="{67D3D775-E612-4A68-ABBB-C3B02DE864C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28" d="100"/>
          <a:sy n="128" d="100"/>
        </p:scale>
        <p:origin x="480" y="330"/>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4485840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p:cNvGrpSpPr/>
        <p:nvPr/>
      </p:nvGrpSpPr>
      <p:grpSpPr>
        <a:xfrm>
          <a:off x="0" y="0"/>
          <a:ext cx="0" cy="0"/>
          <a:chOff x="0" y="0"/>
          <a:chExt cx="0" cy="0"/>
        </a:xfrm>
      </p:grpSpPr>
      <p:sp>
        <p:nvSpPr>
          <p:cNvPr id="996" name="Google Shape;996;g6ed1d3ee59_0_100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780F424A-984B-8DE7-A098-1F34836D91B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835DCF18-8AFB-B827-9C96-C62B578BCB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56662914-27BE-EECE-904C-10C6EDE4F1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5562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933ADB03-200D-258B-C7C3-7908B842621D}"/>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88312192-2B63-1398-952D-E6EC0E2DBFE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02890061-A834-5D1E-5E63-02581E059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90594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0EAE9E16-E741-2AFC-528A-5D362D2279EC}"/>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E9823407-3371-B2D4-9D7A-A39E9B64048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AC167794-BB93-5CE2-C42A-813723003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115816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4187F902-DF7D-842C-4A79-8343FC74A74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30A0F839-F3B8-E88D-36F2-F51FF7A463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C3C806C-C97B-20DD-4960-1CFEDF3F2A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0285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BFD44D77-5B9D-6F28-C4D9-3E104C1D927C}"/>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BB50D407-7A4B-492D-FE81-A914EA310E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73DE1C2E-2ADA-AC79-2815-BED275C9AE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13315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9DD1AC29-AAD8-3BF1-6128-D7D32F35D6A7}"/>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38A8E7BC-C8A6-D3B5-2332-15BBB630ACC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A5569CFE-0103-6B4E-5AB0-7E5DBED15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26481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B5D4EEF1-22BC-8F2F-AF99-4A23D72729D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C64BAC3B-C235-B798-52ED-4DD4BA51BB3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33726753-B895-7379-2C40-2F22EE7459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020212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22717E27-6FB4-BC23-2466-5E75556A267C}"/>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A183FEBC-059D-AB63-AF33-EAD32DED9D5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23BBDD17-5A60-0D6A-F8AE-B4102593279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468807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074B9D20-03E9-9419-86F2-50EF17F4CE05}"/>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FAE5FF0C-BFBA-F92A-9C44-4B6A9AD6894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AB190A7B-7E94-3D7E-61E9-04A6B4738C8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3195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C7A66D30-EEBA-D26C-B7E5-02FA0B7542E8}"/>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2F2516FD-8C92-0365-481F-B95A12E707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DBD48D3-210D-84C6-D120-2FBA89D216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184297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4D07437F-E0EA-831F-F2B8-84F59181FE21}"/>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A074959D-9AA7-D270-552C-3D655A2FDB8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63C974D2-18E8-8BEA-6DD5-A55D55F870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9502484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ABBC480F-1BDD-CF52-A0AD-F5C925048E56}"/>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EB9373A4-F5BE-B7AC-B93F-CCF5D3E1AA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B19FCD1-F79A-3F1F-80A1-83C58A4979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412898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5">
          <a:extLst>
            <a:ext uri="{FF2B5EF4-FFF2-40B4-BE49-F238E27FC236}">
              <a16:creationId xmlns:a16="http://schemas.microsoft.com/office/drawing/2014/main" id="{80B67A76-22B9-84A6-E145-6E495BB36FEB}"/>
            </a:ext>
          </a:extLst>
        </p:cNvPr>
        <p:cNvGrpSpPr/>
        <p:nvPr/>
      </p:nvGrpSpPr>
      <p:grpSpPr>
        <a:xfrm>
          <a:off x="0" y="0"/>
          <a:ext cx="0" cy="0"/>
          <a:chOff x="0" y="0"/>
          <a:chExt cx="0" cy="0"/>
        </a:xfrm>
      </p:grpSpPr>
      <p:sp>
        <p:nvSpPr>
          <p:cNvPr id="996" name="Google Shape;996;g6ed1d3ee59_0_10084:notes">
            <a:extLst>
              <a:ext uri="{FF2B5EF4-FFF2-40B4-BE49-F238E27FC236}">
                <a16:creationId xmlns:a16="http://schemas.microsoft.com/office/drawing/2014/main" id="{B5890F23-F67E-1640-6079-4989FAB6A9D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7" name="Google Shape;997;g6ed1d3ee59_0_10084:notes">
            <a:extLst>
              <a:ext uri="{FF2B5EF4-FFF2-40B4-BE49-F238E27FC236}">
                <a16:creationId xmlns:a16="http://schemas.microsoft.com/office/drawing/2014/main" id="{1035D575-CF13-4A7B-2B86-7A49D158055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305755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2359753"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949468"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60"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057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180291"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77000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949468"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539183"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308360"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8981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6487821"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077537"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60"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57868"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847625"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1488"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01"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1020"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18078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769780"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53919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128903"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668171"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257900"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35686"/>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848631"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36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2"/>
          <p:cNvSpPr txBox="1">
            <a:spLocks noGrp="1"/>
          </p:cNvSpPr>
          <p:nvPr>
            <p:ph type="ctrTitle"/>
          </p:nvPr>
        </p:nvSpPr>
        <p:spPr>
          <a:xfrm>
            <a:off x="1841100" y="2279225"/>
            <a:ext cx="5461800" cy="948300"/>
          </a:xfrm>
          <a:prstGeom prst="rect">
            <a:avLst/>
          </a:prstGeom>
        </p:spPr>
        <p:txBody>
          <a:bodyPr spcFirstLastPara="1" wrap="square" lIns="91425" tIns="91425" rIns="91425" bIns="91425" anchor="ctr" anchorCtr="0">
            <a:noAutofit/>
          </a:bodyPr>
          <a:lstStyle>
            <a:lvl1pPr lvl="0" algn="ctr">
              <a:spcBef>
                <a:spcPts val="0"/>
              </a:spcBef>
              <a:spcAft>
                <a:spcPts val="0"/>
              </a:spcAft>
              <a:buSzPts val="5300"/>
              <a:buNone/>
              <a:defRPr sz="3500">
                <a:solidFill>
                  <a:srgbClr val="FFFFFF"/>
                </a:solidFill>
              </a:defRPr>
            </a:lvl1pPr>
            <a:lvl2pPr lvl="1" algn="ctr">
              <a:spcBef>
                <a:spcPts val="0"/>
              </a:spcBef>
              <a:spcAft>
                <a:spcPts val="0"/>
              </a:spcAft>
              <a:buSzPts val="5300"/>
              <a:buNone/>
              <a:defRPr sz="5300"/>
            </a:lvl2pPr>
            <a:lvl3pPr lvl="2" algn="ctr">
              <a:spcBef>
                <a:spcPts val="0"/>
              </a:spcBef>
              <a:spcAft>
                <a:spcPts val="0"/>
              </a:spcAft>
              <a:buSzPts val="5300"/>
              <a:buNone/>
              <a:defRPr sz="5300"/>
            </a:lvl3pPr>
            <a:lvl4pPr lvl="3" algn="ctr">
              <a:spcBef>
                <a:spcPts val="0"/>
              </a:spcBef>
              <a:spcAft>
                <a:spcPts val="0"/>
              </a:spcAft>
              <a:buSzPts val="5300"/>
              <a:buNone/>
              <a:defRPr sz="5300"/>
            </a:lvl4pPr>
            <a:lvl5pPr lvl="4" algn="ctr">
              <a:spcBef>
                <a:spcPts val="0"/>
              </a:spcBef>
              <a:spcAft>
                <a:spcPts val="0"/>
              </a:spcAft>
              <a:buSzPts val="5300"/>
              <a:buNone/>
              <a:defRPr sz="5300"/>
            </a:lvl5pPr>
            <a:lvl6pPr lvl="5" algn="ctr">
              <a:spcBef>
                <a:spcPts val="0"/>
              </a:spcBef>
              <a:spcAft>
                <a:spcPts val="0"/>
              </a:spcAft>
              <a:buSzPts val="5300"/>
              <a:buNone/>
              <a:defRPr sz="5300"/>
            </a:lvl6pPr>
            <a:lvl7pPr lvl="6" algn="ctr">
              <a:spcBef>
                <a:spcPts val="0"/>
              </a:spcBef>
              <a:spcAft>
                <a:spcPts val="0"/>
              </a:spcAft>
              <a:buSzPts val="5300"/>
              <a:buNone/>
              <a:defRPr sz="5300"/>
            </a:lvl7pPr>
            <a:lvl8pPr lvl="7" algn="ctr">
              <a:spcBef>
                <a:spcPts val="0"/>
              </a:spcBef>
              <a:spcAft>
                <a:spcPts val="0"/>
              </a:spcAft>
              <a:buSzPts val="5300"/>
              <a:buNone/>
              <a:defRPr sz="5300"/>
            </a:lvl8pPr>
            <a:lvl9pPr lvl="8" algn="ctr">
              <a:spcBef>
                <a:spcPts val="0"/>
              </a:spcBef>
              <a:spcAft>
                <a:spcPts val="0"/>
              </a:spcAft>
              <a:buSzPts val="5300"/>
              <a:buNone/>
              <a:defRPr sz="5300"/>
            </a:lvl9pPr>
          </a:lstStyle>
          <a:p>
            <a:endParaRPr/>
          </a:p>
        </p:txBody>
      </p:sp>
      <p:sp>
        <p:nvSpPr>
          <p:cNvPr id="55" name="Google Shape;55;p2"/>
          <p:cNvSpPr txBox="1">
            <a:spLocks noGrp="1"/>
          </p:cNvSpPr>
          <p:nvPr>
            <p:ph type="subTitle" idx="1"/>
          </p:nvPr>
        </p:nvSpPr>
        <p:spPr>
          <a:xfrm>
            <a:off x="2358950" y="3281500"/>
            <a:ext cx="4283100" cy="525000"/>
          </a:xfrm>
          <a:prstGeom prst="rect">
            <a:avLst/>
          </a:prstGeom>
        </p:spPr>
        <p:txBody>
          <a:bodyPr spcFirstLastPara="1" wrap="square" lIns="91425" tIns="91425" rIns="91425" bIns="91425" anchor="ctr" anchorCtr="0">
            <a:noAutofit/>
          </a:bodyPr>
          <a:lstStyle>
            <a:lvl1pPr lvl="0" algn="ctr">
              <a:lnSpc>
                <a:spcPct val="100000"/>
              </a:lnSpc>
              <a:spcBef>
                <a:spcPts val="0"/>
              </a:spcBef>
              <a:spcAft>
                <a:spcPts val="0"/>
              </a:spcAft>
              <a:buSzPts val="2800"/>
              <a:buNone/>
              <a:defRPr sz="18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6" name="Google Shape;56;p2"/>
          <p:cNvSpPr txBox="1">
            <a:spLocks noGrp="1"/>
          </p:cNvSpPr>
          <p:nvPr>
            <p:ph type="ctrTitle" idx="2"/>
          </p:nvPr>
        </p:nvSpPr>
        <p:spPr>
          <a:xfrm>
            <a:off x="713100" y="1323175"/>
            <a:ext cx="7717800" cy="732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5300"/>
              <a:buNone/>
              <a:defRPr sz="4300"/>
            </a:lvl1pPr>
            <a:lvl2pPr lvl="1" algn="ctr" rtl="0">
              <a:spcBef>
                <a:spcPts val="0"/>
              </a:spcBef>
              <a:spcAft>
                <a:spcPts val="0"/>
              </a:spcAft>
              <a:buSzPts val="5300"/>
              <a:buNone/>
              <a:defRPr sz="5300"/>
            </a:lvl2pPr>
            <a:lvl3pPr lvl="2" algn="ctr" rtl="0">
              <a:spcBef>
                <a:spcPts val="0"/>
              </a:spcBef>
              <a:spcAft>
                <a:spcPts val="0"/>
              </a:spcAft>
              <a:buSzPts val="5300"/>
              <a:buNone/>
              <a:defRPr sz="5300"/>
            </a:lvl3pPr>
            <a:lvl4pPr lvl="3" algn="ctr" rtl="0">
              <a:spcBef>
                <a:spcPts val="0"/>
              </a:spcBef>
              <a:spcAft>
                <a:spcPts val="0"/>
              </a:spcAft>
              <a:buSzPts val="5300"/>
              <a:buNone/>
              <a:defRPr sz="5300"/>
            </a:lvl4pPr>
            <a:lvl5pPr lvl="4" algn="ctr" rtl="0">
              <a:spcBef>
                <a:spcPts val="0"/>
              </a:spcBef>
              <a:spcAft>
                <a:spcPts val="0"/>
              </a:spcAft>
              <a:buSzPts val="5300"/>
              <a:buNone/>
              <a:defRPr sz="5300"/>
            </a:lvl5pPr>
            <a:lvl6pPr lvl="5" algn="ctr" rtl="0">
              <a:spcBef>
                <a:spcPts val="0"/>
              </a:spcBef>
              <a:spcAft>
                <a:spcPts val="0"/>
              </a:spcAft>
              <a:buSzPts val="5300"/>
              <a:buNone/>
              <a:defRPr sz="5300"/>
            </a:lvl6pPr>
            <a:lvl7pPr lvl="6" algn="ctr" rtl="0">
              <a:spcBef>
                <a:spcPts val="0"/>
              </a:spcBef>
              <a:spcAft>
                <a:spcPts val="0"/>
              </a:spcAft>
              <a:buSzPts val="5300"/>
              <a:buNone/>
              <a:defRPr sz="5300"/>
            </a:lvl7pPr>
            <a:lvl8pPr lvl="7" algn="ctr" rtl="0">
              <a:spcBef>
                <a:spcPts val="0"/>
              </a:spcBef>
              <a:spcAft>
                <a:spcPts val="0"/>
              </a:spcAft>
              <a:buSzPts val="5300"/>
              <a:buNone/>
              <a:defRPr sz="5300"/>
            </a:lvl8pPr>
            <a:lvl9pPr lvl="8" algn="ctr" rtl="0">
              <a:spcBef>
                <a:spcPts val="0"/>
              </a:spcBef>
              <a:spcAft>
                <a:spcPts val="0"/>
              </a:spcAft>
              <a:buSzPts val="5300"/>
              <a:buNone/>
              <a:defRPr sz="5300"/>
            </a:lvl9pPr>
          </a:lstStyle>
          <a:p>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preserve="1" userDrawn="1">
  <p:cSld name="Title only">
    <p:spTree>
      <p:nvGrpSpPr>
        <p:cNvPr id="1" name="Shape 8"/>
        <p:cNvGrpSpPr/>
        <p:nvPr/>
      </p:nvGrpSpPr>
      <p:grpSpPr>
        <a:xfrm>
          <a:off x="0" y="0"/>
          <a:ext cx="0" cy="0"/>
          <a:chOff x="0" y="0"/>
          <a:chExt cx="0" cy="0"/>
        </a:xfrm>
      </p:grpSpPr>
      <p:sp>
        <p:nvSpPr>
          <p:cNvPr id="9" name="Google Shape;9;p2"/>
          <p:cNvSpPr/>
          <p:nvPr/>
        </p:nvSpPr>
        <p:spPr>
          <a:xfrm>
            <a:off x="2359753"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p:nvPr/>
        </p:nvSpPr>
        <p:spPr>
          <a:xfrm>
            <a:off x="2949468" y="4842290"/>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5897255"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8257017"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860"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59057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1180291"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770006"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2949468"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3539183"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5308360"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2"/>
          <p:cNvSpPr/>
          <p:nvPr/>
        </p:nvSpPr>
        <p:spPr>
          <a:xfrm>
            <a:off x="58981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2"/>
          <p:cNvSpPr/>
          <p:nvPr/>
        </p:nvSpPr>
        <p:spPr>
          <a:xfrm>
            <a:off x="6487821"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077537" y="4239249"/>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860" y="363706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8257868" y="363727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8847625" y="4239877"/>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2"/>
          <p:cNvSpPr/>
          <p:nvPr/>
        </p:nvSpPr>
        <p:spPr>
          <a:xfrm>
            <a:off x="591488" y="36370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801"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91020"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2"/>
          <p:cNvSpPr/>
          <p:nvPr/>
        </p:nvSpPr>
        <p:spPr>
          <a:xfrm>
            <a:off x="118078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2"/>
          <p:cNvSpPr/>
          <p:nvPr/>
        </p:nvSpPr>
        <p:spPr>
          <a:xfrm>
            <a:off x="1769780"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353919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4128530"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2"/>
          <p:cNvSpPr/>
          <p:nvPr/>
        </p:nvSpPr>
        <p:spPr>
          <a:xfrm>
            <a:off x="4717807"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40;p2"/>
          <p:cNvSpPr/>
          <p:nvPr/>
        </p:nvSpPr>
        <p:spPr>
          <a:xfrm>
            <a:off x="5308000"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6486964"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7076686"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2"/>
          <p:cNvSpPr/>
          <p:nvPr/>
        </p:nvSpPr>
        <p:spPr>
          <a:xfrm>
            <a:off x="4128903" y="4239301"/>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2"/>
          <p:cNvSpPr/>
          <p:nvPr/>
        </p:nvSpPr>
        <p:spPr>
          <a:xfrm>
            <a:off x="7668171" y="4238203"/>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2"/>
          <p:cNvSpPr/>
          <p:nvPr/>
        </p:nvSpPr>
        <p:spPr>
          <a:xfrm>
            <a:off x="7666398" y="4840524"/>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2"/>
          <p:cNvSpPr/>
          <p:nvPr/>
        </p:nvSpPr>
        <p:spPr>
          <a:xfrm>
            <a:off x="8257900" y="4239459"/>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2"/>
          <p:cNvSpPr/>
          <p:nvPr/>
        </p:nvSpPr>
        <p:spPr>
          <a:xfrm>
            <a:off x="884858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2"/>
          <p:cNvSpPr/>
          <p:nvPr/>
        </p:nvSpPr>
        <p:spPr>
          <a:xfrm>
            <a:off x="8848631" y="363729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9;p2">
            <a:extLst>
              <a:ext uri="{FF2B5EF4-FFF2-40B4-BE49-F238E27FC236}">
                <a16:creationId xmlns:a16="http://schemas.microsoft.com/office/drawing/2014/main" id="{B74B651D-B17C-77C1-7A71-72E8190EF5C2}"/>
              </a:ext>
            </a:extLst>
          </p:cNvPr>
          <p:cNvSpPr/>
          <p:nvPr userDrawn="1"/>
        </p:nvSpPr>
        <p:spPr>
          <a:xfrm>
            <a:off x="2358747" y="604087"/>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 name="Google Shape;10;p2">
            <a:extLst>
              <a:ext uri="{FF2B5EF4-FFF2-40B4-BE49-F238E27FC236}">
                <a16:creationId xmlns:a16="http://schemas.microsoft.com/office/drawing/2014/main" id="{3435CFA5-74C7-AD14-88DC-40B1595375B8}"/>
              </a:ext>
            </a:extLst>
          </p:cNvPr>
          <p:cNvSpPr/>
          <p:nvPr userDrawn="1"/>
        </p:nvSpPr>
        <p:spPr>
          <a:xfrm>
            <a:off x="2948462" y="604087"/>
            <a:ext cx="295369" cy="301119"/>
          </a:xfrm>
          <a:custGeom>
            <a:avLst/>
            <a:gdLst/>
            <a:ahLst/>
            <a:cxnLst/>
            <a:rect l="l" t="t" r="r" b="b"/>
            <a:pathLst>
              <a:path w="9515" h="10548" extrusionOk="0">
                <a:moveTo>
                  <a:pt x="1" y="0"/>
                </a:moveTo>
                <a:lnTo>
                  <a:pt x="1"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1;p2">
            <a:extLst>
              <a:ext uri="{FF2B5EF4-FFF2-40B4-BE49-F238E27FC236}">
                <a16:creationId xmlns:a16="http://schemas.microsoft.com/office/drawing/2014/main" id="{0803F4CA-8D86-A4C4-B692-25D42C135A77}"/>
              </a:ext>
            </a:extLst>
          </p:cNvPr>
          <p:cNvSpPr/>
          <p:nvPr userDrawn="1"/>
        </p:nvSpPr>
        <p:spPr>
          <a:xfrm>
            <a:off x="5896249" y="60408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2;p2">
            <a:extLst>
              <a:ext uri="{FF2B5EF4-FFF2-40B4-BE49-F238E27FC236}">
                <a16:creationId xmlns:a16="http://schemas.microsoft.com/office/drawing/2014/main" id="{ECD4822F-7194-3A81-4434-79104FE737E6}"/>
              </a:ext>
            </a:extLst>
          </p:cNvPr>
          <p:cNvSpPr/>
          <p:nvPr userDrawn="1"/>
        </p:nvSpPr>
        <p:spPr>
          <a:xfrm>
            <a:off x="8256011" y="604298"/>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3;p2">
            <a:extLst>
              <a:ext uri="{FF2B5EF4-FFF2-40B4-BE49-F238E27FC236}">
                <a16:creationId xmlns:a16="http://schemas.microsoft.com/office/drawing/2014/main" id="{6402B80D-9BE5-0C99-CB10-EEEF944BD193}"/>
              </a:ext>
            </a:extLst>
          </p:cNvPr>
          <p:cNvSpPr/>
          <p:nvPr userDrawn="1"/>
        </p:nvSpPr>
        <p:spPr>
          <a:xfrm>
            <a:off x="-146" y="104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4;p2">
            <a:extLst>
              <a:ext uri="{FF2B5EF4-FFF2-40B4-BE49-F238E27FC236}">
                <a16:creationId xmlns:a16="http://schemas.microsoft.com/office/drawing/2014/main" id="{641F2603-8162-37F9-190B-9FC9FA614BD4}"/>
              </a:ext>
            </a:extLst>
          </p:cNvPr>
          <p:cNvSpPr/>
          <p:nvPr userDrawn="1"/>
        </p:nvSpPr>
        <p:spPr>
          <a:xfrm>
            <a:off x="589570" y="104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5;p2">
            <a:extLst>
              <a:ext uri="{FF2B5EF4-FFF2-40B4-BE49-F238E27FC236}">
                <a16:creationId xmlns:a16="http://schemas.microsoft.com/office/drawing/2014/main" id="{2A934EE3-D739-7928-4671-434B3EF00098}"/>
              </a:ext>
            </a:extLst>
          </p:cNvPr>
          <p:cNvSpPr/>
          <p:nvPr userDrawn="1"/>
        </p:nvSpPr>
        <p:spPr>
          <a:xfrm>
            <a:off x="1179285" y="104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6;p2">
            <a:extLst>
              <a:ext uri="{FF2B5EF4-FFF2-40B4-BE49-F238E27FC236}">
                <a16:creationId xmlns:a16="http://schemas.microsoft.com/office/drawing/2014/main" id="{9FA21B27-6F61-C00A-2BDB-ADCE7A4C9EDA}"/>
              </a:ext>
            </a:extLst>
          </p:cNvPr>
          <p:cNvSpPr/>
          <p:nvPr userDrawn="1"/>
        </p:nvSpPr>
        <p:spPr>
          <a:xfrm>
            <a:off x="1769000"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p2">
            <a:extLst>
              <a:ext uri="{FF2B5EF4-FFF2-40B4-BE49-F238E27FC236}">
                <a16:creationId xmlns:a16="http://schemas.microsoft.com/office/drawing/2014/main" id="{321A6377-A923-113C-3F04-32A14ACDA60D}"/>
              </a:ext>
            </a:extLst>
          </p:cNvPr>
          <p:cNvSpPr/>
          <p:nvPr userDrawn="1"/>
        </p:nvSpPr>
        <p:spPr>
          <a:xfrm>
            <a:off x="2948462" y="1046"/>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8;p2">
            <a:extLst>
              <a:ext uri="{FF2B5EF4-FFF2-40B4-BE49-F238E27FC236}">
                <a16:creationId xmlns:a16="http://schemas.microsoft.com/office/drawing/2014/main" id="{BD4DC746-5D3A-4CBD-6BF7-743A5CD81AFE}"/>
              </a:ext>
            </a:extLst>
          </p:cNvPr>
          <p:cNvSpPr/>
          <p:nvPr userDrawn="1"/>
        </p:nvSpPr>
        <p:spPr>
          <a:xfrm>
            <a:off x="3538177"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p2">
            <a:extLst>
              <a:ext uri="{FF2B5EF4-FFF2-40B4-BE49-F238E27FC236}">
                <a16:creationId xmlns:a16="http://schemas.microsoft.com/office/drawing/2014/main" id="{6A1A2A16-9CB1-39D0-F713-638C4A62A220}"/>
              </a:ext>
            </a:extLst>
          </p:cNvPr>
          <p:cNvSpPr/>
          <p:nvPr userDrawn="1"/>
        </p:nvSpPr>
        <p:spPr>
          <a:xfrm>
            <a:off x="5307354"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20;p2">
            <a:extLst>
              <a:ext uri="{FF2B5EF4-FFF2-40B4-BE49-F238E27FC236}">
                <a16:creationId xmlns:a16="http://schemas.microsoft.com/office/drawing/2014/main" id="{7ACC9AD9-5865-A0E9-AC52-4D33BD3690E4}"/>
              </a:ext>
            </a:extLst>
          </p:cNvPr>
          <p:cNvSpPr/>
          <p:nvPr userDrawn="1"/>
        </p:nvSpPr>
        <p:spPr>
          <a:xfrm>
            <a:off x="5897100" y="1046"/>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21;p2">
            <a:extLst>
              <a:ext uri="{FF2B5EF4-FFF2-40B4-BE49-F238E27FC236}">
                <a16:creationId xmlns:a16="http://schemas.microsoft.com/office/drawing/2014/main" id="{85053872-D365-5AD1-6905-3C4802BBB19F}"/>
              </a:ext>
            </a:extLst>
          </p:cNvPr>
          <p:cNvSpPr/>
          <p:nvPr userDrawn="1"/>
        </p:nvSpPr>
        <p:spPr>
          <a:xfrm>
            <a:off x="6486815" y="104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22;p2">
            <a:extLst>
              <a:ext uri="{FF2B5EF4-FFF2-40B4-BE49-F238E27FC236}">
                <a16:creationId xmlns:a16="http://schemas.microsoft.com/office/drawing/2014/main" id="{A1A26F75-7B15-DA54-4FBA-96641762CA2A}"/>
              </a:ext>
            </a:extLst>
          </p:cNvPr>
          <p:cNvSpPr/>
          <p:nvPr userDrawn="1"/>
        </p:nvSpPr>
        <p:spPr>
          <a:xfrm>
            <a:off x="7076531" y="1046"/>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23;p2">
            <a:extLst>
              <a:ext uri="{FF2B5EF4-FFF2-40B4-BE49-F238E27FC236}">
                <a16:creationId xmlns:a16="http://schemas.microsoft.com/office/drawing/2014/main" id="{A683E51D-E37C-7B0B-ECC6-F0DC037071C3}"/>
              </a:ext>
            </a:extLst>
          </p:cNvPr>
          <p:cNvSpPr/>
          <p:nvPr userDrawn="1"/>
        </p:nvSpPr>
        <p:spPr>
          <a:xfrm>
            <a:off x="-146" y="1214004"/>
            <a:ext cx="295338" cy="301119"/>
          </a:xfrm>
          <a:custGeom>
            <a:avLst/>
            <a:gdLst/>
            <a:ahLst/>
            <a:cxnLst/>
            <a:rect l="l" t="t" r="r" b="b"/>
            <a:pathLst>
              <a:path w="9514" h="10548" extrusionOk="0">
                <a:moveTo>
                  <a:pt x="0" y="1"/>
                </a:moveTo>
                <a:lnTo>
                  <a:pt x="0"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24;p2">
            <a:extLst>
              <a:ext uri="{FF2B5EF4-FFF2-40B4-BE49-F238E27FC236}">
                <a16:creationId xmlns:a16="http://schemas.microsoft.com/office/drawing/2014/main" id="{77BCE4B0-7A80-F235-966C-7335EAA88F60}"/>
              </a:ext>
            </a:extLst>
          </p:cNvPr>
          <p:cNvSpPr/>
          <p:nvPr userDrawn="1"/>
        </p:nvSpPr>
        <p:spPr>
          <a:xfrm>
            <a:off x="8256862" y="1214215"/>
            <a:ext cx="295369" cy="301119"/>
          </a:xfrm>
          <a:custGeom>
            <a:avLst/>
            <a:gdLst/>
            <a:ahLst/>
            <a:cxnLst/>
            <a:rect l="l" t="t" r="r" b="b"/>
            <a:pathLst>
              <a:path w="9515" h="10548" extrusionOk="0">
                <a:moveTo>
                  <a:pt x="0" y="1"/>
                </a:moveTo>
                <a:lnTo>
                  <a:pt x="0"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28;p2">
            <a:extLst>
              <a:ext uri="{FF2B5EF4-FFF2-40B4-BE49-F238E27FC236}">
                <a16:creationId xmlns:a16="http://schemas.microsoft.com/office/drawing/2014/main" id="{39B82EB9-DFC0-1D00-9D42-668A401A6143}"/>
              </a:ext>
            </a:extLst>
          </p:cNvPr>
          <p:cNvSpPr/>
          <p:nvPr userDrawn="1"/>
        </p:nvSpPr>
        <p:spPr>
          <a:xfrm>
            <a:off x="8846619" y="1674"/>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2;p2">
            <a:extLst>
              <a:ext uri="{FF2B5EF4-FFF2-40B4-BE49-F238E27FC236}">
                <a16:creationId xmlns:a16="http://schemas.microsoft.com/office/drawing/2014/main" id="{1F4981B9-479A-35D4-F980-DD023E99E00B}"/>
              </a:ext>
            </a:extLst>
          </p:cNvPr>
          <p:cNvSpPr/>
          <p:nvPr userDrawn="1"/>
        </p:nvSpPr>
        <p:spPr>
          <a:xfrm>
            <a:off x="590482" y="121399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33;p2">
            <a:extLst>
              <a:ext uri="{FF2B5EF4-FFF2-40B4-BE49-F238E27FC236}">
                <a16:creationId xmlns:a16="http://schemas.microsoft.com/office/drawing/2014/main" id="{5BCFF738-5FB7-2F4F-B5E8-355CFFA9885E}"/>
              </a:ext>
            </a:extLst>
          </p:cNvPr>
          <p:cNvSpPr/>
          <p:nvPr userDrawn="1"/>
        </p:nvSpPr>
        <p:spPr>
          <a:xfrm>
            <a:off x="-205" y="60407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34;p2">
            <a:extLst>
              <a:ext uri="{FF2B5EF4-FFF2-40B4-BE49-F238E27FC236}">
                <a16:creationId xmlns:a16="http://schemas.microsoft.com/office/drawing/2014/main" id="{DD5D31B2-5E33-A4DA-9843-5FCBCDB16C45}"/>
              </a:ext>
            </a:extLst>
          </p:cNvPr>
          <p:cNvSpPr/>
          <p:nvPr userDrawn="1"/>
        </p:nvSpPr>
        <p:spPr>
          <a:xfrm>
            <a:off x="590014" y="60404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35;p2">
            <a:extLst>
              <a:ext uri="{FF2B5EF4-FFF2-40B4-BE49-F238E27FC236}">
                <a16:creationId xmlns:a16="http://schemas.microsoft.com/office/drawing/2014/main" id="{F7585B2B-1137-EAD1-3FA3-F5B3E8D5EE2E}"/>
              </a:ext>
            </a:extLst>
          </p:cNvPr>
          <p:cNvSpPr/>
          <p:nvPr userDrawn="1"/>
        </p:nvSpPr>
        <p:spPr>
          <a:xfrm>
            <a:off x="1179776" y="60406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36;p2">
            <a:extLst>
              <a:ext uri="{FF2B5EF4-FFF2-40B4-BE49-F238E27FC236}">
                <a16:creationId xmlns:a16="http://schemas.microsoft.com/office/drawing/2014/main" id="{8D1873A8-56F7-9529-AF1C-E1C29F74ADFC}"/>
              </a:ext>
            </a:extLst>
          </p:cNvPr>
          <p:cNvSpPr/>
          <p:nvPr userDrawn="1"/>
        </p:nvSpPr>
        <p:spPr>
          <a:xfrm>
            <a:off x="1768774" y="602353"/>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7;p2">
            <a:extLst>
              <a:ext uri="{FF2B5EF4-FFF2-40B4-BE49-F238E27FC236}">
                <a16:creationId xmlns:a16="http://schemas.microsoft.com/office/drawing/2014/main" id="{EC8D4E83-5437-0F04-F993-5F8C5F6951E1}"/>
              </a:ext>
            </a:extLst>
          </p:cNvPr>
          <p:cNvSpPr/>
          <p:nvPr userDrawn="1"/>
        </p:nvSpPr>
        <p:spPr>
          <a:xfrm>
            <a:off x="3538190" y="60236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38;p2">
            <a:extLst>
              <a:ext uri="{FF2B5EF4-FFF2-40B4-BE49-F238E27FC236}">
                <a16:creationId xmlns:a16="http://schemas.microsoft.com/office/drawing/2014/main" id="{37EB1798-9C6D-53FA-9F90-61146E011FCD}"/>
              </a:ext>
            </a:extLst>
          </p:cNvPr>
          <p:cNvSpPr/>
          <p:nvPr userDrawn="1"/>
        </p:nvSpPr>
        <p:spPr>
          <a:xfrm>
            <a:off x="4127524" y="602348"/>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9;p2">
            <a:extLst>
              <a:ext uri="{FF2B5EF4-FFF2-40B4-BE49-F238E27FC236}">
                <a16:creationId xmlns:a16="http://schemas.microsoft.com/office/drawing/2014/main" id="{721237CB-3D42-1D0B-B98F-82AEDB6B74D6}"/>
              </a:ext>
            </a:extLst>
          </p:cNvPr>
          <p:cNvSpPr/>
          <p:nvPr userDrawn="1"/>
        </p:nvSpPr>
        <p:spPr>
          <a:xfrm>
            <a:off x="4716801" y="602362"/>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Google Shape;40;p2">
            <a:extLst>
              <a:ext uri="{FF2B5EF4-FFF2-40B4-BE49-F238E27FC236}">
                <a16:creationId xmlns:a16="http://schemas.microsoft.com/office/drawing/2014/main" id="{56A5222E-3CA7-90F1-4B86-CCA12686DBF1}"/>
              </a:ext>
            </a:extLst>
          </p:cNvPr>
          <p:cNvSpPr/>
          <p:nvPr userDrawn="1"/>
        </p:nvSpPr>
        <p:spPr>
          <a:xfrm>
            <a:off x="5306994" y="602348"/>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41;p2">
            <a:extLst>
              <a:ext uri="{FF2B5EF4-FFF2-40B4-BE49-F238E27FC236}">
                <a16:creationId xmlns:a16="http://schemas.microsoft.com/office/drawing/2014/main" id="{B4577FB3-C844-1A82-1314-FCF4EAFFB67D}"/>
              </a:ext>
            </a:extLst>
          </p:cNvPr>
          <p:cNvSpPr/>
          <p:nvPr userDrawn="1"/>
        </p:nvSpPr>
        <p:spPr>
          <a:xfrm>
            <a:off x="6485958" y="602362"/>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42;p2">
            <a:extLst>
              <a:ext uri="{FF2B5EF4-FFF2-40B4-BE49-F238E27FC236}">
                <a16:creationId xmlns:a16="http://schemas.microsoft.com/office/drawing/2014/main" id="{4705CF73-B28D-791F-8AF8-9D3112CFC4E7}"/>
              </a:ext>
            </a:extLst>
          </p:cNvPr>
          <p:cNvSpPr/>
          <p:nvPr userDrawn="1"/>
        </p:nvSpPr>
        <p:spPr>
          <a:xfrm>
            <a:off x="7075680" y="605973"/>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43;p2">
            <a:extLst>
              <a:ext uri="{FF2B5EF4-FFF2-40B4-BE49-F238E27FC236}">
                <a16:creationId xmlns:a16="http://schemas.microsoft.com/office/drawing/2014/main" id="{4AB2225D-E74B-1047-D9AD-0F6730FE6C57}"/>
              </a:ext>
            </a:extLst>
          </p:cNvPr>
          <p:cNvSpPr/>
          <p:nvPr userDrawn="1"/>
        </p:nvSpPr>
        <p:spPr>
          <a:xfrm>
            <a:off x="4127897" y="1098"/>
            <a:ext cx="295369" cy="301975"/>
          </a:xfrm>
          <a:custGeom>
            <a:avLst/>
            <a:gdLst/>
            <a:ahLst/>
            <a:cxnLst/>
            <a:rect l="l" t="t" r="r" b="b"/>
            <a:pathLst>
              <a:path w="9515" h="10578" extrusionOk="0">
                <a:moveTo>
                  <a:pt x="1" y="0"/>
                </a:moveTo>
                <a:lnTo>
                  <a:pt x="1" y="10578"/>
                </a:lnTo>
                <a:lnTo>
                  <a:pt x="9515" y="10578"/>
                </a:lnTo>
                <a:lnTo>
                  <a:pt x="9515"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44;p2">
            <a:extLst>
              <a:ext uri="{FF2B5EF4-FFF2-40B4-BE49-F238E27FC236}">
                <a16:creationId xmlns:a16="http://schemas.microsoft.com/office/drawing/2014/main" id="{FE5C4FDE-9F84-7013-4329-3E08E5FA1D5D}"/>
              </a:ext>
            </a:extLst>
          </p:cNvPr>
          <p:cNvSpPr/>
          <p:nvPr userDrawn="1"/>
        </p:nvSpPr>
        <p:spPr>
          <a:xfrm>
            <a:off x="7667165" y="0"/>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45;p2">
            <a:extLst>
              <a:ext uri="{FF2B5EF4-FFF2-40B4-BE49-F238E27FC236}">
                <a16:creationId xmlns:a16="http://schemas.microsoft.com/office/drawing/2014/main" id="{D0F50702-B225-8DD7-FD90-10AA50054A46}"/>
              </a:ext>
            </a:extLst>
          </p:cNvPr>
          <p:cNvSpPr/>
          <p:nvPr userDrawn="1"/>
        </p:nvSpPr>
        <p:spPr>
          <a:xfrm>
            <a:off x="7665392" y="602321"/>
            <a:ext cx="294438" cy="301119"/>
          </a:xfrm>
          <a:custGeom>
            <a:avLst/>
            <a:gdLst/>
            <a:ahLst/>
            <a:cxnLst/>
            <a:rect l="l" t="t" r="r" b="b"/>
            <a:pathLst>
              <a:path w="9485" h="10548" extrusionOk="0">
                <a:moveTo>
                  <a:pt x="1" y="0"/>
                </a:moveTo>
                <a:lnTo>
                  <a:pt x="1" y="10548"/>
                </a:lnTo>
                <a:lnTo>
                  <a:pt x="9484" y="10548"/>
                </a:lnTo>
                <a:lnTo>
                  <a:pt x="948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46;p2">
            <a:extLst>
              <a:ext uri="{FF2B5EF4-FFF2-40B4-BE49-F238E27FC236}">
                <a16:creationId xmlns:a16="http://schemas.microsoft.com/office/drawing/2014/main" id="{774551D7-1C49-B9B4-AEEB-D65EBF9649CB}"/>
              </a:ext>
            </a:extLst>
          </p:cNvPr>
          <p:cNvSpPr/>
          <p:nvPr userDrawn="1"/>
        </p:nvSpPr>
        <p:spPr>
          <a:xfrm>
            <a:off x="8256894" y="1256"/>
            <a:ext cx="294407" cy="301975"/>
          </a:xfrm>
          <a:custGeom>
            <a:avLst/>
            <a:gdLst/>
            <a:ahLst/>
            <a:cxnLst/>
            <a:rect l="l" t="t" r="r" b="b"/>
            <a:pathLst>
              <a:path w="9484" h="10578" extrusionOk="0">
                <a:moveTo>
                  <a:pt x="0" y="0"/>
                </a:moveTo>
                <a:lnTo>
                  <a:pt x="0" y="10578"/>
                </a:lnTo>
                <a:lnTo>
                  <a:pt x="9484" y="10578"/>
                </a:lnTo>
                <a:lnTo>
                  <a:pt x="9484" y="0"/>
                </a:lnTo>
                <a:close/>
              </a:path>
            </a:pathLst>
          </a:custGeom>
          <a:solidFill>
            <a:srgbClr val="AB5130">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Google Shape;47;p2">
            <a:extLst>
              <a:ext uri="{FF2B5EF4-FFF2-40B4-BE49-F238E27FC236}">
                <a16:creationId xmlns:a16="http://schemas.microsoft.com/office/drawing/2014/main" id="{950DCA13-2E04-C568-390B-ECC0E1375BE8}"/>
              </a:ext>
            </a:extLst>
          </p:cNvPr>
          <p:cNvSpPr/>
          <p:nvPr userDrawn="1"/>
        </p:nvSpPr>
        <p:spPr>
          <a:xfrm>
            <a:off x="8847574" y="60384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48;p2">
            <a:extLst>
              <a:ext uri="{FF2B5EF4-FFF2-40B4-BE49-F238E27FC236}">
                <a16:creationId xmlns:a16="http://schemas.microsoft.com/office/drawing/2014/main" id="{97F06346-710C-0EC0-BA2D-E5307F955D61}"/>
              </a:ext>
            </a:extLst>
          </p:cNvPr>
          <p:cNvSpPr/>
          <p:nvPr userDrawn="1"/>
        </p:nvSpPr>
        <p:spPr>
          <a:xfrm>
            <a:off x="8847625" y="1214231"/>
            <a:ext cx="295369" cy="301119"/>
          </a:xfrm>
          <a:custGeom>
            <a:avLst/>
            <a:gdLst/>
            <a:ahLst/>
            <a:cxnLst/>
            <a:rect l="l" t="t" r="r" b="b"/>
            <a:pathLst>
              <a:path w="9515" h="10548" extrusionOk="0">
                <a:moveTo>
                  <a:pt x="1" y="0"/>
                </a:moveTo>
                <a:lnTo>
                  <a:pt x="1" y="10548"/>
                </a:lnTo>
                <a:lnTo>
                  <a:pt x="9515" y="10548"/>
                </a:lnTo>
                <a:lnTo>
                  <a:pt x="9515"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21;p2">
            <a:extLst>
              <a:ext uri="{FF2B5EF4-FFF2-40B4-BE49-F238E27FC236}">
                <a16:creationId xmlns:a16="http://schemas.microsoft.com/office/drawing/2014/main" id="{04C9F06D-439A-4CC7-1865-2FBE902A9A75}"/>
              </a:ext>
            </a:extLst>
          </p:cNvPr>
          <p:cNvSpPr/>
          <p:nvPr userDrawn="1"/>
        </p:nvSpPr>
        <p:spPr>
          <a:xfrm>
            <a:off x="4714707" y="421763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88244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16"/>
        <p:cNvGrpSpPr/>
        <p:nvPr/>
      </p:nvGrpSpPr>
      <p:grpSpPr>
        <a:xfrm>
          <a:off x="0" y="0"/>
          <a:ext cx="0" cy="0"/>
          <a:chOff x="0" y="0"/>
          <a:chExt cx="0" cy="0"/>
        </a:xfrm>
      </p:grpSpPr>
      <p:sp>
        <p:nvSpPr>
          <p:cNvPr id="223" name="Google Shape;223;p9"/>
          <p:cNvSpPr/>
          <p:nvPr/>
        </p:nvSpPr>
        <p:spPr>
          <a:xfrm>
            <a:off x="587" y="4209314"/>
            <a:ext cx="228013" cy="233113"/>
          </a:xfrm>
          <a:custGeom>
            <a:avLst/>
            <a:gdLst/>
            <a:ahLst/>
            <a:cxnLst/>
            <a:rect l="l" t="t" r="r" b="b"/>
            <a:pathLst>
              <a:path w="9515" h="10578" extrusionOk="0">
                <a:moveTo>
                  <a:pt x="0" y="0"/>
                </a:moveTo>
                <a:lnTo>
                  <a:pt x="0" y="10578"/>
                </a:lnTo>
                <a:lnTo>
                  <a:pt x="9514" y="10578"/>
                </a:lnTo>
                <a:lnTo>
                  <a:pt x="9514" y="0"/>
                </a:lnTo>
                <a:close/>
              </a:path>
            </a:pathLst>
          </a:custGeom>
          <a:solidFill>
            <a:srgbClr val="F6CA15">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9"/>
          <p:cNvSpPr/>
          <p:nvPr/>
        </p:nvSpPr>
        <p:spPr>
          <a:xfrm>
            <a:off x="587" y="4556413"/>
            <a:ext cx="228013" cy="233113"/>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9"/>
          <p:cNvSpPr/>
          <p:nvPr/>
        </p:nvSpPr>
        <p:spPr>
          <a:xfrm>
            <a:off x="338131" y="4556413"/>
            <a:ext cx="227270" cy="232474"/>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9"/>
          <p:cNvSpPr/>
          <p:nvPr/>
        </p:nvSpPr>
        <p:spPr>
          <a:xfrm>
            <a:off x="587" y="4910387"/>
            <a:ext cx="228013" cy="233113"/>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9"/>
          <p:cNvSpPr/>
          <p:nvPr/>
        </p:nvSpPr>
        <p:spPr>
          <a:xfrm>
            <a:off x="335222" y="4901278"/>
            <a:ext cx="227270" cy="232474"/>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9"/>
          <p:cNvSpPr/>
          <p:nvPr/>
        </p:nvSpPr>
        <p:spPr>
          <a:xfrm>
            <a:off x="657032" y="4900639"/>
            <a:ext cx="227270" cy="232451"/>
          </a:xfrm>
          <a:custGeom>
            <a:avLst/>
            <a:gdLst/>
            <a:ahLst/>
            <a:cxnLst/>
            <a:rect l="l" t="t" r="r" b="b"/>
            <a:pathLst>
              <a:path w="9484" h="10548" extrusionOk="0">
                <a:moveTo>
                  <a:pt x="0" y="0"/>
                </a:moveTo>
                <a:lnTo>
                  <a:pt x="0" y="10547"/>
                </a:lnTo>
                <a:lnTo>
                  <a:pt x="9484" y="10547"/>
                </a:lnTo>
                <a:lnTo>
                  <a:pt x="9484" y="0"/>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9"/>
          <p:cNvSpPr/>
          <p:nvPr/>
        </p:nvSpPr>
        <p:spPr>
          <a:xfrm>
            <a:off x="8924083" y="4209314"/>
            <a:ext cx="227270" cy="232451"/>
          </a:xfrm>
          <a:custGeom>
            <a:avLst/>
            <a:gdLst/>
            <a:ahLst/>
            <a:cxnLst/>
            <a:rect l="l" t="t" r="r" b="b"/>
            <a:pathLst>
              <a:path w="9484" h="10548" extrusionOk="0">
                <a:moveTo>
                  <a:pt x="0" y="0"/>
                </a:moveTo>
                <a:lnTo>
                  <a:pt x="0" y="10547"/>
                </a:lnTo>
                <a:lnTo>
                  <a:pt x="9484" y="10547"/>
                </a:lnTo>
                <a:lnTo>
                  <a:pt x="9484" y="0"/>
                </a:lnTo>
                <a:close/>
              </a:path>
            </a:pathLst>
          </a:custGeom>
          <a:solidFill>
            <a:srgbClr val="F6CA15">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9"/>
          <p:cNvSpPr/>
          <p:nvPr/>
        </p:nvSpPr>
        <p:spPr>
          <a:xfrm>
            <a:off x="8586942" y="4556413"/>
            <a:ext cx="227270" cy="232474"/>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43" name="Google Shape;243;p9"/>
          <p:cNvSpPr/>
          <p:nvPr/>
        </p:nvSpPr>
        <p:spPr>
          <a:xfrm>
            <a:off x="8924083" y="4556436"/>
            <a:ext cx="227270" cy="232451"/>
          </a:xfrm>
          <a:custGeom>
            <a:avLst/>
            <a:gdLst/>
            <a:ahLst/>
            <a:cxnLst/>
            <a:rect l="l" t="t" r="r" b="b"/>
            <a:pathLst>
              <a:path w="9484" h="10548" extrusionOk="0">
                <a:moveTo>
                  <a:pt x="0" y="0"/>
                </a:moveTo>
                <a:lnTo>
                  <a:pt x="0" y="10547"/>
                </a:lnTo>
                <a:lnTo>
                  <a:pt x="9484" y="10547"/>
                </a:lnTo>
                <a:lnTo>
                  <a:pt x="9484" y="0"/>
                </a:lnTo>
                <a:close/>
              </a:path>
            </a:pathLst>
          </a:custGeom>
          <a:solidFill>
            <a:srgbClr val="F6CA15">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9"/>
          <p:cNvSpPr/>
          <p:nvPr/>
        </p:nvSpPr>
        <p:spPr>
          <a:xfrm>
            <a:off x="8246130" y="4900639"/>
            <a:ext cx="228013" cy="233113"/>
          </a:xfrm>
          <a:custGeom>
            <a:avLst/>
            <a:gdLst/>
            <a:ahLst/>
            <a:cxnLst/>
            <a:rect l="l" t="t" r="r" b="b"/>
            <a:pathLst>
              <a:path w="9515" h="10578" extrusionOk="0">
                <a:moveTo>
                  <a:pt x="0" y="0"/>
                </a:moveTo>
                <a:lnTo>
                  <a:pt x="0" y="10578"/>
                </a:lnTo>
                <a:lnTo>
                  <a:pt x="9514" y="10578"/>
                </a:lnTo>
                <a:lnTo>
                  <a:pt x="9514" y="0"/>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9"/>
          <p:cNvSpPr/>
          <p:nvPr/>
        </p:nvSpPr>
        <p:spPr>
          <a:xfrm>
            <a:off x="8581508" y="4903546"/>
            <a:ext cx="227270" cy="232474"/>
          </a:xfrm>
          <a:custGeom>
            <a:avLst/>
            <a:gdLst/>
            <a:ahLst/>
            <a:cxnLst/>
            <a:rect l="l" t="t" r="r" b="b"/>
            <a:pathLst>
              <a:path w="9484" h="10549" extrusionOk="0">
                <a:moveTo>
                  <a:pt x="0" y="1"/>
                </a:moveTo>
                <a:lnTo>
                  <a:pt x="0" y="10548"/>
                </a:lnTo>
                <a:lnTo>
                  <a:pt x="9484" y="10548"/>
                </a:lnTo>
                <a:lnTo>
                  <a:pt x="9484" y="1"/>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9"/>
          <p:cNvSpPr/>
          <p:nvPr/>
        </p:nvSpPr>
        <p:spPr>
          <a:xfrm>
            <a:off x="8916143" y="4903558"/>
            <a:ext cx="227270" cy="232451"/>
          </a:xfrm>
          <a:custGeom>
            <a:avLst/>
            <a:gdLst/>
            <a:ahLst/>
            <a:cxnLst/>
            <a:rect l="l" t="t" r="r" b="b"/>
            <a:pathLst>
              <a:path w="9484" h="10548" extrusionOk="0">
                <a:moveTo>
                  <a:pt x="0" y="0"/>
                </a:moveTo>
                <a:lnTo>
                  <a:pt x="0" y="10547"/>
                </a:lnTo>
                <a:lnTo>
                  <a:pt x="9484" y="10547"/>
                </a:lnTo>
                <a:lnTo>
                  <a:pt x="9484" y="0"/>
                </a:lnTo>
                <a:close/>
              </a:path>
            </a:pathLst>
          </a:custGeom>
          <a:solidFill>
            <a:srgbClr val="AB5130">
              <a:alpha val="60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9"/>
          <p:cNvSpPr txBox="1">
            <a:spLocks noGrp="1"/>
          </p:cNvSpPr>
          <p:nvPr>
            <p:ph type="title"/>
          </p:nvPr>
        </p:nvSpPr>
        <p:spPr>
          <a:xfrm>
            <a:off x="1813050" y="1872881"/>
            <a:ext cx="5517900" cy="698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400"/>
              <a:buNone/>
              <a:defRPr sz="35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dirty="0"/>
          </a:p>
        </p:txBody>
      </p:sp>
      <p:sp>
        <p:nvSpPr>
          <p:cNvPr id="248" name="Google Shape;248;p9"/>
          <p:cNvSpPr txBox="1">
            <a:spLocks noGrp="1"/>
          </p:cNvSpPr>
          <p:nvPr>
            <p:ph type="subTitle" idx="1"/>
          </p:nvPr>
        </p:nvSpPr>
        <p:spPr>
          <a:xfrm>
            <a:off x="2155200" y="2601819"/>
            <a:ext cx="4833600" cy="11130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1800" b="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339"/>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ly Title 2">
  <p:cSld name="ONE_COLUMN_TEXT_1_1_1_1_1">
    <p:spTree>
      <p:nvGrpSpPr>
        <p:cNvPr id="1" name="Shape 553"/>
        <p:cNvGrpSpPr/>
        <p:nvPr/>
      </p:nvGrpSpPr>
      <p:grpSpPr>
        <a:xfrm>
          <a:off x="0" y="0"/>
          <a:ext cx="0" cy="0"/>
          <a:chOff x="0" y="0"/>
          <a:chExt cx="0" cy="0"/>
        </a:xfrm>
      </p:grpSpPr>
      <p:sp>
        <p:nvSpPr>
          <p:cNvPr id="554" name="Google Shape;554;p21"/>
          <p:cNvSpPr/>
          <p:nvPr/>
        </p:nvSpPr>
        <p:spPr>
          <a:xfrm flipH="1">
            <a:off x="6489629" y="484229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5" name="Google Shape;555;p21"/>
          <p:cNvSpPr/>
          <p:nvPr/>
        </p:nvSpPr>
        <p:spPr>
          <a:xfrm flipH="1">
            <a:off x="2951306" y="4842290"/>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258806" y="4239249"/>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4130737" y="4239249"/>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2951306" y="4239249"/>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3" name="Google Shape;563;p21"/>
          <p:cNvSpPr/>
          <p:nvPr/>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5310185"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21"/>
          <p:cNvSpPr/>
          <p:nvPr/>
        </p:nvSpPr>
        <p:spPr>
          <a:xfrm flipH="1">
            <a:off x="4720963" y="48405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4130723" y="4840565"/>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7" name="Google Shape;567;p21"/>
          <p:cNvSpPr/>
          <p:nvPr/>
        </p:nvSpPr>
        <p:spPr>
          <a:xfrm flipH="1">
            <a:off x="3541462" y="4840551"/>
            <a:ext cx="294438" cy="301148"/>
          </a:xfrm>
          <a:custGeom>
            <a:avLst/>
            <a:gdLst/>
            <a:ahLst/>
            <a:cxnLst/>
            <a:rect l="l" t="t" r="r" b="b"/>
            <a:pathLst>
              <a:path w="9485" h="10549" extrusionOk="0">
                <a:moveTo>
                  <a:pt x="1" y="1"/>
                </a:moveTo>
                <a:lnTo>
                  <a:pt x="1" y="10548"/>
                </a:lnTo>
                <a:lnTo>
                  <a:pt x="9484" y="10548"/>
                </a:lnTo>
                <a:lnTo>
                  <a:pt x="948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21"/>
          <p:cNvSpPr/>
          <p:nvPr/>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21"/>
          <p:cNvSpPr/>
          <p:nvPr/>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21"/>
          <p:cNvSpPr/>
          <p:nvPr/>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ly Title 2" preserve="1">
  <p:cSld name="Top Ornaments">
    <p:spTree>
      <p:nvGrpSpPr>
        <p:cNvPr id="1" name="Shape 553"/>
        <p:cNvGrpSpPr/>
        <p:nvPr/>
      </p:nvGrpSpPr>
      <p:grpSpPr>
        <a:xfrm>
          <a:off x="0" y="0"/>
          <a:ext cx="0" cy="0"/>
          <a:chOff x="0" y="0"/>
          <a:chExt cx="0" cy="0"/>
        </a:xfrm>
      </p:grpSpPr>
      <p:sp>
        <p:nvSpPr>
          <p:cNvPr id="555" name="Google Shape;555;p21"/>
          <p:cNvSpPr/>
          <p:nvPr/>
        </p:nvSpPr>
        <p:spPr>
          <a:xfrm flipH="1">
            <a:off x="0" y="49860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65497" y="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843887" y="-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565015" y="49775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0" y="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7713793" y="-85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1131025" y="0"/>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8279321" y="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8278841" y="5398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8843887" y="498578"/>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Tree>
    <p:extLst>
      <p:ext uri="{BB962C8B-B14F-4D97-AF65-F5344CB8AC3E}">
        <p14:creationId xmlns:p14="http://schemas.microsoft.com/office/powerpoint/2010/main" val="37926585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Only Title 2" preserve="1">
  <p:cSld name="Top and Bottom ornaments">
    <p:spTree>
      <p:nvGrpSpPr>
        <p:cNvPr id="1" name="Shape 553"/>
        <p:cNvGrpSpPr/>
        <p:nvPr/>
      </p:nvGrpSpPr>
      <p:grpSpPr>
        <a:xfrm>
          <a:off x="0" y="0"/>
          <a:ext cx="0" cy="0"/>
          <a:chOff x="0" y="0"/>
          <a:chExt cx="0" cy="0"/>
        </a:xfrm>
      </p:grpSpPr>
      <p:sp>
        <p:nvSpPr>
          <p:cNvPr id="555" name="Google Shape;555;p21"/>
          <p:cNvSpPr/>
          <p:nvPr/>
        </p:nvSpPr>
        <p:spPr>
          <a:xfrm flipH="1">
            <a:off x="0" y="498607"/>
            <a:ext cx="295338" cy="301119"/>
          </a:xfrm>
          <a:custGeom>
            <a:avLst/>
            <a:gdLst/>
            <a:ahLst/>
            <a:cxnLst/>
            <a:rect l="l" t="t" r="r" b="b"/>
            <a:pathLst>
              <a:path w="9514" h="10548" extrusionOk="0">
                <a:moveTo>
                  <a:pt x="0" y="0"/>
                </a:moveTo>
                <a:lnTo>
                  <a:pt x="0" y="10547"/>
                </a:lnTo>
                <a:lnTo>
                  <a:pt x="9514" y="10547"/>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21"/>
          <p:cNvSpPr/>
          <p:nvPr/>
        </p:nvSpPr>
        <p:spPr>
          <a:xfrm flipH="1">
            <a:off x="565497" y="0"/>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21"/>
          <p:cNvSpPr/>
          <p:nvPr/>
        </p:nvSpPr>
        <p:spPr>
          <a:xfrm flipH="1">
            <a:off x="8843887" y="-1"/>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21"/>
          <p:cNvSpPr/>
          <p:nvPr/>
        </p:nvSpPr>
        <p:spPr>
          <a:xfrm flipH="1">
            <a:off x="565015" y="497751"/>
            <a:ext cx="295369" cy="301975"/>
          </a:xfrm>
          <a:custGeom>
            <a:avLst/>
            <a:gdLst/>
            <a:ahLst/>
            <a:cxnLst/>
            <a:rect l="l" t="t" r="r" b="b"/>
            <a:pathLst>
              <a:path w="9515" h="10578" extrusionOk="0">
                <a:moveTo>
                  <a:pt x="1" y="0"/>
                </a:moveTo>
                <a:lnTo>
                  <a:pt x="1"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21"/>
          <p:cNvSpPr/>
          <p:nvPr/>
        </p:nvSpPr>
        <p:spPr>
          <a:xfrm flipH="1">
            <a:off x="0" y="0"/>
            <a:ext cx="295338" cy="301975"/>
          </a:xfrm>
          <a:custGeom>
            <a:avLst/>
            <a:gdLst/>
            <a:ahLst/>
            <a:cxnLst/>
            <a:rect l="l" t="t" r="r" b="b"/>
            <a:pathLst>
              <a:path w="9514" h="10578" extrusionOk="0">
                <a:moveTo>
                  <a:pt x="0" y="0"/>
                </a:moveTo>
                <a:lnTo>
                  <a:pt x="0" y="10578"/>
                </a:lnTo>
                <a:lnTo>
                  <a:pt x="9514" y="10578"/>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21"/>
          <p:cNvSpPr/>
          <p:nvPr/>
        </p:nvSpPr>
        <p:spPr>
          <a:xfrm flipH="1">
            <a:off x="7713793" y="-856"/>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21"/>
          <p:cNvSpPr/>
          <p:nvPr/>
        </p:nvSpPr>
        <p:spPr>
          <a:xfrm flipH="1">
            <a:off x="1131025" y="0"/>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21"/>
          <p:cNvSpPr/>
          <p:nvPr/>
        </p:nvSpPr>
        <p:spPr>
          <a:xfrm flipH="1">
            <a:off x="8279321" y="0"/>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21"/>
          <p:cNvSpPr/>
          <p:nvPr/>
        </p:nvSpPr>
        <p:spPr>
          <a:xfrm flipH="1">
            <a:off x="8278841" y="53989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21"/>
          <p:cNvSpPr/>
          <p:nvPr/>
        </p:nvSpPr>
        <p:spPr>
          <a:xfrm flipH="1">
            <a:off x="8843887" y="498578"/>
            <a:ext cx="295369" cy="301148"/>
          </a:xfrm>
          <a:custGeom>
            <a:avLst/>
            <a:gdLst/>
            <a:ahLst/>
            <a:cxnLst/>
            <a:rect l="l" t="t" r="r" b="b"/>
            <a:pathLst>
              <a:path w="9515" h="10549" extrusionOk="0">
                <a:moveTo>
                  <a:pt x="1" y="1"/>
                </a:moveTo>
                <a:lnTo>
                  <a:pt x="1" y="10548"/>
                </a:lnTo>
                <a:lnTo>
                  <a:pt x="9514" y="10548"/>
                </a:lnTo>
                <a:lnTo>
                  <a:pt x="951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21"/>
          <p:cNvSpPr txBox="1">
            <a:spLocks noGrp="1"/>
          </p:cNvSpPr>
          <p:nvPr>
            <p:ph type="title"/>
          </p:nvPr>
        </p:nvSpPr>
        <p:spPr>
          <a:xfrm>
            <a:off x="717425" y="539925"/>
            <a:ext cx="7709100" cy="3333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dk1"/>
              </a:buClr>
              <a:buSzPts val="3000"/>
              <a:buNone/>
              <a:defRPr sz="2000">
                <a:solidFill>
                  <a:schemeClr val="dk1"/>
                </a:solidFill>
              </a:defRPr>
            </a:lvl1pPr>
            <a:lvl2pPr lvl="1" rtl="0">
              <a:spcBef>
                <a:spcPts val="0"/>
              </a:spcBef>
              <a:spcAft>
                <a:spcPts val="0"/>
              </a:spcAft>
              <a:buClr>
                <a:schemeClr val="dk1"/>
              </a:buClr>
              <a:buSzPts val="2800"/>
              <a:buNone/>
              <a:defRPr>
                <a:solidFill>
                  <a:schemeClr val="dk1"/>
                </a:solidFill>
              </a:defRPr>
            </a:lvl2pPr>
            <a:lvl3pPr lvl="2" rtl="0">
              <a:spcBef>
                <a:spcPts val="0"/>
              </a:spcBef>
              <a:spcAft>
                <a:spcPts val="0"/>
              </a:spcAft>
              <a:buClr>
                <a:schemeClr val="dk1"/>
              </a:buClr>
              <a:buSzPts val="2800"/>
              <a:buNone/>
              <a:defRPr>
                <a:solidFill>
                  <a:schemeClr val="dk1"/>
                </a:solidFill>
              </a:defRPr>
            </a:lvl3pPr>
            <a:lvl4pPr lvl="3" rtl="0">
              <a:spcBef>
                <a:spcPts val="0"/>
              </a:spcBef>
              <a:spcAft>
                <a:spcPts val="0"/>
              </a:spcAft>
              <a:buClr>
                <a:schemeClr val="dk1"/>
              </a:buClr>
              <a:buSzPts val="2800"/>
              <a:buNone/>
              <a:defRPr>
                <a:solidFill>
                  <a:schemeClr val="dk1"/>
                </a:solidFill>
              </a:defRPr>
            </a:lvl4pPr>
            <a:lvl5pPr lvl="4" rtl="0">
              <a:spcBef>
                <a:spcPts val="0"/>
              </a:spcBef>
              <a:spcAft>
                <a:spcPts val="0"/>
              </a:spcAft>
              <a:buClr>
                <a:schemeClr val="dk1"/>
              </a:buClr>
              <a:buSzPts val="2800"/>
              <a:buNone/>
              <a:defRPr>
                <a:solidFill>
                  <a:schemeClr val="dk1"/>
                </a:solidFill>
              </a:defRPr>
            </a:lvl5pPr>
            <a:lvl6pPr lvl="5" rtl="0">
              <a:spcBef>
                <a:spcPts val="0"/>
              </a:spcBef>
              <a:spcAft>
                <a:spcPts val="0"/>
              </a:spcAft>
              <a:buClr>
                <a:schemeClr val="dk1"/>
              </a:buClr>
              <a:buSzPts val="2800"/>
              <a:buNone/>
              <a:defRPr>
                <a:solidFill>
                  <a:schemeClr val="dk1"/>
                </a:solidFill>
              </a:defRPr>
            </a:lvl6pPr>
            <a:lvl7pPr lvl="6" rtl="0">
              <a:spcBef>
                <a:spcPts val="0"/>
              </a:spcBef>
              <a:spcAft>
                <a:spcPts val="0"/>
              </a:spcAft>
              <a:buClr>
                <a:schemeClr val="dk1"/>
              </a:buClr>
              <a:buSzPts val="2800"/>
              <a:buNone/>
              <a:defRPr>
                <a:solidFill>
                  <a:schemeClr val="dk1"/>
                </a:solidFill>
              </a:defRPr>
            </a:lvl7pPr>
            <a:lvl8pPr lvl="7" rtl="0">
              <a:spcBef>
                <a:spcPts val="0"/>
              </a:spcBef>
              <a:spcAft>
                <a:spcPts val="0"/>
              </a:spcAft>
              <a:buClr>
                <a:schemeClr val="dk1"/>
              </a:buClr>
              <a:buSzPts val="2800"/>
              <a:buNone/>
              <a:defRPr>
                <a:solidFill>
                  <a:schemeClr val="dk1"/>
                </a:solidFill>
              </a:defRPr>
            </a:lvl8pPr>
            <a:lvl9pPr lvl="8" rtl="0">
              <a:spcBef>
                <a:spcPts val="0"/>
              </a:spcBef>
              <a:spcAft>
                <a:spcPts val="0"/>
              </a:spcAft>
              <a:buClr>
                <a:schemeClr val="dk1"/>
              </a:buClr>
              <a:buSzPts val="2800"/>
              <a:buNone/>
              <a:defRPr>
                <a:solidFill>
                  <a:schemeClr val="dk1"/>
                </a:solidFill>
              </a:defRPr>
            </a:lvl9pPr>
          </a:lstStyle>
          <a:p>
            <a:endParaRPr dirty="0"/>
          </a:p>
        </p:txBody>
      </p:sp>
      <p:sp>
        <p:nvSpPr>
          <p:cNvPr id="2" name="Google Shape;556;p21">
            <a:extLst>
              <a:ext uri="{FF2B5EF4-FFF2-40B4-BE49-F238E27FC236}">
                <a16:creationId xmlns:a16="http://schemas.microsoft.com/office/drawing/2014/main" id="{9B8C0A79-5021-E113-CC9B-869724F3B862}"/>
              </a:ext>
            </a:extLst>
          </p:cNvPr>
          <p:cNvSpPr/>
          <p:nvPr userDrawn="1"/>
        </p:nvSpPr>
        <p:spPr>
          <a:xfrm flipH="1">
            <a:off x="591513" y="4842501"/>
            <a:ext cx="295369" cy="301119"/>
          </a:xfrm>
          <a:custGeom>
            <a:avLst/>
            <a:gdLst/>
            <a:ahLst/>
            <a:cxnLst/>
            <a:rect l="l" t="t" r="r" b="b"/>
            <a:pathLst>
              <a:path w="9515" h="10548" extrusionOk="0">
                <a:moveTo>
                  <a:pt x="0" y="0"/>
                </a:moveTo>
                <a:lnTo>
                  <a:pt x="0" y="10547"/>
                </a:lnTo>
                <a:lnTo>
                  <a:pt x="9514" y="10547"/>
                </a:lnTo>
                <a:lnTo>
                  <a:pt x="951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560;p21">
            <a:extLst>
              <a:ext uri="{FF2B5EF4-FFF2-40B4-BE49-F238E27FC236}">
                <a16:creationId xmlns:a16="http://schemas.microsoft.com/office/drawing/2014/main" id="{5179C120-AEEB-B912-07D6-29CB3B25BC8E}"/>
              </a:ext>
            </a:extLst>
          </p:cNvPr>
          <p:cNvSpPr/>
          <p:nvPr userDrawn="1"/>
        </p:nvSpPr>
        <p:spPr>
          <a:xfrm flipH="1">
            <a:off x="8848580" y="4842282"/>
            <a:ext cx="295369" cy="301975"/>
          </a:xfrm>
          <a:custGeom>
            <a:avLst/>
            <a:gdLst/>
            <a:ahLst/>
            <a:cxnLst/>
            <a:rect l="l" t="t" r="r" b="b"/>
            <a:pathLst>
              <a:path w="9515" h="10578" extrusionOk="0">
                <a:moveTo>
                  <a:pt x="0" y="0"/>
                </a:moveTo>
                <a:lnTo>
                  <a:pt x="0" y="10578"/>
                </a:lnTo>
                <a:lnTo>
                  <a:pt x="9514" y="10578"/>
                </a:lnTo>
                <a:lnTo>
                  <a:pt x="9514" y="0"/>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561;p21">
            <a:extLst>
              <a:ext uri="{FF2B5EF4-FFF2-40B4-BE49-F238E27FC236}">
                <a16:creationId xmlns:a16="http://schemas.microsoft.com/office/drawing/2014/main" id="{EBBE5F28-03D4-F0CE-8D41-5FC6939B5FC2}"/>
              </a:ext>
            </a:extLst>
          </p:cNvPr>
          <p:cNvSpPr/>
          <p:nvPr userDrawn="1"/>
        </p:nvSpPr>
        <p:spPr>
          <a:xfrm flipH="1">
            <a:off x="8259323" y="4842251"/>
            <a:ext cx="294407" cy="301148"/>
          </a:xfrm>
          <a:custGeom>
            <a:avLst/>
            <a:gdLst/>
            <a:ahLst/>
            <a:cxnLst/>
            <a:rect l="l" t="t" r="r" b="b"/>
            <a:pathLst>
              <a:path w="9484" h="10549" extrusionOk="0">
                <a:moveTo>
                  <a:pt x="0" y="1"/>
                </a:moveTo>
                <a:lnTo>
                  <a:pt x="0" y="10548"/>
                </a:lnTo>
                <a:lnTo>
                  <a:pt x="9484" y="10548"/>
                </a:lnTo>
                <a:lnTo>
                  <a:pt x="9484" y="1"/>
                </a:lnTo>
                <a:close/>
              </a:path>
            </a:pathLst>
          </a:custGeom>
          <a:solidFill>
            <a:srgbClr val="52333F">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562;p21">
            <a:extLst>
              <a:ext uri="{FF2B5EF4-FFF2-40B4-BE49-F238E27FC236}">
                <a16:creationId xmlns:a16="http://schemas.microsoft.com/office/drawing/2014/main" id="{EAC1E710-B1DB-284A-C287-D8D825AEAFD9}"/>
              </a:ext>
            </a:extLst>
          </p:cNvPr>
          <p:cNvSpPr/>
          <p:nvPr userDrawn="1"/>
        </p:nvSpPr>
        <p:spPr>
          <a:xfrm flipH="1">
            <a:off x="7669562" y="4842263"/>
            <a:ext cx="294407" cy="301119"/>
          </a:xfrm>
          <a:custGeom>
            <a:avLst/>
            <a:gdLst/>
            <a:ahLst/>
            <a:cxnLst/>
            <a:rect l="l" t="t" r="r" b="b"/>
            <a:pathLst>
              <a:path w="9484" h="10548" extrusionOk="0">
                <a:moveTo>
                  <a:pt x="0" y="0"/>
                </a:moveTo>
                <a:lnTo>
                  <a:pt x="0" y="10547"/>
                </a:lnTo>
                <a:lnTo>
                  <a:pt x="9484" y="10547"/>
                </a:lnTo>
                <a:lnTo>
                  <a:pt x="9484" y="0"/>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563;p21">
            <a:extLst>
              <a:ext uri="{FF2B5EF4-FFF2-40B4-BE49-F238E27FC236}">
                <a16:creationId xmlns:a16="http://schemas.microsoft.com/office/drawing/2014/main" id="{4FA98739-F2A9-4256-72DF-6DA916844521}"/>
              </a:ext>
            </a:extLst>
          </p:cNvPr>
          <p:cNvSpPr/>
          <p:nvPr userDrawn="1"/>
        </p:nvSpPr>
        <p:spPr>
          <a:xfrm flipH="1">
            <a:off x="7079601" y="4840556"/>
            <a:ext cx="295369" cy="301148"/>
          </a:xfrm>
          <a:custGeom>
            <a:avLst/>
            <a:gdLst/>
            <a:ahLst/>
            <a:cxnLst/>
            <a:rect l="l" t="t" r="r" b="b"/>
            <a:pathLst>
              <a:path w="9515" h="10549" extrusionOk="0">
                <a:moveTo>
                  <a:pt x="0" y="1"/>
                </a:moveTo>
                <a:lnTo>
                  <a:pt x="0" y="10548"/>
                </a:lnTo>
                <a:lnTo>
                  <a:pt x="9514" y="10548"/>
                </a:lnTo>
                <a:lnTo>
                  <a:pt x="9514"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568;p21">
            <a:extLst>
              <a:ext uri="{FF2B5EF4-FFF2-40B4-BE49-F238E27FC236}">
                <a16:creationId xmlns:a16="http://schemas.microsoft.com/office/drawing/2014/main" id="{A24CB6D6-FB1C-FA5F-4C4E-2F896DC5E849}"/>
              </a:ext>
            </a:extLst>
          </p:cNvPr>
          <p:cNvSpPr/>
          <p:nvPr userDrawn="1"/>
        </p:nvSpPr>
        <p:spPr>
          <a:xfrm flipH="1">
            <a:off x="2361566" y="4840565"/>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569;p21">
            <a:extLst>
              <a:ext uri="{FF2B5EF4-FFF2-40B4-BE49-F238E27FC236}">
                <a16:creationId xmlns:a16="http://schemas.microsoft.com/office/drawing/2014/main" id="{14992504-6549-658B-4F64-6291EC9D60A3}"/>
              </a:ext>
            </a:extLst>
          </p:cNvPr>
          <p:cNvSpPr/>
          <p:nvPr userDrawn="1"/>
        </p:nvSpPr>
        <p:spPr>
          <a:xfrm flipH="1">
            <a:off x="1771844" y="4844176"/>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570;p21">
            <a:extLst>
              <a:ext uri="{FF2B5EF4-FFF2-40B4-BE49-F238E27FC236}">
                <a16:creationId xmlns:a16="http://schemas.microsoft.com/office/drawing/2014/main" id="{BF6DE7E2-8DCB-DB52-41BB-8F02C936503D}"/>
              </a:ext>
            </a:extLst>
          </p:cNvPr>
          <p:cNvSpPr/>
          <p:nvPr userDrawn="1"/>
        </p:nvSpPr>
        <p:spPr>
          <a:xfrm flipH="1">
            <a:off x="-50" y="4842049"/>
            <a:ext cx="295369" cy="301148"/>
          </a:xfrm>
          <a:custGeom>
            <a:avLst/>
            <a:gdLst/>
            <a:ahLst/>
            <a:cxnLst/>
            <a:rect l="l" t="t" r="r" b="b"/>
            <a:pathLst>
              <a:path w="9515" h="10549" extrusionOk="0">
                <a:moveTo>
                  <a:pt x="1" y="1"/>
                </a:moveTo>
                <a:lnTo>
                  <a:pt x="1" y="10548"/>
                </a:lnTo>
                <a:lnTo>
                  <a:pt x="9515" y="10548"/>
                </a:lnTo>
                <a:lnTo>
                  <a:pt x="9515" y="1"/>
                </a:lnTo>
                <a:close/>
              </a:path>
            </a:pathLst>
          </a:custGeom>
          <a:solidFill>
            <a:srgbClr val="8F4D57">
              <a:alpha val="61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391964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gradFill flip="none" rotWithShape="1">
          <a:gsLst>
            <a:gs pos="0">
              <a:schemeClr val="accent4">
                <a:lumMod val="89000"/>
              </a:schemeClr>
            </a:gs>
            <a:gs pos="23000">
              <a:schemeClr val="accent4">
                <a:lumMod val="89000"/>
              </a:schemeClr>
            </a:gs>
            <a:gs pos="69000">
              <a:schemeClr val="accent4">
                <a:lumMod val="75000"/>
              </a:schemeClr>
            </a:gs>
            <a:gs pos="97000">
              <a:schemeClr val="accent4">
                <a:lumMod val="70000"/>
              </a:schemeClr>
            </a:gs>
          </a:gsLst>
          <a:path path="circle">
            <a:fillToRect l="50000" t="50000" r="50000" b="50000"/>
          </a:path>
          <a:tileRect/>
        </a:gra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FF00"/>
              </a:buClr>
              <a:buSzPts val="3000"/>
              <a:buFont typeface="Press Start 2P"/>
              <a:buNone/>
              <a:defRPr sz="3000">
                <a:solidFill>
                  <a:srgbClr val="FFFF00"/>
                </a:solidFill>
                <a:latin typeface="Press Start 2P"/>
                <a:ea typeface="Press Start 2P"/>
                <a:cs typeface="Press Start 2P"/>
                <a:sym typeface="Press Start 2P"/>
              </a:defRPr>
            </a:lvl1pPr>
            <a:lvl2pPr lvl="1">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2pPr>
            <a:lvl3pPr lvl="2">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3pPr>
            <a:lvl4pPr lvl="3">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4pPr>
            <a:lvl5pPr lvl="4">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5pPr>
            <a:lvl6pPr lvl="5">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6pPr>
            <a:lvl7pPr lvl="6">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7pPr>
            <a:lvl8pPr lvl="7">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8pPr>
            <a:lvl9pPr lvl="8">
              <a:spcBef>
                <a:spcPts val="0"/>
              </a:spcBef>
              <a:spcAft>
                <a:spcPts val="0"/>
              </a:spcAft>
              <a:buClr>
                <a:srgbClr val="FFFF00"/>
              </a:buClr>
              <a:buSzPts val="2800"/>
              <a:buFont typeface="Press Start 2P"/>
              <a:buNone/>
              <a:defRPr sz="2800">
                <a:solidFill>
                  <a:srgbClr val="FFFF00"/>
                </a:solidFill>
                <a:latin typeface="Press Start 2P"/>
                <a:ea typeface="Press Start 2P"/>
                <a:cs typeface="Press Start 2P"/>
                <a:sym typeface="Press Start 2P"/>
              </a:defRPr>
            </a:lvl9pPr>
          </a:lstStyle>
          <a:p>
            <a:endParaRPr dirty="0"/>
          </a:p>
        </p:txBody>
      </p:sp>
      <p:sp>
        <p:nvSpPr>
          <p:cNvPr id="7" name="Google Shape;7;p1"/>
          <p:cNvSpPr txBox="1">
            <a:spLocks noGrp="1"/>
          </p:cNvSpPr>
          <p:nvPr>
            <p:ph type="body" idx="1"/>
          </p:nvPr>
        </p:nvSpPr>
        <p:spPr>
          <a:xfrm>
            <a:off x="311700" y="1152475"/>
            <a:ext cx="6188100" cy="3416400"/>
          </a:xfrm>
          <a:prstGeom prst="rect">
            <a:avLst/>
          </a:prstGeom>
          <a:noFill/>
          <a:ln>
            <a:noFill/>
          </a:ln>
        </p:spPr>
        <p:txBody>
          <a:bodyPr spcFirstLastPara="1" wrap="square" lIns="91425" tIns="91425" rIns="91425" bIns="91425" anchor="t" anchorCtr="0">
            <a:noAutofit/>
          </a:bodyPr>
          <a:lstStyle>
            <a:lvl1pPr marL="457200" lvl="0" indent="-330200" rtl="0">
              <a:lnSpc>
                <a:spcPct val="115000"/>
              </a:lnSpc>
              <a:spcBef>
                <a:spcPts val="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1pPr>
            <a:lvl2pPr marL="914400" lvl="1"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2pPr>
            <a:lvl3pPr marL="1371600" lvl="2"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3pPr>
            <a:lvl4pPr marL="1828800" lvl="3"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4pPr>
            <a:lvl5pPr marL="2286000" lvl="4"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5pPr>
            <a:lvl6pPr marL="2743200" lvl="5"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6pPr>
            <a:lvl7pPr marL="3200400" lvl="6"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7pPr>
            <a:lvl8pPr marL="3657600" lvl="7" indent="-330200" rtl="0">
              <a:lnSpc>
                <a:spcPct val="115000"/>
              </a:lnSpc>
              <a:spcBef>
                <a:spcPts val="1600"/>
              </a:spcBef>
              <a:spcAft>
                <a:spcPts val="0"/>
              </a:spcAft>
              <a:buClr>
                <a:schemeClr val="lt1"/>
              </a:buClr>
              <a:buSzPts val="1600"/>
              <a:buFont typeface="Maven Pro"/>
              <a:buChar char="○"/>
              <a:defRPr sz="1600">
                <a:solidFill>
                  <a:schemeClr val="lt1"/>
                </a:solidFill>
                <a:latin typeface="Maven Pro"/>
                <a:ea typeface="Maven Pro"/>
                <a:cs typeface="Maven Pro"/>
                <a:sym typeface="Maven Pro"/>
              </a:defRPr>
            </a:lvl8pPr>
            <a:lvl9pPr marL="4114800" lvl="8" indent="-330200" rtl="0">
              <a:lnSpc>
                <a:spcPct val="115000"/>
              </a:lnSpc>
              <a:spcBef>
                <a:spcPts val="1600"/>
              </a:spcBef>
              <a:spcAft>
                <a:spcPts val="1600"/>
              </a:spcAft>
              <a:buClr>
                <a:schemeClr val="lt1"/>
              </a:buClr>
              <a:buSzPts val="1600"/>
              <a:buFont typeface="Maven Pro"/>
              <a:buChar char="■"/>
              <a:defRPr sz="1600">
                <a:solidFill>
                  <a:schemeClr val="lt1"/>
                </a:solidFill>
                <a:latin typeface="Maven Pro"/>
                <a:ea typeface="Maven Pro"/>
                <a:cs typeface="Maven Pro"/>
                <a:sym typeface="Maven Pr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70" r:id="rId2"/>
    <p:sldLayoutId id="2147483655" r:id="rId3"/>
    <p:sldLayoutId id="2147483658" r:id="rId4"/>
    <p:sldLayoutId id="2147483667" r:id="rId5"/>
    <p:sldLayoutId id="2147483668" r:id="rId6"/>
    <p:sldLayoutId id="2147483669" r:id="rId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1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6.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microsoft.com/office/2007/relationships/hdphoto" Target="../media/hdphoto1.wdp"/><Relationship Id="rId5" Type="http://schemas.openxmlformats.org/officeDocument/2006/relationships/image" Target="../media/image12.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6.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15.png"/><Relationship Id="rId5" Type="http://schemas.openxmlformats.org/officeDocument/2006/relationships/image" Target="../media/image11.png"/><Relationship Id="rId10"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8" Type="http://schemas.openxmlformats.org/officeDocument/2006/relationships/image" Target="../media/image16.png"/><Relationship Id="rId13" Type="http://schemas.openxmlformats.org/officeDocument/2006/relationships/image" Target="../media/image23.png"/><Relationship Id="rId18" Type="http://schemas.openxmlformats.org/officeDocument/2006/relationships/image" Target="../media/image27.png"/><Relationship Id="rId3" Type="http://schemas.openxmlformats.org/officeDocument/2006/relationships/image" Target="../media/image6.png"/><Relationship Id="rId7" Type="http://schemas.openxmlformats.org/officeDocument/2006/relationships/image" Target="../media/image19.png"/><Relationship Id="rId12" Type="http://schemas.openxmlformats.org/officeDocument/2006/relationships/image" Target="../media/image22.png"/><Relationship Id="rId17" Type="http://schemas.microsoft.com/office/2007/relationships/hdphoto" Target="../media/hdphoto2.wdp"/><Relationship Id="rId2" Type="http://schemas.openxmlformats.org/officeDocument/2006/relationships/notesSlide" Target="../notesSlides/notesSlide8.xml"/><Relationship Id="rId16" Type="http://schemas.openxmlformats.org/officeDocument/2006/relationships/image" Target="../media/image26.png"/><Relationship Id="rId1" Type="http://schemas.openxmlformats.org/officeDocument/2006/relationships/slideLayout" Target="../slideLayouts/slideLayout4.xml"/><Relationship Id="rId6" Type="http://schemas.openxmlformats.org/officeDocument/2006/relationships/image" Target="../media/image15.png"/><Relationship Id="rId11" Type="http://schemas.openxmlformats.org/officeDocument/2006/relationships/image" Target="../media/image21.png"/><Relationship Id="rId5" Type="http://schemas.openxmlformats.org/officeDocument/2006/relationships/image" Target="../media/image9.png"/><Relationship Id="rId15" Type="http://schemas.openxmlformats.org/officeDocument/2006/relationships/image" Target="../media/image25.png"/><Relationship Id="rId1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4.png"/><Relationship Id="rId1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6.png"/><Relationship Id="rId7" Type="http://schemas.openxmlformats.org/officeDocument/2006/relationships/image" Target="../media/image31.png"/><Relationship Id="rId12"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4.xml"/><Relationship Id="rId6" Type="http://schemas.openxmlformats.org/officeDocument/2006/relationships/image" Target="../media/image30.png"/><Relationship Id="rId11" Type="http://schemas.microsoft.com/office/2007/relationships/hdphoto" Target="../media/hdphoto3.wdp"/><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png"/><Relationship Id="rId9" Type="http://schemas.openxmlformats.org/officeDocument/2006/relationships/image" Target="../media/image33.png"/></Relationships>
</file>

<file path=ppt/slides/_rels/slide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microsoft.com/office/2007/relationships/hdphoto" Target="../media/hdphoto4.wdp"/><Relationship Id="rId5" Type="http://schemas.openxmlformats.org/officeDocument/2006/relationships/image" Target="../media/image38.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microsoft.com/office/2007/relationships/hdphoto" Target="../media/hdphoto5.wdp"/><Relationship Id="rId5" Type="http://schemas.openxmlformats.org/officeDocument/2006/relationships/image" Target="../media/image39.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4.xml"/><Relationship Id="rId6" Type="http://schemas.openxmlformats.org/officeDocument/2006/relationships/image" Target="../media/image14.png"/><Relationship Id="rId5" Type="http://schemas.openxmlformats.org/officeDocument/2006/relationships/image" Target="../media/image41.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hyperlink" Target="https://store.steampowered.com/app/1567530/Vlad_Circus_Curse_of_Asmodeus/" TargetMode="External"/><Relationship Id="rId3" Type="http://schemas.openxmlformats.org/officeDocument/2006/relationships/image" Target="../media/image42.jpeg"/><Relationship Id="rId7" Type="http://schemas.openxmlformats.org/officeDocument/2006/relationships/image" Target="../media/image45.png"/><Relationship Id="rId2" Type="http://schemas.openxmlformats.org/officeDocument/2006/relationships/hyperlink" Target="https://store.steampowered.com/app/1272580/Nine_Witches_Family_Disruption/" TargetMode="External"/><Relationship Id="rId1" Type="http://schemas.openxmlformats.org/officeDocument/2006/relationships/slideLayout" Target="../slideLayouts/slideLayout3.xml"/><Relationship Id="rId6" Type="http://schemas.openxmlformats.org/officeDocument/2006/relationships/image" Target="../media/image44.jpeg"/><Relationship Id="rId5" Type="http://schemas.openxmlformats.org/officeDocument/2006/relationships/hyperlink" Target="https://store.steampowered.com/app/1702430/Vlad_Circus_Descend_Into_Madness/" TargetMode="External"/><Relationship Id="rId4" Type="http://schemas.openxmlformats.org/officeDocument/2006/relationships/image" Target="../media/image43.jpeg"/><Relationship Id="rId9" Type="http://schemas.openxmlformats.org/officeDocument/2006/relationships/image" Target="../media/image46.png"/></Relationships>
</file>

<file path=ppt/slides/_rels/slide17.xml.rels><?xml version="1.0" encoding="UTF-8" standalone="yes"?>
<Relationships xmlns="http://schemas.openxmlformats.org/package/2006/relationships"><Relationship Id="rId8" Type="http://schemas.openxmlformats.org/officeDocument/2006/relationships/image" Target="../media/image49.jpeg"/><Relationship Id="rId13" Type="http://schemas.openxmlformats.org/officeDocument/2006/relationships/image" Target="../media/image52.png"/><Relationship Id="rId3" Type="http://schemas.openxmlformats.org/officeDocument/2006/relationships/hyperlink" Target="https://www.indiesruption.com/" TargetMode="External"/><Relationship Id="rId7" Type="http://schemas.openxmlformats.org/officeDocument/2006/relationships/hyperlink" Target="https://www.linkedin.com/in/pablo-mamone-262a5165/" TargetMode="External"/><Relationship Id="rId12" Type="http://schemas.openxmlformats.org/officeDocument/2006/relationships/image" Target="../media/image51.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8.jpeg"/><Relationship Id="rId11" Type="http://schemas.microsoft.com/office/2007/relationships/hdphoto" Target="../media/hdphoto6.wdp"/><Relationship Id="rId5" Type="http://schemas.openxmlformats.org/officeDocument/2006/relationships/hyperlink" Target="https://www.linkedin.com/in/diegocanepa/" TargetMode="External"/><Relationship Id="rId10" Type="http://schemas.openxmlformats.org/officeDocument/2006/relationships/image" Target="../media/image50.png"/><Relationship Id="rId4" Type="http://schemas.openxmlformats.org/officeDocument/2006/relationships/image" Target="../media/image47.png"/><Relationship Id="rId9" Type="http://schemas.openxmlformats.org/officeDocument/2006/relationships/hyperlink" Target="https://www.linkedin.com/in/durg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video game with a cartoon character">
            <a:extLst>
              <a:ext uri="{FF2B5EF4-FFF2-40B4-BE49-F238E27FC236}">
                <a16:creationId xmlns:a16="http://schemas.microsoft.com/office/drawing/2014/main" id="{D02AE8D6-918B-37BE-27D3-078298F391C9}"/>
              </a:ext>
            </a:extLst>
          </p:cNvPr>
          <p:cNvPicPr>
            <a:picLocks noChangeAspect="1"/>
          </p:cNvPicPr>
          <p:nvPr/>
        </p:nvPicPr>
        <p:blipFill>
          <a:blip r:embed="rId3"/>
          <a:stretch>
            <a:fillRect/>
          </a:stretch>
        </p:blipFill>
        <p:spPr>
          <a:xfrm>
            <a:off x="0" y="0"/>
            <a:ext cx="10553075" cy="5936105"/>
          </a:xfrm>
          <a:prstGeom prst="rect">
            <a:avLst/>
          </a:prstGeom>
        </p:spPr>
      </p:pic>
      <p:sp>
        <p:nvSpPr>
          <p:cNvPr id="4" name="Google Shape;963;p33">
            <a:extLst>
              <a:ext uri="{FF2B5EF4-FFF2-40B4-BE49-F238E27FC236}">
                <a16:creationId xmlns:a16="http://schemas.microsoft.com/office/drawing/2014/main" id="{87BD1BEB-687E-94A9-55BA-36F2920CDF3D}"/>
              </a:ext>
            </a:extLst>
          </p:cNvPr>
          <p:cNvSpPr txBox="1">
            <a:spLocks/>
          </p:cNvSpPr>
          <p:nvPr/>
        </p:nvSpPr>
        <p:spPr>
          <a:xfrm rot="21281081">
            <a:off x="416655" y="1213486"/>
            <a:ext cx="4261693" cy="510862"/>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r>
              <a:rPr lang="en-US" sz="1100" dirty="0">
                <a:solidFill>
                  <a:srgbClr val="AB5130"/>
                </a:solidFill>
                <a:effectLst>
                  <a:glow rad="228600">
                    <a:schemeClr val="accent4">
                      <a:satMod val="175000"/>
                      <a:alpha val="40000"/>
                    </a:schemeClr>
                  </a:glow>
                  <a:outerShdw blurRad="50800" dist="38100" dir="5400000" algn="t" rotWithShape="0">
                    <a:prstClr val="black">
                      <a:alpha val="40000"/>
                    </a:prstClr>
                  </a:outerShdw>
                </a:effectLst>
              </a:rPr>
              <a:t>When hell runs a horror ride, no one is safe.</a:t>
            </a:r>
          </a:p>
        </p:txBody>
      </p:sp>
      <p:pic>
        <p:nvPicPr>
          <p:cNvPr id="17" name="Picture 16" descr="A red cross on a black background&#10;&#10;AI-generated content may be incorrect.">
            <a:extLst>
              <a:ext uri="{FF2B5EF4-FFF2-40B4-BE49-F238E27FC236}">
                <a16:creationId xmlns:a16="http://schemas.microsoft.com/office/drawing/2014/main" id="{E4BEE051-0101-0660-BE69-351B97FD1206}"/>
              </a:ext>
            </a:extLst>
          </p:cNvPr>
          <p:cNvPicPr>
            <a:picLocks noChangeAspect="1"/>
          </p:cNvPicPr>
          <p:nvPr/>
        </p:nvPicPr>
        <p:blipFill>
          <a:blip r:embed="rId4"/>
          <a:stretch>
            <a:fillRect/>
          </a:stretch>
        </p:blipFill>
        <p:spPr>
          <a:xfrm>
            <a:off x="492162" y="194342"/>
            <a:ext cx="3380587" cy="1145037"/>
          </a:xfrm>
          <a:prstGeom prst="rect">
            <a:avLst/>
          </a:prstGeom>
          <a:effectLst>
            <a:glow rad="228600">
              <a:schemeClr val="accent4">
                <a:satMod val="175000"/>
                <a:alpha val="40000"/>
              </a:schemeClr>
            </a:glow>
          </a:effectLst>
        </p:spPr>
      </p:pic>
      <p:pic>
        <p:nvPicPr>
          <p:cNvPr id="23" name="Picture 22">
            <a:extLst>
              <a:ext uri="{FF2B5EF4-FFF2-40B4-BE49-F238E27FC236}">
                <a16:creationId xmlns:a16="http://schemas.microsoft.com/office/drawing/2014/main" id="{379437D8-1552-7063-32DB-3F8A67AC3A60}"/>
              </a:ext>
            </a:extLst>
          </p:cNvPr>
          <p:cNvPicPr>
            <a:picLocks noChangeAspect="1"/>
          </p:cNvPicPr>
          <p:nvPr/>
        </p:nvPicPr>
        <p:blipFill>
          <a:blip r:embed="rId5">
            <a:alphaModFix amt="50000"/>
          </a:blip>
          <a:stretch>
            <a:fillRect/>
          </a:stretch>
        </p:blipFill>
        <p:spPr>
          <a:xfrm>
            <a:off x="6640123" y="3231373"/>
            <a:ext cx="428511" cy="128553"/>
          </a:xfrm>
          <a:prstGeom prst="rect">
            <a:avLst/>
          </a:prstGeom>
        </p:spPr>
      </p:pic>
      <p:pic>
        <p:nvPicPr>
          <p:cNvPr id="21" name="Picture 20" descr="A pixelated cartoon of a dog&#10;&#10;AI-generated content may be incorrect.">
            <a:extLst>
              <a:ext uri="{FF2B5EF4-FFF2-40B4-BE49-F238E27FC236}">
                <a16:creationId xmlns:a16="http://schemas.microsoft.com/office/drawing/2014/main" id="{1899F904-BFCC-AD32-CD22-1A26D9084557}"/>
              </a:ext>
            </a:extLst>
          </p:cNvPr>
          <p:cNvPicPr>
            <a:picLocks noChangeAspect="1"/>
          </p:cNvPicPr>
          <p:nvPr/>
        </p:nvPicPr>
        <p:blipFill>
          <a:blip r:embed="rId6"/>
          <a:stretch>
            <a:fillRect/>
          </a:stretch>
        </p:blipFill>
        <p:spPr>
          <a:xfrm flipH="1">
            <a:off x="6536532" y="2571750"/>
            <a:ext cx="517112" cy="723900"/>
          </a:xfrm>
          <a:prstGeom prst="rect">
            <a:avLst/>
          </a:prstGeom>
        </p:spPr>
      </p:pic>
      <p:pic>
        <p:nvPicPr>
          <p:cNvPr id="8" name="Picture 7" descr="A yellow text on a black background&#10;&#10;AI-generated content may be incorrect.">
            <a:extLst>
              <a:ext uri="{FF2B5EF4-FFF2-40B4-BE49-F238E27FC236}">
                <a16:creationId xmlns:a16="http://schemas.microsoft.com/office/drawing/2014/main" id="{8055D018-8073-CBDF-5A7F-2A66C04AFF23}"/>
              </a:ext>
            </a:extLst>
          </p:cNvPr>
          <p:cNvPicPr>
            <a:picLocks noChangeAspect="1"/>
          </p:cNvPicPr>
          <p:nvPr/>
        </p:nvPicPr>
        <p:blipFill>
          <a:blip r:embed="rId7"/>
          <a:stretch>
            <a:fillRect/>
          </a:stretch>
        </p:blipFill>
        <p:spPr>
          <a:xfrm>
            <a:off x="7308476" y="4463907"/>
            <a:ext cx="1516306" cy="416984"/>
          </a:xfrm>
          <a:prstGeom prst="rect">
            <a:avLst/>
          </a:prstGeom>
          <a:effectLst>
            <a:glow rad="228600">
              <a:schemeClr val="accent4">
                <a:satMod val="175000"/>
                <a:alpha val="40000"/>
              </a:schemeClr>
            </a:glow>
          </a:effectLst>
        </p:spPr>
      </p:pic>
      <p:sp>
        <p:nvSpPr>
          <p:cNvPr id="2" name="TextBox 1">
            <a:extLst>
              <a:ext uri="{FF2B5EF4-FFF2-40B4-BE49-F238E27FC236}">
                <a16:creationId xmlns:a16="http://schemas.microsoft.com/office/drawing/2014/main" id="{66DA8662-880C-B450-2D6D-B0AA1B848C50}"/>
              </a:ext>
            </a:extLst>
          </p:cNvPr>
          <p:cNvSpPr txBox="1"/>
          <p:nvPr/>
        </p:nvSpPr>
        <p:spPr>
          <a:xfrm>
            <a:off x="82447" y="102009"/>
            <a:ext cx="1499017" cy="184666"/>
          </a:xfrm>
          <a:prstGeom prst="rect">
            <a:avLst/>
          </a:prstGeom>
          <a:noFill/>
        </p:spPr>
        <p:txBody>
          <a:bodyPr wrap="square">
            <a:spAutoFit/>
          </a:bodyPr>
          <a:lstStyle/>
          <a:p>
            <a:r>
              <a:rPr lang="en-US" sz="600" dirty="0">
                <a:solidFill>
                  <a:schemeClr val="bg1">
                    <a:lumMod val="50000"/>
                  </a:schemeClr>
                </a:solidFill>
                <a:effectLst>
                  <a:glow rad="139700">
                    <a:schemeClr val="accent4">
                      <a:satMod val="175000"/>
                      <a:alpha val="40000"/>
                    </a:schemeClr>
                  </a:glow>
                </a:effectLst>
                <a:latin typeface="Press Start 2P" panose="00000500000000000000" pitchFamily="2" charset="0"/>
                <a:sym typeface="Maven Pro"/>
              </a:rPr>
              <a:t>CONFIDENTIAL</a:t>
            </a:r>
          </a:p>
        </p:txBody>
      </p:sp>
    </p:spTree>
    <p:extLst>
      <p:ext uri="{BB962C8B-B14F-4D97-AF65-F5344CB8AC3E}">
        <p14:creationId xmlns:p14="http://schemas.microsoft.com/office/powerpoint/2010/main" val="12538528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pic>
        <p:nvPicPr>
          <p:cNvPr id="8" name="Picture 7" descr="A pixel art of a building">
            <a:extLst>
              <a:ext uri="{FF2B5EF4-FFF2-40B4-BE49-F238E27FC236}">
                <a16:creationId xmlns:a16="http://schemas.microsoft.com/office/drawing/2014/main" id="{970F42B8-8149-AE99-5DCE-10D39E420DD1}"/>
              </a:ext>
            </a:extLst>
          </p:cNvPr>
          <p:cNvPicPr>
            <a:picLocks noChangeAspect="1"/>
          </p:cNvPicPr>
          <p:nvPr/>
        </p:nvPicPr>
        <p:blipFill>
          <a:blip r:embed="rId3">
            <a:alphaModFix amt="70000"/>
          </a:blip>
          <a:stretch>
            <a:fillRect/>
          </a:stretch>
        </p:blipFill>
        <p:spPr>
          <a:xfrm>
            <a:off x="-28599" y="0"/>
            <a:ext cx="9144000" cy="5143500"/>
          </a:xfrm>
          <a:prstGeom prst="rect">
            <a:avLst/>
          </a:prstGeom>
        </p:spPr>
      </p:pic>
      <p:sp>
        <p:nvSpPr>
          <p:cNvPr id="999" name="Google Shape;999;p37"/>
          <p:cNvSpPr txBox="1">
            <a:spLocks noGrp="1"/>
          </p:cNvSpPr>
          <p:nvPr>
            <p:ph type="title" idx="4294967295"/>
          </p:nvPr>
        </p:nvSpPr>
        <p:spPr>
          <a:xfrm>
            <a:off x="1364105" y="296673"/>
            <a:ext cx="6415790" cy="486209"/>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800" dirty="0">
                <a:solidFill>
                  <a:srgbClr val="AB5130"/>
                </a:solidFill>
                <a:effectLst>
                  <a:glow rad="228600">
                    <a:schemeClr val="accent4">
                      <a:satMod val="175000"/>
                      <a:alpha val="40000"/>
                    </a:schemeClr>
                  </a:glow>
                </a:effectLst>
              </a:rPr>
              <a:t>Overview</a:t>
            </a:r>
            <a:endParaRPr sz="1800" dirty="0">
              <a:solidFill>
                <a:srgbClr val="AB5130"/>
              </a:solidFill>
              <a:effectLst>
                <a:glow rad="228600">
                  <a:schemeClr val="accent4">
                    <a:satMod val="175000"/>
                    <a:alpha val="40000"/>
                  </a:schemeClr>
                </a:glow>
              </a:effectLst>
            </a:endParaRPr>
          </a:p>
        </p:txBody>
      </p:sp>
      <p:sp>
        <p:nvSpPr>
          <p:cNvPr id="1000" name="Google Shape;1000;p37"/>
          <p:cNvSpPr txBox="1">
            <a:spLocks noGrp="1"/>
          </p:cNvSpPr>
          <p:nvPr>
            <p:ph type="subTitle" idx="4294967295"/>
          </p:nvPr>
        </p:nvSpPr>
        <p:spPr>
          <a:xfrm>
            <a:off x="1382605" y="819653"/>
            <a:ext cx="6378790" cy="723847"/>
          </a:xfrm>
          <a:prstGeom prst="rect">
            <a:avLst/>
          </a:prstGeom>
        </p:spPr>
        <p:txBody>
          <a:bodyPr spcFirstLastPara="1" wrap="square" lIns="91425" tIns="91425" rIns="91425" bIns="91425" anchor="t" anchorCtr="0">
            <a:noAutofit/>
          </a:bodyPr>
          <a:lstStyle/>
          <a:p>
            <a:pPr marL="0" indent="0">
              <a:lnSpc>
                <a:spcPts val="1400"/>
              </a:lnSpc>
              <a:buClr>
                <a:srgbClr val="8F4D57"/>
              </a:buClr>
              <a:buSzPts val="1100"/>
              <a:buNone/>
            </a:pP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t>A 2D pixel-art roguelite adventure where bizarre comedy collides with creepy monsters and absurd challenges.</a:t>
            </a:r>
          </a:p>
        </p:txBody>
      </p:sp>
      <p:pic>
        <p:nvPicPr>
          <p:cNvPr id="3" name="Picture 2" descr="A red cross on a black background&#10;&#10;AI-generated content may be incorrect.">
            <a:extLst>
              <a:ext uri="{FF2B5EF4-FFF2-40B4-BE49-F238E27FC236}">
                <a16:creationId xmlns:a16="http://schemas.microsoft.com/office/drawing/2014/main" id="{166806AD-98D4-D7EB-6E60-4E2D5324FA03}"/>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2" name="Picture 1">
            <a:extLst>
              <a:ext uri="{FF2B5EF4-FFF2-40B4-BE49-F238E27FC236}">
                <a16:creationId xmlns:a16="http://schemas.microsoft.com/office/drawing/2014/main" id="{26D9444F-5F03-30D7-0B0E-CC3874350B5D}"/>
              </a:ext>
            </a:extLst>
          </p:cNvPr>
          <p:cNvPicPr>
            <a:picLocks noChangeAspect="1"/>
          </p:cNvPicPr>
          <p:nvPr/>
        </p:nvPicPr>
        <p:blipFill>
          <a:blip r:embed="rId5">
            <a:alphaModFix amt="50000"/>
          </a:blip>
          <a:stretch>
            <a:fillRect/>
          </a:stretch>
        </p:blipFill>
        <p:spPr>
          <a:xfrm>
            <a:off x="3974391" y="4622801"/>
            <a:ext cx="284676" cy="142338"/>
          </a:xfrm>
          <a:prstGeom prst="rect">
            <a:avLst/>
          </a:prstGeom>
        </p:spPr>
      </p:pic>
      <p:pic>
        <p:nvPicPr>
          <p:cNvPr id="4" name="Picture 3" descr="A pixelated image of a person wearing sunglasses&#10;&#10;AI-generated content may be incorrect.">
            <a:extLst>
              <a:ext uri="{FF2B5EF4-FFF2-40B4-BE49-F238E27FC236}">
                <a16:creationId xmlns:a16="http://schemas.microsoft.com/office/drawing/2014/main" id="{967DB02A-BA92-F4D6-3635-FA4B3AB08F4D}"/>
              </a:ext>
            </a:extLst>
          </p:cNvPr>
          <p:cNvPicPr>
            <a:picLocks noChangeAspect="1"/>
          </p:cNvPicPr>
          <p:nvPr/>
        </p:nvPicPr>
        <p:blipFill>
          <a:blip r:embed="rId6"/>
          <a:stretch>
            <a:fillRect/>
          </a:stretch>
        </p:blipFill>
        <p:spPr>
          <a:xfrm>
            <a:off x="3957130" y="4000617"/>
            <a:ext cx="459695" cy="689543"/>
          </a:xfrm>
          <a:prstGeom prst="rect">
            <a:avLst/>
          </a:prstGeom>
        </p:spPr>
      </p:pic>
      <p:pic>
        <p:nvPicPr>
          <p:cNvPr id="5" name="Picture 4">
            <a:extLst>
              <a:ext uri="{FF2B5EF4-FFF2-40B4-BE49-F238E27FC236}">
                <a16:creationId xmlns:a16="http://schemas.microsoft.com/office/drawing/2014/main" id="{AB11074D-EE65-7ACB-8A00-62891FE5CD36}"/>
              </a:ext>
            </a:extLst>
          </p:cNvPr>
          <p:cNvPicPr>
            <a:picLocks noChangeAspect="1"/>
          </p:cNvPicPr>
          <p:nvPr/>
        </p:nvPicPr>
        <p:blipFill>
          <a:blip r:embed="rId5">
            <a:alphaModFix amt="50000"/>
          </a:blip>
          <a:stretch>
            <a:fillRect/>
          </a:stretch>
        </p:blipFill>
        <p:spPr>
          <a:xfrm>
            <a:off x="4793004" y="4622800"/>
            <a:ext cx="284676" cy="142338"/>
          </a:xfrm>
          <a:prstGeom prst="rect">
            <a:avLst/>
          </a:prstGeom>
        </p:spPr>
      </p:pic>
      <p:pic>
        <p:nvPicPr>
          <p:cNvPr id="6" name="Picture 5" descr="A pixelated image of a person&#10;&#10;AI-generated content may be incorrect.">
            <a:extLst>
              <a:ext uri="{FF2B5EF4-FFF2-40B4-BE49-F238E27FC236}">
                <a16:creationId xmlns:a16="http://schemas.microsoft.com/office/drawing/2014/main" id="{37C30E45-3490-0BDF-BF95-AE40ED80698E}"/>
              </a:ext>
            </a:extLst>
          </p:cNvPr>
          <p:cNvPicPr>
            <a:picLocks noChangeAspect="1"/>
          </p:cNvPicPr>
          <p:nvPr/>
        </p:nvPicPr>
        <p:blipFill>
          <a:blip r:embed="rId7"/>
          <a:stretch>
            <a:fillRect/>
          </a:stretch>
        </p:blipFill>
        <p:spPr>
          <a:xfrm flipH="1">
            <a:off x="4617986" y="3954648"/>
            <a:ext cx="459694" cy="735512"/>
          </a:xfrm>
          <a:prstGeom prst="rect">
            <a:avLst/>
          </a:prstGeom>
        </p:spPr>
      </p:pic>
      <p:sp>
        <p:nvSpPr>
          <p:cNvPr id="10" name="TextBox 9">
            <a:extLst>
              <a:ext uri="{FF2B5EF4-FFF2-40B4-BE49-F238E27FC236}">
                <a16:creationId xmlns:a16="http://schemas.microsoft.com/office/drawing/2014/main" id="{D307ABC5-4BC9-01C9-26A5-9CC39046F59E}"/>
              </a:ext>
            </a:extLst>
          </p:cNvPr>
          <p:cNvSpPr txBox="1"/>
          <p:nvPr/>
        </p:nvSpPr>
        <p:spPr>
          <a:xfrm>
            <a:off x="1658485" y="1549804"/>
            <a:ext cx="5769832" cy="2022348"/>
          </a:xfrm>
          <a:prstGeom prst="rect">
            <a:avLst/>
          </a:prstGeom>
          <a:noFill/>
        </p:spPr>
        <p:txBody>
          <a:bodyPr wrap="square">
            <a:spAutoFit/>
          </a:bodyPr>
          <a:lstStyle/>
          <a:p>
            <a:pPr marL="171450" indent="-171450">
              <a:lnSpc>
                <a:spcPts val="1400"/>
              </a:lnSpc>
              <a:buClr>
                <a:srgbClr val="8F4D57"/>
              </a:buClr>
              <a:buSzPts val="1100"/>
              <a:buFont typeface="Press Start 2P" panose="00000500000000000000" pitchFamily="2" charset="0"/>
              <a:buChar char="★"/>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Two lazy journalists chasing the story that could finally make their magazine famous and win them a Pulitzer.</a:t>
            </a:r>
          </a:p>
          <a:p>
            <a:pPr marL="171450" indent="-171450">
              <a:lnSpc>
                <a:spcPts val="1400"/>
              </a:lnSpc>
              <a:buClr>
                <a:srgbClr val="8F4D57"/>
              </a:buClr>
              <a:buSzPts val="1100"/>
              <a:buFont typeface="Press Start 2P" panose="00000500000000000000" pitchFamily="2" charset="0"/>
              <a:buChar char="★"/>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ts val="1400"/>
              </a:lnSpc>
              <a:buClr>
                <a:srgbClr val="8F4D57"/>
              </a:buClr>
              <a:buSzPts val="1100"/>
              <a:buFont typeface="Press Start 2P" panose="00000500000000000000" pitchFamily="2" charset="0"/>
              <a:buChar char="★"/>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Explore a cursed attraction packed with strange items, hidden secrets, captive celebrities, and absurd encounters.</a:t>
            </a:r>
          </a:p>
          <a:p>
            <a:pPr marL="171450" indent="-171450">
              <a:lnSpc>
                <a:spcPts val="1400"/>
              </a:lnSpc>
              <a:buClr>
                <a:srgbClr val="8F4D57"/>
              </a:buClr>
              <a:buSzPts val="1100"/>
              <a:buFont typeface="Press Start 2P" panose="00000500000000000000" pitchFamily="2" charset="0"/>
              <a:buChar char="★"/>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ts val="1400"/>
              </a:lnSpc>
              <a:buClr>
                <a:srgbClr val="8F4D57"/>
              </a:buClr>
              <a:buSzPts val="1100"/>
              <a:buFont typeface="Press Start 2P" panose="00000500000000000000" pitchFamily="2" charset="0"/>
              <a:buChar char="★"/>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Survive each procedural run. Even in failure, progress often endures — new items, areas, and secrets may unlock as you keep playing.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59DDBFF2-B1FB-4113-D291-30E81F48EF5E}"/>
            </a:ext>
          </a:extLst>
        </p:cNvPr>
        <p:cNvGrpSpPr/>
        <p:nvPr/>
      </p:nvGrpSpPr>
      <p:grpSpPr>
        <a:xfrm>
          <a:off x="0" y="0"/>
          <a:ext cx="0" cy="0"/>
          <a:chOff x="0" y="0"/>
          <a:chExt cx="0" cy="0"/>
        </a:xfrm>
      </p:grpSpPr>
      <p:pic>
        <p:nvPicPr>
          <p:cNvPr id="11" name="Picture 10" descr="A video game with a cartoon character&#10;&#10;AI-generated content may be incorrect.">
            <a:extLst>
              <a:ext uri="{FF2B5EF4-FFF2-40B4-BE49-F238E27FC236}">
                <a16:creationId xmlns:a16="http://schemas.microsoft.com/office/drawing/2014/main" id="{29986DC9-BD1C-9EA3-D511-58B7AA10674D}"/>
              </a:ext>
            </a:extLst>
          </p:cNvPr>
          <p:cNvPicPr>
            <a:picLocks noChangeAspect="1"/>
          </p:cNvPicPr>
          <p:nvPr/>
        </p:nvPicPr>
        <p:blipFill>
          <a:blip r:embed="rId3"/>
          <a:stretch>
            <a:fillRect/>
          </a:stretch>
        </p:blipFill>
        <p:spPr>
          <a:xfrm>
            <a:off x="0" y="1962150"/>
            <a:ext cx="9144000" cy="3924300"/>
          </a:xfrm>
          <a:prstGeom prst="rect">
            <a:avLst/>
          </a:prstGeom>
        </p:spPr>
      </p:pic>
      <p:sp>
        <p:nvSpPr>
          <p:cNvPr id="8" name="Google Shape;1000;p37">
            <a:extLst>
              <a:ext uri="{FF2B5EF4-FFF2-40B4-BE49-F238E27FC236}">
                <a16:creationId xmlns:a16="http://schemas.microsoft.com/office/drawing/2014/main" id="{A02E9861-D81C-BEB4-9FF8-6059B0DF160B}"/>
              </a:ext>
            </a:extLst>
          </p:cNvPr>
          <p:cNvSpPr txBox="1">
            <a:spLocks/>
          </p:cNvSpPr>
          <p:nvPr/>
        </p:nvSpPr>
        <p:spPr>
          <a:xfrm>
            <a:off x="487199" y="962531"/>
            <a:ext cx="3987365" cy="117792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50" dirty="0">
                <a:solidFill>
                  <a:srgbClr val="BD6A62"/>
                </a:solidFill>
                <a:effectLst>
                  <a:glow rad="228600">
                    <a:schemeClr val="accent4">
                      <a:satMod val="175000"/>
                      <a:alpha val="40000"/>
                    </a:schemeClr>
                  </a:glow>
                </a:effectLst>
                <a:latin typeface="Press Start 2P" panose="00000500000000000000" pitchFamily="2" charset="0"/>
              </a:rPr>
              <a:t>Adventure spirit</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A retro atmosphere fused with pixel art and roguelite tension, blending nostalgia, absurd humor, and high-stakes exploration.</a:t>
            </a:r>
          </a:p>
          <a:p>
            <a:pPr marL="0" indent="0">
              <a:lnSpc>
                <a:spcPts val="1400"/>
              </a:lnSpc>
              <a:buClr>
                <a:srgbClr val="BD6A62"/>
              </a:buClr>
              <a:buSzPts val="1100"/>
              <a:buNone/>
            </a:pP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1050" dirty="0">
                <a:solidFill>
                  <a:srgbClr val="BD6A62"/>
                </a:solidFill>
                <a:effectLst>
                  <a:glow rad="228600">
                    <a:schemeClr val="accent4">
                      <a:satMod val="175000"/>
                      <a:alpha val="40000"/>
                    </a:schemeClr>
                  </a:glow>
                </a:effectLst>
                <a:latin typeface="Press Start 2P" panose="00000500000000000000" pitchFamily="2" charset="0"/>
              </a:rPr>
              <a:t>Accessible chaos</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Active, easy-to-grasp combat powered by creative item use.</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Each run resets your collected loot, but permanent progress and unlocks carry over between attempts.</a:t>
            </a:r>
          </a:p>
        </p:txBody>
      </p:sp>
      <p:sp>
        <p:nvSpPr>
          <p:cNvPr id="12" name="Google Shape;999;p37">
            <a:extLst>
              <a:ext uri="{FF2B5EF4-FFF2-40B4-BE49-F238E27FC236}">
                <a16:creationId xmlns:a16="http://schemas.microsoft.com/office/drawing/2014/main" id="{028DD578-F28F-5A40-3503-5915690FE3FF}"/>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Why It’s Unique</a:t>
            </a:r>
          </a:p>
        </p:txBody>
      </p:sp>
      <p:pic>
        <p:nvPicPr>
          <p:cNvPr id="13" name="Picture 12" descr="A red cross on a black background&#10;&#10;AI-generated content may be incorrect.">
            <a:extLst>
              <a:ext uri="{FF2B5EF4-FFF2-40B4-BE49-F238E27FC236}">
                <a16:creationId xmlns:a16="http://schemas.microsoft.com/office/drawing/2014/main" id="{AD3F7298-6C89-EE89-3E9A-0B25DA94564C}"/>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19" name="Picture 18">
            <a:extLst>
              <a:ext uri="{FF2B5EF4-FFF2-40B4-BE49-F238E27FC236}">
                <a16:creationId xmlns:a16="http://schemas.microsoft.com/office/drawing/2014/main" id="{2EF5299E-1B7C-AA97-2B00-73C53140F88E}"/>
              </a:ext>
            </a:extLst>
          </p:cNvPr>
          <p:cNvPicPr>
            <a:picLocks noChangeAspect="1"/>
          </p:cNvPicPr>
          <p:nvPr/>
        </p:nvPicPr>
        <p:blipFill>
          <a:blip r:embed="rId5">
            <a:alphaModFix amt="20000"/>
          </a:blip>
          <a:stretch>
            <a:fillRect/>
          </a:stretch>
        </p:blipFill>
        <p:spPr>
          <a:xfrm>
            <a:off x="6301667" y="3841982"/>
            <a:ext cx="493908" cy="164636"/>
          </a:xfrm>
          <a:prstGeom prst="rect">
            <a:avLst/>
          </a:prstGeom>
        </p:spPr>
      </p:pic>
      <p:pic>
        <p:nvPicPr>
          <p:cNvPr id="17" name="Picture 16" descr="A pixelated cartoon of a dog&#10;&#10;AI-generated content may be incorrect.">
            <a:extLst>
              <a:ext uri="{FF2B5EF4-FFF2-40B4-BE49-F238E27FC236}">
                <a16:creationId xmlns:a16="http://schemas.microsoft.com/office/drawing/2014/main" id="{78936B8D-6122-F985-265D-5B2E6CEC95CF}"/>
              </a:ext>
            </a:extLst>
          </p:cNvPr>
          <p:cNvPicPr>
            <a:picLocks noChangeAspect="1"/>
          </p:cNvPicPr>
          <p:nvPr/>
        </p:nvPicPr>
        <p:blipFill>
          <a:blip r:embed="rId6"/>
          <a:stretch>
            <a:fillRect/>
          </a:stretch>
        </p:blipFill>
        <p:spPr>
          <a:xfrm flipH="1">
            <a:off x="6136300" y="4157050"/>
            <a:ext cx="539354" cy="792187"/>
          </a:xfrm>
          <a:prstGeom prst="rect">
            <a:avLst/>
          </a:prstGeom>
        </p:spPr>
      </p:pic>
      <p:sp>
        <p:nvSpPr>
          <p:cNvPr id="1000" name="Google Shape;1000;p37">
            <a:extLst>
              <a:ext uri="{FF2B5EF4-FFF2-40B4-BE49-F238E27FC236}">
                <a16:creationId xmlns:a16="http://schemas.microsoft.com/office/drawing/2014/main" id="{6A32EE8A-0DFD-7F7F-DA35-B894B7CD5258}"/>
              </a:ext>
            </a:extLst>
          </p:cNvPr>
          <p:cNvSpPr txBox="1">
            <a:spLocks noGrp="1"/>
          </p:cNvSpPr>
          <p:nvPr>
            <p:ph type="subTitle" idx="4294967295"/>
          </p:nvPr>
        </p:nvSpPr>
        <p:spPr>
          <a:xfrm>
            <a:off x="4616971" y="962531"/>
            <a:ext cx="4227226" cy="1112837"/>
          </a:xfrm>
          <a:prstGeom prst="rect">
            <a:avLst/>
          </a:prstGeom>
        </p:spPr>
        <p:txBody>
          <a:bodyPr spcFirstLastPara="1" wrap="square" lIns="91425" tIns="91425" rIns="91425" bIns="91425" anchor="t" anchorCtr="0">
            <a:noAutofit/>
          </a:body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The haunted ride</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A cursed, procedural horror attraction with its own twisted logic and unpredictable surprises.</a:t>
            </a:r>
          </a:p>
          <a:p>
            <a:pPr marL="0" indent="0">
              <a:lnSpc>
                <a:spcPts val="1400"/>
              </a:lnSpc>
              <a:buClr>
                <a:srgbClr val="BD6A62"/>
              </a:buClr>
              <a:buSzPts val="1100"/>
              <a:buNone/>
            </a:pP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Evolving madness</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Each run fuels a bizarre telenovela where twisted relationships and absurd drama unfold the deeper you go.</a:t>
            </a:r>
          </a:p>
        </p:txBody>
      </p:sp>
    </p:spTree>
    <p:extLst>
      <p:ext uri="{BB962C8B-B14F-4D97-AF65-F5344CB8AC3E}">
        <p14:creationId xmlns:p14="http://schemas.microsoft.com/office/powerpoint/2010/main" val="29351732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A87C6DD4-3F48-186B-FC05-1008CDCC13F5}"/>
            </a:ext>
          </a:extLst>
        </p:cNvPr>
        <p:cNvGrpSpPr/>
        <p:nvPr/>
      </p:nvGrpSpPr>
      <p:grpSpPr>
        <a:xfrm>
          <a:off x="0" y="0"/>
          <a:ext cx="0" cy="0"/>
          <a:chOff x="0" y="0"/>
          <a:chExt cx="0" cy="0"/>
        </a:xfrm>
      </p:grpSpPr>
      <p:pic>
        <p:nvPicPr>
          <p:cNvPr id="5" name="Picture 4" descr="A pixel art of a building">
            <a:extLst>
              <a:ext uri="{FF2B5EF4-FFF2-40B4-BE49-F238E27FC236}">
                <a16:creationId xmlns:a16="http://schemas.microsoft.com/office/drawing/2014/main" id="{7E95556F-87C4-1552-F8EB-11CC3133BC69}"/>
              </a:ext>
            </a:extLst>
          </p:cNvPr>
          <p:cNvPicPr>
            <a:picLocks noChangeAspect="1"/>
          </p:cNvPicPr>
          <p:nvPr/>
        </p:nvPicPr>
        <p:blipFill>
          <a:blip r:embed="rId3">
            <a:alphaModFix amt="70000"/>
          </a:blip>
          <a:stretch>
            <a:fillRect/>
          </a:stretch>
        </p:blipFill>
        <p:spPr>
          <a:xfrm>
            <a:off x="0" y="0"/>
            <a:ext cx="9144000" cy="5143500"/>
          </a:xfrm>
          <a:prstGeom prst="rect">
            <a:avLst/>
          </a:prstGeom>
        </p:spPr>
      </p:pic>
      <p:sp>
        <p:nvSpPr>
          <p:cNvPr id="3" name="Google Shape;999;p37">
            <a:extLst>
              <a:ext uri="{FF2B5EF4-FFF2-40B4-BE49-F238E27FC236}">
                <a16:creationId xmlns:a16="http://schemas.microsoft.com/office/drawing/2014/main" id="{EAA26DC9-34AA-AC7A-D05F-E1E80A36CD81}"/>
              </a:ext>
            </a:extLst>
          </p:cNvPr>
          <p:cNvSpPr txBox="1">
            <a:spLocks/>
          </p:cNvSpPr>
          <p:nvPr/>
        </p:nvSpPr>
        <p:spPr>
          <a:xfrm>
            <a:off x="1364104" y="296673"/>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Specifications</a:t>
            </a:r>
          </a:p>
        </p:txBody>
      </p:sp>
      <p:pic>
        <p:nvPicPr>
          <p:cNvPr id="7" name="Picture 6" descr="A red cross on a black background&#10;&#10;AI-generated content may be incorrect.">
            <a:extLst>
              <a:ext uri="{FF2B5EF4-FFF2-40B4-BE49-F238E27FC236}">
                <a16:creationId xmlns:a16="http://schemas.microsoft.com/office/drawing/2014/main" id="{58059D1C-4F8A-7E8E-18F5-B208D23AFEF8}"/>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
        <p:nvSpPr>
          <p:cNvPr id="2" name="Google Shape;1000;p37">
            <a:extLst>
              <a:ext uri="{FF2B5EF4-FFF2-40B4-BE49-F238E27FC236}">
                <a16:creationId xmlns:a16="http://schemas.microsoft.com/office/drawing/2014/main" id="{86D841F6-FB8E-4465-6E30-7C6E9B7E1BAD}"/>
              </a:ext>
            </a:extLst>
          </p:cNvPr>
          <p:cNvSpPr txBox="1">
            <a:spLocks/>
          </p:cNvSpPr>
          <p:nvPr/>
        </p:nvSpPr>
        <p:spPr>
          <a:xfrm>
            <a:off x="1759340" y="1195776"/>
            <a:ext cx="5625317" cy="137597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171450" indent="-171450">
              <a:lnSpc>
                <a:spcPct val="100000"/>
              </a:lnSpc>
              <a:buClr>
                <a:srgbClr val="BD6A62"/>
              </a:buClr>
              <a:buSzPts val="1100"/>
              <a:buFont typeface="Press Start 2P" panose="00000500000000000000" pitchFamily="2" charset="0"/>
              <a:buChar char="★"/>
            </a:pPr>
            <a:r>
              <a:rPr lang="en-US" sz="1050" dirty="0">
                <a:solidFill>
                  <a:srgbClr val="BD6A62"/>
                </a:solidFill>
                <a:effectLst>
                  <a:glow rad="228600">
                    <a:schemeClr val="accent4">
                      <a:satMod val="175000"/>
                      <a:alpha val="40000"/>
                    </a:schemeClr>
                  </a:glow>
                </a:effectLst>
                <a:latin typeface="Press Start 2P" panose="00000500000000000000" pitchFamily="2" charset="0"/>
              </a:rPr>
              <a:t>Genre:      </a:t>
            </a:r>
            <a: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t>2D roguelite adventure</a:t>
            </a:r>
            <a:b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br>
            <a:endPar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ct val="100000"/>
              </a:lnSpc>
              <a:buClr>
                <a:srgbClr val="BD6A62"/>
              </a:buClr>
              <a:buSzPts val="1100"/>
              <a:buFont typeface="Press Start 2P" panose="00000500000000000000" pitchFamily="2" charset="0"/>
              <a:buChar char="★"/>
            </a:pPr>
            <a:r>
              <a:rPr lang="en-US" sz="1050" dirty="0">
                <a:solidFill>
                  <a:srgbClr val="BD6A62"/>
                </a:solidFill>
                <a:effectLst>
                  <a:glow rad="228600">
                    <a:schemeClr val="accent4">
                      <a:satMod val="175000"/>
                      <a:alpha val="40000"/>
                    </a:schemeClr>
                  </a:glow>
                </a:effectLst>
                <a:latin typeface="Press Start 2P" panose="00000500000000000000" pitchFamily="2" charset="0"/>
              </a:rPr>
              <a:t>Graphics:   </a:t>
            </a:r>
            <a: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t>Pixel art / retro style (*)</a:t>
            </a:r>
            <a:b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br>
            <a:endPar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ct val="100000"/>
              </a:lnSpc>
              <a:buClr>
                <a:srgbClr val="BD6A62"/>
              </a:buClr>
              <a:buSzPts val="1100"/>
              <a:buFont typeface="Press Start 2P" panose="00000500000000000000" pitchFamily="2" charset="0"/>
              <a:buChar char="★"/>
            </a:pPr>
            <a:r>
              <a:rPr lang="en-US" sz="1050" dirty="0">
                <a:solidFill>
                  <a:srgbClr val="BD6A62"/>
                </a:solidFill>
                <a:effectLst>
                  <a:glow rad="228600">
                    <a:schemeClr val="accent4">
                      <a:satMod val="175000"/>
                      <a:alpha val="40000"/>
                    </a:schemeClr>
                  </a:glow>
                </a:effectLst>
                <a:latin typeface="Press Start 2P" panose="00000500000000000000" pitchFamily="2" charset="0"/>
              </a:rPr>
              <a:t>Rating:     </a:t>
            </a:r>
            <a: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t>Mature humor, mild blood</a:t>
            </a:r>
            <a:b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br>
            <a:endPar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ct val="100000"/>
              </a:lnSpc>
              <a:buClr>
                <a:srgbClr val="BD6A62"/>
              </a:buClr>
              <a:buSzPts val="1100"/>
              <a:buFont typeface="Press Start 2P" panose="00000500000000000000" pitchFamily="2" charset="0"/>
              <a:buChar char="★"/>
            </a:pPr>
            <a:r>
              <a:rPr lang="en-US" sz="1050" dirty="0">
                <a:solidFill>
                  <a:srgbClr val="BD6A62"/>
                </a:solidFill>
                <a:effectLst>
                  <a:glow rad="228600">
                    <a:schemeClr val="accent4">
                      <a:satMod val="175000"/>
                      <a:alpha val="40000"/>
                    </a:schemeClr>
                  </a:glow>
                </a:effectLst>
                <a:latin typeface="Press Start 2P" panose="00000500000000000000" pitchFamily="2" charset="0"/>
              </a:rPr>
              <a:t>Audience:   </a:t>
            </a:r>
            <a: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t>13+/roguelite players</a:t>
            </a:r>
            <a:b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br>
            <a:endPar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171450" indent="-171450">
              <a:lnSpc>
                <a:spcPct val="150000"/>
              </a:lnSpc>
              <a:buClr>
                <a:srgbClr val="BD6A62"/>
              </a:buClr>
              <a:buSzPts val="1100"/>
              <a:buFont typeface="Press Start 2P" panose="00000500000000000000" pitchFamily="2" charset="0"/>
              <a:buChar char="★"/>
            </a:pPr>
            <a:r>
              <a:rPr lang="en-US" sz="1050" dirty="0">
                <a:solidFill>
                  <a:srgbClr val="BD6A62"/>
                </a:solidFill>
                <a:effectLst>
                  <a:glow rad="228600">
                    <a:schemeClr val="accent4">
                      <a:satMod val="175000"/>
                      <a:alpha val="40000"/>
                    </a:schemeClr>
                  </a:glow>
                </a:effectLst>
                <a:latin typeface="Press Start 2P" panose="00000500000000000000" pitchFamily="2" charset="0"/>
              </a:rPr>
              <a:t>Technology: </a:t>
            </a:r>
            <a:r>
              <a:rPr lang="en-US" sz="1050" dirty="0">
                <a:solidFill>
                  <a:schemeClr val="bg1">
                    <a:lumMod val="75000"/>
                  </a:schemeClr>
                </a:solidFill>
                <a:effectLst>
                  <a:glow rad="228600">
                    <a:schemeClr val="accent4">
                      <a:satMod val="175000"/>
                      <a:alpha val="40000"/>
                    </a:schemeClr>
                  </a:glow>
                </a:effectLst>
                <a:latin typeface="Press Start 2P" panose="00000500000000000000" pitchFamily="2" charset="0"/>
              </a:rPr>
              <a:t>MonoGame/Proprietary engine</a:t>
            </a:r>
          </a:p>
        </p:txBody>
      </p:sp>
      <p:pic>
        <p:nvPicPr>
          <p:cNvPr id="8" name="Picture 7" descr="A pixelated image of a dog&#10;&#10;AI-generated content may be incorrect.">
            <a:extLst>
              <a:ext uri="{FF2B5EF4-FFF2-40B4-BE49-F238E27FC236}">
                <a16:creationId xmlns:a16="http://schemas.microsoft.com/office/drawing/2014/main" id="{04495AA6-FD25-DEAE-6B39-1715871E12AA}"/>
              </a:ext>
            </a:extLst>
          </p:cNvPr>
          <p:cNvPicPr>
            <a:picLocks noChangeAspect="1"/>
          </p:cNvPicPr>
          <p:nvPr/>
        </p:nvPicPr>
        <p:blipFill>
          <a:blip r:embed="rId5">
            <a:extLst>
              <a:ext uri="{BEBA8EAE-BF5A-486C-A8C5-ECC9F3942E4B}">
                <a14:imgProps xmlns:a14="http://schemas.microsoft.com/office/drawing/2010/main">
                  <a14:imgLayer r:embed="rId6">
                    <a14:imgEffect>
                      <a14:brightnessContrast bright="-40000" contrast="-20000"/>
                    </a14:imgEffect>
                  </a14:imgLayer>
                </a14:imgProps>
              </a:ext>
            </a:extLst>
          </a:blip>
          <a:stretch>
            <a:fillRect/>
          </a:stretch>
        </p:blipFill>
        <p:spPr>
          <a:xfrm>
            <a:off x="745053" y="3771271"/>
            <a:ext cx="664023" cy="901174"/>
          </a:xfrm>
          <a:prstGeom prst="rect">
            <a:avLst/>
          </a:prstGeom>
        </p:spPr>
      </p:pic>
      <p:pic>
        <p:nvPicPr>
          <p:cNvPr id="9" name="Picture 8" descr="A pixelated image of a dog&#10;&#10;AI-generated content may be incorrect.">
            <a:extLst>
              <a:ext uri="{FF2B5EF4-FFF2-40B4-BE49-F238E27FC236}">
                <a16:creationId xmlns:a16="http://schemas.microsoft.com/office/drawing/2014/main" id="{68A93E69-E461-0C0D-BD03-91E80670615F}"/>
              </a:ext>
            </a:extLst>
          </p:cNvPr>
          <p:cNvPicPr>
            <a:picLocks noChangeAspect="1"/>
          </p:cNvPicPr>
          <p:nvPr/>
        </p:nvPicPr>
        <p:blipFill>
          <a:blip r:embed="rId7"/>
          <a:stretch>
            <a:fillRect/>
          </a:stretch>
        </p:blipFill>
        <p:spPr>
          <a:xfrm flipH="1">
            <a:off x="8337132" y="3430724"/>
            <a:ext cx="501859" cy="681094"/>
          </a:xfrm>
          <a:prstGeom prst="rect">
            <a:avLst/>
          </a:prstGeom>
        </p:spPr>
      </p:pic>
      <p:pic>
        <p:nvPicPr>
          <p:cNvPr id="4" name="Picture 3">
            <a:extLst>
              <a:ext uri="{FF2B5EF4-FFF2-40B4-BE49-F238E27FC236}">
                <a16:creationId xmlns:a16="http://schemas.microsoft.com/office/drawing/2014/main" id="{3B963E86-3304-C63F-E681-2BE5FC3034B3}"/>
              </a:ext>
            </a:extLst>
          </p:cNvPr>
          <p:cNvPicPr>
            <a:picLocks noChangeAspect="1"/>
          </p:cNvPicPr>
          <p:nvPr/>
        </p:nvPicPr>
        <p:blipFill>
          <a:blip r:embed="rId8"/>
          <a:stretch>
            <a:fillRect/>
          </a:stretch>
        </p:blipFill>
        <p:spPr>
          <a:xfrm>
            <a:off x="7734924" y="500393"/>
            <a:ext cx="685800" cy="457200"/>
          </a:xfrm>
          <a:prstGeom prst="rect">
            <a:avLst/>
          </a:prstGeom>
        </p:spPr>
      </p:pic>
      <p:pic>
        <p:nvPicPr>
          <p:cNvPr id="10" name="Picture 9">
            <a:extLst>
              <a:ext uri="{FF2B5EF4-FFF2-40B4-BE49-F238E27FC236}">
                <a16:creationId xmlns:a16="http://schemas.microsoft.com/office/drawing/2014/main" id="{6EB32B4E-EF58-3837-BAD1-C038CB9BC737}"/>
              </a:ext>
            </a:extLst>
          </p:cNvPr>
          <p:cNvPicPr>
            <a:picLocks noChangeAspect="1"/>
          </p:cNvPicPr>
          <p:nvPr/>
        </p:nvPicPr>
        <p:blipFill>
          <a:blip r:embed="rId8"/>
          <a:stretch>
            <a:fillRect/>
          </a:stretch>
        </p:blipFill>
        <p:spPr>
          <a:xfrm flipH="1">
            <a:off x="7164225" y="328140"/>
            <a:ext cx="508195" cy="344507"/>
          </a:xfrm>
          <a:prstGeom prst="rect">
            <a:avLst/>
          </a:prstGeom>
        </p:spPr>
      </p:pic>
      <p:sp>
        <p:nvSpPr>
          <p:cNvPr id="11" name="TextBox 10">
            <a:extLst>
              <a:ext uri="{FF2B5EF4-FFF2-40B4-BE49-F238E27FC236}">
                <a16:creationId xmlns:a16="http://schemas.microsoft.com/office/drawing/2014/main" id="{8325E361-DB9D-87B7-4A46-08C7E896D3B1}"/>
              </a:ext>
            </a:extLst>
          </p:cNvPr>
          <p:cNvSpPr txBox="1"/>
          <p:nvPr/>
        </p:nvSpPr>
        <p:spPr>
          <a:xfrm>
            <a:off x="1812873" y="4261362"/>
            <a:ext cx="5518252" cy="553998"/>
          </a:xfrm>
          <a:prstGeom prst="rect">
            <a:avLst/>
          </a:prstGeom>
          <a:noFill/>
        </p:spPr>
        <p:txBody>
          <a:bodyPr wrap="square">
            <a:spAutoFit/>
          </a:bodyPr>
          <a:lstStyle/>
          <a:p>
            <a:pPr algn="ctr"/>
            <a:r>
              <a:rPr lang="en-US" sz="1000" dirty="0">
                <a:solidFill>
                  <a:schemeClr val="bg1">
                    <a:lumMod val="50000"/>
                  </a:schemeClr>
                </a:solidFill>
                <a:effectLst>
                  <a:glow rad="139700">
                    <a:schemeClr val="accent4">
                      <a:satMod val="175000"/>
                      <a:alpha val="40000"/>
                    </a:schemeClr>
                  </a:glow>
                </a:effectLst>
                <a:latin typeface="Press Start 2P" panose="00000500000000000000" pitchFamily="2" charset="0"/>
                <a:sym typeface="Maven Pro"/>
              </a:rPr>
              <a:t>(*) Native low resolution scaled to HD, enhanced with a CRT-style filter for an authentic arcade feel.</a:t>
            </a:r>
          </a:p>
        </p:txBody>
      </p:sp>
      <p:pic>
        <p:nvPicPr>
          <p:cNvPr id="6" name="Picture 5">
            <a:extLst>
              <a:ext uri="{FF2B5EF4-FFF2-40B4-BE49-F238E27FC236}">
                <a16:creationId xmlns:a16="http://schemas.microsoft.com/office/drawing/2014/main" id="{7D37DD80-10CD-85E4-85F2-BAD1FF587BBC}"/>
              </a:ext>
            </a:extLst>
          </p:cNvPr>
          <p:cNvPicPr>
            <a:picLocks noChangeAspect="1"/>
          </p:cNvPicPr>
          <p:nvPr/>
        </p:nvPicPr>
        <p:blipFill>
          <a:blip r:embed="rId8"/>
          <a:stretch>
            <a:fillRect/>
          </a:stretch>
        </p:blipFill>
        <p:spPr>
          <a:xfrm>
            <a:off x="608254" y="201855"/>
            <a:ext cx="409927" cy="252569"/>
          </a:xfrm>
          <a:prstGeom prst="rect">
            <a:avLst/>
          </a:prstGeom>
        </p:spPr>
      </p:pic>
    </p:spTree>
    <p:extLst>
      <p:ext uri="{BB962C8B-B14F-4D97-AF65-F5344CB8AC3E}">
        <p14:creationId xmlns:p14="http://schemas.microsoft.com/office/powerpoint/2010/main" val="29129890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B2F170F1-E5B9-6C28-129A-6FF76EE3A5DD}"/>
            </a:ext>
          </a:extLst>
        </p:cNvPr>
        <p:cNvGrpSpPr/>
        <p:nvPr/>
      </p:nvGrpSpPr>
      <p:grpSpPr>
        <a:xfrm>
          <a:off x="0" y="0"/>
          <a:ext cx="0" cy="0"/>
          <a:chOff x="0" y="0"/>
          <a:chExt cx="0" cy="0"/>
        </a:xfrm>
      </p:grpSpPr>
      <p:pic>
        <p:nvPicPr>
          <p:cNvPr id="5" name="Picture 4" descr="A pixel art of a building">
            <a:extLst>
              <a:ext uri="{FF2B5EF4-FFF2-40B4-BE49-F238E27FC236}">
                <a16:creationId xmlns:a16="http://schemas.microsoft.com/office/drawing/2014/main" id="{3DC4AB54-366E-E0A2-1159-FF5B92ACFE5C}"/>
              </a:ext>
            </a:extLst>
          </p:cNvPr>
          <p:cNvPicPr>
            <a:picLocks noGrp="1" noRot="1" noChangeAspect="1" noMove="1" noResize="1" noEditPoints="1" noAdjustHandles="1" noChangeArrowheads="1" noChangeShapeType="1" noCrop="1"/>
          </p:cNvPicPr>
          <p:nvPr/>
        </p:nvPicPr>
        <p:blipFill>
          <a:blip r:embed="rId3">
            <a:alphaModFix amt="70000"/>
          </a:blip>
          <a:stretch>
            <a:fillRect/>
          </a:stretch>
        </p:blipFill>
        <p:spPr>
          <a:xfrm>
            <a:off x="0" y="0"/>
            <a:ext cx="9144000" cy="5143500"/>
          </a:xfrm>
          <a:prstGeom prst="rect">
            <a:avLst/>
          </a:prstGeom>
        </p:spPr>
      </p:pic>
      <p:sp>
        <p:nvSpPr>
          <p:cNvPr id="1000" name="Google Shape;1000;p37">
            <a:extLst>
              <a:ext uri="{FF2B5EF4-FFF2-40B4-BE49-F238E27FC236}">
                <a16:creationId xmlns:a16="http://schemas.microsoft.com/office/drawing/2014/main" id="{91AF0787-BB08-0706-A505-8310F24C57AE}"/>
              </a:ext>
            </a:extLst>
          </p:cNvPr>
          <p:cNvSpPr txBox="1">
            <a:spLocks noGrp="1"/>
          </p:cNvSpPr>
          <p:nvPr>
            <p:ph type="subTitle" idx="4294967295"/>
          </p:nvPr>
        </p:nvSpPr>
        <p:spPr>
          <a:xfrm>
            <a:off x="738559" y="887265"/>
            <a:ext cx="3833441" cy="1112838"/>
          </a:xfrm>
          <a:prstGeom prst="rect">
            <a:avLst/>
          </a:prstGeom>
        </p:spPr>
        <p:txBody>
          <a:bodyPr spcFirstLastPara="1" wrap="square" lIns="91425" tIns="91425" rIns="91425" bIns="91425" anchor="t" anchorCtr="0">
            <a:noAutofit/>
          </a:bodyPr>
          <a:lstStyle/>
          <a:p>
            <a:pPr marL="0" indent="0">
              <a:lnSpc>
                <a:spcPct val="150000"/>
              </a:lnSpc>
              <a:buClr>
                <a:srgbClr val="8F4D57"/>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The attraction</a:t>
            </a:r>
            <a:b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b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Snuggleville’s amusement park was once home to Remizione, a grotesque horror ride.</a:t>
            </a:r>
          </a:p>
          <a:p>
            <a:pPr marL="0" indent="0">
              <a:lnSpc>
                <a:spcPct val="150000"/>
              </a:lnSpc>
              <a:buClr>
                <a:srgbClr val="8F4D57"/>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ct val="150000"/>
              </a:lnSpc>
              <a:buClr>
                <a:srgbClr val="8F4D57"/>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The incident</a:t>
            </a:r>
          </a:p>
          <a:p>
            <a:pPr marL="0" indent="0">
              <a:lnSpc>
                <a:spcPct val="150000"/>
              </a:lnSpc>
              <a:buClr>
                <a:srgbClr val="8F4D57"/>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During the grand opening, the ride’s designer and a group of celebrity guests stepped into the attraction… and never came out. The park was deemed haunted and soon went bankrupt.</a:t>
            </a:r>
          </a:p>
        </p:txBody>
      </p:sp>
      <p:sp>
        <p:nvSpPr>
          <p:cNvPr id="2" name="Google Shape;999;p37">
            <a:extLst>
              <a:ext uri="{FF2B5EF4-FFF2-40B4-BE49-F238E27FC236}">
                <a16:creationId xmlns:a16="http://schemas.microsoft.com/office/drawing/2014/main" id="{BD0D7D64-8BF2-0887-A6B2-640C4F8F13FA}"/>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Story &amp; Setting</a:t>
            </a:r>
          </a:p>
        </p:txBody>
      </p:sp>
      <p:sp>
        <p:nvSpPr>
          <p:cNvPr id="3" name="Google Shape;1000;p37">
            <a:extLst>
              <a:ext uri="{FF2B5EF4-FFF2-40B4-BE49-F238E27FC236}">
                <a16:creationId xmlns:a16="http://schemas.microsoft.com/office/drawing/2014/main" id="{52D5C695-4990-1D0D-E6CB-6796CBE63E16}"/>
              </a:ext>
            </a:extLst>
          </p:cNvPr>
          <p:cNvSpPr txBox="1">
            <a:spLocks/>
          </p:cNvSpPr>
          <p:nvPr/>
        </p:nvSpPr>
        <p:spPr>
          <a:xfrm>
            <a:off x="4744794" y="887265"/>
            <a:ext cx="3908686" cy="11128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ct val="150000"/>
              </a:lnSpc>
              <a:buClr>
                <a:srgbClr val="8F4D57"/>
              </a:buClr>
              <a:buSzPts val="1100"/>
              <a:buFont typeface="Maven Pro"/>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The unexpected heroes</a:t>
            </a:r>
          </a:p>
          <a:p>
            <a:pPr marL="0" indent="0">
              <a:lnSpc>
                <a:spcPct val="150000"/>
              </a:lnSpc>
              <a:buClr>
                <a:srgbClr val="8F4D57"/>
              </a:buClr>
              <a:buSzPts val="1100"/>
              <a:buFont typeface="Maven Pro"/>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Many years later, twins Edmund and Berta Idle sneak inside to investigate.</a:t>
            </a:r>
          </a:p>
          <a:p>
            <a:pPr marL="0" indent="0">
              <a:lnSpc>
                <a:spcPct val="150000"/>
              </a:lnSpc>
              <a:buClr>
                <a:srgbClr val="8F4D57"/>
              </a:buClr>
              <a:buSzPts val="1100"/>
              <a:buFont typeface="Maven Pro"/>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ct val="150000"/>
              </a:lnSpc>
              <a:buClr>
                <a:srgbClr val="8F4D57"/>
              </a:buClr>
              <a:buSzPts val="1100"/>
              <a:buFont typeface="Maven Pro"/>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The evil curse</a:t>
            </a:r>
          </a:p>
          <a:p>
            <a:pPr marL="0" indent="0">
              <a:lnSpc>
                <a:spcPct val="150000"/>
              </a:lnSpc>
              <a:buClr>
                <a:srgbClr val="8F4D57"/>
              </a:buClr>
              <a:buSzPts val="1100"/>
              <a:buFont typeface="Maven Pro"/>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The attraction is now ruled by Mandinga — the Devil’s only son and heir.</a:t>
            </a:r>
          </a:p>
        </p:txBody>
      </p:sp>
      <p:pic>
        <p:nvPicPr>
          <p:cNvPr id="6" name="Picture 5" descr="A red cross on a black background&#10;&#10;AI-generated content may be incorrect.">
            <a:extLst>
              <a:ext uri="{FF2B5EF4-FFF2-40B4-BE49-F238E27FC236}">
                <a16:creationId xmlns:a16="http://schemas.microsoft.com/office/drawing/2014/main" id="{F57E524A-5833-BCC7-087B-B4832FE7002A}"/>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7" name="Picture 6">
            <a:extLst>
              <a:ext uri="{FF2B5EF4-FFF2-40B4-BE49-F238E27FC236}">
                <a16:creationId xmlns:a16="http://schemas.microsoft.com/office/drawing/2014/main" id="{96DFC314-2C6B-C30B-5D27-D980F4ABF0C6}"/>
              </a:ext>
            </a:extLst>
          </p:cNvPr>
          <p:cNvPicPr>
            <a:picLocks noChangeAspect="1"/>
          </p:cNvPicPr>
          <p:nvPr/>
        </p:nvPicPr>
        <p:blipFill>
          <a:blip r:embed="rId5">
            <a:alphaModFix amt="50000"/>
          </a:blip>
          <a:stretch>
            <a:fillRect/>
          </a:stretch>
        </p:blipFill>
        <p:spPr>
          <a:xfrm>
            <a:off x="4120103" y="4681778"/>
            <a:ext cx="321103" cy="160552"/>
          </a:xfrm>
          <a:prstGeom prst="rect">
            <a:avLst/>
          </a:prstGeom>
        </p:spPr>
      </p:pic>
      <p:pic>
        <p:nvPicPr>
          <p:cNvPr id="11" name="Picture 10" descr="A pixelated image of a person&#10;&#10;AI-generated content may be incorrect.">
            <a:extLst>
              <a:ext uri="{FF2B5EF4-FFF2-40B4-BE49-F238E27FC236}">
                <a16:creationId xmlns:a16="http://schemas.microsoft.com/office/drawing/2014/main" id="{190BA5B4-62E2-6E38-89ED-FF2C6BD5D7BB}"/>
              </a:ext>
            </a:extLst>
          </p:cNvPr>
          <p:cNvPicPr>
            <a:picLocks noChangeAspect="1"/>
          </p:cNvPicPr>
          <p:nvPr/>
        </p:nvPicPr>
        <p:blipFill>
          <a:blip r:embed="rId6"/>
          <a:stretch>
            <a:fillRect/>
          </a:stretch>
        </p:blipFill>
        <p:spPr>
          <a:xfrm>
            <a:off x="4135567" y="3981286"/>
            <a:ext cx="478190" cy="765104"/>
          </a:xfrm>
          <a:prstGeom prst="rect">
            <a:avLst/>
          </a:prstGeom>
        </p:spPr>
      </p:pic>
      <p:pic>
        <p:nvPicPr>
          <p:cNvPr id="8" name="Picture 7">
            <a:extLst>
              <a:ext uri="{FF2B5EF4-FFF2-40B4-BE49-F238E27FC236}">
                <a16:creationId xmlns:a16="http://schemas.microsoft.com/office/drawing/2014/main" id="{83C10FDB-09DC-516C-B3B4-D44D5667B930}"/>
              </a:ext>
            </a:extLst>
          </p:cNvPr>
          <p:cNvPicPr>
            <a:picLocks noChangeAspect="1"/>
          </p:cNvPicPr>
          <p:nvPr/>
        </p:nvPicPr>
        <p:blipFill>
          <a:blip r:embed="rId5">
            <a:alphaModFix amt="50000"/>
          </a:blip>
          <a:stretch>
            <a:fillRect/>
          </a:stretch>
        </p:blipFill>
        <p:spPr>
          <a:xfrm>
            <a:off x="4882874" y="4681778"/>
            <a:ext cx="321103" cy="160552"/>
          </a:xfrm>
          <a:prstGeom prst="rect">
            <a:avLst/>
          </a:prstGeom>
        </p:spPr>
      </p:pic>
      <p:pic>
        <p:nvPicPr>
          <p:cNvPr id="10" name="Picture 9" descr="A pixelated image of a person&#10;&#10;AI-generated content may be incorrect.">
            <a:extLst>
              <a:ext uri="{FF2B5EF4-FFF2-40B4-BE49-F238E27FC236}">
                <a16:creationId xmlns:a16="http://schemas.microsoft.com/office/drawing/2014/main" id="{12DF15CB-D3B2-C074-8F60-A1CFC9342ABA}"/>
              </a:ext>
            </a:extLst>
          </p:cNvPr>
          <p:cNvPicPr>
            <a:picLocks noChangeAspect="1"/>
          </p:cNvPicPr>
          <p:nvPr/>
        </p:nvPicPr>
        <p:blipFill>
          <a:blip r:embed="rId7"/>
          <a:stretch>
            <a:fillRect/>
          </a:stretch>
        </p:blipFill>
        <p:spPr>
          <a:xfrm flipH="1">
            <a:off x="4679671" y="4053098"/>
            <a:ext cx="478190" cy="717285"/>
          </a:xfrm>
          <a:prstGeom prst="rect">
            <a:avLst/>
          </a:prstGeom>
        </p:spPr>
      </p:pic>
    </p:spTree>
    <p:extLst>
      <p:ext uri="{BB962C8B-B14F-4D97-AF65-F5344CB8AC3E}">
        <p14:creationId xmlns:p14="http://schemas.microsoft.com/office/powerpoint/2010/main" val="10994632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DD1723FF-E9EE-FE68-3C65-1369673D6F90}"/>
            </a:ext>
          </a:extLst>
        </p:cNvPr>
        <p:cNvGrpSpPr/>
        <p:nvPr/>
      </p:nvGrpSpPr>
      <p:grpSpPr>
        <a:xfrm>
          <a:off x="0" y="0"/>
          <a:ext cx="0" cy="0"/>
          <a:chOff x="0" y="0"/>
          <a:chExt cx="0" cy="0"/>
        </a:xfrm>
      </p:grpSpPr>
      <p:pic>
        <p:nvPicPr>
          <p:cNvPr id="4" name="Picture 3" descr="A pixel art of a building">
            <a:extLst>
              <a:ext uri="{FF2B5EF4-FFF2-40B4-BE49-F238E27FC236}">
                <a16:creationId xmlns:a16="http://schemas.microsoft.com/office/drawing/2014/main" id="{8BC3450D-6942-EDAA-05D6-501443985E59}"/>
              </a:ext>
            </a:extLst>
          </p:cNvPr>
          <p:cNvPicPr>
            <a:picLocks noGrp="1" noRot="1" noChangeAspect="1" noMove="1" noResize="1" noEditPoints="1" noAdjustHandles="1" noChangeArrowheads="1" noChangeShapeType="1" noCrop="1"/>
          </p:cNvPicPr>
          <p:nvPr/>
        </p:nvPicPr>
        <p:blipFill>
          <a:blip r:embed="rId3">
            <a:alphaModFix amt="50000"/>
          </a:blip>
          <a:stretch>
            <a:fillRect/>
          </a:stretch>
        </p:blipFill>
        <p:spPr>
          <a:xfrm>
            <a:off x="0" y="0"/>
            <a:ext cx="9144000" cy="5143500"/>
          </a:xfrm>
          <a:prstGeom prst="rect">
            <a:avLst/>
          </a:prstGeom>
        </p:spPr>
      </p:pic>
      <p:sp>
        <p:nvSpPr>
          <p:cNvPr id="12" name="Google Shape;999;p37">
            <a:extLst>
              <a:ext uri="{FF2B5EF4-FFF2-40B4-BE49-F238E27FC236}">
                <a16:creationId xmlns:a16="http://schemas.microsoft.com/office/drawing/2014/main" id="{DC0A741D-EA39-9191-ED36-6BC0FFD7E1AF}"/>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Main Cast</a:t>
            </a:r>
          </a:p>
        </p:txBody>
      </p:sp>
      <p:pic>
        <p:nvPicPr>
          <p:cNvPr id="13" name="Picture 12" descr="A red cross on a black background&#10;&#10;AI-generated content may be incorrect.">
            <a:extLst>
              <a:ext uri="{FF2B5EF4-FFF2-40B4-BE49-F238E27FC236}">
                <a16:creationId xmlns:a16="http://schemas.microsoft.com/office/drawing/2014/main" id="{0C75137F-5DB8-A6FB-FE99-A4F840DA7F26}"/>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19" name="Picture 18">
            <a:extLst>
              <a:ext uri="{FF2B5EF4-FFF2-40B4-BE49-F238E27FC236}">
                <a16:creationId xmlns:a16="http://schemas.microsoft.com/office/drawing/2014/main" id="{432AA4F5-F688-78E9-DDCB-AF9A8448CAAF}"/>
              </a:ext>
            </a:extLst>
          </p:cNvPr>
          <p:cNvPicPr>
            <a:picLocks noChangeAspect="1"/>
          </p:cNvPicPr>
          <p:nvPr/>
        </p:nvPicPr>
        <p:blipFill>
          <a:blip r:embed="rId5">
            <a:alphaModFix amt="20000"/>
          </a:blip>
          <a:stretch>
            <a:fillRect/>
          </a:stretch>
        </p:blipFill>
        <p:spPr>
          <a:xfrm>
            <a:off x="6301667" y="3794917"/>
            <a:ext cx="493908" cy="164636"/>
          </a:xfrm>
          <a:prstGeom prst="rect">
            <a:avLst/>
          </a:prstGeom>
        </p:spPr>
      </p:pic>
      <p:pic>
        <p:nvPicPr>
          <p:cNvPr id="3" name="Picture 2" descr="A pixelated image of a person&#10;&#10;AI-generated content may be incorrect.">
            <a:extLst>
              <a:ext uri="{FF2B5EF4-FFF2-40B4-BE49-F238E27FC236}">
                <a16:creationId xmlns:a16="http://schemas.microsoft.com/office/drawing/2014/main" id="{4FAB5B60-11AE-E4A4-2AB4-8BC620D7406C}"/>
              </a:ext>
            </a:extLst>
          </p:cNvPr>
          <p:cNvPicPr>
            <a:picLocks noChangeAspect="1"/>
          </p:cNvPicPr>
          <p:nvPr/>
        </p:nvPicPr>
        <p:blipFill>
          <a:blip r:embed="rId6"/>
          <a:stretch>
            <a:fillRect/>
          </a:stretch>
        </p:blipFill>
        <p:spPr>
          <a:xfrm>
            <a:off x="518965" y="1042405"/>
            <a:ext cx="485514" cy="728272"/>
          </a:xfrm>
          <a:prstGeom prst="rect">
            <a:avLst/>
          </a:prstGeom>
        </p:spPr>
      </p:pic>
      <p:pic>
        <p:nvPicPr>
          <p:cNvPr id="5" name="Picture 4" descr="A pixelated image of a person&#10;&#10;AI-generated content may be incorrect.">
            <a:extLst>
              <a:ext uri="{FF2B5EF4-FFF2-40B4-BE49-F238E27FC236}">
                <a16:creationId xmlns:a16="http://schemas.microsoft.com/office/drawing/2014/main" id="{09862270-43F5-6292-EB54-C4F461EFA273}"/>
              </a:ext>
            </a:extLst>
          </p:cNvPr>
          <p:cNvPicPr>
            <a:picLocks noChangeAspect="1"/>
          </p:cNvPicPr>
          <p:nvPr/>
        </p:nvPicPr>
        <p:blipFill>
          <a:blip r:embed="rId7"/>
          <a:stretch>
            <a:fillRect/>
          </a:stretch>
        </p:blipFill>
        <p:spPr>
          <a:xfrm>
            <a:off x="550034" y="2141383"/>
            <a:ext cx="455170" cy="728272"/>
          </a:xfrm>
          <a:prstGeom prst="rect">
            <a:avLst/>
          </a:prstGeom>
        </p:spPr>
      </p:pic>
      <p:pic>
        <p:nvPicPr>
          <p:cNvPr id="7" name="Picture 6" descr="A pixelated cartoon of a dog&#10;&#10;AI-generated content may be incorrect.">
            <a:extLst>
              <a:ext uri="{FF2B5EF4-FFF2-40B4-BE49-F238E27FC236}">
                <a16:creationId xmlns:a16="http://schemas.microsoft.com/office/drawing/2014/main" id="{051CC362-E370-95CD-DCEF-76C7BF0C59A7}"/>
              </a:ext>
            </a:extLst>
          </p:cNvPr>
          <p:cNvPicPr>
            <a:picLocks noChangeAspect="1"/>
          </p:cNvPicPr>
          <p:nvPr/>
        </p:nvPicPr>
        <p:blipFill>
          <a:blip r:embed="rId8"/>
          <a:stretch>
            <a:fillRect/>
          </a:stretch>
        </p:blipFill>
        <p:spPr>
          <a:xfrm>
            <a:off x="4998634" y="1066548"/>
            <a:ext cx="624580" cy="892256"/>
          </a:xfrm>
          <a:prstGeom prst="rect">
            <a:avLst/>
          </a:prstGeom>
        </p:spPr>
      </p:pic>
      <p:pic>
        <p:nvPicPr>
          <p:cNvPr id="15" name="Picture 14" descr="A cartoon of a person wearing glasses&#10;&#10;AI-generated content may be incorrect.">
            <a:extLst>
              <a:ext uri="{FF2B5EF4-FFF2-40B4-BE49-F238E27FC236}">
                <a16:creationId xmlns:a16="http://schemas.microsoft.com/office/drawing/2014/main" id="{CFEDD57E-7C8F-ACB0-4CBB-424E9AF13E73}"/>
              </a:ext>
            </a:extLst>
          </p:cNvPr>
          <p:cNvPicPr>
            <a:picLocks noChangeAspect="1"/>
          </p:cNvPicPr>
          <p:nvPr/>
        </p:nvPicPr>
        <p:blipFill>
          <a:blip r:embed="rId9"/>
          <a:stretch>
            <a:fillRect/>
          </a:stretch>
        </p:blipFill>
        <p:spPr>
          <a:xfrm>
            <a:off x="173466" y="3045216"/>
            <a:ext cx="1046610" cy="951463"/>
          </a:xfrm>
          <a:prstGeom prst="rect">
            <a:avLst/>
          </a:prstGeom>
        </p:spPr>
      </p:pic>
      <p:pic>
        <p:nvPicPr>
          <p:cNvPr id="18" name="Picture 17">
            <a:extLst>
              <a:ext uri="{FF2B5EF4-FFF2-40B4-BE49-F238E27FC236}">
                <a16:creationId xmlns:a16="http://schemas.microsoft.com/office/drawing/2014/main" id="{0E81F1C1-7C7A-D6E0-EE54-F21E4A0C706F}"/>
              </a:ext>
            </a:extLst>
          </p:cNvPr>
          <p:cNvPicPr>
            <a:picLocks noChangeAspect="1"/>
          </p:cNvPicPr>
          <p:nvPr/>
        </p:nvPicPr>
        <p:blipFill>
          <a:blip r:embed="rId10"/>
          <a:srcRect/>
          <a:stretch/>
        </p:blipFill>
        <p:spPr>
          <a:xfrm>
            <a:off x="4975198" y="2372835"/>
            <a:ext cx="671452" cy="1298140"/>
          </a:xfrm>
          <a:prstGeom prst="rect">
            <a:avLst/>
          </a:prstGeom>
        </p:spPr>
      </p:pic>
      <p:sp>
        <p:nvSpPr>
          <p:cNvPr id="20" name="Google Shape;1000;p37">
            <a:extLst>
              <a:ext uri="{FF2B5EF4-FFF2-40B4-BE49-F238E27FC236}">
                <a16:creationId xmlns:a16="http://schemas.microsoft.com/office/drawing/2014/main" id="{B8DB2753-2FC1-8F9C-F97E-5CA6B1B1E579}"/>
              </a:ext>
            </a:extLst>
          </p:cNvPr>
          <p:cNvSpPr txBox="1">
            <a:spLocks/>
          </p:cNvSpPr>
          <p:nvPr/>
        </p:nvSpPr>
        <p:spPr>
          <a:xfrm>
            <a:off x="1046182" y="902675"/>
            <a:ext cx="3675719" cy="105612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Edmund Idle</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Co-writes “Mysterious Mysteries” magazine with his twin sister.</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At 41, he still lives with his mom and sister Berta.</a:t>
            </a:r>
          </a:p>
          <a:p>
            <a:pPr marL="0" indent="0">
              <a:lnSpc>
                <a:spcPts val="1400"/>
              </a:lnSpc>
              <a:buClr>
                <a:srgbClr val="BD6A62"/>
              </a:buClr>
              <a:buSzPts val="1100"/>
              <a:buNone/>
            </a:pPr>
            <a:endPar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p:txBody>
      </p:sp>
      <p:sp>
        <p:nvSpPr>
          <p:cNvPr id="21" name="Google Shape;1000;p37">
            <a:extLst>
              <a:ext uri="{FF2B5EF4-FFF2-40B4-BE49-F238E27FC236}">
                <a16:creationId xmlns:a16="http://schemas.microsoft.com/office/drawing/2014/main" id="{621B3F80-D839-0F51-3D70-77CAAA9A2559}"/>
              </a:ext>
            </a:extLst>
          </p:cNvPr>
          <p:cNvSpPr txBox="1">
            <a:spLocks/>
          </p:cNvSpPr>
          <p:nvPr/>
        </p:nvSpPr>
        <p:spPr>
          <a:xfrm>
            <a:off x="1048053" y="2070650"/>
            <a:ext cx="3841447" cy="83935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Berta Idle</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Co-writes with her brother Edmund. At 41, still at home, avoiding both responsibility and fatigue.</a:t>
            </a:r>
          </a:p>
        </p:txBody>
      </p:sp>
      <p:sp>
        <p:nvSpPr>
          <p:cNvPr id="22" name="Google Shape;1000;p37">
            <a:extLst>
              <a:ext uri="{FF2B5EF4-FFF2-40B4-BE49-F238E27FC236}">
                <a16:creationId xmlns:a16="http://schemas.microsoft.com/office/drawing/2014/main" id="{E5344F25-735F-82FC-85D5-9AB8E8411581}"/>
              </a:ext>
            </a:extLst>
          </p:cNvPr>
          <p:cNvSpPr txBox="1">
            <a:spLocks/>
          </p:cNvSpPr>
          <p:nvPr/>
        </p:nvSpPr>
        <p:spPr>
          <a:xfrm>
            <a:off x="5702124" y="902675"/>
            <a:ext cx="2994969" cy="68532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Sister Ham</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Mandinga’s assistant. Keeps the attraction in order—mostly by screaming and oinking.</a:t>
            </a:r>
          </a:p>
        </p:txBody>
      </p:sp>
      <p:sp>
        <p:nvSpPr>
          <p:cNvPr id="23" name="Google Shape;1000;p37">
            <a:extLst>
              <a:ext uri="{FF2B5EF4-FFF2-40B4-BE49-F238E27FC236}">
                <a16:creationId xmlns:a16="http://schemas.microsoft.com/office/drawing/2014/main" id="{FD248A31-65A9-BE71-69A5-C4C514B548E1}"/>
              </a:ext>
            </a:extLst>
          </p:cNvPr>
          <p:cNvSpPr txBox="1">
            <a:spLocks/>
          </p:cNvSpPr>
          <p:nvPr/>
        </p:nvSpPr>
        <p:spPr>
          <a:xfrm>
            <a:off x="5679563" y="2202691"/>
            <a:ext cx="3083826" cy="105612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Mandinga</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The Devil’s only son and heir. His father died in an unfortunate gas leak while trying to roast a sinner.</a:t>
            </a:r>
            <a:b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br>
            <a:b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b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As a child he dreamed of having his own horror attraction—now he finally has one, and no one’s leaving.</a:t>
            </a:r>
          </a:p>
        </p:txBody>
      </p:sp>
      <p:sp>
        <p:nvSpPr>
          <p:cNvPr id="24" name="Google Shape;1000;p37">
            <a:extLst>
              <a:ext uri="{FF2B5EF4-FFF2-40B4-BE49-F238E27FC236}">
                <a16:creationId xmlns:a16="http://schemas.microsoft.com/office/drawing/2014/main" id="{79B51BDF-D15A-9491-C7D9-948FC9AB59C3}"/>
              </a:ext>
            </a:extLst>
          </p:cNvPr>
          <p:cNvSpPr txBox="1">
            <a:spLocks/>
          </p:cNvSpPr>
          <p:nvPr/>
        </p:nvSpPr>
        <p:spPr>
          <a:xfrm>
            <a:off x="1046182" y="3024520"/>
            <a:ext cx="3579605" cy="105612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Lord Percival</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Designer of horror attractions. His masterpiece Remizione promised a journey through purgatory. On opening day, he and a group of celebrities entered the ride… and never came out.</a:t>
            </a:r>
          </a:p>
        </p:txBody>
      </p:sp>
    </p:spTree>
    <p:extLst>
      <p:ext uri="{BB962C8B-B14F-4D97-AF65-F5344CB8AC3E}">
        <p14:creationId xmlns:p14="http://schemas.microsoft.com/office/powerpoint/2010/main" val="757303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3434B4B9-2F9D-C387-813A-2865AA29A50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774C63A-9ABA-9EA7-050A-D8B048B48589}"/>
              </a:ext>
            </a:extLst>
          </p:cNvPr>
          <p:cNvPicPr>
            <a:picLocks noGrp="1" noRot="1" noChangeAspect="1" noMove="1" noResize="1" noEditPoints="1" noAdjustHandles="1" noChangeArrowheads="1" noChangeShapeType="1" noCrop="1"/>
          </p:cNvPicPr>
          <p:nvPr/>
        </p:nvPicPr>
        <p:blipFill>
          <a:blip r:embed="rId3"/>
          <a:srcRect/>
          <a:stretch/>
        </p:blipFill>
        <p:spPr>
          <a:xfrm>
            <a:off x="0" y="0"/>
            <a:ext cx="9144000" cy="5143500"/>
          </a:xfrm>
          <a:prstGeom prst="rect">
            <a:avLst/>
          </a:prstGeom>
        </p:spPr>
      </p:pic>
    </p:spTree>
    <p:extLst>
      <p:ext uri="{BB962C8B-B14F-4D97-AF65-F5344CB8AC3E}">
        <p14:creationId xmlns:p14="http://schemas.microsoft.com/office/powerpoint/2010/main" val="2397663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F179D232-38D4-F14A-01B8-48E2CCE4B8AA}"/>
            </a:ext>
          </a:extLst>
        </p:cNvPr>
        <p:cNvGrpSpPr/>
        <p:nvPr/>
      </p:nvGrpSpPr>
      <p:grpSpPr>
        <a:xfrm>
          <a:off x="0" y="0"/>
          <a:ext cx="0" cy="0"/>
          <a:chOff x="0" y="0"/>
          <a:chExt cx="0" cy="0"/>
        </a:xfrm>
      </p:grpSpPr>
      <p:pic>
        <p:nvPicPr>
          <p:cNvPr id="960" name="Picture 959" descr="A pixel art of a building">
            <a:extLst>
              <a:ext uri="{FF2B5EF4-FFF2-40B4-BE49-F238E27FC236}">
                <a16:creationId xmlns:a16="http://schemas.microsoft.com/office/drawing/2014/main" id="{E36C71DB-8ED4-9273-3E50-589AD5CCBF2D}"/>
              </a:ext>
            </a:extLst>
          </p:cNvPr>
          <p:cNvPicPr>
            <a:picLocks noGrp="1" noRot="1" noMove="1" noResize="1" noEditPoints="1" noAdjustHandles="1" noChangeArrowheads="1" noChangeShapeType="1" noCrop="1"/>
          </p:cNvPicPr>
          <p:nvPr/>
        </p:nvPicPr>
        <p:blipFill>
          <a:blip r:embed="rId3">
            <a:alphaModFix amt="35000"/>
          </a:blip>
          <a:stretch>
            <a:fillRect/>
          </a:stretch>
        </p:blipFill>
        <p:spPr>
          <a:xfrm>
            <a:off x="0" y="0"/>
            <a:ext cx="9144000" cy="5143500"/>
          </a:xfrm>
          <a:prstGeom prst="rect">
            <a:avLst/>
          </a:prstGeom>
        </p:spPr>
      </p:pic>
      <p:sp>
        <p:nvSpPr>
          <p:cNvPr id="44" name="Rectangle 43">
            <a:extLst>
              <a:ext uri="{FF2B5EF4-FFF2-40B4-BE49-F238E27FC236}">
                <a16:creationId xmlns:a16="http://schemas.microsoft.com/office/drawing/2014/main" id="{08368008-C579-337D-26E0-39A41FBDD99D}"/>
              </a:ext>
            </a:extLst>
          </p:cNvPr>
          <p:cNvSpPr/>
          <p:nvPr/>
        </p:nvSpPr>
        <p:spPr>
          <a:xfrm>
            <a:off x="4611067" y="1299814"/>
            <a:ext cx="4227923" cy="2965603"/>
          </a:xfrm>
          <a:prstGeom prst="rect">
            <a:avLst/>
          </a:prstGeom>
          <a:noFill/>
          <a:ln w="28575">
            <a:solidFill>
              <a:srgbClr val="800000"/>
            </a:solidFill>
            <a:prstDash val="dashDot"/>
          </a:ln>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endParaRPr lang="en-US" dirty="0"/>
          </a:p>
        </p:txBody>
      </p:sp>
      <p:pic>
        <p:nvPicPr>
          <p:cNvPr id="6" name="Picture 5" descr="A red cross on a black background&#10;&#10;AI-generated content may be incorrect.">
            <a:extLst>
              <a:ext uri="{FF2B5EF4-FFF2-40B4-BE49-F238E27FC236}">
                <a16:creationId xmlns:a16="http://schemas.microsoft.com/office/drawing/2014/main" id="{0B83EB26-17A9-E978-1ED1-09AA5A8852B3}"/>
              </a:ext>
            </a:extLst>
          </p:cNvPr>
          <p:cNvPicPr>
            <a:picLocks noGrp="1" noRot="1" noChangeAspect="1" noMove="1" noResize="1" noEditPoints="1" noAdjustHandles="1" noChangeArrowheads="1" noChangeShapeType="1" noCrop="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
        <p:nvSpPr>
          <p:cNvPr id="7" name="Google Shape;999;p37">
            <a:extLst>
              <a:ext uri="{FF2B5EF4-FFF2-40B4-BE49-F238E27FC236}">
                <a16:creationId xmlns:a16="http://schemas.microsoft.com/office/drawing/2014/main" id="{FCC1503D-45D8-7282-83EF-5C6D63D13057}"/>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Game Structure I</a:t>
            </a:r>
          </a:p>
        </p:txBody>
      </p:sp>
      <p:pic>
        <p:nvPicPr>
          <p:cNvPr id="10" name="Picture 9" descr="A pixelated image of a person&#10;&#10;AI-generated content may be incorrect.">
            <a:extLst>
              <a:ext uri="{FF2B5EF4-FFF2-40B4-BE49-F238E27FC236}">
                <a16:creationId xmlns:a16="http://schemas.microsoft.com/office/drawing/2014/main" id="{6CB79E76-645B-8464-B863-7E05A3B253A2}"/>
              </a:ext>
            </a:extLst>
          </p:cNvPr>
          <p:cNvPicPr>
            <a:picLocks noChangeAspect="1"/>
          </p:cNvPicPr>
          <p:nvPr/>
        </p:nvPicPr>
        <p:blipFill>
          <a:blip r:embed="rId5"/>
          <a:stretch>
            <a:fillRect/>
          </a:stretch>
        </p:blipFill>
        <p:spPr>
          <a:xfrm>
            <a:off x="1100226" y="1649882"/>
            <a:ext cx="304582" cy="429223"/>
          </a:xfrm>
          <a:prstGeom prst="rect">
            <a:avLst/>
          </a:prstGeom>
          <a:effectLst>
            <a:glow rad="228600">
              <a:schemeClr val="accent4">
                <a:satMod val="175000"/>
                <a:alpha val="40000"/>
              </a:schemeClr>
            </a:glow>
          </a:effectLst>
        </p:spPr>
      </p:pic>
      <p:pic>
        <p:nvPicPr>
          <p:cNvPr id="11" name="Picture 10" descr="A pixelated image of a person&#10;&#10;AI-generated content may be incorrect.">
            <a:extLst>
              <a:ext uri="{FF2B5EF4-FFF2-40B4-BE49-F238E27FC236}">
                <a16:creationId xmlns:a16="http://schemas.microsoft.com/office/drawing/2014/main" id="{7E5C9CEA-F308-13F2-B768-93B2E021E5B1}"/>
              </a:ext>
            </a:extLst>
          </p:cNvPr>
          <p:cNvPicPr>
            <a:picLocks noChangeAspect="1"/>
          </p:cNvPicPr>
          <p:nvPr/>
        </p:nvPicPr>
        <p:blipFill>
          <a:blip r:embed="rId6"/>
          <a:stretch>
            <a:fillRect/>
          </a:stretch>
        </p:blipFill>
        <p:spPr>
          <a:xfrm>
            <a:off x="1421864" y="1674317"/>
            <a:ext cx="264652" cy="390524"/>
          </a:xfrm>
          <a:prstGeom prst="rect">
            <a:avLst/>
          </a:prstGeom>
          <a:effectLst>
            <a:glow rad="228600">
              <a:schemeClr val="accent4">
                <a:satMod val="175000"/>
                <a:alpha val="40000"/>
              </a:schemeClr>
            </a:glow>
          </a:effectLst>
        </p:spPr>
      </p:pic>
      <p:sp>
        <p:nvSpPr>
          <p:cNvPr id="16" name="TextBox 15">
            <a:extLst>
              <a:ext uri="{FF2B5EF4-FFF2-40B4-BE49-F238E27FC236}">
                <a16:creationId xmlns:a16="http://schemas.microsoft.com/office/drawing/2014/main" id="{286BDAF4-DBDB-DF16-475D-7FD1290F59B6}"/>
              </a:ext>
            </a:extLst>
          </p:cNvPr>
          <p:cNvSpPr txBox="1"/>
          <p:nvPr/>
        </p:nvSpPr>
        <p:spPr>
          <a:xfrm>
            <a:off x="683159" y="1080953"/>
            <a:ext cx="1684162" cy="461665"/>
          </a:xfrm>
          <a:prstGeom prst="rect">
            <a:avLst/>
          </a:prstGeom>
          <a:noFill/>
        </p:spPr>
        <p:txBody>
          <a:bodyPr wrap="square" rtlCol="0">
            <a:spAutoFit/>
          </a:bodyPr>
          <a:lstStyle/>
          <a:p>
            <a:pPr algn="ctr"/>
            <a:r>
              <a:rPr lang="en-US" sz="800" dirty="0">
                <a:solidFill>
                  <a:srgbClr val="8F4D57"/>
                </a:solidFill>
                <a:effectLst>
                  <a:glow rad="228600">
                    <a:schemeClr val="accent4">
                      <a:satMod val="175000"/>
                      <a:alpha val="40000"/>
                    </a:schemeClr>
                  </a:glow>
                </a:effectLst>
                <a:latin typeface="Press Start 2P" panose="00000500000000000000" pitchFamily="2" charset="0"/>
                <a:sym typeface="Maven Pro"/>
              </a:rPr>
              <a:t>Choose your twin and board the ride car</a:t>
            </a:r>
          </a:p>
        </p:txBody>
      </p:sp>
      <p:sp>
        <p:nvSpPr>
          <p:cNvPr id="17" name="Arrow: Down 16">
            <a:extLst>
              <a:ext uri="{FF2B5EF4-FFF2-40B4-BE49-F238E27FC236}">
                <a16:creationId xmlns:a16="http://schemas.microsoft.com/office/drawing/2014/main" id="{CD2A2BC3-97C4-6062-C96D-195081CCD045}"/>
              </a:ext>
            </a:extLst>
          </p:cNvPr>
          <p:cNvSpPr/>
          <p:nvPr/>
        </p:nvSpPr>
        <p:spPr>
          <a:xfrm rot="10800000">
            <a:off x="1726981" y="1595929"/>
            <a:ext cx="160200" cy="567299"/>
          </a:xfrm>
          <a:prstGeom prst="downArrow">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solidFill>
                <a:schemeClr val="bg1">
                  <a:lumMod val="75000"/>
                </a:schemeClr>
              </a:solidFill>
              <a:latin typeface="Press Start 2P" panose="00000500000000000000" pitchFamily="2" charset="0"/>
            </a:endParaRPr>
          </a:p>
        </p:txBody>
      </p:sp>
      <p:sp>
        <p:nvSpPr>
          <p:cNvPr id="18" name="Rectangle: Rounded Corners 17">
            <a:extLst>
              <a:ext uri="{FF2B5EF4-FFF2-40B4-BE49-F238E27FC236}">
                <a16:creationId xmlns:a16="http://schemas.microsoft.com/office/drawing/2014/main" id="{74E0A1D9-29D0-BD12-7B67-5B2496302C2B}"/>
              </a:ext>
            </a:extLst>
          </p:cNvPr>
          <p:cNvSpPr/>
          <p:nvPr/>
        </p:nvSpPr>
        <p:spPr>
          <a:xfrm>
            <a:off x="915148" y="2147238"/>
            <a:ext cx="1098800" cy="461666"/>
          </a:xfrm>
          <a:prstGeom prst="roundRect">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75000"/>
                  </a:schemeClr>
                </a:solidFill>
                <a:latin typeface="Press Start 2P" panose="00000500000000000000" pitchFamily="2" charset="0"/>
              </a:rPr>
              <a:t>Theme</a:t>
            </a:r>
          </a:p>
          <a:p>
            <a:pPr algn="ctr"/>
            <a:r>
              <a:rPr lang="en-US" sz="1000" dirty="0">
                <a:solidFill>
                  <a:schemeClr val="bg1">
                    <a:lumMod val="75000"/>
                  </a:schemeClr>
                </a:solidFill>
                <a:latin typeface="Press Start 2P" panose="00000500000000000000" pitchFamily="2" charset="0"/>
              </a:rPr>
              <a:t>Park</a:t>
            </a:r>
          </a:p>
        </p:txBody>
      </p:sp>
      <p:pic>
        <p:nvPicPr>
          <p:cNvPr id="19" name="Picture 18" descr="A pixel art of a computer&#10;&#10;AI-generated content may be incorrect.">
            <a:extLst>
              <a:ext uri="{FF2B5EF4-FFF2-40B4-BE49-F238E27FC236}">
                <a16:creationId xmlns:a16="http://schemas.microsoft.com/office/drawing/2014/main" id="{B2EEC177-370B-0FA0-4324-69422E01994C}"/>
              </a:ext>
            </a:extLst>
          </p:cNvPr>
          <p:cNvPicPr>
            <a:picLocks noChangeAspect="1"/>
          </p:cNvPicPr>
          <p:nvPr/>
        </p:nvPicPr>
        <p:blipFill>
          <a:blip r:embed="rId7"/>
          <a:stretch>
            <a:fillRect/>
          </a:stretch>
        </p:blipFill>
        <p:spPr>
          <a:xfrm flipH="1">
            <a:off x="1228026" y="3215670"/>
            <a:ext cx="891144" cy="832648"/>
          </a:xfrm>
          <a:prstGeom prst="rect">
            <a:avLst/>
          </a:prstGeom>
          <a:effectLst>
            <a:glow rad="139700">
              <a:schemeClr val="accent4">
                <a:satMod val="175000"/>
                <a:alpha val="40000"/>
              </a:schemeClr>
            </a:glow>
          </a:effectLst>
        </p:spPr>
      </p:pic>
      <p:sp>
        <p:nvSpPr>
          <p:cNvPr id="24" name="Arrow: Down 23">
            <a:extLst>
              <a:ext uri="{FF2B5EF4-FFF2-40B4-BE49-F238E27FC236}">
                <a16:creationId xmlns:a16="http://schemas.microsoft.com/office/drawing/2014/main" id="{3458AECE-2E4E-8D6F-0279-9EA3929E869D}"/>
              </a:ext>
            </a:extLst>
          </p:cNvPr>
          <p:cNvSpPr/>
          <p:nvPr/>
        </p:nvSpPr>
        <p:spPr>
          <a:xfrm>
            <a:off x="1719114" y="2554796"/>
            <a:ext cx="168067" cy="560507"/>
          </a:xfrm>
          <a:prstGeom prst="downArrow">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dirty="0">
              <a:solidFill>
                <a:schemeClr val="bg1">
                  <a:lumMod val="75000"/>
                </a:schemeClr>
              </a:solidFill>
              <a:latin typeface="Press Start 2P" panose="00000500000000000000" pitchFamily="2" charset="0"/>
            </a:endParaRPr>
          </a:p>
        </p:txBody>
      </p:sp>
      <p:sp>
        <p:nvSpPr>
          <p:cNvPr id="25" name="Rectangle: Rounded Corners 24">
            <a:extLst>
              <a:ext uri="{FF2B5EF4-FFF2-40B4-BE49-F238E27FC236}">
                <a16:creationId xmlns:a16="http://schemas.microsoft.com/office/drawing/2014/main" id="{92EDB3A8-51ED-551F-C32B-3CB5707AE5C7}"/>
              </a:ext>
            </a:extLst>
          </p:cNvPr>
          <p:cNvSpPr/>
          <p:nvPr/>
        </p:nvSpPr>
        <p:spPr>
          <a:xfrm>
            <a:off x="2976551" y="2147847"/>
            <a:ext cx="1204929" cy="461666"/>
          </a:xfrm>
          <a:prstGeom prst="roundRect">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75000"/>
                  </a:schemeClr>
                </a:solidFill>
                <a:latin typeface="Press Start 2P" panose="00000500000000000000" pitchFamily="2" charset="0"/>
              </a:rPr>
              <a:t>Loading</a:t>
            </a:r>
          </a:p>
          <a:p>
            <a:pPr algn="ctr"/>
            <a:r>
              <a:rPr lang="en-US" sz="1000" dirty="0">
                <a:solidFill>
                  <a:schemeClr val="bg1">
                    <a:lumMod val="75000"/>
                  </a:schemeClr>
                </a:solidFill>
                <a:latin typeface="Press Start 2P" panose="00000500000000000000" pitchFamily="2" charset="0"/>
              </a:rPr>
              <a:t>Zone</a:t>
            </a:r>
          </a:p>
        </p:txBody>
      </p:sp>
      <p:sp>
        <p:nvSpPr>
          <p:cNvPr id="26" name="Arrow: Right 25">
            <a:extLst>
              <a:ext uri="{FF2B5EF4-FFF2-40B4-BE49-F238E27FC236}">
                <a16:creationId xmlns:a16="http://schemas.microsoft.com/office/drawing/2014/main" id="{50654CF7-D284-399E-B50D-F6369D4B0C16}"/>
              </a:ext>
            </a:extLst>
          </p:cNvPr>
          <p:cNvSpPr/>
          <p:nvPr/>
        </p:nvSpPr>
        <p:spPr>
          <a:xfrm>
            <a:off x="1950792" y="2255171"/>
            <a:ext cx="952486" cy="200830"/>
          </a:xfrm>
          <a:prstGeom prst="rightArrow">
            <a:avLst/>
          </a:prstGeom>
          <a:solidFill>
            <a:srgbClr val="AB513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AB5130"/>
              </a:solidFill>
            </a:endParaRPr>
          </a:p>
        </p:txBody>
      </p:sp>
      <p:pic>
        <p:nvPicPr>
          <p:cNvPr id="30" name="Picture 29" descr="A cartoon of a person wearing glasses&#10;&#10;AI-generated content may be incorrect.">
            <a:extLst>
              <a:ext uri="{FF2B5EF4-FFF2-40B4-BE49-F238E27FC236}">
                <a16:creationId xmlns:a16="http://schemas.microsoft.com/office/drawing/2014/main" id="{6552B120-FBCE-9EE0-AE90-AF3455DED474}"/>
              </a:ext>
            </a:extLst>
          </p:cNvPr>
          <p:cNvPicPr>
            <a:picLocks noChangeAspect="1"/>
          </p:cNvPicPr>
          <p:nvPr/>
        </p:nvPicPr>
        <p:blipFill>
          <a:blip r:embed="rId8"/>
          <a:stretch>
            <a:fillRect/>
          </a:stretch>
        </p:blipFill>
        <p:spPr>
          <a:xfrm>
            <a:off x="739875" y="3338190"/>
            <a:ext cx="829025" cy="753659"/>
          </a:xfrm>
          <a:prstGeom prst="rect">
            <a:avLst/>
          </a:prstGeom>
        </p:spPr>
      </p:pic>
      <p:sp>
        <p:nvSpPr>
          <p:cNvPr id="31" name="Rectangle: Rounded Corners 30">
            <a:extLst>
              <a:ext uri="{FF2B5EF4-FFF2-40B4-BE49-F238E27FC236}">
                <a16:creationId xmlns:a16="http://schemas.microsoft.com/office/drawing/2014/main" id="{811BE59C-87D8-8235-EA7A-CE8C330317CF}"/>
              </a:ext>
            </a:extLst>
          </p:cNvPr>
          <p:cNvSpPr/>
          <p:nvPr/>
        </p:nvSpPr>
        <p:spPr>
          <a:xfrm>
            <a:off x="5881830" y="2147847"/>
            <a:ext cx="938901" cy="461666"/>
          </a:xfrm>
          <a:prstGeom prst="roundRect">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lumMod val="75000"/>
                  </a:schemeClr>
                </a:solidFill>
                <a:latin typeface="Press Start 2P" panose="00000500000000000000" pitchFamily="2" charset="0"/>
              </a:rPr>
              <a:t>The Ride</a:t>
            </a:r>
          </a:p>
        </p:txBody>
      </p:sp>
      <p:sp>
        <p:nvSpPr>
          <p:cNvPr id="32" name="Arrow: Right 31">
            <a:extLst>
              <a:ext uri="{FF2B5EF4-FFF2-40B4-BE49-F238E27FC236}">
                <a16:creationId xmlns:a16="http://schemas.microsoft.com/office/drawing/2014/main" id="{552C7965-B1D4-EB6B-B905-AFF17290F051}"/>
              </a:ext>
            </a:extLst>
          </p:cNvPr>
          <p:cNvSpPr/>
          <p:nvPr/>
        </p:nvSpPr>
        <p:spPr>
          <a:xfrm>
            <a:off x="4155153" y="2257301"/>
            <a:ext cx="785309" cy="200830"/>
          </a:xfrm>
          <a:prstGeom prst="rightArrow">
            <a:avLst/>
          </a:prstGeom>
          <a:solidFill>
            <a:srgbClr val="AB513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AB5130"/>
              </a:solidFill>
            </a:endParaRPr>
          </a:p>
        </p:txBody>
      </p:sp>
      <p:pic>
        <p:nvPicPr>
          <p:cNvPr id="34" name="Picture 33" descr="A pixelated cartoon of a dog&#10;&#10;AI-generated content may be incorrect.">
            <a:extLst>
              <a:ext uri="{FF2B5EF4-FFF2-40B4-BE49-F238E27FC236}">
                <a16:creationId xmlns:a16="http://schemas.microsoft.com/office/drawing/2014/main" id="{165D74D9-BA53-FDA9-D7B3-C0F90C45D6AE}"/>
              </a:ext>
            </a:extLst>
          </p:cNvPr>
          <p:cNvPicPr>
            <a:picLocks noChangeAspect="1"/>
          </p:cNvPicPr>
          <p:nvPr/>
        </p:nvPicPr>
        <p:blipFill>
          <a:blip r:embed="rId9"/>
          <a:stretch>
            <a:fillRect/>
          </a:stretch>
        </p:blipFill>
        <p:spPr>
          <a:xfrm>
            <a:off x="3171063" y="1511711"/>
            <a:ext cx="414445" cy="592063"/>
          </a:xfrm>
          <a:prstGeom prst="rect">
            <a:avLst/>
          </a:prstGeom>
        </p:spPr>
      </p:pic>
      <p:pic>
        <p:nvPicPr>
          <p:cNvPr id="35" name="Picture 34" descr="A cartoon of a person wearing glasses&#10;&#10;AI-generated content may be incorrect.">
            <a:extLst>
              <a:ext uri="{FF2B5EF4-FFF2-40B4-BE49-F238E27FC236}">
                <a16:creationId xmlns:a16="http://schemas.microsoft.com/office/drawing/2014/main" id="{9262E4AB-3BA8-3BA9-3D0F-33916C38B897}"/>
              </a:ext>
            </a:extLst>
          </p:cNvPr>
          <p:cNvPicPr>
            <a:picLocks noChangeAspect="1"/>
          </p:cNvPicPr>
          <p:nvPr/>
        </p:nvPicPr>
        <p:blipFill>
          <a:blip r:embed="rId8"/>
          <a:stretch>
            <a:fillRect/>
          </a:stretch>
        </p:blipFill>
        <p:spPr>
          <a:xfrm flipH="1">
            <a:off x="3448620" y="1498476"/>
            <a:ext cx="704528" cy="592063"/>
          </a:xfrm>
          <a:prstGeom prst="rect">
            <a:avLst/>
          </a:prstGeom>
        </p:spPr>
      </p:pic>
      <p:sp>
        <p:nvSpPr>
          <p:cNvPr id="36" name="TextBox 35">
            <a:extLst>
              <a:ext uri="{FF2B5EF4-FFF2-40B4-BE49-F238E27FC236}">
                <a16:creationId xmlns:a16="http://schemas.microsoft.com/office/drawing/2014/main" id="{151FA2A8-21C1-73F7-DAF3-391BDF683D55}"/>
              </a:ext>
            </a:extLst>
          </p:cNvPr>
          <p:cNvSpPr txBox="1"/>
          <p:nvPr/>
        </p:nvSpPr>
        <p:spPr>
          <a:xfrm>
            <a:off x="5403379" y="1337778"/>
            <a:ext cx="2165052" cy="415498"/>
          </a:xfrm>
          <a:prstGeom prst="rect">
            <a:avLst/>
          </a:prstGeom>
          <a:noFill/>
        </p:spPr>
        <p:txBody>
          <a:bodyPr wrap="square" rtlCol="0">
            <a:spAutoFit/>
          </a:bodyPr>
          <a:lstStyle/>
          <a:p>
            <a:pPr algn="r"/>
            <a:r>
              <a:rPr lang="en-US" sz="700" dirty="0">
                <a:solidFill>
                  <a:srgbClr val="8F4D57"/>
                </a:solidFill>
                <a:effectLst>
                  <a:glow rad="228600">
                    <a:schemeClr val="accent4">
                      <a:satMod val="175000"/>
                      <a:alpha val="40000"/>
                    </a:schemeClr>
                  </a:glow>
                </a:effectLst>
                <a:latin typeface="Press Start 2P" panose="00000500000000000000" pitchFamily="2" charset="0"/>
                <a:sym typeface="Maven Pro"/>
              </a:rPr>
              <a:t>Find the gold coin to give as a tithe to Saint Peregrine.</a:t>
            </a:r>
          </a:p>
        </p:txBody>
      </p:sp>
      <p:sp>
        <p:nvSpPr>
          <p:cNvPr id="39" name="TextBox 38">
            <a:extLst>
              <a:ext uri="{FF2B5EF4-FFF2-40B4-BE49-F238E27FC236}">
                <a16:creationId xmlns:a16="http://schemas.microsoft.com/office/drawing/2014/main" id="{7D6BF02A-565A-CF4B-700D-3DE044AD46D4}"/>
              </a:ext>
            </a:extLst>
          </p:cNvPr>
          <p:cNvSpPr txBox="1"/>
          <p:nvPr/>
        </p:nvSpPr>
        <p:spPr>
          <a:xfrm>
            <a:off x="6830769" y="2776850"/>
            <a:ext cx="2055597" cy="523220"/>
          </a:xfrm>
          <a:prstGeom prst="rect">
            <a:avLst/>
          </a:prstGeom>
          <a:noFill/>
        </p:spPr>
        <p:txBody>
          <a:bodyPr wrap="square" rtlCol="0">
            <a:spAutoFit/>
          </a:bodyPr>
          <a:lstStyle/>
          <a:p>
            <a:r>
              <a:rPr lang="en-US" sz="700" dirty="0">
                <a:solidFill>
                  <a:srgbClr val="8F4D57"/>
                </a:solidFill>
                <a:effectLst>
                  <a:glow rad="228600">
                    <a:schemeClr val="accent4">
                      <a:satMod val="175000"/>
                      <a:alpha val="40000"/>
                    </a:schemeClr>
                  </a:glow>
                </a:effectLst>
                <a:latin typeface="Press Start 2P" panose="00000500000000000000" pitchFamily="2" charset="0"/>
                <a:sym typeface="Maven Pro"/>
              </a:rPr>
              <a:t>Intense action, caves, dungeons, strange rooms and captive celebrities.</a:t>
            </a:r>
          </a:p>
        </p:txBody>
      </p:sp>
      <p:sp>
        <p:nvSpPr>
          <p:cNvPr id="41" name="Arrow: Right 40">
            <a:extLst>
              <a:ext uri="{FF2B5EF4-FFF2-40B4-BE49-F238E27FC236}">
                <a16:creationId xmlns:a16="http://schemas.microsoft.com/office/drawing/2014/main" id="{AC6261E0-24BF-CF62-6C83-79871C3D561C}"/>
              </a:ext>
            </a:extLst>
          </p:cNvPr>
          <p:cNvSpPr/>
          <p:nvPr/>
        </p:nvSpPr>
        <p:spPr>
          <a:xfrm>
            <a:off x="6688642" y="2289190"/>
            <a:ext cx="764362" cy="200830"/>
          </a:xfrm>
          <a:prstGeom prst="rightArrow">
            <a:avLst/>
          </a:prstGeom>
          <a:solidFill>
            <a:srgbClr val="AB513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AB5130"/>
              </a:solidFill>
            </a:endParaRPr>
          </a:p>
        </p:txBody>
      </p:sp>
      <p:pic>
        <p:nvPicPr>
          <p:cNvPr id="42" name="Picture 41">
            <a:extLst>
              <a:ext uri="{FF2B5EF4-FFF2-40B4-BE49-F238E27FC236}">
                <a16:creationId xmlns:a16="http://schemas.microsoft.com/office/drawing/2014/main" id="{153808B0-6BD4-AEB1-04F0-1C99683AC639}"/>
              </a:ext>
            </a:extLst>
          </p:cNvPr>
          <p:cNvPicPr>
            <a:picLocks noChangeAspect="1"/>
          </p:cNvPicPr>
          <p:nvPr/>
        </p:nvPicPr>
        <p:blipFill>
          <a:blip r:embed="rId10"/>
          <a:srcRect/>
          <a:stretch/>
        </p:blipFill>
        <p:spPr>
          <a:xfrm>
            <a:off x="4677744" y="787379"/>
            <a:ext cx="362950" cy="766044"/>
          </a:xfrm>
          <a:prstGeom prst="rect">
            <a:avLst/>
          </a:prstGeom>
        </p:spPr>
      </p:pic>
      <p:sp>
        <p:nvSpPr>
          <p:cNvPr id="47" name="TextBox 46">
            <a:extLst>
              <a:ext uri="{FF2B5EF4-FFF2-40B4-BE49-F238E27FC236}">
                <a16:creationId xmlns:a16="http://schemas.microsoft.com/office/drawing/2014/main" id="{C15D9609-DCA6-1577-C8F7-38A27C02C81F}"/>
              </a:ext>
            </a:extLst>
          </p:cNvPr>
          <p:cNvSpPr txBox="1"/>
          <p:nvPr/>
        </p:nvSpPr>
        <p:spPr>
          <a:xfrm>
            <a:off x="5088822" y="944046"/>
            <a:ext cx="2021819" cy="289951"/>
          </a:xfrm>
          <a:prstGeom prst="rect">
            <a:avLst/>
          </a:prstGeom>
          <a:noFill/>
        </p:spPr>
        <p:txBody>
          <a:bodyPr wrap="square">
            <a:spAutoFit/>
          </a:bodyPr>
          <a:lstStyle/>
          <a:p>
            <a:pPr>
              <a:lnSpc>
                <a:spcPct val="150000"/>
              </a:lnSpc>
            </a:pPr>
            <a:r>
              <a:rPr lang="en-US" sz="1000" dirty="0">
                <a:solidFill>
                  <a:srgbClr val="92293B"/>
                </a:solidFill>
                <a:effectLst>
                  <a:glow rad="228600">
                    <a:schemeClr val="accent4">
                      <a:satMod val="175000"/>
                      <a:alpha val="40000"/>
                    </a:schemeClr>
                  </a:glow>
                </a:effectLst>
                <a:latin typeface="Press Start 2P" panose="00000500000000000000" pitchFamily="2" charset="0"/>
                <a:sym typeface="Maven Pro"/>
              </a:rPr>
              <a:t>Procedural Run</a:t>
            </a:r>
            <a:endParaRPr lang="en-US" sz="1000" dirty="0">
              <a:solidFill>
                <a:srgbClr val="92293B"/>
              </a:solidFill>
            </a:endParaRPr>
          </a:p>
        </p:txBody>
      </p:sp>
      <p:pic>
        <p:nvPicPr>
          <p:cNvPr id="51" name="Picture 50">
            <a:extLst>
              <a:ext uri="{FF2B5EF4-FFF2-40B4-BE49-F238E27FC236}">
                <a16:creationId xmlns:a16="http://schemas.microsoft.com/office/drawing/2014/main" id="{197CBE96-3607-79D1-6666-7D6A519B817E}"/>
              </a:ext>
            </a:extLst>
          </p:cNvPr>
          <p:cNvPicPr>
            <a:picLocks noChangeAspect="1"/>
          </p:cNvPicPr>
          <p:nvPr/>
        </p:nvPicPr>
        <p:blipFill>
          <a:blip r:embed="rId11"/>
          <a:stretch>
            <a:fillRect/>
          </a:stretch>
        </p:blipFill>
        <p:spPr>
          <a:xfrm>
            <a:off x="5720939" y="3426379"/>
            <a:ext cx="435758" cy="290506"/>
          </a:xfrm>
          <a:prstGeom prst="rect">
            <a:avLst/>
          </a:prstGeom>
        </p:spPr>
      </p:pic>
      <p:sp>
        <p:nvSpPr>
          <p:cNvPr id="3" name="TextBox 2">
            <a:extLst>
              <a:ext uri="{FF2B5EF4-FFF2-40B4-BE49-F238E27FC236}">
                <a16:creationId xmlns:a16="http://schemas.microsoft.com/office/drawing/2014/main" id="{C8956DBE-EED0-A484-F48D-AA71498BABFC}"/>
              </a:ext>
            </a:extLst>
          </p:cNvPr>
          <p:cNvSpPr txBox="1"/>
          <p:nvPr/>
        </p:nvSpPr>
        <p:spPr>
          <a:xfrm>
            <a:off x="354187" y="2790078"/>
            <a:ext cx="1438053" cy="415498"/>
          </a:xfrm>
          <a:prstGeom prst="rect">
            <a:avLst/>
          </a:prstGeom>
          <a:noFill/>
        </p:spPr>
        <p:txBody>
          <a:bodyPr wrap="square" rtlCol="0">
            <a:spAutoFit/>
          </a:bodyPr>
          <a:lstStyle/>
          <a:p>
            <a:r>
              <a:rPr lang="en-US" sz="700" dirty="0">
                <a:solidFill>
                  <a:srgbClr val="8F4D57"/>
                </a:solidFill>
                <a:effectLst>
                  <a:glow rad="228600">
                    <a:schemeClr val="accent4">
                      <a:satMod val="175000"/>
                      <a:alpha val="40000"/>
                    </a:schemeClr>
                  </a:glow>
                </a:effectLst>
                <a:latin typeface="Press Start 2P" panose="00000500000000000000" pitchFamily="2" charset="0"/>
                <a:sym typeface="Maven Pro"/>
              </a:rPr>
              <a:t>ATM connected to Percival’s computer</a:t>
            </a:r>
          </a:p>
        </p:txBody>
      </p:sp>
      <p:pic>
        <p:nvPicPr>
          <p:cNvPr id="8" name="Picture 7" descr="A orange arrow on a black background&#10;&#10;AI-generated content may be incorrect.">
            <a:extLst>
              <a:ext uri="{FF2B5EF4-FFF2-40B4-BE49-F238E27FC236}">
                <a16:creationId xmlns:a16="http://schemas.microsoft.com/office/drawing/2014/main" id="{627DB5D3-DC03-84C0-6ACE-F8363CC5F608}"/>
              </a:ext>
            </a:extLst>
          </p:cNvPr>
          <p:cNvPicPr>
            <a:picLocks noChangeAspect="1"/>
          </p:cNvPicPr>
          <p:nvPr/>
        </p:nvPicPr>
        <p:blipFill>
          <a:blip r:embed="rId12"/>
          <a:stretch>
            <a:fillRect/>
          </a:stretch>
        </p:blipFill>
        <p:spPr>
          <a:xfrm rot="11152718">
            <a:off x="1274432" y="3125168"/>
            <a:ext cx="373608" cy="271930"/>
          </a:xfrm>
          <a:prstGeom prst="rect">
            <a:avLst/>
          </a:prstGeom>
          <a:effectLst>
            <a:glow rad="101600">
              <a:schemeClr val="accent5">
                <a:satMod val="175000"/>
                <a:alpha val="40000"/>
              </a:schemeClr>
            </a:glow>
          </a:effectLst>
        </p:spPr>
      </p:pic>
      <p:pic>
        <p:nvPicPr>
          <p:cNvPr id="12" name="Picture 11" descr="A pixelated image of a person wearing glasses&#10;&#10;AI-generated content may be incorrect.">
            <a:extLst>
              <a:ext uri="{FF2B5EF4-FFF2-40B4-BE49-F238E27FC236}">
                <a16:creationId xmlns:a16="http://schemas.microsoft.com/office/drawing/2014/main" id="{FE30F52E-2163-0C02-084F-F9C225EB4153}"/>
              </a:ext>
            </a:extLst>
          </p:cNvPr>
          <p:cNvPicPr>
            <a:picLocks noChangeAspect="1"/>
          </p:cNvPicPr>
          <p:nvPr/>
        </p:nvPicPr>
        <p:blipFill>
          <a:blip r:embed="rId13"/>
          <a:stretch>
            <a:fillRect/>
          </a:stretch>
        </p:blipFill>
        <p:spPr>
          <a:xfrm>
            <a:off x="2169351" y="1798201"/>
            <a:ext cx="545063" cy="450270"/>
          </a:xfrm>
          <a:prstGeom prst="rect">
            <a:avLst/>
          </a:prstGeom>
        </p:spPr>
      </p:pic>
      <p:sp>
        <p:nvSpPr>
          <p:cNvPr id="14" name="TextBox 13">
            <a:extLst>
              <a:ext uri="{FF2B5EF4-FFF2-40B4-BE49-F238E27FC236}">
                <a16:creationId xmlns:a16="http://schemas.microsoft.com/office/drawing/2014/main" id="{D71E629F-0182-F3F7-84BD-DCC9334D4400}"/>
              </a:ext>
            </a:extLst>
          </p:cNvPr>
          <p:cNvSpPr txBox="1"/>
          <p:nvPr/>
        </p:nvSpPr>
        <p:spPr>
          <a:xfrm>
            <a:off x="4523861" y="4333966"/>
            <a:ext cx="2529413" cy="338554"/>
          </a:xfrm>
          <a:prstGeom prst="rect">
            <a:avLst/>
          </a:prstGeom>
          <a:noFill/>
        </p:spPr>
        <p:txBody>
          <a:bodyPr wrap="square">
            <a:spAutoFit/>
          </a:bodyPr>
          <a:lstStyle/>
          <a:p>
            <a:r>
              <a:rPr lang="en-US" sz="800" dirty="0">
                <a:solidFill>
                  <a:srgbClr val="92293B"/>
                </a:solidFill>
                <a:effectLst>
                  <a:glow rad="228600">
                    <a:schemeClr val="accent4">
                      <a:satMod val="175000"/>
                      <a:alpha val="40000"/>
                    </a:schemeClr>
                  </a:glow>
                </a:effectLst>
                <a:latin typeface="Press Start 2P" panose="00000500000000000000" pitchFamily="2" charset="0"/>
              </a:rPr>
              <a:t>Items and tickets reset at the end of each run.</a:t>
            </a:r>
          </a:p>
        </p:txBody>
      </p:sp>
      <p:pic>
        <p:nvPicPr>
          <p:cNvPr id="13" name="Picture 12" descr="A pixelated character holding a stick&#10;&#10;AI-generated content may be incorrect.">
            <a:extLst>
              <a:ext uri="{FF2B5EF4-FFF2-40B4-BE49-F238E27FC236}">
                <a16:creationId xmlns:a16="http://schemas.microsoft.com/office/drawing/2014/main" id="{26B23D96-1EE3-3EAD-B6AB-1C0DF306AA49}"/>
              </a:ext>
            </a:extLst>
          </p:cNvPr>
          <p:cNvPicPr>
            <a:picLocks noChangeAspect="1"/>
          </p:cNvPicPr>
          <p:nvPr/>
        </p:nvPicPr>
        <p:blipFill>
          <a:blip r:embed="rId14"/>
          <a:stretch>
            <a:fillRect/>
          </a:stretch>
        </p:blipFill>
        <p:spPr>
          <a:xfrm>
            <a:off x="7907968" y="1240315"/>
            <a:ext cx="610736" cy="992046"/>
          </a:xfrm>
          <a:prstGeom prst="rect">
            <a:avLst/>
          </a:prstGeom>
        </p:spPr>
      </p:pic>
      <p:sp>
        <p:nvSpPr>
          <p:cNvPr id="43" name="TextBox 42">
            <a:extLst>
              <a:ext uri="{FF2B5EF4-FFF2-40B4-BE49-F238E27FC236}">
                <a16:creationId xmlns:a16="http://schemas.microsoft.com/office/drawing/2014/main" id="{E40F8379-3EB2-FE63-08A6-F25A19BB70F1}"/>
              </a:ext>
            </a:extLst>
          </p:cNvPr>
          <p:cNvSpPr txBox="1"/>
          <p:nvPr/>
        </p:nvSpPr>
        <p:spPr>
          <a:xfrm>
            <a:off x="4955571" y="3413789"/>
            <a:ext cx="902421" cy="307777"/>
          </a:xfrm>
          <a:prstGeom prst="rect">
            <a:avLst/>
          </a:prstGeom>
          <a:noFill/>
        </p:spPr>
        <p:txBody>
          <a:bodyPr wrap="square">
            <a:spAutoFit/>
          </a:bodyPr>
          <a:lstStyle/>
          <a:p>
            <a:r>
              <a:rPr lang="en-US" sz="700" dirty="0">
                <a:solidFill>
                  <a:srgbClr val="AB5130"/>
                </a:solidFill>
                <a:effectLst>
                  <a:glow rad="228600">
                    <a:schemeClr val="accent4">
                      <a:satMod val="175000"/>
                      <a:alpha val="40000"/>
                    </a:schemeClr>
                  </a:glow>
                </a:effectLst>
                <a:latin typeface="Press Start 2P" panose="00000500000000000000" pitchFamily="2" charset="0"/>
              </a:rPr>
              <a:t>Collect Tickets</a:t>
            </a:r>
          </a:p>
        </p:txBody>
      </p:sp>
      <p:pic>
        <p:nvPicPr>
          <p:cNvPr id="53" name="Picture 52" descr="A pixelated video game of a red machine&#10;&#10;AI-generated content may be incorrect.">
            <a:extLst>
              <a:ext uri="{FF2B5EF4-FFF2-40B4-BE49-F238E27FC236}">
                <a16:creationId xmlns:a16="http://schemas.microsoft.com/office/drawing/2014/main" id="{88F7A0CA-6C05-5B02-271D-88CFCF2FBD6A}"/>
              </a:ext>
            </a:extLst>
          </p:cNvPr>
          <p:cNvPicPr>
            <a:picLocks noChangeAspect="1"/>
          </p:cNvPicPr>
          <p:nvPr/>
        </p:nvPicPr>
        <p:blipFill>
          <a:blip r:embed="rId15"/>
          <a:stretch>
            <a:fillRect/>
          </a:stretch>
        </p:blipFill>
        <p:spPr>
          <a:xfrm>
            <a:off x="6639541" y="3429178"/>
            <a:ext cx="383759" cy="584776"/>
          </a:xfrm>
          <a:prstGeom prst="rect">
            <a:avLst/>
          </a:prstGeom>
        </p:spPr>
      </p:pic>
      <p:pic>
        <p:nvPicPr>
          <p:cNvPr id="54" name="Picture 53" descr="A orange arrow on a black background&#10;&#10;AI-generated content may be incorrect.">
            <a:extLst>
              <a:ext uri="{FF2B5EF4-FFF2-40B4-BE49-F238E27FC236}">
                <a16:creationId xmlns:a16="http://schemas.microsoft.com/office/drawing/2014/main" id="{AFC7C9FC-8591-0409-6A4E-3F73327A4B2F}"/>
              </a:ext>
            </a:extLst>
          </p:cNvPr>
          <p:cNvPicPr>
            <a:picLocks noChangeAspect="1"/>
          </p:cNvPicPr>
          <p:nvPr/>
        </p:nvPicPr>
        <p:blipFill>
          <a:blip r:embed="rId12"/>
          <a:stretch>
            <a:fillRect/>
          </a:stretch>
        </p:blipFill>
        <p:spPr>
          <a:xfrm rot="10340975">
            <a:off x="6214766" y="3537859"/>
            <a:ext cx="310280" cy="271930"/>
          </a:xfrm>
          <a:prstGeom prst="rect">
            <a:avLst/>
          </a:prstGeom>
          <a:effectLst>
            <a:glow rad="101600">
              <a:schemeClr val="accent5">
                <a:satMod val="175000"/>
                <a:alpha val="40000"/>
              </a:schemeClr>
            </a:glow>
          </a:effectLst>
        </p:spPr>
      </p:pic>
      <p:sp>
        <p:nvSpPr>
          <p:cNvPr id="58" name="Arrow: Right 57">
            <a:extLst>
              <a:ext uri="{FF2B5EF4-FFF2-40B4-BE49-F238E27FC236}">
                <a16:creationId xmlns:a16="http://schemas.microsoft.com/office/drawing/2014/main" id="{0DE69412-7E26-F2C0-E7CF-77C7190DF337}"/>
              </a:ext>
            </a:extLst>
          </p:cNvPr>
          <p:cNvSpPr/>
          <p:nvPr/>
        </p:nvSpPr>
        <p:spPr>
          <a:xfrm>
            <a:off x="7107460" y="3773491"/>
            <a:ext cx="287098" cy="176685"/>
          </a:xfrm>
          <a:prstGeom prst="rightArrow">
            <a:avLst/>
          </a:prstGeom>
          <a:solidFill>
            <a:srgbClr val="AB513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AB5130"/>
              </a:solidFill>
            </a:endParaRPr>
          </a:p>
        </p:txBody>
      </p:sp>
      <p:sp>
        <p:nvSpPr>
          <p:cNvPr id="59" name="TextBox 58">
            <a:extLst>
              <a:ext uri="{FF2B5EF4-FFF2-40B4-BE49-F238E27FC236}">
                <a16:creationId xmlns:a16="http://schemas.microsoft.com/office/drawing/2014/main" id="{51BF9864-61E4-B62B-E87F-66E55A6A55F6}"/>
              </a:ext>
            </a:extLst>
          </p:cNvPr>
          <p:cNvSpPr txBox="1"/>
          <p:nvPr/>
        </p:nvSpPr>
        <p:spPr>
          <a:xfrm>
            <a:off x="7399557" y="3688468"/>
            <a:ext cx="776338" cy="307777"/>
          </a:xfrm>
          <a:prstGeom prst="rect">
            <a:avLst/>
          </a:prstGeom>
          <a:noFill/>
        </p:spPr>
        <p:txBody>
          <a:bodyPr wrap="square">
            <a:spAutoFit/>
          </a:bodyPr>
          <a:lstStyle/>
          <a:p>
            <a:r>
              <a:rPr lang="en-US" sz="700" dirty="0">
                <a:solidFill>
                  <a:srgbClr val="AB5130"/>
                </a:solidFill>
                <a:effectLst>
                  <a:glow rad="228600">
                    <a:schemeClr val="accent4">
                      <a:satMod val="175000"/>
                      <a:alpha val="40000"/>
                    </a:schemeClr>
                  </a:glow>
                </a:effectLst>
                <a:latin typeface="Press Start 2P" panose="00000500000000000000" pitchFamily="2" charset="0"/>
              </a:rPr>
              <a:t>Buy</a:t>
            </a:r>
          </a:p>
          <a:p>
            <a:r>
              <a:rPr lang="en-US" sz="700" dirty="0">
                <a:solidFill>
                  <a:srgbClr val="AB5130"/>
                </a:solidFill>
                <a:effectLst>
                  <a:glow rad="228600">
                    <a:schemeClr val="accent4">
                      <a:satMod val="175000"/>
                      <a:alpha val="40000"/>
                    </a:schemeClr>
                  </a:glow>
                </a:effectLst>
                <a:latin typeface="Press Start 2P" panose="00000500000000000000" pitchFamily="2" charset="0"/>
              </a:rPr>
              <a:t>Items</a:t>
            </a:r>
          </a:p>
        </p:txBody>
      </p:sp>
      <p:sp>
        <p:nvSpPr>
          <p:cNvPr id="5" name="TextBox 4">
            <a:extLst>
              <a:ext uri="{FF2B5EF4-FFF2-40B4-BE49-F238E27FC236}">
                <a16:creationId xmlns:a16="http://schemas.microsoft.com/office/drawing/2014/main" id="{2735E49C-2FDC-7F6C-6A71-A5D9FC72BA94}"/>
              </a:ext>
            </a:extLst>
          </p:cNvPr>
          <p:cNvSpPr txBox="1"/>
          <p:nvPr/>
        </p:nvSpPr>
        <p:spPr>
          <a:xfrm>
            <a:off x="4633044" y="2893596"/>
            <a:ext cx="2055597" cy="415498"/>
          </a:xfrm>
          <a:prstGeom prst="rect">
            <a:avLst/>
          </a:prstGeom>
          <a:noFill/>
        </p:spPr>
        <p:txBody>
          <a:bodyPr wrap="square">
            <a:spAutoFit/>
          </a:bodyPr>
          <a:lstStyle/>
          <a:p>
            <a:pPr algn="r"/>
            <a:r>
              <a:rPr lang="en-US" sz="700" dirty="0">
                <a:solidFill>
                  <a:srgbClr val="8F4D57"/>
                </a:solidFill>
                <a:effectLst>
                  <a:glow rad="228600">
                    <a:schemeClr val="accent4">
                      <a:satMod val="175000"/>
                      <a:alpha val="40000"/>
                    </a:schemeClr>
                  </a:glow>
                </a:effectLst>
                <a:latin typeface="Press Start 2P" panose="00000500000000000000" pitchFamily="2" charset="0"/>
              </a:rPr>
              <a:t>Collect memory chips</a:t>
            </a:r>
          </a:p>
          <a:p>
            <a:pPr algn="r"/>
            <a:r>
              <a:rPr lang="en-US" sz="700" dirty="0">
                <a:solidFill>
                  <a:srgbClr val="8F4D57"/>
                </a:solidFill>
                <a:effectLst>
                  <a:glow rad="228600">
                    <a:schemeClr val="accent4">
                      <a:satMod val="175000"/>
                      <a:alpha val="40000"/>
                    </a:schemeClr>
                  </a:glow>
                </a:effectLst>
                <a:latin typeface="Press Start 2P" panose="00000500000000000000" pitchFamily="2" charset="0"/>
              </a:rPr>
              <a:t>to upgrade Percival’s computer RAM.</a:t>
            </a:r>
          </a:p>
        </p:txBody>
      </p:sp>
      <p:pic>
        <p:nvPicPr>
          <p:cNvPr id="22" name="Picture 21" descr="A orange arrow on a black background&#10;&#10;AI-generated content may be incorrect.">
            <a:extLst>
              <a:ext uri="{FF2B5EF4-FFF2-40B4-BE49-F238E27FC236}">
                <a16:creationId xmlns:a16="http://schemas.microsoft.com/office/drawing/2014/main" id="{23986D78-F83B-EE18-234A-4EACCA75FE6C}"/>
              </a:ext>
            </a:extLst>
          </p:cNvPr>
          <p:cNvPicPr>
            <a:picLocks noChangeAspect="1"/>
          </p:cNvPicPr>
          <p:nvPr/>
        </p:nvPicPr>
        <p:blipFill>
          <a:blip r:embed="rId12"/>
          <a:stretch>
            <a:fillRect/>
          </a:stretch>
        </p:blipFill>
        <p:spPr>
          <a:xfrm rot="17308743">
            <a:off x="5869332" y="2565485"/>
            <a:ext cx="434499" cy="271930"/>
          </a:xfrm>
          <a:prstGeom prst="rect">
            <a:avLst/>
          </a:prstGeom>
          <a:effectLst/>
        </p:spPr>
      </p:pic>
      <p:sp>
        <p:nvSpPr>
          <p:cNvPr id="27" name="TextBox 26">
            <a:extLst>
              <a:ext uri="{FF2B5EF4-FFF2-40B4-BE49-F238E27FC236}">
                <a16:creationId xmlns:a16="http://schemas.microsoft.com/office/drawing/2014/main" id="{221BBAB1-0D66-527E-9B0E-BB559039143D}"/>
              </a:ext>
            </a:extLst>
          </p:cNvPr>
          <p:cNvSpPr txBox="1"/>
          <p:nvPr/>
        </p:nvSpPr>
        <p:spPr>
          <a:xfrm>
            <a:off x="639011" y="4279129"/>
            <a:ext cx="2257915" cy="415498"/>
          </a:xfrm>
          <a:prstGeom prst="rect">
            <a:avLst/>
          </a:prstGeom>
          <a:noFill/>
        </p:spPr>
        <p:txBody>
          <a:bodyPr wrap="square">
            <a:spAutoFit/>
          </a:bodyPr>
          <a:lstStyle/>
          <a:p>
            <a:pPr algn="ctr"/>
            <a:r>
              <a:rPr lang="en-US" sz="700" dirty="0">
                <a:solidFill>
                  <a:srgbClr val="AB5130"/>
                </a:solidFill>
                <a:effectLst>
                  <a:glow rad="228600">
                    <a:schemeClr val="accent4">
                      <a:satMod val="175000"/>
                      <a:alpha val="40000"/>
                    </a:schemeClr>
                  </a:glow>
                </a:effectLst>
                <a:latin typeface="Press Start 2P" panose="00000500000000000000" pitchFamily="2" charset="0"/>
              </a:rPr>
              <a:t>As RAM improves, new tiers of benefits become available.</a:t>
            </a:r>
          </a:p>
        </p:txBody>
      </p:sp>
      <p:sp>
        <p:nvSpPr>
          <p:cNvPr id="33" name="Arrow: Down 32">
            <a:extLst>
              <a:ext uri="{FF2B5EF4-FFF2-40B4-BE49-F238E27FC236}">
                <a16:creationId xmlns:a16="http://schemas.microsoft.com/office/drawing/2014/main" id="{1A3D11EA-7586-8655-7250-D4381D4B7002}"/>
              </a:ext>
            </a:extLst>
          </p:cNvPr>
          <p:cNvSpPr/>
          <p:nvPr/>
        </p:nvSpPr>
        <p:spPr>
          <a:xfrm>
            <a:off x="1768625" y="4099590"/>
            <a:ext cx="118556" cy="165827"/>
          </a:xfrm>
          <a:prstGeom prst="downArrow">
            <a:avLst/>
          </a:prstGeom>
          <a:solidFill>
            <a:srgbClr val="AB513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solidFill>
                <a:schemeClr val="bg1">
                  <a:lumMod val="75000"/>
                </a:schemeClr>
              </a:solidFill>
              <a:latin typeface="Press Start 2P" panose="00000500000000000000" pitchFamily="2" charset="0"/>
            </a:endParaRPr>
          </a:p>
        </p:txBody>
      </p:sp>
      <p:pic>
        <p:nvPicPr>
          <p:cNvPr id="37" name="Picture 36" descr="A pixelated image of a person wearing glasses&#10;&#10;AI-generated content may be incorrect.">
            <a:extLst>
              <a:ext uri="{FF2B5EF4-FFF2-40B4-BE49-F238E27FC236}">
                <a16:creationId xmlns:a16="http://schemas.microsoft.com/office/drawing/2014/main" id="{4E8CE347-3092-64C8-C890-0249E32FB46D}"/>
              </a:ext>
            </a:extLst>
          </p:cNvPr>
          <p:cNvPicPr>
            <a:picLocks noChangeAspect="1"/>
          </p:cNvPicPr>
          <p:nvPr/>
        </p:nvPicPr>
        <p:blipFill>
          <a:blip r:embed="rId13"/>
          <a:stretch>
            <a:fillRect/>
          </a:stretch>
        </p:blipFill>
        <p:spPr>
          <a:xfrm>
            <a:off x="4263911" y="1794508"/>
            <a:ext cx="545063" cy="450270"/>
          </a:xfrm>
          <a:prstGeom prst="rect">
            <a:avLst/>
          </a:prstGeom>
        </p:spPr>
      </p:pic>
      <p:pic>
        <p:nvPicPr>
          <p:cNvPr id="4" name="Picture 3" descr="A pixelated coin with a black background&#10;&#10;AI-generated content may be incorrect.">
            <a:extLst>
              <a:ext uri="{FF2B5EF4-FFF2-40B4-BE49-F238E27FC236}">
                <a16:creationId xmlns:a16="http://schemas.microsoft.com/office/drawing/2014/main" id="{E0B8356C-3BBB-07AE-07BA-7C42FE25C706}"/>
              </a:ext>
            </a:extLst>
          </p:cNvPr>
          <p:cNvPicPr>
            <a:picLocks noChangeAspect="1"/>
          </p:cNvPicPr>
          <p:nvPr/>
        </p:nvPicPr>
        <p:blipFill>
          <a:blip r:embed="rId16">
            <a:extLst>
              <a:ext uri="{BEBA8EAE-BF5A-486C-A8C5-ECC9F3942E4B}">
                <a14:imgProps xmlns:a14="http://schemas.microsoft.com/office/drawing/2010/main">
                  <a14:imgLayer r:embed="rId17">
                    <a14:imgEffect>
                      <a14:brightnessContrast contrast="-40000"/>
                    </a14:imgEffect>
                  </a14:imgLayer>
                </a14:imgProps>
              </a:ext>
            </a:extLst>
          </a:blip>
          <a:stretch>
            <a:fillRect/>
          </a:stretch>
        </p:blipFill>
        <p:spPr>
          <a:xfrm>
            <a:off x="7555130" y="1486212"/>
            <a:ext cx="304710" cy="304710"/>
          </a:xfrm>
          <a:prstGeom prst="rect">
            <a:avLst/>
          </a:prstGeom>
        </p:spPr>
      </p:pic>
      <p:pic>
        <p:nvPicPr>
          <p:cNvPr id="23" name="Picture 22" descr="A pixelated image of a person wearing glasses&#10;&#10;AI-generated content may be incorrect.">
            <a:extLst>
              <a:ext uri="{FF2B5EF4-FFF2-40B4-BE49-F238E27FC236}">
                <a16:creationId xmlns:a16="http://schemas.microsoft.com/office/drawing/2014/main" id="{FA8CC766-C266-4D26-510A-7685F5E0868F}"/>
              </a:ext>
            </a:extLst>
          </p:cNvPr>
          <p:cNvPicPr>
            <a:picLocks noChangeAspect="1"/>
          </p:cNvPicPr>
          <p:nvPr/>
        </p:nvPicPr>
        <p:blipFill>
          <a:blip r:embed="rId13"/>
          <a:stretch>
            <a:fillRect/>
          </a:stretch>
        </p:blipFill>
        <p:spPr>
          <a:xfrm>
            <a:off x="6932946" y="384820"/>
            <a:ext cx="545063" cy="450270"/>
          </a:xfrm>
          <a:prstGeom prst="rect">
            <a:avLst/>
          </a:prstGeom>
        </p:spPr>
      </p:pic>
      <p:pic>
        <p:nvPicPr>
          <p:cNvPr id="29" name="Picture 28">
            <a:extLst>
              <a:ext uri="{FF2B5EF4-FFF2-40B4-BE49-F238E27FC236}">
                <a16:creationId xmlns:a16="http://schemas.microsoft.com/office/drawing/2014/main" id="{D47A4C5D-9C45-A11D-9B6F-1FC3B26F9F8D}"/>
              </a:ext>
            </a:extLst>
          </p:cNvPr>
          <p:cNvPicPr>
            <a:picLocks noChangeAspect="1"/>
          </p:cNvPicPr>
          <p:nvPr/>
        </p:nvPicPr>
        <p:blipFill>
          <a:blip r:embed="rId18"/>
          <a:stretch>
            <a:fillRect/>
          </a:stretch>
        </p:blipFill>
        <p:spPr>
          <a:xfrm flipH="1">
            <a:off x="7485899" y="2175227"/>
            <a:ext cx="406290" cy="457200"/>
          </a:xfrm>
          <a:prstGeom prst="rect">
            <a:avLst/>
          </a:prstGeom>
        </p:spPr>
      </p:pic>
      <p:pic>
        <p:nvPicPr>
          <p:cNvPr id="20" name="Picture 19" descr="A orange arrow on a black background&#10;&#10;AI-generated content may be incorrect.">
            <a:extLst>
              <a:ext uri="{FF2B5EF4-FFF2-40B4-BE49-F238E27FC236}">
                <a16:creationId xmlns:a16="http://schemas.microsoft.com/office/drawing/2014/main" id="{4021958B-03FA-8C26-8E8B-AD07CD79C84F}"/>
              </a:ext>
            </a:extLst>
          </p:cNvPr>
          <p:cNvPicPr>
            <a:picLocks noChangeAspect="1"/>
          </p:cNvPicPr>
          <p:nvPr/>
        </p:nvPicPr>
        <p:blipFill>
          <a:blip r:embed="rId12"/>
          <a:stretch>
            <a:fillRect/>
          </a:stretch>
        </p:blipFill>
        <p:spPr>
          <a:xfrm rot="10223873">
            <a:off x="7742138" y="1708183"/>
            <a:ext cx="314495" cy="271930"/>
          </a:xfrm>
          <a:prstGeom prst="rect">
            <a:avLst/>
          </a:prstGeom>
          <a:effectLst/>
        </p:spPr>
      </p:pic>
      <p:pic>
        <p:nvPicPr>
          <p:cNvPr id="38" name="Picture 37" descr="A orange arrow on a black background&#10;&#10;AI-generated content may be incorrect.">
            <a:extLst>
              <a:ext uri="{FF2B5EF4-FFF2-40B4-BE49-F238E27FC236}">
                <a16:creationId xmlns:a16="http://schemas.microsoft.com/office/drawing/2014/main" id="{7F446D89-3FDA-7ABB-BB72-229634B1183A}"/>
              </a:ext>
            </a:extLst>
          </p:cNvPr>
          <p:cNvPicPr>
            <a:picLocks noChangeAspect="1"/>
          </p:cNvPicPr>
          <p:nvPr/>
        </p:nvPicPr>
        <p:blipFill>
          <a:blip r:embed="rId12"/>
          <a:stretch>
            <a:fillRect/>
          </a:stretch>
        </p:blipFill>
        <p:spPr>
          <a:xfrm rot="9570213" flipH="1">
            <a:off x="7946432" y="2145869"/>
            <a:ext cx="330686" cy="271930"/>
          </a:xfrm>
          <a:prstGeom prst="rect">
            <a:avLst/>
          </a:prstGeom>
          <a:effectLst/>
        </p:spPr>
      </p:pic>
      <p:sp>
        <p:nvSpPr>
          <p:cNvPr id="45" name="TextBox 44">
            <a:extLst>
              <a:ext uri="{FF2B5EF4-FFF2-40B4-BE49-F238E27FC236}">
                <a16:creationId xmlns:a16="http://schemas.microsoft.com/office/drawing/2014/main" id="{928D0947-B869-6CE5-A83F-A50831FED34A}"/>
              </a:ext>
            </a:extLst>
          </p:cNvPr>
          <p:cNvSpPr txBox="1"/>
          <p:nvPr/>
        </p:nvSpPr>
        <p:spPr>
          <a:xfrm>
            <a:off x="7839381" y="2429234"/>
            <a:ext cx="653402" cy="215444"/>
          </a:xfrm>
          <a:prstGeom prst="rect">
            <a:avLst/>
          </a:prstGeom>
          <a:noFill/>
        </p:spPr>
        <p:txBody>
          <a:bodyPr wrap="square">
            <a:spAutoFit/>
          </a:bodyPr>
          <a:lstStyle/>
          <a:p>
            <a:pPr algn="ctr"/>
            <a:r>
              <a:rPr lang="en-US" sz="800" dirty="0">
                <a:solidFill>
                  <a:srgbClr val="AB5130"/>
                </a:solidFill>
                <a:effectLst>
                  <a:glow rad="228600">
                    <a:schemeClr val="accent4">
                      <a:satMod val="175000"/>
                      <a:alpha val="40000"/>
                    </a:schemeClr>
                  </a:glow>
                </a:effectLst>
                <a:latin typeface="Press Start 2P" panose="00000500000000000000" pitchFamily="2" charset="0"/>
              </a:rPr>
              <a:t>Open</a:t>
            </a:r>
          </a:p>
        </p:txBody>
      </p:sp>
      <p:pic>
        <p:nvPicPr>
          <p:cNvPr id="46" name="Picture 45">
            <a:extLst>
              <a:ext uri="{FF2B5EF4-FFF2-40B4-BE49-F238E27FC236}">
                <a16:creationId xmlns:a16="http://schemas.microsoft.com/office/drawing/2014/main" id="{7ADA7947-112C-0491-C958-850A72FB2BB4}"/>
              </a:ext>
            </a:extLst>
          </p:cNvPr>
          <p:cNvPicPr>
            <a:picLocks noChangeAspect="1"/>
          </p:cNvPicPr>
          <p:nvPr/>
        </p:nvPicPr>
        <p:blipFill>
          <a:blip r:embed="rId18"/>
          <a:stretch>
            <a:fillRect/>
          </a:stretch>
        </p:blipFill>
        <p:spPr>
          <a:xfrm>
            <a:off x="4960308" y="2175227"/>
            <a:ext cx="406289" cy="457200"/>
          </a:xfrm>
          <a:prstGeom prst="rect">
            <a:avLst/>
          </a:prstGeom>
        </p:spPr>
      </p:pic>
      <p:sp>
        <p:nvSpPr>
          <p:cNvPr id="48" name="Arrow: Right 47">
            <a:extLst>
              <a:ext uri="{FF2B5EF4-FFF2-40B4-BE49-F238E27FC236}">
                <a16:creationId xmlns:a16="http://schemas.microsoft.com/office/drawing/2014/main" id="{28C993B2-0393-B870-D694-25873AE25252}"/>
              </a:ext>
            </a:extLst>
          </p:cNvPr>
          <p:cNvSpPr/>
          <p:nvPr/>
        </p:nvSpPr>
        <p:spPr>
          <a:xfrm>
            <a:off x="5402268" y="2278785"/>
            <a:ext cx="406289" cy="173522"/>
          </a:xfrm>
          <a:prstGeom prst="rightArrow">
            <a:avLst/>
          </a:prstGeom>
          <a:solidFill>
            <a:srgbClr val="AB5130"/>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AB5130"/>
              </a:solidFill>
            </a:endParaRPr>
          </a:p>
        </p:txBody>
      </p:sp>
      <p:pic>
        <p:nvPicPr>
          <p:cNvPr id="50" name="Picture 49" descr="A orange arrow on a black background&#10;&#10;AI-generated content may be incorrect.">
            <a:extLst>
              <a:ext uri="{FF2B5EF4-FFF2-40B4-BE49-F238E27FC236}">
                <a16:creationId xmlns:a16="http://schemas.microsoft.com/office/drawing/2014/main" id="{FB878227-670D-072A-D405-02DDB42A8BCE}"/>
              </a:ext>
            </a:extLst>
          </p:cNvPr>
          <p:cNvPicPr>
            <a:picLocks noChangeAspect="1"/>
          </p:cNvPicPr>
          <p:nvPr/>
        </p:nvPicPr>
        <p:blipFill>
          <a:blip r:embed="rId12"/>
          <a:stretch>
            <a:fillRect/>
          </a:stretch>
        </p:blipFill>
        <p:spPr>
          <a:xfrm rot="12747042">
            <a:off x="6592969" y="2480517"/>
            <a:ext cx="434499" cy="271930"/>
          </a:xfrm>
          <a:prstGeom prst="rect">
            <a:avLst/>
          </a:prstGeom>
          <a:effectLst/>
        </p:spPr>
      </p:pic>
      <p:pic>
        <p:nvPicPr>
          <p:cNvPr id="52" name="Picture 51" descr="A pixelated image of a person&#10;&#10;AI-generated content may be incorrect.">
            <a:extLst>
              <a:ext uri="{FF2B5EF4-FFF2-40B4-BE49-F238E27FC236}">
                <a16:creationId xmlns:a16="http://schemas.microsoft.com/office/drawing/2014/main" id="{AF7C986D-AD4A-F358-5956-96DB9B5CCCA4}"/>
              </a:ext>
            </a:extLst>
          </p:cNvPr>
          <p:cNvPicPr>
            <a:picLocks noChangeAspect="1"/>
          </p:cNvPicPr>
          <p:nvPr/>
        </p:nvPicPr>
        <p:blipFill>
          <a:blip r:embed="rId6"/>
          <a:stretch>
            <a:fillRect/>
          </a:stretch>
        </p:blipFill>
        <p:spPr>
          <a:xfrm>
            <a:off x="5487377" y="1819712"/>
            <a:ext cx="264652" cy="390524"/>
          </a:xfrm>
          <a:prstGeom prst="rect">
            <a:avLst/>
          </a:prstGeom>
          <a:effectLst/>
        </p:spPr>
      </p:pic>
      <p:pic>
        <p:nvPicPr>
          <p:cNvPr id="56" name="Picture 55" descr="A pixelated image of a person wearing glasses&#10;&#10;AI-generated content may be incorrect.">
            <a:extLst>
              <a:ext uri="{FF2B5EF4-FFF2-40B4-BE49-F238E27FC236}">
                <a16:creationId xmlns:a16="http://schemas.microsoft.com/office/drawing/2014/main" id="{B49185EA-B50B-A504-17C3-EE7ECA528F5B}"/>
              </a:ext>
            </a:extLst>
          </p:cNvPr>
          <p:cNvPicPr>
            <a:picLocks noChangeAspect="1"/>
          </p:cNvPicPr>
          <p:nvPr/>
        </p:nvPicPr>
        <p:blipFill>
          <a:blip r:embed="rId13"/>
          <a:stretch>
            <a:fillRect/>
          </a:stretch>
        </p:blipFill>
        <p:spPr>
          <a:xfrm>
            <a:off x="6887296" y="1837590"/>
            <a:ext cx="545063" cy="450270"/>
          </a:xfrm>
          <a:prstGeom prst="rect">
            <a:avLst/>
          </a:prstGeom>
        </p:spPr>
      </p:pic>
    </p:spTree>
    <p:extLst>
      <p:ext uri="{BB962C8B-B14F-4D97-AF65-F5344CB8AC3E}">
        <p14:creationId xmlns:p14="http://schemas.microsoft.com/office/powerpoint/2010/main" val="2632626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1BFC34CC-3240-40BA-8EB7-960471872B9D}"/>
            </a:ext>
          </a:extLst>
        </p:cNvPr>
        <p:cNvGrpSpPr/>
        <p:nvPr/>
      </p:nvGrpSpPr>
      <p:grpSpPr>
        <a:xfrm>
          <a:off x="0" y="0"/>
          <a:ext cx="0" cy="0"/>
          <a:chOff x="0" y="0"/>
          <a:chExt cx="0" cy="0"/>
        </a:xfrm>
      </p:grpSpPr>
      <p:pic>
        <p:nvPicPr>
          <p:cNvPr id="4" name="Picture 3" descr="A video game scene with a cave and a window">
            <a:extLst>
              <a:ext uri="{FF2B5EF4-FFF2-40B4-BE49-F238E27FC236}">
                <a16:creationId xmlns:a16="http://schemas.microsoft.com/office/drawing/2014/main" id="{944AA5A7-87A4-6267-FC1F-D26C9354EF21}"/>
              </a:ext>
            </a:extLst>
          </p:cNvPr>
          <p:cNvPicPr>
            <a:picLocks noGrp="1" noRot="1" noChangeAspect="1" noMove="1" noResize="1" noEditPoints="1" noAdjustHandles="1" noChangeArrowheads="1" noChangeShapeType="1" noCrop="1"/>
          </p:cNvPicPr>
          <p:nvPr/>
        </p:nvPicPr>
        <p:blipFill>
          <a:blip r:embed="rId3">
            <a:alphaModFix amt="35000"/>
          </a:blip>
          <a:stretch>
            <a:fillRect/>
          </a:stretch>
        </p:blipFill>
        <p:spPr>
          <a:xfrm>
            <a:off x="0" y="0"/>
            <a:ext cx="9144000" cy="5143500"/>
          </a:xfrm>
          <a:prstGeom prst="rect">
            <a:avLst/>
          </a:prstGeom>
        </p:spPr>
      </p:pic>
      <p:sp>
        <p:nvSpPr>
          <p:cNvPr id="7" name="Google Shape;999;p37">
            <a:extLst>
              <a:ext uri="{FF2B5EF4-FFF2-40B4-BE49-F238E27FC236}">
                <a16:creationId xmlns:a16="http://schemas.microsoft.com/office/drawing/2014/main" id="{E548C760-2CB6-C370-45EE-BA57E159DD1C}"/>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Game Structure II</a:t>
            </a:r>
          </a:p>
        </p:txBody>
      </p:sp>
      <p:sp>
        <p:nvSpPr>
          <p:cNvPr id="23" name="Google Shape;1000;p37">
            <a:extLst>
              <a:ext uri="{FF2B5EF4-FFF2-40B4-BE49-F238E27FC236}">
                <a16:creationId xmlns:a16="http://schemas.microsoft.com/office/drawing/2014/main" id="{AACD9289-8BCE-E1CC-E47F-BD7801EAAD90}"/>
              </a:ext>
            </a:extLst>
          </p:cNvPr>
          <p:cNvSpPr txBox="1">
            <a:spLocks/>
          </p:cNvSpPr>
          <p:nvPr/>
        </p:nvSpPr>
        <p:spPr>
          <a:xfrm>
            <a:off x="794210" y="886551"/>
            <a:ext cx="3548628" cy="94903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ct val="150000"/>
              </a:lnSpc>
              <a:buClr>
                <a:srgbClr val="8F4D57"/>
              </a:buClr>
              <a:buSzPts val="1100"/>
              <a:buFont typeface="Maven Pro"/>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1. Theme Park</a:t>
            </a:r>
          </a:p>
          <a:p>
            <a:pPr marL="0" indent="0">
              <a:lnSpc>
                <a:spcPct val="150000"/>
              </a:lnSpc>
              <a:buClr>
                <a:srgbClr val="8F4D57"/>
              </a:buClr>
              <a:buSzPts val="1100"/>
              <a:buFont typeface="Maven Pro"/>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The abandoned amusement park hub, built in a flat 2D view. It feels more exploratory and narrative-driven. Players use the corrupted ATM to unlock upgrades, powered by memory chips collected during runs—expanding the system and revealing new items and secrets as the park evolves.</a:t>
            </a:r>
          </a:p>
        </p:txBody>
      </p:sp>
      <p:sp>
        <p:nvSpPr>
          <p:cNvPr id="28" name="Google Shape;1000;p37">
            <a:extLst>
              <a:ext uri="{FF2B5EF4-FFF2-40B4-BE49-F238E27FC236}">
                <a16:creationId xmlns:a16="http://schemas.microsoft.com/office/drawing/2014/main" id="{E8A80284-BD8E-B36B-0716-31E73AA22597}"/>
              </a:ext>
            </a:extLst>
          </p:cNvPr>
          <p:cNvSpPr txBox="1">
            <a:spLocks/>
          </p:cNvSpPr>
          <p:nvPr/>
        </p:nvSpPr>
        <p:spPr>
          <a:xfrm>
            <a:off x="794210" y="2940979"/>
            <a:ext cx="3548628" cy="94903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ct val="150000"/>
              </a:lnSpc>
              <a:buClr>
                <a:srgbClr val="8F4D57"/>
              </a:buClr>
              <a:buSzPts val="1100"/>
              <a:buFont typeface="Maven Pro"/>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2. Loading Zone</a:t>
            </a:r>
          </a:p>
          <a:p>
            <a:pPr marL="0" indent="0">
              <a:lnSpc>
                <a:spcPct val="150000"/>
              </a:lnSpc>
              <a:buClr>
                <a:srgbClr val="8F4D57"/>
              </a:buClr>
              <a:buSzPts val="1100"/>
              <a:buFont typeface="Maven Pro"/>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A handcrafted 2.5D area that bridges the park and the attraction. Players board the haunted cart here, surrounded by strange figures and eerie props that set the tone before entering the procedural tunnels of the ride.</a:t>
            </a:r>
          </a:p>
        </p:txBody>
      </p:sp>
      <p:sp>
        <p:nvSpPr>
          <p:cNvPr id="29" name="Google Shape;1000;p37">
            <a:extLst>
              <a:ext uri="{FF2B5EF4-FFF2-40B4-BE49-F238E27FC236}">
                <a16:creationId xmlns:a16="http://schemas.microsoft.com/office/drawing/2014/main" id="{87E66B70-0631-6E3F-2559-BB401E4116C1}"/>
              </a:ext>
            </a:extLst>
          </p:cNvPr>
          <p:cNvSpPr txBox="1">
            <a:spLocks/>
          </p:cNvSpPr>
          <p:nvPr/>
        </p:nvSpPr>
        <p:spPr>
          <a:xfrm>
            <a:off x="4801165" y="886551"/>
            <a:ext cx="3855656" cy="13694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ct val="150000"/>
              </a:lnSpc>
              <a:buClr>
                <a:srgbClr val="8F4D57"/>
              </a:buClr>
              <a:buSzPts val="1100"/>
              <a:buFont typeface="Maven Pro"/>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3. The Ride (procedural)</a:t>
            </a:r>
          </a:p>
          <a:p>
            <a:pPr marL="0" indent="0">
              <a:lnSpc>
                <a:spcPct val="150000"/>
              </a:lnSpc>
              <a:buClr>
                <a:srgbClr val="8F4D57"/>
              </a:buClr>
              <a:buSzPts val="1100"/>
              <a:buFont typeface="Maven Pro"/>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Procedural 2D tunnels inside Mandinga’s cursed attraction. Each run begins in a corridor of doors, one hiding the coin needed to pay Saint Peregrine’s tithe and unlock the next tunnel. </a:t>
            </a:r>
          </a:p>
          <a:p>
            <a:pPr marL="0" indent="0">
              <a:lnSpc>
                <a:spcPct val="150000"/>
              </a:lnSpc>
              <a:buClr>
                <a:srgbClr val="8F4D57"/>
              </a:buClr>
              <a:buSzPts val="1100"/>
              <a:buFont typeface="Maven Pro"/>
              <a:buNone/>
            </a:pPr>
            <a:endPar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ct val="150000"/>
              </a:lnSpc>
              <a:buClr>
                <a:srgbClr val="8F4D57"/>
              </a:buClr>
              <a:buSzPts val="1100"/>
              <a:buFont typeface="Maven Pro"/>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The marked door often means a tougher fight or a boss, but players can explore others first to prepare. Later runs expand into multiple tunnels, ending with a radiant finale that symbolizes redemption.</a:t>
            </a:r>
          </a:p>
        </p:txBody>
      </p:sp>
      <p:pic>
        <p:nvPicPr>
          <p:cNvPr id="45" name="Picture 44" descr="A red cross on a black background&#10;&#10;AI-generated content may be incorrect.">
            <a:extLst>
              <a:ext uri="{FF2B5EF4-FFF2-40B4-BE49-F238E27FC236}">
                <a16:creationId xmlns:a16="http://schemas.microsoft.com/office/drawing/2014/main" id="{2D478433-EA57-44F0-5A54-93ECAA3CDB17}"/>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Tree>
    <p:extLst>
      <p:ext uri="{BB962C8B-B14F-4D97-AF65-F5344CB8AC3E}">
        <p14:creationId xmlns:p14="http://schemas.microsoft.com/office/powerpoint/2010/main" val="36623893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57A6B33A-CC60-92B6-4C7E-A5F0A216079E}"/>
            </a:ext>
          </a:extLst>
        </p:cNvPr>
        <p:cNvGrpSpPr/>
        <p:nvPr/>
      </p:nvGrpSpPr>
      <p:grpSpPr>
        <a:xfrm>
          <a:off x="0" y="0"/>
          <a:ext cx="0" cy="0"/>
          <a:chOff x="0" y="0"/>
          <a:chExt cx="0" cy="0"/>
        </a:xfrm>
      </p:grpSpPr>
      <p:pic>
        <p:nvPicPr>
          <p:cNvPr id="7" name="Picture 6" descr="A pixel art of a building">
            <a:extLst>
              <a:ext uri="{FF2B5EF4-FFF2-40B4-BE49-F238E27FC236}">
                <a16:creationId xmlns:a16="http://schemas.microsoft.com/office/drawing/2014/main" id="{604A176A-9276-30C7-5E31-6668A3F2D2C4}"/>
              </a:ext>
            </a:extLst>
          </p:cNvPr>
          <p:cNvPicPr>
            <a:picLocks noGrp="1" noRot="1" noChangeAspect="1" noMove="1" noResize="1" noEditPoints="1" noAdjustHandles="1" noChangeArrowheads="1" noChangeShapeType="1" noCrop="1"/>
          </p:cNvPicPr>
          <p:nvPr/>
        </p:nvPicPr>
        <p:blipFill>
          <a:blip r:embed="rId3">
            <a:alphaModFix amt="70000"/>
          </a:blip>
          <a:stretch>
            <a:fillRect/>
          </a:stretch>
        </p:blipFill>
        <p:spPr>
          <a:xfrm>
            <a:off x="0" y="0"/>
            <a:ext cx="9144000" cy="5143500"/>
          </a:xfrm>
          <a:prstGeom prst="rect">
            <a:avLst/>
          </a:prstGeom>
        </p:spPr>
      </p:pic>
      <p:pic>
        <p:nvPicPr>
          <p:cNvPr id="3" name="Picture 2" descr="A red cross on a black background&#10;&#10;AI-generated content may be incorrect.">
            <a:extLst>
              <a:ext uri="{FF2B5EF4-FFF2-40B4-BE49-F238E27FC236}">
                <a16:creationId xmlns:a16="http://schemas.microsoft.com/office/drawing/2014/main" id="{3FDDB78A-A233-1EE0-EDBB-C6C0157D3340}"/>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
        <p:nvSpPr>
          <p:cNvPr id="5" name="Google Shape;999;p37">
            <a:extLst>
              <a:ext uri="{FF2B5EF4-FFF2-40B4-BE49-F238E27FC236}">
                <a16:creationId xmlns:a16="http://schemas.microsoft.com/office/drawing/2014/main" id="{3602FE78-E33B-64D6-6E2C-22A7EE575F25}"/>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Pilgrim Sack</a:t>
            </a:r>
          </a:p>
        </p:txBody>
      </p:sp>
      <p:sp>
        <p:nvSpPr>
          <p:cNvPr id="6" name="Google Shape;1000;p37">
            <a:extLst>
              <a:ext uri="{FF2B5EF4-FFF2-40B4-BE49-F238E27FC236}">
                <a16:creationId xmlns:a16="http://schemas.microsoft.com/office/drawing/2014/main" id="{54053F06-56A8-B4BD-D88F-104ED26D9250}"/>
              </a:ext>
            </a:extLst>
          </p:cNvPr>
          <p:cNvSpPr txBox="1">
            <a:spLocks/>
          </p:cNvSpPr>
          <p:nvPr/>
        </p:nvSpPr>
        <p:spPr>
          <a:xfrm>
            <a:off x="1343165" y="1271698"/>
            <a:ext cx="3228835" cy="111283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Junk</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Odd junk you can equip to whack, shoot, or do something questionably effective.</a:t>
            </a:r>
          </a:p>
        </p:txBody>
      </p:sp>
      <p:sp>
        <p:nvSpPr>
          <p:cNvPr id="8" name="Google Shape;1000;p37">
            <a:extLst>
              <a:ext uri="{FF2B5EF4-FFF2-40B4-BE49-F238E27FC236}">
                <a16:creationId xmlns:a16="http://schemas.microsoft.com/office/drawing/2014/main" id="{15C7A68C-BF17-6718-529D-370473EC7C9F}"/>
              </a:ext>
            </a:extLst>
          </p:cNvPr>
          <p:cNvSpPr txBox="1">
            <a:spLocks/>
          </p:cNvSpPr>
          <p:nvPr/>
        </p:nvSpPr>
        <p:spPr>
          <a:xfrm>
            <a:off x="1343165" y="3289798"/>
            <a:ext cx="3430916" cy="88909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Consumables</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Eat or drink anything: from healing snacks to chili-powered speed boosts.</a:t>
            </a:r>
          </a:p>
        </p:txBody>
      </p:sp>
      <p:sp>
        <p:nvSpPr>
          <p:cNvPr id="9" name="Google Shape;1000;p37">
            <a:extLst>
              <a:ext uri="{FF2B5EF4-FFF2-40B4-BE49-F238E27FC236}">
                <a16:creationId xmlns:a16="http://schemas.microsoft.com/office/drawing/2014/main" id="{D689E440-227F-4A14-2F3D-DBC8F011B475}"/>
              </a:ext>
            </a:extLst>
          </p:cNvPr>
          <p:cNvSpPr txBox="1">
            <a:spLocks/>
          </p:cNvSpPr>
          <p:nvPr/>
        </p:nvSpPr>
        <p:spPr>
          <a:xfrm>
            <a:off x="5408075" y="2280748"/>
            <a:ext cx="3161540" cy="83453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Key items</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Scene-specific tools for interacting with the environment.</a:t>
            </a:r>
          </a:p>
          <a:p>
            <a:pPr marL="171450" indent="-171450">
              <a:lnSpc>
                <a:spcPts val="1400"/>
              </a:lnSpc>
              <a:buClr>
                <a:srgbClr val="BD6A62"/>
              </a:buClr>
              <a:buSzPts val="1100"/>
              <a:buFont typeface="Press Start 2P" panose="00000500000000000000" pitchFamily="2" charset="0"/>
              <a:buChar char="★"/>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p:txBody>
      </p:sp>
      <p:sp>
        <p:nvSpPr>
          <p:cNvPr id="10" name="Google Shape;1000;p37">
            <a:extLst>
              <a:ext uri="{FF2B5EF4-FFF2-40B4-BE49-F238E27FC236}">
                <a16:creationId xmlns:a16="http://schemas.microsoft.com/office/drawing/2014/main" id="{3324AE9C-7624-EC08-0A43-9411780CAFA6}"/>
              </a:ext>
            </a:extLst>
          </p:cNvPr>
          <p:cNvSpPr txBox="1">
            <a:spLocks/>
          </p:cNvSpPr>
          <p:nvPr/>
        </p:nvSpPr>
        <p:spPr>
          <a:xfrm>
            <a:off x="5408075" y="1271698"/>
            <a:ext cx="3430916" cy="88909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Trinkets</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Passive oddities with quirky powers. One at a time, so choose wisely.</a:t>
            </a:r>
          </a:p>
        </p:txBody>
      </p:sp>
      <p:pic>
        <p:nvPicPr>
          <p:cNvPr id="22" name="Picture 21">
            <a:extLst>
              <a:ext uri="{FF2B5EF4-FFF2-40B4-BE49-F238E27FC236}">
                <a16:creationId xmlns:a16="http://schemas.microsoft.com/office/drawing/2014/main" id="{3685A47C-D77C-3C70-F474-8AE699232C9B}"/>
              </a:ext>
            </a:extLst>
          </p:cNvPr>
          <p:cNvPicPr>
            <a:picLocks noChangeAspect="1"/>
          </p:cNvPicPr>
          <p:nvPr/>
        </p:nvPicPr>
        <p:blipFill>
          <a:blip r:embed="rId5"/>
          <a:stretch>
            <a:fillRect/>
          </a:stretch>
        </p:blipFill>
        <p:spPr>
          <a:xfrm>
            <a:off x="4980410" y="1510263"/>
            <a:ext cx="492624" cy="492624"/>
          </a:xfrm>
          <a:prstGeom prst="rect">
            <a:avLst/>
          </a:prstGeom>
          <a:effectLst>
            <a:glow rad="228600">
              <a:schemeClr val="accent4">
                <a:satMod val="175000"/>
                <a:alpha val="40000"/>
              </a:schemeClr>
            </a:glow>
          </a:effectLst>
        </p:spPr>
      </p:pic>
      <p:pic>
        <p:nvPicPr>
          <p:cNvPr id="24" name="Picture 23">
            <a:extLst>
              <a:ext uri="{FF2B5EF4-FFF2-40B4-BE49-F238E27FC236}">
                <a16:creationId xmlns:a16="http://schemas.microsoft.com/office/drawing/2014/main" id="{87D7128C-7ADC-493E-E204-E0ABE26C5690}"/>
              </a:ext>
            </a:extLst>
          </p:cNvPr>
          <p:cNvPicPr>
            <a:picLocks noChangeAspect="1"/>
          </p:cNvPicPr>
          <p:nvPr/>
        </p:nvPicPr>
        <p:blipFill>
          <a:blip r:embed="rId6"/>
          <a:stretch>
            <a:fillRect/>
          </a:stretch>
        </p:blipFill>
        <p:spPr>
          <a:xfrm>
            <a:off x="5004991" y="2467247"/>
            <a:ext cx="443462" cy="443462"/>
          </a:xfrm>
          <a:prstGeom prst="rect">
            <a:avLst/>
          </a:prstGeom>
          <a:effectLst>
            <a:glow rad="228600">
              <a:schemeClr val="accent4">
                <a:satMod val="175000"/>
                <a:alpha val="40000"/>
              </a:schemeClr>
            </a:glow>
          </a:effectLst>
        </p:spPr>
      </p:pic>
      <p:pic>
        <p:nvPicPr>
          <p:cNvPr id="26" name="Picture 25">
            <a:extLst>
              <a:ext uri="{FF2B5EF4-FFF2-40B4-BE49-F238E27FC236}">
                <a16:creationId xmlns:a16="http://schemas.microsoft.com/office/drawing/2014/main" id="{C3D3CFD2-DA52-BEBF-81E3-752C2296D7A0}"/>
              </a:ext>
            </a:extLst>
          </p:cNvPr>
          <p:cNvPicPr>
            <a:picLocks noChangeAspect="1"/>
          </p:cNvPicPr>
          <p:nvPr/>
        </p:nvPicPr>
        <p:blipFill>
          <a:blip r:embed="rId7"/>
          <a:stretch>
            <a:fillRect/>
          </a:stretch>
        </p:blipFill>
        <p:spPr>
          <a:xfrm>
            <a:off x="792991" y="3393585"/>
            <a:ext cx="550853" cy="550853"/>
          </a:xfrm>
          <a:prstGeom prst="rect">
            <a:avLst/>
          </a:prstGeom>
          <a:effectLst>
            <a:glow rad="228600">
              <a:schemeClr val="accent4">
                <a:satMod val="175000"/>
                <a:alpha val="40000"/>
              </a:schemeClr>
            </a:glow>
          </a:effectLst>
        </p:spPr>
      </p:pic>
      <p:pic>
        <p:nvPicPr>
          <p:cNvPr id="28" name="Picture 27">
            <a:extLst>
              <a:ext uri="{FF2B5EF4-FFF2-40B4-BE49-F238E27FC236}">
                <a16:creationId xmlns:a16="http://schemas.microsoft.com/office/drawing/2014/main" id="{D4010551-B5BB-68E8-D14B-EA505059695C}"/>
              </a:ext>
            </a:extLst>
          </p:cNvPr>
          <p:cNvPicPr>
            <a:picLocks noChangeAspect="1"/>
          </p:cNvPicPr>
          <p:nvPr/>
        </p:nvPicPr>
        <p:blipFill>
          <a:blip r:embed="rId8"/>
          <a:srcRect/>
          <a:stretch/>
        </p:blipFill>
        <p:spPr>
          <a:xfrm>
            <a:off x="792991" y="1493369"/>
            <a:ext cx="538094" cy="489176"/>
          </a:xfrm>
          <a:prstGeom prst="rect">
            <a:avLst/>
          </a:prstGeom>
          <a:effectLst>
            <a:glow rad="228600">
              <a:schemeClr val="accent4">
                <a:satMod val="175000"/>
                <a:alpha val="40000"/>
              </a:schemeClr>
            </a:glow>
          </a:effectLst>
        </p:spPr>
      </p:pic>
      <p:sp>
        <p:nvSpPr>
          <p:cNvPr id="2" name="Google Shape;1000;p37">
            <a:extLst>
              <a:ext uri="{FF2B5EF4-FFF2-40B4-BE49-F238E27FC236}">
                <a16:creationId xmlns:a16="http://schemas.microsoft.com/office/drawing/2014/main" id="{26756623-FBDD-3129-C1CF-53A52E8DFD5F}"/>
              </a:ext>
            </a:extLst>
          </p:cNvPr>
          <p:cNvSpPr txBox="1">
            <a:spLocks/>
          </p:cNvSpPr>
          <p:nvPr/>
        </p:nvSpPr>
        <p:spPr>
          <a:xfrm>
            <a:off x="1343165" y="2280748"/>
            <a:ext cx="3228835" cy="88909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Gadgets</a:t>
            </a:r>
          </a:p>
          <a:p>
            <a:pPr marL="0" indent="0">
              <a:lnSpc>
                <a:spcPts val="1400"/>
              </a:lnSpc>
              <a:buClr>
                <a:srgbClr val="BD6A62"/>
              </a:buClr>
              <a:buSzPts val="1100"/>
              <a:buNone/>
            </a:pPr>
            <a:r>
              <a:rPr lang="en-US" sz="800" dirty="0">
                <a:solidFill>
                  <a:schemeClr val="bg1">
                    <a:lumMod val="75000"/>
                  </a:schemeClr>
                </a:solidFill>
                <a:effectLst>
                  <a:glow rad="228600">
                    <a:schemeClr val="accent4">
                      <a:satMod val="175000"/>
                      <a:alpha val="40000"/>
                    </a:schemeClr>
                  </a:glow>
                </a:effectLst>
                <a:latin typeface="Press Start 2P" panose="00000500000000000000" pitchFamily="2" charset="0"/>
              </a:rPr>
              <a:t>Useful contraptions for odd jobs — dig, plant, prank, or blow stuff up.</a:t>
            </a:r>
          </a:p>
        </p:txBody>
      </p:sp>
      <p:pic>
        <p:nvPicPr>
          <p:cNvPr id="4" name="Picture 3">
            <a:extLst>
              <a:ext uri="{FF2B5EF4-FFF2-40B4-BE49-F238E27FC236}">
                <a16:creationId xmlns:a16="http://schemas.microsoft.com/office/drawing/2014/main" id="{530E914A-F62A-1024-7A0E-CDAAA49E3C0C}"/>
              </a:ext>
            </a:extLst>
          </p:cNvPr>
          <p:cNvPicPr>
            <a:picLocks noChangeAspect="1"/>
          </p:cNvPicPr>
          <p:nvPr/>
        </p:nvPicPr>
        <p:blipFill>
          <a:blip r:embed="rId9"/>
          <a:stretch>
            <a:fillRect/>
          </a:stretch>
        </p:blipFill>
        <p:spPr>
          <a:xfrm>
            <a:off x="853989" y="2444390"/>
            <a:ext cx="489176" cy="489176"/>
          </a:xfrm>
          <a:prstGeom prst="rect">
            <a:avLst/>
          </a:prstGeom>
          <a:effectLst>
            <a:glow rad="228600">
              <a:schemeClr val="accent4">
                <a:satMod val="175000"/>
                <a:alpha val="40000"/>
              </a:schemeClr>
            </a:glow>
          </a:effectLst>
        </p:spPr>
      </p:pic>
      <p:sp>
        <p:nvSpPr>
          <p:cNvPr id="12" name="TextBox 11">
            <a:extLst>
              <a:ext uri="{FF2B5EF4-FFF2-40B4-BE49-F238E27FC236}">
                <a16:creationId xmlns:a16="http://schemas.microsoft.com/office/drawing/2014/main" id="{6EE53C2B-5FAD-273D-B325-62B09B901388}"/>
              </a:ext>
            </a:extLst>
          </p:cNvPr>
          <p:cNvSpPr txBox="1"/>
          <p:nvPr/>
        </p:nvSpPr>
        <p:spPr>
          <a:xfrm>
            <a:off x="1568346" y="716578"/>
            <a:ext cx="6007308" cy="400110"/>
          </a:xfrm>
          <a:prstGeom prst="rect">
            <a:avLst/>
          </a:prstGeom>
          <a:noFill/>
        </p:spPr>
        <p:txBody>
          <a:bodyPr wrap="square">
            <a:spAutoFit/>
          </a:bodyPr>
          <a:lstStyle/>
          <a:p>
            <a:pPr algn="ct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sym typeface="Maven Pro"/>
              </a:rPr>
              <a:t>Collect and adapt with whatever bizarre items you find along the way.</a:t>
            </a:r>
          </a:p>
        </p:txBody>
      </p:sp>
      <p:pic>
        <p:nvPicPr>
          <p:cNvPr id="13" name="Picture 12" descr="A pixelated image of a horse&#10;&#10;AI-generated content may be incorrect.">
            <a:extLst>
              <a:ext uri="{FF2B5EF4-FFF2-40B4-BE49-F238E27FC236}">
                <a16:creationId xmlns:a16="http://schemas.microsoft.com/office/drawing/2014/main" id="{2BD38C97-A01D-E2D2-E3F0-612A6544C568}"/>
              </a:ext>
            </a:extLst>
          </p:cNvPr>
          <p:cNvPicPr>
            <a:picLocks noChangeAspect="1"/>
          </p:cNvPicPr>
          <p:nvPr/>
        </p:nvPicPr>
        <p:blipFill>
          <a:blip r:embed="rId10">
            <a:extLst>
              <a:ext uri="{BEBA8EAE-BF5A-486C-A8C5-ECC9F3942E4B}">
                <a14:imgProps xmlns:a14="http://schemas.microsoft.com/office/drawing/2010/main">
                  <a14:imgLayer r:embed="rId11">
                    <a14:imgEffect>
                      <a14:brightnessContrast bright="-40000"/>
                    </a14:imgEffect>
                  </a14:imgLayer>
                </a14:imgProps>
              </a:ext>
            </a:extLst>
          </a:blip>
          <a:stretch>
            <a:fillRect/>
          </a:stretch>
        </p:blipFill>
        <p:spPr>
          <a:xfrm flipH="1">
            <a:off x="8188311" y="3393585"/>
            <a:ext cx="762607" cy="894163"/>
          </a:xfrm>
          <a:prstGeom prst="rect">
            <a:avLst/>
          </a:prstGeom>
        </p:spPr>
      </p:pic>
      <p:pic>
        <p:nvPicPr>
          <p:cNvPr id="14" name="Picture 13" descr="A pixelated image of a horse&#10;&#10;AI-generated content may be incorrect.">
            <a:extLst>
              <a:ext uri="{FF2B5EF4-FFF2-40B4-BE49-F238E27FC236}">
                <a16:creationId xmlns:a16="http://schemas.microsoft.com/office/drawing/2014/main" id="{784E6801-EB8F-12D5-8FBD-96C419F43D83}"/>
              </a:ext>
            </a:extLst>
          </p:cNvPr>
          <p:cNvPicPr>
            <a:picLocks noChangeAspect="1"/>
          </p:cNvPicPr>
          <p:nvPr/>
        </p:nvPicPr>
        <p:blipFill>
          <a:blip r:embed="rId12">
            <a:extLst>
              <a:ext uri="{BEBA8EAE-BF5A-486C-A8C5-ECC9F3942E4B}">
                <a14:imgProps xmlns:a14="http://schemas.microsoft.com/office/drawing/2010/main">
                  <a14:imgLayer r:embed="rId11">
                    <a14:imgEffect>
                      <a14:brightnessContrast bright="-20000"/>
                    </a14:imgEffect>
                  </a14:imgLayer>
                </a14:imgProps>
              </a:ext>
            </a:extLst>
          </a:blip>
          <a:stretch>
            <a:fillRect/>
          </a:stretch>
        </p:blipFill>
        <p:spPr>
          <a:xfrm flipH="1">
            <a:off x="7263077" y="3521083"/>
            <a:ext cx="762607" cy="894163"/>
          </a:xfrm>
          <a:prstGeom prst="rect">
            <a:avLst/>
          </a:prstGeom>
        </p:spPr>
      </p:pic>
    </p:spTree>
    <p:extLst>
      <p:ext uri="{BB962C8B-B14F-4D97-AF65-F5344CB8AC3E}">
        <p14:creationId xmlns:p14="http://schemas.microsoft.com/office/powerpoint/2010/main" val="3980575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999;p37">
            <a:extLst>
              <a:ext uri="{FF2B5EF4-FFF2-40B4-BE49-F238E27FC236}">
                <a16:creationId xmlns:a16="http://schemas.microsoft.com/office/drawing/2014/main" id="{152398ED-DA4C-9EEF-D76C-0F47FA3AFE65}"/>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Pilgrim Sack</a:t>
            </a:r>
          </a:p>
        </p:txBody>
      </p:sp>
      <p:pic>
        <p:nvPicPr>
          <p:cNvPr id="7" name="Picture 6" descr="A screenshot of a video game">
            <a:extLst>
              <a:ext uri="{FF2B5EF4-FFF2-40B4-BE49-F238E27FC236}">
                <a16:creationId xmlns:a16="http://schemas.microsoft.com/office/drawing/2014/main" id="{67C76C6D-2EEB-6DEF-1CA9-77FD38952844}"/>
              </a:ext>
            </a:extLst>
          </p:cNvPr>
          <p:cNvPicPr>
            <a:picLocks noChangeAspect="1"/>
          </p:cNvPicPr>
          <p:nvPr/>
        </p:nvPicPr>
        <p:blipFill>
          <a:blip r:embed="rId2"/>
          <a:stretch>
            <a:fillRect/>
          </a:stretch>
        </p:blipFill>
        <p:spPr>
          <a:xfrm>
            <a:off x="411855" y="787379"/>
            <a:ext cx="8477312" cy="3739991"/>
          </a:xfrm>
          <a:prstGeom prst="rect">
            <a:avLst/>
          </a:prstGeom>
        </p:spPr>
      </p:pic>
    </p:spTree>
    <p:extLst>
      <p:ext uri="{BB962C8B-B14F-4D97-AF65-F5344CB8AC3E}">
        <p14:creationId xmlns:p14="http://schemas.microsoft.com/office/powerpoint/2010/main" val="1421057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C2F54A8F-EF3B-1D1C-8DB9-0F87D8160AEB}"/>
            </a:ext>
          </a:extLst>
        </p:cNvPr>
        <p:cNvGrpSpPr/>
        <p:nvPr/>
      </p:nvGrpSpPr>
      <p:grpSpPr>
        <a:xfrm>
          <a:off x="0" y="0"/>
          <a:ext cx="0" cy="0"/>
          <a:chOff x="0" y="0"/>
          <a:chExt cx="0" cy="0"/>
        </a:xfrm>
      </p:grpSpPr>
      <p:pic>
        <p:nvPicPr>
          <p:cNvPr id="5" name="Picture 4" descr="A video game screen with a gate and buildings">
            <a:extLst>
              <a:ext uri="{FF2B5EF4-FFF2-40B4-BE49-F238E27FC236}">
                <a16:creationId xmlns:a16="http://schemas.microsoft.com/office/drawing/2014/main" id="{73A69CEA-855A-F283-11C4-F9635E15ACB6}"/>
              </a:ext>
            </a:extLst>
          </p:cNvPr>
          <p:cNvPicPr>
            <a:picLocks noGrp="1" noRot="1" noChangeAspect="1" noMove="1" noResize="1" noEditPoints="1" noAdjustHandles="1" noChangeArrowheads="1" noChangeShapeType="1" noCrop="1"/>
          </p:cNvPicPr>
          <p:nvPr/>
        </p:nvPicPr>
        <p:blipFill>
          <a:blip r:embed="rId3">
            <a:alphaModFix amt="50000"/>
          </a:blip>
          <a:stretch>
            <a:fillRect/>
          </a:stretch>
        </p:blipFill>
        <p:spPr>
          <a:xfrm>
            <a:off x="0" y="0"/>
            <a:ext cx="9144000" cy="5143500"/>
          </a:xfrm>
          <a:prstGeom prst="rect">
            <a:avLst/>
          </a:prstGeom>
        </p:spPr>
      </p:pic>
      <p:sp>
        <p:nvSpPr>
          <p:cNvPr id="4" name="Google Shape;1000;p37">
            <a:extLst>
              <a:ext uri="{FF2B5EF4-FFF2-40B4-BE49-F238E27FC236}">
                <a16:creationId xmlns:a16="http://schemas.microsoft.com/office/drawing/2014/main" id="{8D40509E-E4DC-E7E6-F196-BE6FF499E1DD}"/>
              </a:ext>
            </a:extLst>
          </p:cNvPr>
          <p:cNvSpPr txBox="1">
            <a:spLocks/>
          </p:cNvSpPr>
          <p:nvPr/>
        </p:nvSpPr>
        <p:spPr>
          <a:xfrm>
            <a:off x="738907" y="1079710"/>
            <a:ext cx="4020470" cy="11128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Technology</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Built on our proven MonoGame/C# </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engine. Includes proprietary scripting language plus 2D lighting system that enhances depth and atmosphere.</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Playable prototype</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Simple core gameplay loop including procedural generation, basic combat, and our custom lighting system.</a:t>
            </a:r>
          </a:p>
        </p:txBody>
      </p:sp>
      <p:sp>
        <p:nvSpPr>
          <p:cNvPr id="7" name="Google Shape;1000;p37">
            <a:extLst>
              <a:ext uri="{FF2B5EF4-FFF2-40B4-BE49-F238E27FC236}">
                <a16:creationId xmlns:a16="http://schemas.microsoft.com/office/drawing/2014/main" id="{19CEF1D5-BDC4-62B3-4FF0-DA57B9D7DAE1}"/>
              </a:ext>
            </a:extLst>
          </p:cNvPr>
          <p:cNvSpPr txBox="1">
            <a:spLocks/>
          </p:cNvSpPr>
          <p:nvPr/>
        </p:nvSpPr>
        <p:spPr>
          <a:xfrm>
            <a:off x="4960138" y="1079710"/>
            <a:ext cx="3654816" cy="52647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Art direction established</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Pixel art style defined.</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Tone &amp; humor tested</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Prototype already showcases the comedy + horror mix.</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900" dirty="0">
                <a:solidFill>
                  <a:srgbClr val="BD6A62"/>
                </a:solidFill>
                <a:effectLst>
                  <a:glow rad="228600">
                    <a:schemeClr val="accent4">
                      <a:satMod val="175000"/>
                      <a:alpha val="40000"/>
                    </a:schemeClr>
                  </a:glow>
                </a:effectLst>
                <a:latin typeface="Press Start 2P" panose="00000500000000000000" pitchFamily="2" charset="0"/>
              </a:rPr>
              <a:t>Ready to scale</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With the base systems stable, next step is expanding into full adventure content.</a:t>
            </a:r>
          </a:p>
        </p:txBody>
      </p:sp>
      <p:sp>
        <p:nvSpPr>
          <p:cNvPr id="9" name="Google Shape;999;p37">
            <a:extLst>
              <a:ext uri="{FF2B5EF4-FFF2-40B4-BE49-F238E27FC236}">
                <a16:creationId xmlns:a16="http://schemas.microsoft.com/office/drawing/2014/main" id="{AF682735-BDDF-12FF-4636-9FE8E6DEDB2A}"/>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Current Status</a:t>
            </a:r>
          </a:p>
        </p:txBody>
      </p:sp>
      <p:pic>
        <p:nvPicPr>
          <p:cNvPr id="3" name="Picture 2" descr="A red cross on a black background&#10;&#10;AI-generated content may be incorrect.">
            <a:extLst>
              <a:ext uri="{FF2B5EF4-FFF2-40B4-BE49-F238E27FC236}">
                <a16:creationId xmlns:a16="http://schemas.microsoft.com/office/drawing/2014/main" id="{908F874C-A76B-3EC9-7CAF-545BFE380EEE}"/>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10" name="Picture 9" descr="A cartoon of a person wearing glasses&#10;&#10;AI-generated content may be incorrect.">
            <a:extLst>
              <a:ext uri="{FF2B5EF4-FFF2-40B4-BE49-F238E27FC236}">
                <a16:creationId xmlns:a16="http://schemas.microsoft.com/office/drawing/2014/main" id="{AE43CDBC-F02F-38AD-2DE1-3D949F93AE75}"/>
              </a:ext>
            </a:extLst>
          </p:cNvPr>
          <p:cNvPicPr>
            <a:picLocks noChangeAspect="1"/>
          </p:cNvPicPr>
          <p:nvPr/>
        </p:nvPicPr>
        <p:blipFill>
          <a:blip r:embed="rId5">
            <a:extLst>
              <a:ext uri="{BEBA8EAE-BF5A-486C-A8C5-ECC9F3942E4B}">
                <a14:imgProps xmlns:a14="http://schemas.microsoft.com/office/drawing/2010/main">
                  <a14:imgLayer r:embed="rId6">
                    <a14:imgEffect>
                      <a14:brightnessContrast bright="-20000" contrast="-20000"/>
                    </a14:imgEffect>
                  </a14:imgLayer>
                </a14:imgProps>
              </a:ext>
            </a:extLst>
          </a:blip>
          <a:stretch>
            <a:fillRect/>
          </a:stretch>
        </p:blipFill>
        <p:spPr>
          <a:xfrm>
            <a:off x="3830924" y="3575166"/>
            <a:ext cx="1257300" cy="1143000"/>
          </a:xfrm>
          <a:prstGeom prst="rect">
            <a:avLst/>
          </a:prstGeom>
        </p:spPr>
      </p:pic>
    </p:spTree>
    <p:extLst>
      <p:ext uri="{BB962C8B-B14F-4D97-AF65-F5344CB8AC3E}">
        <p14:creationId xmlns:p14="http://schemas.microsoft.com/office/powerpoint/2010/main" val="1400677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36A86AC5-F113-3FE1-F4B1-30BA556D23C5}"/>
            </a:ext>
          </a:extLst>
        </p:cNvPr>
        <p:cNvGrpSpPr/>
        <p:nvPr/>
      </p:nvGrpSpPr>
      <p:grpSpPr>
        <a:xfrm>
          <a:off x="0" y="0"/>
          <a:ext cx="0" cy="0"/>
          <a:chOff x="0" y="0"/>
          <a:chExt cx="0" cy="0"/>
        </a:xfrm>
      </p:grpSpPr>
      <p:pic>
        <p:nvPicPr>
          <p:cNvPr id="3" name="Picture 2" descr="A video game screen with a gate and buildings">
            <a:extLst>
              <a:ext uri="{FF2B5EF4-FFF2-40B4-BE49-F238E27FC236}">
                <a16:creationId xmlns:a16="http://schemas.microsoft.com/office/drawing/2014/main" id="{09202AF3-ADE5-DB2F-E0A7-C2BD9B511CD7}"/>
              </a:ext>
            </a:extLst>
          </p:cNvPr>
          <p:cNvPicPr>
            <a:picLocks noGrp="1" noRot="1" noChangeAspect="1" noMove="1" noResize="1" noEditPoints="1" noAdjustHandles="1" noChangeArrowheads="1" noChangeShapeType="1" noCrop="1"/>
          </p:cNvPicPr>
          <p:nvPr/>
        </p:nvPicPr>
        <p:blipFill>
          <a:blip r:embed="rId3">
            <a:alphaModFix amt="50000"/>
          </a:blip>
          <a:stretch>
            <a:fillRect/>
          </a:stretch>
        </p:blipFill>
        <p:spPr>
          <a:xfrm>
            <a:off x="0" y="0"/>
            <a:ext cx="9144000" cy="5143500"/>
          </a:xfrm>
          <a:prstGeom prst="rect">
            <a:avLst/>
          </a:prstGeom>
        </p:spPr>
      </p:pic>
      <p:sp>
        <p:nvSpPr>
          <p:cNvPr id="1000" name="Google Shape;1000;p37">
            <a:extLst>
              <a:ext uri="{FF2B5EF4-FFF2-40B4-BE49-F238E27FC236}">
                <a16:creationId xmlns:a16="http://schemas.microsoft.com/office/drawing/2014/main" id="{9AA063CD-4D2E-8BC6-45A7-88F344943309}"/>
              </a:ext>
            </a:extLst>
          </p:cNvPr>
          <p:cNvSpPr txBox="1">
            <a:spLocks noGrp="1"/>
          </p:cNvSpPr>
          <p:nvPr>
            <p:ph type="subTitle" idx="4294967295"/>
          </p:nvPr>
        </p:nvSpPr>
        <p:spPr>
          <a:xfrm>
            <a:off x="653539" y="1030831"/>
            <a:ext cx="3671123" cy="1112838"/>
          </a:xfrm>
          <a:prstGeom prst="rect">
            <a:avLst/>
          </a:prstGeom>
          <a:ln>
            <a:noFill/>
          </a:ln>
        </p:spPr>
        <p:txBody>
          <a:bodyPr spcFirstLastPara="1" wrap="square" lIns="91425" tIns="91425" rIns="91425" bIns="91425" anchor="t" anchorCtr="0">
            <a:noAutofit/>
          </a:bodyPr>
          <a:lstStyle/>
          <a:p>
            <a:pPr marL="0" indent="0">
              <a:lnSpc>
                <a:spcPts val="14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Funding</a:t>
            </a:r>
          </a:p>
          <a:p>
            <a:pPr marL="0" indent="0">
              <a:lnSpc>
                <a:spcPct val="1500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To produce the full adventure.</a:t>
            </a:r>
          </a:p>
          <a:p>
            <a:pPr marL="0" indent="0">
              <a:lnSpc>
                <a:spcPct val="150000"/>
              </a:lnSpc>
              <a:buClr>
                <a:srgbClr val="BD6A62"/>
              </a:buClr>
              <a:buSzPts val="1100"/>
              <a:buNone/>
            </a:pPr>
            <a:endParaRPr lang="en-US" sz="900" dirty="0">
              <a:solidFill>
                <a:srgbClr val="BD6A62"/>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Procedural Content</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Creation of creatures, bosses, hundreds of items, narrative events and Under-Ride stages.</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ct val="1500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Audio</a:t>
            </a:r>
          </a:p>
          <a:p>
            <a:pPr marL="0" indent="0">
              <a:lnSpc>
                <a:spcPct val="1500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Audio – soundtrack &amp; SFX production.</a:t>
            </a:r>
          </a:p>
        </p:txBody>
      </p:sp>
      <p:sp>
        <p:nvSpPr>
          <p:cNvPr id="6" name="Google Shape;1000;p37">
            <a:extLst>
              <a:ext uri="{FF2B5EF4-FFF2-40B4-BE49-F238E27FC236}">
                <a16:creationId xmlns:a16="http://schemas.microsoft.com/office/drawing/2014/main" id="{FD809C86-5746-E53D-31F2-04E70B49972C}"/>
              </a:ext>
            </a:extLst>
          </p:cNvPr>
          <p:cNvSpPr txBox="1">
            <a:spLocks/>
          </p:cNvSpPr>
          <p:nvPr/>
        </p:nvSpPr>
        <p:spPr>
          <a:xfrm>
            <a:off x="4740089" y="1029694"/>
            <a:ext cx="3750372" cy="11128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ts val="14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Localization</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Professional localization to reach a wider audience.</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Ports (External)</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Console versions to be handled by an external partner or publisher.</a:t>
            </a:r>
          </a:p>
          <a:p>
            <a:pPr marL="0" indent="0">
              <a:lnSpc>
                <a:spcPts val="1400"/>
              </a:lnSpc>
              <a:buClr>
                <a:srgbClr val="BD6A62"/>
              </a:buClr>
              <a:buSzPts val="1100"/>
              <a:buNone/>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a:p>
            <a:pPr marL="0" indent="0">
              <a:lnSpc>
                <a:spcPts val="1400"/>
              </a:lnSpc>
              <a:buClr>
                <a:srgbClr val="BD6A62"/>
              </a:buClr>
              <a:buSzPts val="1100"/>
              <a:buNone/>
            </a:pPr>
            <a:r>
              <a:rPr lang="en-US" sz="1100" dirty="0">
                <a:solidFill>
                  <a:srgbClr val="BD6A62"/>
                </a:solidFill>
                <a:effectLst>
                  <a:glow rad="228600">
                    <a:schemeClr val="accent4">
                      <a:satMod val="175000"/>
                      <a:alpha val="40000"/>
                    </a:schemeClr>
                  </a:glow>
                </a:effectLst>
                <a:latin typeface="Press Start 2P" panose="00000500000000000000" pitchFamily="2" charset="0"/>
              </a:rPr>
              <a:t>Marketing Assets</a:t>
            </a:r>
          </a:p>
          <a:p>
            <a:pPr marL="0" indent="0">
              <a:lnSpc>
                <a:spcPts val="1400"/>
              </a:lnSpc>
              <a:buClr>
                <a:srgbClr val="BD6A62"/>
              </a:buClr>
              <a:buSzPts val="1100"/>
              <a:buNone/>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Trailers, key art, and promotional materials.</a:t>
            </a:r>
          </a:p>
        </p:txBody>
      </p:sp>
      <p:sp>
        <p:nvSpPr>
          <p:cNvPr id="7" name="Google Shape;999;p37">
            <a:extLst>
              <a:ext uri="{FF2B5EF4-FFF2-40B4-BE49-F238E27FC236}">
                <a16:creationId xmlns:a16="http://schemas.microsoft.com/office/drawing/2014/main" id="{B275CBDA-DB79-668B-D3D1-EBDA73B0DE20}"/>
              </a:ext>
            </a:extLst>
          </p:cNvPr>
          <p:cNvSpPr txBox="1">
            <a:spLocks/>
          </p:cNvSpPr>
          <p:nvPr/>
        </p:nvSpPr>
        <p:spPr>
          <a:xfrm>
            <a:off x="1289154" y="274276"/>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Needs</a:t>
            </a:r>
          </a:p>
        </p:txBody>
      </p:sp>
      <p:pic>
        <p:nvPicPr>
          <p:cNvPr id="2" name="Picture 1" descr="A red cross on a black background&#10;&#10;AI-generated content may be incorrect.">
            <a:extLst>
              <a:ext uri="{FF2B5EF4-FFF2-40B4-BE49-F238E27FC236}">
                <a16:creationId xmlns:a16="http://schemas.microsoft.com/office/drawing/2014/main" id="{1CEF86FA-FB80-2E8D-A1CF-A3B52EAB287E}"/>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pic>
        <p:nvPicPr>
          <p:cNvPr id="5" name="Picture 4" descr="A pixelated image of a person's face&#10;&#10;AI-generated content may be incorrect.">
            <a:extLst>
              <a:ext uri="{FF2B5EF4-FFF2-40B4-BE49-F238E27FC236}">
                <a16:creationId xmlns:a16="http://schemas.microsoft.com/office/drawing/2014/main" id="{71693FFB-ADE4-3EBC-B6CD-5BB70BBBAA21}"/>
              </a:ext>
            </a:extLst>
          </p:cNvPr>
          <p:cNvPicPr>
            <a:picLocks noChangeAspect="1"/>
          </p:cNvPicPr>
          <p:nvPr/>
        </p:nvPicPr>
        <p:blipFill>
          <a:blip r:embed="rId5">
            <a:extLst>
              <a:ext uri="{BEBA8EAE-BF5A-486C-A8C5-ECC9F3942E4B}">
                <a14:imgProps xmlns:a14="http://schemas.microsoft.com/office/drawing/2010/main">
                  <a14:imgLayer r:embed="rId6">
                    <a14:imgEffect>
                      <a14:colorTemperature colorTemp="4700"/>
                    </a14:imgEffect>
                  </a14:imgLayer>
                </a14:imgProps>
              </a:ext>
            </a:extLst>
          </a:blip>
          <a:stretch>
            <a:fillRect/>
          </a:stretch>
        </p:blipFill>
        <p:spPr>
          <a:xfrm>
            <a:off x="1502526" y="4316743"/>
            <a:ext cx="914400" cy="514350"/>
          </a:xfrm>
          <a:prstGeom prst="rect">
            <a:avLst/>
          </a:prstGeom>
        </p:spPr>
      </p:pic>
      <p:pic>
        <p:nvPicPr>
          <p:cNvPr id="8" name="Picture 7" descr="A pixelated image of a person's face&#10;&#10;AI-generated content may be incorrect.">
            <a:extLst>
              <a:ext uri="{FF2B5EF4-FFF2-40B4-BE49-F238E27FC236}">
                <a16:creationId xmlns:a16="http://schemas.microsoft.com/office/drawing/2014/main" id="{A08857F8-BD63-FA8D-214F-E2427BEA4AC2}"/>
              </a:ext>
            </a:extLst>
          </p:cNvPr>
          <p:cNvPicPr>
            <a:picLocks noChangeAspect="1"/>
          </p:cNvPicPr>
          <p:nvPr/>
        </p:nvPicPr>
        <p:blipFill>
          <a:blip r:embed="rId7">
            <a:alphaModFix amt="70000"/>
          </a:blip>
          <a:stretch>
            <a:fillRect/>
          </a:stretch>
        </p:blipFill>
        <p:spPr>
          <a:xfrm flipH="1">
            <a:off x="6288373" y="4049899"/>
            <a:ext cx="839449" cy="425669"/>
          </a:xfrm>
          <a:prstGeom prst="rect">
            <a:avLst/>
          </a:prstGeom>
        </p:spPr>
      </p:pic>
    </p:spTree>
    <p:extLst>
      <p:ext uri="{BB962C8B-B14F-4D97-AF65-F5344CB8AC3E}">
        <p14:creationId xmlns:p14="http://schemas.microsoft.com/office/powerpoint/2010/main" val="42897355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84FA0D57-4FED-6D68-B23C-04A721D1DEB2}"/>
            </a:ext>
          </a:extLst>
        </p:cNvPr>
        <p:cNvGrpSpPr/>
        <p:nvPr/>
      </p:nvGrpSpPr>
      <p:grpSpPr>
        <a:xfrm>
          <a:off x="0" y="0"/>
          <a:ext cx="0" cy="0"/>
          <a:chOff x="0" y="0"/>
          <a:chExt cx="0" cy="0"/>
        </a:xfrm>
      </p:grpSpPr>
      <p:pic>
        <p:nvPicPr>
          <p:cNvPr id="4" name="Picture 3" descr="A pixel art of a building">
            <a:extLst>
              <a:ext uri="{FF2B5EF4-FFF2-40B4-BE49-F238E27FC236}">
                <a16:creationId xmlns:a16="http://schemas.microsoft.com/office/drawing/2014/main" id="{A2527C92-4C52-C5DA-682B-0103D81FA3DD}"/>
              </a:ext>
            </a:extLst>
          </p:cNvPr>
          <p:cNvPicPr>
            <a:picLocks noGrp="1" noRot="1" noChangeAspect="1" noMove="1" noResize="1" noEditPoints="1" noAdjustHandles="1" noChangeArrowheads="1" noChangeShapeType="1" noCrop="1"/>
          </p:cNvPicPr>
          <p:nvPr/>
        </p:nvPicPr>
        <p:blipFill>
          <a:blip r:embed="rId3">
            <a:alphaModFix amt="70000"/>
          </a:blip>
          <a:stretch>
            <a:fillRect/>
          </a:stretch>
        </p:blipFill>
        <p:spPr>
          <a:xfrm>
            <a:off x="0" y="0"/>
            <a:ext cx="9144000" cy="5143500"/>
          </a:xfrm>
          <a:prstGeom prst="rect">
            <a:avLst/>
          </a:prstGeom>
        </p:spPr>
      </p:pic>
      <p:sp>
        <p:nvSpPr>
          <p:cNvPr id="1000" name="Google Shape;1000;p37">
            <a:extLst>
              <a:ext uri="{FF2B5EF4-FFF2-40B4-BE49-F238E27FC236}">
                <a16:creationId xmlns:a16="http://schemas.microsoft.com/office/drawing/2014/main" id="{A8D6F54E-62B3-B106-ECAB-706E807DFDEE}"/>
              </a:ext>
            </a:extLst>
          </p:cNvPr>
          <p:cNvSpPr txBox="1">
            <a:spLocks noGrp="1"/>
          </p:cNvSpPr>
          <p:nvPr>
            <p:ph type="subTitle" idx="4294967295"/>
          </p:nvPr>
        </p:nvSpPr>
        <p:spPr>
          <a:xfrm>
            <a:off x="2067096" y="914518"/>
            <a:ext cx="5459510" cy="1112838"/>
          </a:xfrm>
          <a:prstGeom prst="rect">
            <a:avLst/>
          </a:prstGeom>
          <a:ln>
            <a:noFill/>
          </a:ln>
        </p:spPr>
        <p:txBody>
          <a:bodyPr spcFirstLastPara="1" wrap="square" lIns="91425" tIns="91425" rIns="91425" bIns="91425" anchor="t" anchorCtr="0">
            <a:noAutofit/>
          </a:bodyPr>
          <a:lstStyle/>
          <a:p>
            <a:pPr marL="285750" indent="-285750">
              <a:lnSpc>
                <a:spcPct val="150000"/>
              </a:lnSpc>
              <a:buClr>
                <a:srgbClr val="BD6A62"/>
              </a:buClr>
              <a:buSzPts val="1100"/>
              <a:buFont typeface="Press Start 2P" panose="00000500000000000000" pitchFamily="2" charset="0"/>
              <a:buChar char="★"/>
            </a:pPr>
            <a:r>
              <a:rPr lang="en-US" sz="1000" dirty="0">
                <a:solidFill>
                  <a:srgbClr val="BD6A62"/>
                </a:solidFill>
                <a:effectLst>
                  <a:glow rad="228600">
                    <a:schemeClr val="accent4">
                      <a:satMod val="175000"/>
                      <a:alpha val="40000"/>
                    </a:schemeClr>
                  </a:glow>
                </a:effectLst>
                <a:latin typeface="Press Start 2P" panose="00000500000000000000" pitchFamily="2" charset="0"/>
              </a:rPr>
              <a:t>Development time:</a:t>
            </a:r>
            <a:r>
              <a:rPr lang="en-US" sz="1000" dirty="0">
                <a:solidFill>
                  <a:srgbClr val="AB5130"/>
                </a:solidFill>
                <a:effectLst>
                  <a:glow rad="228600">
                    <a:schemeClr val="accent4">
                      <a:satMod val="175000"/>
                      <a:alpha val="40000"/>
                    </a:schemeClr>
                  </a:glow>
                </a:effectLst>
                <a:latin typeface="Press Start 2P" panose="00000500000000000000" pitchFamily="2" charset="0"/>
              </a:rPr>
              <a:t> </a:t>
            </a: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rPr>
              <a:t>13 months</a:t>
            </a:r>
          </a:p>
          <a:p>
            <a:pPr marL="285750" indent="-285750">
              <a:lnSpc>
                <a:spcPct val="150000"/>
              </a:lnSpc>
              <a:buClr>
                <a:srgbClr val="BD6A62"/>
              </a:buClr>
              <a:buSzPts val="1100"/>
              <a:buFont typeface="Press Start 2P" panose="00000500000000000000" pitchFamily="2" charset="0"/>
              <a:buChar char="★"/>
            </a:pPr>
            <a:r>
              <a:rPr lang="en-US" sz="1000" dirty="0">
                <a:solidFill>
                  <a:srgbClr val="BD6A62"/>
                </a:solidFill>
                <a:effectLst>
                  <a:glow rad="228600">
                    <a:schemeClr val="accent4">
                      <a:satMod val="175000"/>
                      <a:alpha val="40000"/>
                    </a:schemeClr>
                  </a:glow>
                </a:effectLst>
                <a:latin typeface="Press Start 2P" panose="00000500000000000000" pitchFamily="2" charset="0"/>
              </a:rPr>
              <a:t>Budget:</a:t>
            </a:r>
            <a:r>
              <a:rPr lang="en-US" sz="1000" dirty="0">
                <a:solidFill>
                  <a:srgbClr val="AB5130"/>
                </a:solidFill>
                <a:effectLst>
                  <a:glow rad="228600">
                    <a:schemeClr val="accent4">
                      <a:satMod val="175000"/>
                      <a:alpha val="40000"/>
                    </a:schemeClr>
                  </a:glow>
                </a:effectLst>
                <a:latin typeface="Press Start 2P" panose="00000500000000000000" pitchFamily="2" charset="0"/>
              </a:rPr>
              <a:t> </a:t>
            </a: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rPr>
              <a:t>220k USD (*)</a:t>
            </a:r>
          </a:p>
          <a:p>
            <a:pPr marL="285750" indent="-285750">
              <a:lnSpc>
                <a:spcPct val="150000"/>
              </a:lnSpc>
              <a:buClr>
                <a:srgbClr val="BD6A62"/>
              </a:buClr>
              <a:buSzPts val="1100"/>
              <a:buFont typeface="Press Start 2P" panose="00000500000000000000" pitchFamily="2" charset="0"/>
              <a:buChar char="★"/>
            </a:pPr>
            <a:r>
              <a:rPr lang="en-US" sz="1000" dirty="0">
                <a:solidFill>
                  <a:srgbClr val="BD6A62"/>
                </a:solidFill>
                <a:effectLst>
                  <a:glow rad="228600">
                    <a:schemeClr val="accent4">
                      <a:satMod val="175000"/>
                      <a:alpha val="40000"/>
                    </a:schemeClr>
                  </a:glow>
                </a:effectLst>
                <a:latin typeface="Press Start 2P" panose="00000500000000000000" pitchFamily="2" charset="0"/>
              </a:rPr>
              <a:t>Core team: </a:t>
            </a: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rPr>
              <a:t>2 Lead Designers Programmer, Narrative Writer, Background Artist, 2D Animator, Composer.</a:t>
            </a:r>
          </a:p>
          <a:p>
            <a:pPr marL="285750" indent="-285750">
              <a:lnSpc>
                <a:spcPct val="150000"/>
              </a:lnSpc>
              <a:buClr>
                <a:srgbClr val="BD6A62"/>
              </a:buClr>
              <a:buSzPts val="1100"/>
              <a:buFont typeface="Press Start 2P" panose="00000500000000000000" pitchFamily="2" charset="0"/>
              <a:buChar char="★"/>
            </a:pP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endParaRPr>
          </a:p>
        </p:txBody>
      </p:sp>
      <p:sp>
        <p:nvSpPr>
          <p:cNvPr id="2" name="Google Shape;1000;p37">
            <a:extLst>
              <a:ext uri="{FF2B5EF4-FFF2-40B4-BE49-F238E27FC236}">
                <a16:creationId xmlns:a16="http://schemas.microsoft.com/office/drawing/2014/main" id="{B077C8FF-47C0-25E2-4134-3456BD44E543}"/>
              </a:ext>
            </a:extLst>
          </p:cNvPr>
          <p:cNvSpPr txBox="1">
            <a:spLocks/>
          </p:cNvSpPr>
          <p:nvPr/>
        </p:nvSpPr>
        <p:spPr>
          <a:xfrm>
            <a:off x="2168911" y="4340822"/>
            <a:ext cx="4806177" cy="6595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ctr" rtl="0">
              <a:lnSpc>
                <a:spcPct val="100000"/>
              </a:lnSpc>
              <a:spcBef>
                <a:spcPts val="0"/>
              </a:spcBef>
              <a:spcAft>
                <a:spcPts val="0"/>
              </a:spcAft>
              <a:buClr>
                <a:schemeClr val="lt1"/>
              </a:buClr>
              <a:buSzPts val="2800"/>
              <a:buFont typeface="Maven Pro"/>
              <a:buNone/>
              <a:defRPr sz="1800" b="0" i="0" u="none" strike="noStrike" cap="none">
                <a:solidFill>
                  <a:schemeClr val="lt1"/>
                </a:solidFill>
                <a:latin typeface="Maven Pro"/>
                <a:ea typeface="Maven Pro"/>
                <a:cs typeface="Maven Pro"/>
                <a:sym typeface="Maven Pro"/>
              </a:defRPr>
            </a:lvl1pPr>
            <a:lvl2pPr marL="914400" marR="0" lvl="1"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2pPr>
            <a:lvl3pPr marL="1371600" marR="0" lvl="2"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3pPr>
            <a:lvl4pPr marL="1828800" marR="0" lvl="3"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4pPr>
            <a:lvl5pPr marL="2286000" marR="0" lvl="4"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5pPr>
            <a:lvl6pPr marL="2743200" marR="0" lvl="5"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6pPr>
            <a:lvl7pPr marL="3200400" marR="0" lvl="6"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7pPr>
            <a:lvl8pPr marL="3657600" marR="0" lvl="7"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8pPr>
            <a:lvl9pPr marL="4114800" marR="0" lvl="8"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9pPr>
          </a:lstStyle>
          <a:p>
            <a:pPr marL="0" indent="0">
              <a:buClr>
                <a:srgbClr val="8F4D57"/>
              </a:buClr>
              <a:buSzPts val="1100"/>
            </a:pPr>
            <a:endParaRPr lang="en-US" sz="900" dirty="0">
              <a:solidFill>
                <a:schemeClr val="bg1">
                  <a:lumMod val="50000"/>
                </a:schemeClr>
              </a:solidFill>
              <a:effectLst>
                <a:glow rad="139700">
                  <a:schemeClr val="accent4">
                    <a:satMod val="175000"/>
                    <a:alpha val="40000"/>
                  </a:schemeClr>
                </a:glow>
              </a:effectLst>
              <a:latin typeface="Press Start 2P" panose="00000500000000000000" pitchFamily="2" charset="0"/>
            </a:endParaRPr>
          </a:p>
          <a:p>
            <a:pPr marL="0" indent="0">
              <a:buClr>
                <a:srgbClr val="8F4D57"/>
              </a:buClr>
              <a:buSzPts val="1100"/>
            </a:pPr>
            <a:r>
              <a:rPr lang="en-US" sz="900" dirty="0">
                <a:solidFill>
                  <a:schemeClr val="bg1">
                    <a:lumMod val="50000"/>
                  </a:schemeClr>
                </a:solidFill>
                <a:effectLst>
                  <a:glow rad="139700">
                    <a:schemeClr val="accent4">
                      <a:satMod val="175000"/>
                      <a:alpha val="40000"/>
                    </a:schemeClr>
                  </a:glow>
                </a:effectLst>
                <a:latin typeface="Press Start 2P" panose="00000500000000000000" pitchFamily="2" charset="0"/>
              </a:rPr>
              <a:t>(*) Does not include trailer production, localization and console porting.</a:t>
            </a:r>
          </a:p>
        </p:txBody>
      </p:sp>
      <p:sp>
        <p:nvSpPr>
          <p:cNvPr id="7" name="Google Shape;999;p37">
            <a:extLst>
              <a:ext uri="{FF2B5EF4-FFF2-40B4-BE49-F238E27FC236}">
                <a16:creationId xmlns:a16="http://schemas.microsoft.com/office/drawing/2014/main" id="{2236D66A-9C1B-969E-0CB7-A2CA3D5CD4A0}"/>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Production</a:t>
            </a:r>
          </a:p>
        </p:txBody>
      </p:sp>
      <p:pic>
        <p:nvPicPr>
          <p:cNvPr id="3" name="Picture 2" descr="A red cross on a black background&#10;&#10;AI-generated content may be incorrect.">
            <a:extLst>
              <a:ext uri="{FF2B5EF4-FFF2-40B4-BE49-F238E27FC236}">
                <a16:creationId xmlns:a16="http://schemas.microsoft.com/office/drawing/2014/main" id="{3F7F2326-3B82-0B59-0457-9CD7A3AFF83F}"/>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
        <p:nvSpPr>
          <p:cNvPr id="5" name="Google Shape;1000;p37">
            <a:extLst>
              <a:ext uri="{FF2B5EF4-FFF2-40B4-BE49-F238E27FC236}">
                <a16:creationId xmlns:a16="http://schemas.microsoft.com/office/drawing/2014/main" id="{0EA81D93-A2BF-0832-935F-0A717E36252A}"/>
              </a:ext>
            </a:extLst>
          </p:cNvPr>
          <p:cNvSpPr txBox="1">
            <a:spLocks/>
          </p:cNvSpPr>
          <p:nvPr/>
        </p:nvSpPr>
        <p:spPr>
          <a:xfrm>
            <a:off x="1044126" y="2296901"/>
            <a:ext cx="7505450" cy="11128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nSpc>
                <a:spcPct val="150000"/>
              </a:lnSpc>
              <a:buClr>
                <a:srgbClr val="BD6A62"/>
              </a:buClr>
              <a:buSzPts val="1100"/>
              <a:buNone/>
            </a:pPr>
            <a:r>
              <a:rPr lang="en-US" sz="1000" dirty="0">
                <a:solidFill>
                  <a:srgbClr val="BD6A62"/>
                </a:solidFill>
                <a:effectLst>
                  <a:glow rad="228600">
                    <a:schemeClr val="accent4">
                      <a:satMod val="175000"/>
                      <a:alpha val="40000"/>
                    </a:schemeClr>
                  </a:glow>
                </a:effectLst>
                <a:latin typeface="Press Start 2P" panose="00000500000000000000" pitchFamily="2" charset="0"/>
              </a:rPr>
              <a:t>Content scope:</a:t>
            </a:r>
            <a:br>
              <a:rPr lang="en-US" sz="1000" dirty="0">
                <a:solidFill>
                  <a:srgbClr val="BD6A62"/>
                </a:solidFill>
                <a:effectLst>
                  <a:glow rad="228600">
                    <a:schemeClr val="accent4">
                      <a:satMod val="175000"/>
                      <a:alpha val="40000"/>
                    </a:schemeClr>
                  </a:glow>
                </a:effectLst>
                <a:latin typeface="Press Start 2P" panose="00000500000000000000" pitchFamily="2" charset="0"/>
              </a:rPr>
            </a:b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rPr>
              <a:t>A richly handcrafted adventure featuring around a dozen unique bosses, several dozen creatures, hundreds of items, and multiple Under-Ride biomes, story arcs, and captive celebrities — all procedurally assembled to ensure strong replayability (20–30 hours) and scalable content production.</a:t>
            </a:r>
          </a:p>
        </p:txBody>
      </p:sp>
    </p:spTree>
    <p:extLst>
      <p:ext uri="{BB962C8B-B14F-4D97-AF65-F5344CB8AC3E}">
        <p14:creationId xmlns:p14="http://schemas.microsoft.com/office/powerpoint/2010/main" val="33327391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96DB6AC6-AD3B-C709-6996-1F000F84C653}"/>
            </a:ext>
          </a:extLst>
        </p:cNvPr>
        <p:cNvGrpSpPr/>
        <p:nvPr/>
      </p:nvGrpSpPr>
      <p:grpSpPr>
        <a:xfrm>
          <a:off x="0" y="0"/>
          <a:ext cx="0" cy="0"/>
          <a:chOff x="0" y="0"/>
          <a:chExt cx="0" cy="0"/>
        </a:xfrm>
      </p:grpSpPr>
      <p:pic>
        <p:nvPicPr>
          <p:cNvPr id="7" name="Picture 6" descr="A pixel art of a building">
            <a:extLst>
              <a:ext uri="{FF2B5EF4-FFF2-40B4-BE49-F238E27FC236}">
                <a16:creationId xmlns:a16="http://schemas.microsoft.com/office/drawing/2014/main" id="{521D29B5-C7F6-1F20-1200-9DDB9CBF4622}"/>
              </a:ext>
            </a:extLst>
          </p:cNvPr>
          <p:cNvPicPr>
            <a:picLocks noGrp="1" noRot="1" noChangeAspect="1" noMove="1" noResize="1" noEditPoints="1" noAdjustHandles="1" noChangeArrowheads="1" noChangeShapeType="1" noCrop="1"/>
          </p:cNvPicPr>
          <p:nvPr/>
        </p:nvPicPr>
        <p:blipFill>
          <a:blip r:embed="rId3">
            <a:alphaModFix amt="70000"/>
          </a:blip>
          <a:stretch>
            <a:fillRect/>
          </a:stretch>
        </p:blipFill>
        <p:spPr>
          <a:xfrm>
            <a:off x="0" y="0"/>
            <a:ext cx="9144000" cy="5143500"/>
          </a:xfrm>
          <a:prstGeom prst="rect">
            <a:avLst/>
          </a:prstGeom>
        </p:spPr>
      </p:pic>
      <p:pic>
        <p:nvPicPr>
          <p:cNvPr id="3" name="Picture 2" descr="A red cross on a black background&#10;&#10;AI-generated content may be incorrect.">
            <a:extLst>
              <a:ext uri="{FF2B5EF4-FFF2-40B4-BE49-F238E27FC236}">
                <a16:creationId xmlns:a16="http://schemas.microsoft.com/office/drawing/2014/main" id="{EB2E0ECE-E3C6-0307-BDD0-041A9A6115E3}"/>
              </a:ext>
            </a:extLst>
          </p:cNvPr>
          <p:cNvPicPr>
            <a:picLocks noChangeAspect="1"/>
          </p:cNvPicPr>
          <p:nvPr/>
        </p:nvPicPr>
        <p:blipFill>
          <a:blip r:embed="rId4"/>
          <a:stretch>
            <a:fillRect/>
          </a:stretch>
        </p:blipFill>
        <p:spPr>
          <a:xfrm>
            <a:off x="7742894" y="4475568"/>
            <a:ext cx="1096097" cy="371259"/>
          </a:xfrm>
          <a:prstGeom prst="rect">
            <a:avLst/>
          </a:prstGeom>
          <a:effectLst>
            <a:glow rad="228600">
              <a:schemeClr val="accent4">
                <a:satMod val="175000"/>
                <a:alpha val="40000"/>
              </a:schemeClr>
            </a:glow>
          </a:effectLst>
        </p:spPr>
      </p:pic>
      <p:sp>
        <p:nvSpPr>
          <p:cNvPr id="5" name="Google Shape;999;p37">
            <a:extLst>
              <a:ext uri="{FF2B5EF4-FFF2-40B4-BE49-F238E27FC236}">
                <a16:creationId xmlns:a16="http://schemas.microsoft.com/office/drawing/2014/main" id="{052E82F6-CC2E-9851-4B04-145BE01BA385}"/>
              </a:ext>
            </a:extLst>
          </p:cNvPr>
          <p:cNvSpPr txBox="1">
            <a:spLocks/>
          </p:cNvSpPr>
          <p:nvPr/>
        </p:nvSpPr>
        <p:spPr>
          <a:xfrm>
            <a:off x="1409076" y="301170"/>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Future Potential</a:t>
            </a:r>
          </a:p>
        </p:txBody>
      </p:sp>
      <p:sp>
        <p:nvSpPr>
          <p:cNvPr id="6" name="Google Shape;1000;p37">
            <a:extLst>
              <a:ext uri="{FF2B5EF4-FFF2-40B4-BE49-F238E27FC236}">
                <a16:creationId xmlns:a16="http://schemas.microsoft.com/office/drawing/2014/main" id="{4FE932DA-096D-E842-1AB1-CB0B8695D228}"/>
              </a:ext>
            </a:extLst>
          </p:cNvPr>
          <p:cNvSpPr txBox="1">
            <a:spLocks/>
          </p:cNvSpPr>
          <p:nvPr/>
        </p:nvSpPr>
        <p:spPr>
          <a:xfrm>
            <a:off x="1703814" y="981005"/>
            <a:ext cx="5826313" cy="177457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171450" indent="-171450">
              <a:lnSpc>
                <a:spcPts val="1400"/>
              </a:lnSpc>
              <a:buClr>
                <a:srgbClr val="BD6A62"/>
              </a:buClr>
              <a:buSzPts val="1100"/>
              <a:buFont typeface="Press Start 2P" panose="00000500000000000000" pitchFamily="2" charset="0"/>
              <a:buChar char="★"/>
            </a:pP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t>The procedural architecture and Under-Ride structure allow the game to expand indefinitely.</a:t>
            </a:r>
            <a:b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b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endParaRPr>
          </a:p>
          <a:p>
            <a:pPr marL="171450" indent="-171450">
              <a:lnSpc>
                <a:spcPts val="1400"/>
              </a:lnSpc>
              <a:buClr>
                <a:srgbClr val="BD6A62"/>
              </a:buClr>
              <a:buSzPts val="1100"/>
              <a:buFont typeface="Press Start 2P" panose="00000500000000000000" pitchFamily="2" charset="0"/>
              <a:buChar char="★"/>
            </a:pP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endParaRPr>
          </a:p>
          <a:p>
            <a:pPr marL="171450" indent="-171450">
              <a:lnSpc>
                <a:spcPts val="1400"/>
              </a:lnSpc>
              <a:buClr>
                <a:srgbClr val="BD6A62"/>
              </a:buClr>
              <a:buSzPts val="1100"/>
              <a:buFont typeface="Press Start 2P" panose="00000500000000000000" pitchFamily="2" charset="0"/>
              <a:buChar char="★"/>
            </a:pP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t>New biomes, enemies, characters, items, and story arcs can be added as post-launch content or DLCs.</a:t>
            </a:r>
            <a:b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b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endParaRPr>
          </a:p>
          <a:p>
            <a:pPr marL="171450" indent="-171450">
              <a:lnSpc>
                <a:spcPts val="1400"/>
              </a:lnSpc>
              <a:buClr>
                <a:srgbClr val="BD6A62"/>
              </a:buClr>
              <a:buSzPts val="1100"/>
              <a:buFont typeface="Press Start 2P" panose="00000500000000000000" pitchFamily="2" charset="0"/>
              <a:buChar char="★"/>
            </a:pPr>
            <a:endPar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endParaRPr>
          </a:p>
          <a:p>
            <a:pPr marL="171450" indent="-171450">
              <a:lnSpc>
                <a:spcPts val="1400"/>
              </a:lnSpc>
              <a:buClr>
                <a:srgbClr val="BD6A62"/>
              </a:buClr>
              <a:buSzPts val="1100"/>
              <a:buFont typeface="Press Start 2P" panose="00000500000000000000" pitchFamily="2" charset="0"/>
              <a:buChar char="★"/>
            </a:pPr>
            <a:r>
              <a:rPr lang="en-US" sz="10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rPr>
              <a:t>The modular design enables cost-efficient updates and multiple sales cycles over time.</a:t>
            </a:r>
          </a:p>
          <a:p>
            <a:pPr marL="171450" indent="-171450">
              <a:lnSpc>
                <a:spcPts val="1400"/>
              </a:lnSpc>
              <a:buClr>
                <a:srgbClr val="BD6A62"/>
              </a:buClr>
              <a:buSzPts val="1100"/>
              <a:buFont typeface="Press Start 2P" panose="00000500000000000000" pitchFamily="2" charset="0"/>
              <a:buChar char="★"/>
            </a:pPr>
            <a:endPar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cs typeface="Arial"/>
              <a:sym typeface="Arial"/>
            </a:endParaRPr>
          </a:p>
        </p:txBody>
      </p:sp>
      <p:pic>
        <p:nvPicPr>
          <p:cNvPr id="2" name="Picture 1" descr="A pixelated red and black object&#10;&#10;AI-generated content may be incorrect.">
            <a:extLst>
              <a:ext uri="{FF2B5EF4-FFF2-40B4-BE49-F238E27FC236}">
                <a16:creationId xmlns:a16="http://schemas.microsoft.com/office/drawing/2014/main" id="{B57A6D10-C620-52BE-600A-C9F16DF70B48}"/>
              </a:ext>
            </a:extLst>
          </p:cNvPr>
          <p:cNvPicPr>
            <a:picLocks noChangeAspect="1"/>
          </p:cNvPicPr>
          <p:nvPr/>
        </p:nvPicPr>
        <p:blipFill>
          <a:blip r:embed="rId5"/>
          <a:stretch>
            <a:fillRect/>
          </a:stretch>
        </p:blipFill>
        <p:spPr>
          <a:xfrm>
            <a:off x="3437615" y="3729147"/>
            <a:ext cx="2862470" cy="1113183"/>
          </a:xfrm>
          <a:prstGeom prst="rect">
            <a:avLst/>
          </a:prstGeom>
        </p:spPr>
      </p:pic>
      <p:pic>
        <p:nvPicPr>
          <p:cNvPr id="8" name="Picture 7">
            <a:extLst>
              <a:ext uri="{FF2B5EF4-FFF2-40B4-BE49-F238E27FC236}">
                <a16:creationId xmlns:a16="http://schemas.microsoft.com/office/drawing/2014/main" id="{D2D859C4-8368-588E-720E-A72CF71FE662}"/>
              </a:ext>
            </a:extLst>
          </p:cNvPr>
          <p:cNvPicPr>
            <a:picLocks noChangeAspect="1"/>
          </p:cNvPicPr>
          <p:nvPr/>
        </p:nvPicPr>
        <p:blipFill>
          <a:blip r:embed="rId6"/>
          <a:stretch>
            <a:fillRect/>
          </a:stretch>
        </p:blipFill>
        <p:spPr>
          <a:xfrm>
            <a:off x="715782" y="981005"/>
            <a:ext cx="685800" cy="457200"/>
          </a:xfrm>
          <a:prstGeom prst="rect">
            <a:avLst/>
          </a:prstGeom>
        </p:spPr>
      </p:pic>
      <p:pic>
        <p:nvPicPr>
          <p:cNvPr id="9" name="Picture 8">
            <a:extLst>
              <a:ext uri="{FF2B5EF4-FFF2-40B4-BE49-F238E27FC236}">
                <a16:creationId xmlns:a16="http://schemas.microsoft.com/office/drawing/2014/main" id="{BA23DAE3-A901-AEAA-51E2-3DCFB64C825B}"/>
              </a:ext>
            </a:extLst>
          </p:cNvPr>
          <p:cNvPicPr>
            <a:picLocks noChangeAspect="1"/>
          </p:cNvPicPr>
          <p:nvPr/>
        </p:nvPicPr>
        <p:blipFill>
          <a:blip r:embed="rId6"/>
          <a:stretch>
            <a:fillRect/>
          </a:stretch>
        </p:blipFill>
        <p:spPr>
          <a:xfrm flipH="1">
            <a:off x="7053896" y="330179"/>
            <a:ext cx="770970" cy="457200"/>
          </a:xfrm>
          <a:prstGeom prst="rect">
            <a:avLst/>
          </a:prstGeom>
        </p:spPr>
      </p:pic>
    </p:spTree>
    <p:extLst>
      <p:ext uri="{BB962C8B-B14F-4D97-AF65-F5344CB8AC3E}">
        <p14:creationId xmlns:p14="http://schemas.microsoft.com/office/powerpoint/2010/main" val="357054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hlinkClick r:id="rId2"/>
            <a:extLst>
              <a:ext uri="{FF2B5EF4-FFF2-40B4-BE49-F238E27FC236}">
                <a16:creationId xmlns:a16="http://schemas.microsoft.com/office/drawing/2014/main" id="{4EE37A1B-0844-B835-01EE-E3866ED0D1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3003" y="1277484"/>
            <a:ext cx="2782856" cy="1504482"/>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7F5A200B-19FA-BC96-10A2-0CB1C9FCA0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8965" y="2776894"/>
            <a:ext cx="2670932" cy="60327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hlinkClick r:id="rId5"/>
            <a:extLst>
              <a:ext uri="{FF2B5EF4-FFF2-40B4-BE49-F238E27FC236}">
                <a16:creationId xmlns:a16="http://schemas.microsoft.com/office/drawing/2014/main" id="{F5ECA793-C0AA-9C78-EC1D-C21FF9E5D00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242717" y="1272412"/>
            <a:ext cx="2782856" cy="1504482"/>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E079C4FF-36E5-5645-D3A8-3EFD476B17F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297419" y="2776894"/>
            <a:ext cx="2685408" cy="959615"/>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hlinkClick r:id="rId8"/>
            <a:extLst>
              <a:ext uri="{FF2B5EF4-FFF2-40B4-BE49-F238E27FC236}">
                <a16:creationId xmlns:a16="http://schemas.microsoft.com/office/drawing/2014/main" id="{6EC53590-1EC8-46ED-2532-C64EFC910726}"/>
              </a:ext>
            </a:extLst>
          </p:cNvPr>
          <p:cNvPicPr>
            <a:picLocks noChangeAspect="1" noChangeArrowheads="1"/>
          </p:cNvPicPr>
          <p:nvPr/>
        </p:nvPicPr>
        <p:blipFill>
          <a:blip r:embed="rId9"/>
          <a:srcRect l="3782" r="3782"/>
          <a:stretch/>
        </p:blipFill>
        <p:spPr bwMode="auto">
          <a:xfrm>
            <a:off x="6204387" y="1272412"/>
            <a:ext cx="2576062" cy="1509554"/>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2" name="Google Shape;999;p37">
            <a:extLst>
              <a:ext uri="{FF2B5EF4-FFF2-40B4-BE49-F238E27FC236}">
                <a16:creationId xmlns:a16="http://schemas.microsoft.com/office/drawing/2014/main" id="{5A96646F-D576-B767-2AA6-70467D7FE3A8}"/>
              </a:ext>
            </a:extLst>
          </p:cNvPr>
          <p:cNvSpPr txBox="1">
            <a:spLocks/>
          </p:cNvSpPr>
          <p:nvPr/>
        </p:nvSpPr>
        <p:spPr>
          <a:xfrm>
            <a:off x="1364103" y="295581"/>
            <a:ext cx="6415790" cy="48620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FFFF00"/>
              </a:buClr>
              <a:buSzPts val="3000"/>
              <a:buFont typeface="Press Start 2P"/>
              <a:buNone/>
              <a:defRPr sz="3000" b="0" i="0" u="none" strike="noStrike" cap="none">
                <a:solidFill>
                  <a:srgbClr val="FFFF00"/>
                </a:solidFill>
                <a:latin typeface="Press Start 2P"/>
                <a:ea typeface="Press Start 2P"/>
                <a:cs typeface="Press Start 2P"/>
                <a:sym typeface="Press Start 2P"/>
              </a:defRPr>
            </a:lvl1pPr>
            <a:lvl2pPr marR="0" lvl="1"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2pPr>
            <a:lvl3pPr marR="0" lvl="2"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3pPr>
            <a:lvl4pPr marR="0" lvl="3"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4pPr>
            <a:lvl5pPr marR="0" lvl="4"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5pPr>
            <a:lvl6pPr marR="0" lvl="5"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6pPr>
            <a:lvl7pPr marR="0" lvl="6"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7pPr>
            <a:lvl8pPr marR="0" lvl="7"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8pPr>
            <a:lvl9pPr marR="0" lvl="8" algn="l" rtl="0">
              <a:lnSpc>
                <a:spcPct val="100000"/>
              </a:lnSpc>
              <a:spcBef>
                <a:spcPts val="0"/>
              </a:spcBef>
              <a:spcAft>
                <a:spcPts val="0"/>
              </a:spcAft>
              <a:buClr>
                <a:srgbClr val="FFFF00"/>
              </a:buClr>
              <a:buSzPts val="2800"/>
              <a:buFont typeface="Press Start 2P"/>
              <a:buNone/>
              <a:defRPr sz="2800" b="0" i="0" u="none" strike="noStrike" cap="none">
                <a:solidFill>
                  <a:srgbClr val="FFFF00"/>
                </a:solidFill>
                <a:latin typeface="Press Start 2P"/>
                <a:ea typeface="Press Start 2P"/>
                <a:cs typeface="Press Start 2P"/>
                <a:sym typeface="Press Start 2P"/>
              </a:defRPr>
            </a:lvl9pPr>
          </a:lstStyle>
          <a:p>
            <a:pPr algn="ctr">
              <a:buClr>
                <a:schemeClr val="dk1"/>
              </a:buClr>
              <a:buSzPts val="1100"/>
              <a:buFont typeface="Arial"/>
              <a:buNone/>
            </a:pPr>
            <a:r>
              <a:rPr lang="en-US" sz="1800" dirty="0">
                <a:solidFill>
                  <a:srgbClr val="AB5130"/>
                </a:solidFill>
                <a:effectLst>
                  <a:glow rad="228600">
                    <a:schemeClr val="accent4">
                      <a:satMod val="175000"/>
                      <a:alpha val="40000"/>
                    </a:schemeClr>
                  </a:glow>
                </a:effectLst>
              </a:rPr>
              <a:t>Our Games</a:t>
            </a:r>
          </a:p>
        </p:txBody>
      </p:sp>
      <p:sp>
        <p:nvSpPr>
          <p:cNvPr id="3" name="TextBox 2">
            <a:extLst>
              <a:ext uri="{FF2B5EF4-FFF2-40B4-BE49-F238E27FC236}">
                <a16:creationId xmlns:a16="http://schemas.microsoft.com/office/drawing/2014/main" id="{3B721B1A-A151-8774-332A-0FC6BDD6CFD0}"/>
              </a:ext>
            </a:extLst>
          </p:cNvPr>
          <p:cNvSpPr txBox="1"/>
          <p:nvPr/>
        </p:nvSpPr>
        <p:spPr>
          <a:xfrm>
            <a:off x="1335617" y="1026191"/>
            <a:ext cx="748923" cy="261610"/>
          </a:xfrm>
          <a:prstGeom prst="rect">
            <a:avLst/>
          </a:prstGeom>
          <a:noFill/>
        </p:spPr>
        <p:txBody>
          <a:bodyPr wrap="none" rtlCol="0">
            <a:spAutoFit/>
          </a:bodyPr>
          <a:lstStyle/>
          <a:p>
            <a:r>
              <a:rPr lang="en-US" sz="1100" dirty="0">
                <a:solidFill>
                  <a:srgbClr val="AB5130"/>
                </a:solidFill>
                <a:latin typeface="Press Start 2P" panose="00000500000000000000" pitchFamily="2" charset="0"/>
              </a:rPr>
              <a:t>2020</a:t>
            </a:r>
          </a:p>
        </p:txBody>
      </p:sp>
      <p:sp>
        <p:nvSpPr>
          <p:cNvPr id="4" name="TextBox 3">
            <a:extLst>
              <a:ext uri="{FF2B5EF4-FFF2-40B4-BE49-F238E27FC236}">
                <a16:creationId xmlns:a16="http://schemas.microsoft.com/office/drawing/2014/main" id="{67D4F8DC-E5F6-BE04-F02C-762226847025}"/>
              </a:ext>
            </a:extLst>
          </p:cNvPr>
          <p:cNvSpPr txBox="1"/>
          <p:nvPr/>
        </p:nvSpPr>
        <p:spPr>
          <a:xfrm>
            <a:off x="4236634" y="1026190"/>
            <a:ext cx="748923" cy="261610"/>
          </a:xfrm>
          <a:prstGeom prst="rect">
            <a:avLst/>
          </a:prstGeom>
          <a:noFill/>
        </p:spPr>
        <p:txBody>
          <a:bodyPr wrap="none" rtlCol="0">
            <a:spAutoFit/>
          </a:bodyPr>
          <a:lstStyle/>
          <a:p>
            <a:r>
              <a:rPr lang="en-US" sz="1100" dirty="0">
                <a:solidFill>
                  <a:srgbClr val="AB5130"/>
                </a:solidFill>
                <a:latin typeface="Press Start 2P" panose="00000500000000000000" pitchFamily="2" charset="0"/>
              </a:rPr>
              <a:t>2023</a:t>
            </a:r>
          </a:p>
        </p:txBody>
      </p:sp>
      <p:sp>
        <p:nvSpPr>
          <p:cNvPr id="5" name="TextBox 4">
            <a:extLst>
              <a:ext uri="{FF2B5EF4-FFF2-40B4-BE49-F238E27FC236}">
                <a16:creationId xmlns:a16="http://schemas.microsoft.com/office/drawing/2014/main" id="{7415D1CA-B8C1-15AC-836B-47AF04BB5640}"/>
              </a:ext>
            </a:extLst>
          </p:cNvPr>
          <p:cNvSpPr txBox="1"/>
          <p:nvPr/>
        </p:nvSpPr>
        <p:spPr>
          <a:xfrm>
            <a:off x="7235046" y="1026190"/>
            <a:ext cx="748923" cy="261610"/>
          </a:xfrm>
          <a:prstGeom prst="rect">
            <a:avLst/>
          </a:prstGeom>
          <a:noFill/>
        </p:spPr>
        <p:txBody>
          <a:bodyPr wrap="none" rtlCol="0">
            <a:spAutoFit/>
          </a:bodyPr>
          <a:lstStyle/>
          <a:p>
            <a:r>
              <a:rPr lang="en-US" sz="1100" dirty="0">
                <a:solidFill>
                  <a:srgbClr val="AB5130"/>
                </a:solidFill>
                <a:latin typeface="Press Start 2P" panose="00000500000000000000" pitchFamily="2" charset="0"/>
              </a:rPr>
              <a:t>2025</a:t>
            </a:r>
          </a:p>
        </p:txBody>
      </p:sp>
      <p:sp>
        <p:nvSpPr>
          <p:cNvPr id="10" name="TextBox 9">
            <a:extLst>
              <a:ext uri="{FF2B5EF4-FFF2-40B4-BE49-F238E27FC236}">
                <a16:creationId xmlns:a16="http://schemas.microsoft.com/office/drawing/2014/main" id="{A0A5C56A-74D6-047C-12D8-E79197F5082D}"/>
              </a:ext>
            </a:extLst>
          </p:cNvPr>
          <p:cNvSpPr txBox="1"/>
          <p:nvPr/>
        </p:nvSpPr>
        <p:spPr>
          <a:xfrm>
            <a:off x="1799334" y="4478587"/>
            <a:ext cx="5642725" cy="369332"/>
          </a:xfrm>
          <a:prstGeom prst="rect">
            <a:avLst/>
          </a:prstGeom>
          <a:noFill/>
        </p:spPr>
        <p:txBody>
          <a:bodyPr wrap="square">
            <a:spAutoFit/>
          </a:bodyPr>
          <a:lstStyle/>
          <a:p>
            <a:pPr algn="ctr"/>
            <a:r>
              <a:rPr lang="en-US" sz="900" dirty="0">
                <a:solidFill>
                  <a:schemeClr val="bg1">
                    <a:lumMod val="50000"/>
                  </a:schemeClr>
                </a:solidFill>
                <a:effectLst>
                  <a:glow rad="139700">
                    <a:schemeClr val="accent4">
                      <a:satMod val="175000"/>
                      <a:alpha val="40000"/>
                    </a:schemeClr>
                  </a:glow>
                </a:effectLst>
                <a:latin typeface="Press Start 2P" panose="00000500000000000000" pitchFamily="2" charset="0"/>
                <a:sym typeface="Maven Pro"/>
              </a:rPr>
              <a:t>Shipped on PC and major consoles, award-winning for creativity and originality.</a:t>
            </a:r>
          </a:p>
        </p:txBody>
      </p:sp>
    </p:spTree>
    <p:extLst>
      <p:ext uri="{BB962C8B-B14F-4D97-AF65-F5344CB8AC3E}">
        <p14:creationId xmlns:p14="http://schemas.microsoft.com/office/powerpoint/2010/main" val="26840617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98">
          <a:extLst>
            <a:ext uri="{FF2B5EF4-FFF2-40B4-BE49-F238E27FC236}">
              <a16:creationId xmlns:a16="http://schemas.microsoft.com/office/drawing/2014/main" id="{2C8D7569-5C51-B680-59E6-28E308016A5A}"/>
            </a:ext>
          </a:extLst>
        </p:cNvPr>
        <p:cNvGrpSpPr/>
        <p:nvPr/>
      </p:nvGrpSpPr>
      <p:grpSpPr>
        <a:xfrm>
          <a:off x="0" y="0"/>
          <a:ext cx="0" cy="0"/>
          <a:chOff x="0" y="0"/>
          <a:chExt cx="0" cy="0"/>
        </a:xfrm>
      </p:grpSpPr>
      <p:sp>
        <p:nvSpPr>
          <p:cNvPr id="1000" name="Google Shape;1000;p37">
            <a:extLst>
              <a:ext uri="{FF2B5EF4-FFF2-40B4-BE49-F238E27FC236}">
                <a16:creationId xmlns:a16="http://schemas.microsoft.com/office/drawing/2014/main" id="{3D66167E-39B7-42B9-5AB8-EC778F55CBC1}"/>
              </a:ext>
            </a:extLst>
          </p:cNvPr>
          <p:cNvSpPr txBox="1">
            <a:spLocks noGrp="1"/>
          </p:cNvSpPr>
          <p:nvPr>
            <p:ph type="subTitle" idx="1"/>
          </p:nvPr>
        </p:nvSpPr>
        <p:spPr>
          <a:xfrm>
            <a:off x="3241490" y="1946241"/>
            <a:ext cx="2288116" cy="400290"/>
          </a:xfrm>
          <a:prstGeom prst="rect">
            <a:avLst/>
          </a:prstGeom>
          <a:ln>
            <a:noFill/>
          </a:ln>
        </p:spPr>
        <p:txBody>
          <a:bodyPr spcFirstLastPara="1" wrap="square" lIns="91425" tIns="91425" rIns="91425" bIns="91425" anchor="t" anchorCtr="0">
            <a:noAutofit/>
          </a:bodyPr>
          <a:lstStyle/>
          <a:p>
            <a:pPr marL="457200" lvl="1" indent="0">
              <a:buClr>
                <a:srgbClr val="8F4D57"/>
              </a:buClr>
              <a:buSzPts val="1100"/>
            </a:pPr>
            <a:r>
              <a:rPr lang="en-US" sz="1200" dirty="0">
                <a:solidFill>
                  <a:srgbClr val="F6CA15"/>
                </a:solidFill>
                <a:effectLst>
                  <a:glow rad="228600">
                    <a:schemeClr val="accent4">
                      <a:satMod val="175000"/>
                      <a:alpha val="40000"/>
                    </a:schemeClr>
                  </a:glow>
                </a:effectLst>
                <a:latin typeface="Press Start 2P" panose="00000500000000000000" pitchFamily="2" charset="0"/>
              </a:rPr>
              <a:t>Thanks!</a:t>
            </a:r>
          </a:p>
        </p:txBody>
      </p:sp>
      <p:pic>
        <p:nvPicPr>
          <p:cNvPr id="4" name="Picture 3" descr="A yellow and black logo&#10;&#10;AI-generated content may be incorrect.">
            <a:hlinkClick r:id="rId3"/>
            <a:extLst>
              <a:ext uri="{FF2B5EF4-FFF2-40B4-BE49-F238E27FC236}">
                <a16:creationId xmlns:a16="http://schemas.microsoft.com/office/drawing/2014/main" id="{1C37E350-5E37-7DF8-8F33-CC092C157315}"/>
              </a:ext>
            </a:extLst>
          </p:cNvPr>
          <p:cNvPicPr>
            <a:picLocks noChangeAspect="1"/>
          </p:cNvPicPr>
          <p:nvPr/>
        </p:nvPicPr>
        <p:blipFill>
          <a:blip r:embed="rId4"/>
          <a:stretch>
            <a:fillRect/>
          </a:stretch>
        </p:blipFill>
        <p:spPr>
          <a:xfrm>
            <a:off x="3280973" y="307539"/>
            <a:ext cx="2582052" cy="1663371"/>
          </a:xfrm>
          <a:prstGeom prst="rect">
            <a:avLst/>
          </a:prstGeom>
          <a:effectLst>
            <a:glow rad="228600">
              <a:schemeClr val="accent4">
                <a:satMod val="175000"/>
                <a:alpha val="40000"/>
              </a:schemeClr>
            </a:glow>
          </a:effectLst>
        </p:spPr>
      </p:pic>
      <p:sp>
        <p:nvSpPr>
          <p:cNvPr id="3" name="Google Shape;1000;p37">
            <a:extLst>
              <a:ext uri="{FF2B5EF4-FFF2-40B4-BE49-F238E27FC236}">
                <a16:creationId xmlns:a16="http://schemas.microsoft.com/office/drawing/2014/main" id="{9D1E934B-613C-2E14-6E91-49245FEB845B}"/>
              </a:ext>
            </a:extLst>
          </p:cNvPr>
          <p:cNvSpPr txBox="1">
            <a:spLocks/>
          </p:cNvSpPr>
          <p:nvPr/>
        </p:nvSpPr>
        <p:spPr>
          <a:xfrm>
            <a:off x="2390552" y="4484913"/>
            <a:ext cx="3989992" cy="4002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ctr" rtl="0">
              <a:lnSpc>
                <a:spcPct val="100000"/>
              </a:lnSpc>
              <a:spcBef>
                <a:spcPts val="0"/>
              </a:spcBef>
              <a:spcAft>
                <a:spcPts val="0"/>
              </a:spcAft>
              <a:buClr>
                <a:schemeClr val="lt1"/>
              </a:buClr>
              <a:buSzPts val="2800"/>
              <a:buFont typeface="Maven Pro"/>
              <a:buNone/>
              <a:defRPr sz="1800" b="0" i="0" u="none" strike="noStrike" cap="none">
                <a:solidFill>
                  <a:schemeClr val="lt1"/>
                </a:solidFill>
                <a:latin typeface="Maven Pro"/>
                <a:ea typeface="Maven Pro"/>
                <a:cs typeface="Maven Pro"/>
                <a:sym typeface="Maven Pro"/>
              </a:defRPr>
            </a:lvl1pPr>
            <a:lvl2pPr marL="914400" marR="0" lvl="1"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2pPr>
            <a:lvl3pPr marL="1371600" marR="0" lvl="2"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3pPr>
            <a:lvl4pPr marL="1828800" marR="0" lvl="3"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4pPr>
            <a:lvl5pPr marL="2286000" marR="0" lvl="4"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5pPr>
            <a:lvl6pPr marL="2743200" marR="0" lvl="5"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6pPr>
            <a:lvl7pPr marL="3200400" marR="0" lvl="6"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7pPr>
            <a:lvl8pPr marL="3657600" marR="0" lvl="7"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8pPr>
            <a:lvl9pPr marL="4114800" marR="0" lvl="8" indent="-330200" algn="ctr" rtl="0">
              <a:lnSpc>
                <a:spcPct val="100000"/>
              </a:lnSpc>
              <a:spcBef>
                <a:spcPts val="0"/>
              </a:spcBef>
              <a:spcAft>
                <a:spcPts val="0"/>
              </a:spcAft>
              <a:buClr>
                <a:schemeClr val="lt1"/>
              </a:buClr>
              <a:buSzPts val="2800"/>
              <a:buFont typeface="Maven Pro"/>
              <a:buNone/>
              <a:defRPr sz="2800" b="0" i="0" u="none" strike="noStrike" cap="none">
                <a:solidFill>
                  <a:schemeClr val="lt1"/>
                </a:solidFill>
                <a:latin typeface="Maven Pro"/>
                <a:ea typeface="Maven Pro"/>
                <a:cs typeface="Maven Pro"/>
                <a:sym typeface="Maven Pro"/>
              </a:defRPr>
            </a:lvl9pPr>
          </a:lstStyle>
          <a:p>
            <a:pPr marL="457200" lvl="1" indent="0">
              <a:buClr>
                <a:srgbClr val="8F4D57"/>
              </a:buClr>
              <a:buSzPts val="1100"/>
            </a:pPr>
            <a:r>
              <a:rPr lang="en-US" sz="800" dirty="0">
                <a:solidFill>
                  <a:srgbClr val="F6CA15"/>
                </a:solidFill>
                <a:effectLst>
                  <a:glow rad="228600">
                    <a:schemeClr val="accent4">
                      <a:satMod val="175000"/>
                      <a:alpha val="40000"/>
                    </a:schemeClr>
                  </a:glow>
                </a:effectLst>
                <a:latin typeface="Press Start 2P" panose="00000500000000000000" pitchFamily="2" charset="0"/>
              </a:rPr>
              <a:t>Contact: diego@indiesruption.com</a:t>
            </a:r>
            <a:endParaRPr lang="en-US" sz="800" dirty="0">
              <a:solidFill>
                <a:srgbClr val="F6CA15"/>
              </a:solidFill>
              <a:latin typeface="Press Start 2P" panose="00000500000000000000" pitchFamily="2" charset="0"/>
            </a:endParaRPr>
          </a:p>
        </p:txBody>
      </p:sp>
      <p:pic>
        <p:nvPicPr>
          <p:cNvPr id="1026" name="Picture 2" descr="BITBANG | Conocé al Jurado de Videojuegos 2022">
            <a:hlinkClick r:id="rId5"/>
            <a:extLst>
              <a:ext uri="{FF2B5EF4-FFF2-40B4-BE49-F238E27FC236}">
                <a16:creationId xmlns:a16="http://schemas.microsoft.com/office/drawing/2014/main" id="{4A663F81-F70C-0353-F4B4-154EFAB7527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730839" y="2557504"/>
            <a:ext cx="802960" cy="802960"/>
          </a:xfrm>
          <a:prstGeom prst="rect">
            <a:avLst/>
          </a:prstGeom>
          <a:noFill/>
          <a:ln w="19050">
            <a:solidFill>
              <a:srgbClr val="F6CA15"/>
            </a:solidFill>
          </a:ln>
          <a:extLst>
            <a:ext uri="{909E8E84-426E-40DD-AFC4-6F175D3DCCD1}">
              <a14:hiddenFill xmlns:a14="http://schemas.microsoft.com/office/drawing/2010/main">
                <a:solidFill>
                  <a:srgbClr val="FFFFFF"/>
                </a:solidFill>
              </a14:hiddenFill>
            </a:ext>
          </a:extLst>
        </p:spPr>
      </p:pic>
      <p:pic>
        <p:nvPicPr>
          <p:cNvPr id="1028" name="Picture 4" descr="BITBANG | Conocé al Jurado de Videojuegos 2022">
            <a:hlinkClick r:id="rId7"/>
            <a:extLst>
              <a:ext uri="{FF2B5EF4-FFF2-40B4-BE49-F238E27FC236}">
                <a16:creationId xmlns:a16="http://schemas.microsoft.com/office/drawing/2014/main" id="{C7FF3FAD-54A0-77D9-B3A8-BB22C8AB46A1}"/>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170520" y="2557503"/>
            <a:ext cx="802960" cy="802960"/>
          </a:xfrm>
          <a:prstGeom prst="rect">
            <a:avLst/>
          </a:prstGeom>
          <a:noFill/>
          <a:ln w="19050">
            <a:solidFill>
              <a:srgbClr val="F6CA15"/>
            </a:solidFill>
          </a:ln>
          <a:extLst>
            <a:ext uri="{909E8E84-426E-40DD-AFC4-6F175D3DCCD1}">
              <a14:hiddenFill xmlns:a14="http://schemas.microsoft.com/office/drawing/2010/main">
                <a:solidFill>
                  <a:srgbClr val="FFFFFF"/>
                </a:solidFill>
              </a14:hiddenFill>
            </a:ext>
          </a:extLst>
        </p:spPr>
      </p:pic>
      <p:pic>
        <p:nvPicPr>
          <p:cNvPr id="1030" name="Picture 6" descr="Durgan A. Nallar 🎲 - Escuela de Game ...">
            <a:hlinkClick r:id="rId9"/>
            <a:extLst>
              <a:ext uri="{FF2B5EF4-FFF2-40B4-BE49-F238E27FC236}">
                <a16:creationId xmlns:a16="http://schemas.microsoft.com/office/drawing/2014/main" id="{1800DAD1-03A3-67E5-DE6D-4E125651B69A}"/>
              </a:ext>
            </a:extLst>
          </p:cNvPr>
          <p:cNvPicPr>
            <a:picLocks noChangeAspect="1" noChangeArrowheads="1"/>
          </p:cNvPicPr>
          <p:nvPr/>
        </p:nvPicPr>
        <p:blipFill>
          <a:blip r:embed="rId10">
            <a:extLst>
              <a:ext uri="{BEBA8EAE-BF5A-486C-A8C5-ECC9F3942E4B}">
                <a14:imgProps xmlns:a14="http://schemas.microsoft.com/office/drawing/2010/main">
                  <a14:imgLayer r:embed="rId11">
                    <a14:imgEffect>
                      <a14:saturation sat="0"/>
                    </a14:imgEffect>
                  </a14:imgLayer>
                </a14:imgProps>
              </a:ext>
              <a:ext uri="{28A0092B-C50C-407E-A947-70E740481C1C}">
                <a14:useLocalDpi xmlns:a14="http://schemas.microsoft.com/office/drawing/2010/main" val="0"/>
              </a:ext>
            </a:extLst>
          </a:blip>
          <a:srcRect/>
          <a:stretch>
            <a:fillRect/>
          </a:stretch>
        </p:blipFill>
        <p:spPr bwMode="auto">
          <a:xfrm>
            <a:off x="5610201" y="2557504"/>
            <a:ext cx="802959" cy="802959"/>
          </a:xfrm>
          <a:prstGeom prst="rect">
            <a:avLst/>
          </a:prstGeom>
          <a:noFill/>
          <a:ln w="19050">
            <a:solidFill>
              <a:srgbClr val="F6CA15"/>
            </a:solidFill>
          </a:ln>
          <a:extLst>
            <a:ext uri="{909E8E84-426E-40DD-AFC4-6F175D3DCCD1}">
              <a14:hiddenFill xmlns:a14="http://schemas.microsoft.com/office/drawing/2010/main">
                <a:solidFill>
                  <a:srgbClr val="FFFFFF"/>
                </a:solidFill>
              </a14:hiddenFill>
            </a:ext>
          </a:extLst>
        </p:spPr>
      </p:pic>
      <p:sp>
        <p:nvSpPr>
          <p:cNvPr id="8" name="Google Shape;1000;p37">
            <a:extLst>
              <a:ext uri="{FF2B5EF4-FFF2-40B4-BE49-F238E27FC236}">
                <a16:creationId xmlns:a16="http://schemas.microsoft.com/office/drawing/2014/main" id="{99D06E37-DAD2-26D2-9E12-52ECA2CCAF00}"/>
              </a:ext>
            </a:extLst>
          </p:cNvPr>
          <p:cNvSpPr txBox="1">
            <a:spLocks/>
          </p:cNvSpPr>
          <p:nvPr/>
        </p:nvSpPr>
        <p:spPr>
          <a:xfrm>
            <a:off x="2356391" y="3399818"/>
            <a:ext cx="1551855" cy="69594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gn="ctr">
              <a:lnSpc>
                <a:spcPct val="150000"/>
              </a:lnSpc>
              <a:buClr>
                <a:srgbClr val="BD6A62"/>
              </a:buClr>
              <a:buSzPts val="1100"/>
              <a:buNone/>
            </a:pPr>
            <a:r>
              <a:rPr lang="en-US" sz="600" dirty="0">
                <a:solidFill>
                  <a:srgbClr val="F6CA15"/>
                </a:solidFill>
                <a:effectLst>
                  <a:glow rad="228600">
                    <a:schemeClr val="accent4">
                      <a:satMod val="175000"/>
                      <a:alpha val="40000"/>
                    </a:schemeClr>
                  </a:glow>
                </a:effectLst>
                <a:latin typeface="Press Start 2P" panose="00000500000000000000" pitchFamily="2" charset="0"/>
              </a:rPr>
              <a:t>Diego Cánepa</a:t>
            </a:r>
          </a:p>
          <a:p>
            <a:pPr marL="0" indent="0" algn="ctr">
              <a:lnSpc>
                <a:spcPct val="100000"/>
              </a:lnSpc>
              <a:buClr>
                <a:srgbClr val="BD6A62"/>
              </a:buClr>
              <a:buSzPts val="1100"/>
              <a:buNone/>
            </a:pP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Founder</a:t>
            </a:r>
          </a:p>
          <a:p>
            <a:pPr marL="0" indent="0" algn="ctr">
              <a:lnSpc>
                <a:spcPct val="150000"/>
              </a:lnSpc>
              <a:buClr>
                <a:srgbClr val="BD6A62"/>
              </a:buClr>
              <a:buSzPts val="1100"/>
              <a:buNone/>
            </a:pP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Lead Designer Programmer</a:t>
            </a:r>
          </a:p>
        </p:txBody>
      </p:sp>
      <p:sp>
        <p:nvSpPr>
          <p:cNvPr id="9" name="Google Shape;1000;p37">
            <a:extLst>
              <a:ext uri="{FF2B5EF4-FFF2-40B4-BE49-F238E27FC236}">
                <a16:creationId xmlns:a16="http://schemas.microsoft.com/office/drawing/2014/main" id="{A5F3AC40-DE36-50F1-275A-042F7E3AECE2}"/>
              </a:ext>
            </a:extLst>
          </p:cNvPr>
          <p:cNvSpPr txBox="1">
            <a:spLocks/>
          </p:cNvSpPr>
          <p:nvPr/>
        </p:nvSpPr>
        <p:spPr>
          <a:xfrm>
            <a:off x="3908138" y="3399818"/>
            <a:ext cx="1329245" cy="33711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gn="ctr">
              <a:lnSpc>
                <a:spcPct val="150000"/>
              </a:lnSpc>
              <a:buClr>
                <a:srgbClr val="BD6A62"/>
              </a:buClr>
              <a:buSzPts val="1100"/>
              <a:buNone/>
            </a:pPr>
            <a:r>
              <a:rPr lang="en-US" sz="600" dirty="0">
                <a:solidFill>
                  <a:srgbClr val="F6CA15"/>
                </a:solidFill>
                <a:effectLst>
                  <a:glow rad="228600">
                    <a:schemeClr val="accent4">
                      <a:satMod val="175000"/>
                      <a:alpha val="40000"/>
                    </a:schemeClr>
                  </a:glow>
                </a:effectLst>
                <a:latin typeface="Press Start 2P" panose="00000500000000000000" pitchFamily="2" charset="0"/>
              </a:rPr>
              <a:t>Pablo Mamone</a:t>
            </a:r>
            <a:b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b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Lead Designer</a:t>
            </a:r>
          </a:p>
          <a:p>
            <a:pPr marL="0" indent="0" algn="ctr">
              <a:lnSpc>
                <a:spcPct val="150000"/>
              </a:lnSpc>
              <a:buClr>
                <a:srgbClr val="BD6A62"/>
              </a:buClr>
              <a:buSzPts val="1100"/>
              <a:buNone/>
            </a:pP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Project Manager</a:t>
            </a:r>
          </a:p>
        </p:txBody>
      </p:sp>
      <p:sp>
        <p:nvSpPr>
          <p:cNvPr id="10" name="Google Shape;1000;p37">
            <a:extLst>
              <a:ext uri="{FF2B5EF4-FFF2-40B4-BE49-F238E27FC236}">
                <a16:creationId xmlns:a16="http://schemas.microsoft.com/office/drawing/2014/main" id="{FB2C3E88-15B8-E8A9-33BF-ED3C0D951639}"/>
              </a:ext>
            </a:extLst>
          </p:cNvPr>
          <p:cNvSpPr txBox="1">
            <a:spLocks/>
          </p:cNvSpPr>
          <p:nvPr/>
        </p:nvSpPr>
        <p:spPr>
          <a:xfrm>
            <a:off x="5235756" y="3398672"/>
            <a:ext cx="1622074" cy="47497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30200" algn="l" rtl="0">
              <a:lnSpc>
                <a:spcPct val="115000"/>
              </a:lnSpc>
              <a:spcBef>
                <a:spcPts val="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1pPr>
            <a:lvl2pPr marL="914400" marR="0" lvl="1"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2pPr>
            <a:lvl3pPr marL="1371600" marR="0" lvl="2"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3pPr>
            <a:lvl4pPr marL="1828800" marR="0" lvl="3"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4pPr>
            <a:lvl5pPr marL="2286000" marR="0" lvl="4"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5pPr>
            <a:lvl6pPr marL="2743200" marR="0" lvl="5"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6pPr>
            <a:lvl7pPr marL="3200400" marR="0" lvl="6"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7pPr>
            <a:lvl8pPr marL="3657600" marR="0" lvl="7" indent="-330200" algn="l" rtl="0">
              <a:lnSpc>
                <a:spcPct val="115000"/>
              </a:lnSpc>
              <a:spcBef>
                <a:spcPts val="1600"/>
              </a:spcBef>
              <a:spcAft>
                <a:spcPts val="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8pPr>
            <a:lvl9pPr marL="4114800" marR="0" lvl="8" indent="-330200" algn="l" rtl="0">
              <a:lnSpc>
                <a:spcPct val="115000"/>
              </a:lnSpc>
              <a:spcBef>
                <a:spcPts val="1600"/>
              </a:spcBef>
              <a:spcAft>
                <a:spcPts val="1600"/>
              </a:spcAft>
              <a:buClr>
                <a:schemeClr val="lt1"/>
              </a:buClr>
              <a:buSzPts val="1600"/>
              <a:buFont typeface="Maven Pro"/>
              <a:buChar char="■"/>
              <a:defRPr sz="1600" b="0" i="0" u="none" strike="noStrike" cap="none">
                <a:solidFill>
                  <a:schemeClr val="lt1"/>
                </a:solidFill>
                <a:latin typeface="Maven Pro"/>
                <a:ea typeface="Maven Pro"/>
                <a:cs typeface="Maven Pro"/>
                <a:sym typeface="Maven Pro"/>
              </a:defRPr>
            </a:lvl9pPr>
          </a:lstStyle>
          <a:p>
            <a:pPr marL="0" indent="0" algn="ctr">
              <a:lnSpc>
                <a:spcPct val="150000"/>
              </a:lnSpc>
              <a:buClr>
                <a:srgbClr val="BD6A62"/>
              </a:buClr>
              <a:buSzPts val="1100"/>
              <a:buNone/>
            </a:pPr>
            <a:r>
              <a:rPr lang="en-US" sz="600" dirty="0">
                <a:solidFill>
                  <a:srgbClr val="F6CA15"/>
                </a:solidFill>
                <a:effectLst>
                  <a:glow rad="228600">
                    <a:schemeClr val="accent4">
                      <a:satMod val="175000"/>
                      <a:alpha val="40000"/>
                    </a:schemeClr>
                  </a:glow>
                </a:effectLst>
                <a:latin typeface="Press Start 2P" panose="00000500000000000000" pitchFamily="2" charset="0"/>
              </a:rPr>
              <a:t>Durgan Nallar</a:t>
            </a:r>
          </a:p>
          <a:p>
            <a:pPr marL="0" indent="0" algn="ctr">
              <a:lnSpc>
                <a:spcPct val="150000"/>
              </a:lnSpc>
              <a:buClr>
                <a:srgbClr val="BD6A62"/>
              </a:buClr>
              <a:buSzPts val="1100"/>
              <a:buNone/>
            </a:pP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Game Designer</a:t>
            </a:r>
            <a:b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br>
            <a:r>
              <a:rPr lang="en-US" sz="600" dirty="0">
                <a:solidFill>
                  <a:schemeClr val="bg1">
                    <a:lumMod val="75000"/>
                  </a:schemeClr>
                </a:solidFill>
                <a:effectLst>
                  <a:glow rad="228600">
                    <a:schemeClr val="accent4">
                      <a:satMod val="175000"/>
                      <a:alpha val="40000"/>
                    </a:schemeClr>
                  </a:glow>
                </a:effectLst>
                <a:latin typeface="Press Start 2P" panose="00000500000000000000" pitchFamily="2" charset="0"/>
              </a:rPr>
              <a:t>Narrative Designer</a:t>
            </a:r>
          </a:p>
        </p:txBody>
      </p:sp>
      <p:pic>
        <p:nvPicPr>
          <p:cNvPr id="7" name="Picture 6" descr="A pixelated blue square with white letters">
            <a:extLst>
              <a:ext uri="{FF2B5EF4-FFF2-40B4-BE49-F238E27FC236}">
                <a16:creationId xmlns:a16="http://schemas.microsoft.com/office/drawing/2014/main" id="{7337FE17-4928-293F-1ED9-D8621D7CE748}"/>
              </a:ext>
            </a:extLst>
          </p:cNvPr>
          <p:cNvPicPr>
            <a:picLocks noChangeAspect="1"/>
          </p:cNvPicPr>
          <p:nvPr/>
        </p:nvPicPr>
        <p:blipFill>
          <a:blip r:embed="rId12"/>
          <a:stretch>
            <a:fillRect/>
          </a:stretch>
        </p:blipFill>
        <p:spPr>
          <a:xfrm>
            <a:off x="3425954" y="3245085"/>
            <a:ext cx="163824" cy="163824"/>
          </a:xfrm>
          <a:prstGeom prst="rect">
            <a:avLst/>
          </a:prstGeom>
        </p:spPr>
      </p:pic>
      <p:pic>
        <p:nvPicPr>
          <p:cNvPr id="11" name="Picture 10" descr="A pixelated blue square with white letters">
            <a:extLst>
              <a:ext uri="{FF2B5EF4-FFF2-40B4-BE49-F238E27FC236}">
                <a16:creationId xmlns:a16="http://schemas.microsoft.com/office/drawing/2014/main" id="{E82CA1BC-7566-2E35-DBA1-BC638CF7F683}"/>
              </a:ext>
            </a:extLst>
          </p:cNvPr>
          <p:cNvPicPr>
            <a:picLocks noChangeAspect="1"/>
          </p:cNvPicPr>
          <p:nvPr/>
        </p:nvPicPr>
        <p:blipFill>
          <a:blip r:embed="rId12"/>
          <a:stretch>
            <a:fillRect/>
          </a:stretch>
        </p:blipFill>
        <p:spPr>
          <a:xfrm>
            <a:off x="4891568" y="3245085"/>
            <a:ext cx="163824" cy="163824"/>
          </a:xfrm>
          <a:prstGeom prst="rect">
            <a:avLst/>
          </a:prstGeom>
        </p:spPr>
      </p:pic>
      <p:pic>
        <p:nvPicPr>
          <p:cNvPr id="12" name="Picture 11" descr="A pixelated blue square with white letters">
            <a:extLst>
              <a:ext uri="{FF2B5EF4-FFF2-40B4-BE49-F238E27FC236}">
                <a16:creationId xmlns:a16="http://schemas.microsoft.com/office/drawing/2014/main" id="{84C4BD57-46E4-5A85-9EB1-E11DF5D28357}"/>
              </a:ext>
            </a:extLst>
          </p:cNvPr>
          <p:cNvPicPr>
            <a:picLocks noChangeAspect="1"/>
          </p:cNvPicPr>
          <p:nvPr/>
        </p:nvPicPr>
        <p:blipFill>
          <a:blip r:embed="rId12"/>
          <a:stretch>
            <a:fillRect/>
          </a:stretch>
        </p:blipFill>
        <p:spPr>
          <a:xfrm>
            <a:off x="6331248" y="3234848"/>
            <a:ext cx="163824" cy="163824"/>
          </a:xfrm>
          <a:prstGeom prst="rect">
            <a:avLst/>
          </a:prstGeom>
        </p:spPr>
      </p:pic>
      <p:sp>
        <p:nvSpPr>
          <p:cNvPr id="5" name="TextBox 4">
            <a:extLst>
              <a:ext uri="{FF2B5EF4-FFF2-40B4-BE49-F238E27FC236}">
                <a16:creationId xmlns:a16="http://schemas.microsoft.com/office/drawing/2014/main" id="{73BBEF9C-4610-6A66-CE93-0BCA6E411C45}"/>
              </a:ext>
            </a:extLst>
          </p:cNvPr>
          <p:cNvSpPr txBox="1"/>
          <p:nvPr/>
        </p:nvSpPr>
        <p:spPr>
          <a:xfrm>
            <a:off x="160437" y="153975"/>
            <a:ext cx="2971881" cy="685701"/>
          </a:xfrm>
          <a:prstGeom prst="rect">
            <a:avLst/>
          </a:prstGeom>
          <a:noFill/>
        </p:spPr>
        <p:txBody>
          <a:bodyPr wrap="square">
            <a:spAutoFit/>
          </a:bodyPr>
          <a:lstStyle/>
          <a:p>
            <a:pPr>
              <a:lnSpc>
                <a:spcPct val="150000"/>
              </a:lnSpc>
            </a:pP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Veteran indie developers</a:t>
            </a:r>
            <a:br>
              <a:rPr lang="en-US" sz="900" dirty="0">
                <a:solidFill>
                  <a:srgbClr val="BD6A62"/>
                </a:solidFill>
                <a:effectLst>
                  <a:glow rad="228600">
                    <a:schemeClr val="accent4">
                      <a:satMod val="175000"/>
                      <a:alpha val="40000"/>
                    </a:schemeClr>
                  </a:glow>
                </a:effectLst>
                <a:latin typeface="Press Start 2P" panose="00000500000000000000" pitchFamily="2" charset="0"/>
              </a:rPr>
            </a:br>
            <a:r>
              <a:rPr lang="en-US" sz="900" dirty="0">
                <a:solidFill>
                  <a:schemeClr val="bg1">
                    <a:lumMod val="75000"/>
                  </a:schemeClr>
                </a:solidFill>
                <a:effectLst>
                  <a:glow rad="228600">
                    <a:schemeClr val="accent4">
                      <a:satMod val="175000"/>
                      <a:alpha val="40000"/>
                    </a:schemeClr>
                  </a:glow>
                </a:effectLst>
                <a:latin typeface="Press Start 2P" panose="00000500000000000000" pitchFamily="2" charset="0"/>
              </a:rPr>
              <a:t>30+ years of combined experience.</a:t>
            </a:r>
            <a:endParaRPr lang="en-US" sz="900" dirty="0"/>
          </a:p>
        </p:txBody>
      </p:sp>
      <p:pic>
        <p:nvPicPr>
          <p:cNvPr id="14" name="Picture 13" descr="A cartoon of a person wearing glasses&#10;&#10;AI-generated content may be incorrect.">
            <a:extLst>
              <a:ext uri="{FF2B5EF4-FFF2-40B4-BE49-F238E27FC236}">
                <a16:creationId xmlns:a16="http://schemas.microsoft.com/office/drawing/2014/main" id="{1429B171-F070-225A-6645-A09EB7F9A7AF}"/>
              </a:ext>
            </a:extLst>
          </p:cNvPr>
          <p:cNvPicPr>
            <a:picLocks noChangeAspect="1"/>
          </p:cNvPicPr>
          <p:nvPr/>
        </p:nvPicPr>
        <p:blipFill>
          <a:blip r:embed="rId13"/>
          <a:stretch>
            <a:fillRect/>
          </a:stretch>
        </p:blipFill>
        <p:spPr>
          <a:xfrm flipH="1">
            <a:off x="7317661" y="685417"/>
            <a:ext cx="741416" cy="985176"/>
          </a:xfrm>
          <a:prstGeom prst="rect">
            <a:avLst/>
          </a:prstGeom>
        </p:spPr>
      </p:pic>
      <p:sp>
        <p:nvSpPr>
          <p:cNvPr id="15" name="TextBox 14">
            <a:extLst>
              <a:ext uri="{FF2B5EF4-FFF2-40B4-BE49-F238E27FC236}">
                <a16:creationId xmlns:a16="http://schemas.microsoft.com/office/drawing/2014/main" id="{BBA75673-0B50-6F0B-7154-3F32894857F4}"/>
              </a:ext>
            </a:extLst>
          </p:cNvPr>
          <p:cNvSpPr txBox="1"/>
          <p:nvPr/>
        </p:nvSpPr>
        <p:spPr>
          <a:xfrm>
            <a:off x="6228283" y="131739"/>
            <a:ext cx="2755280" cy="553678"/>
          </a:xfrm>
          <a:prstGeom prst="rect">
            <a:avLst/>
          </a:prstGeom>
          <a:noFill/>
        </p:spPr>
        <p:txBody>
          <a:bodyPr wrap="square">
            <a:spAutoFit/>
          </a:bodyPr>
          <a:lstStyle/>
          <a:p>
            <a:pPr algn="ctr"/>
            <a:r>
              <a:rPr lang="en-US" sz="1200" dirty="0">
                <a:solidFill>
                  <a:srgbClr val="3B7D4F"/>
                </a:solidFill>
                <a:effectLst>
                  <a:glow rad="228600">
                    <a:schemeClr val="accent4">
                      <a:satMod val="175000"/>
                      <a:alpha val="40000"/>
                    </a:schemeClr>
                  </a:glow>
                </a:effectLst>
                <a:latin typeface="Press Start 2P" panose="00000500000000000000" pitchFamily="2" charset="0"/>
              </a:rPr>
              <a:t>Celebrity found!</a:t>
            </a:r>
          </a:p>
          <a:p>
            <a:pPr algn="ctr">
              <a:lnSpc>
                <a:spcPct val="150000"/>
              </a:lnSpc>
            </a:pPr>
            <a:r>
              <a:rPr lang="en-US" dirty="0">
                <a:solidFill>
                  <a:srgbClr val="AB5130"/>
                </a:solidFill>
                <a:effectLst>
                  <a:glow rad="228600">
                    <a:schemeClr val="accent4">
                      <a:satMod val="175000"/>
                      <a:alpha val="40000"/>
                    </a:schemeClr>
                  </a:glow>
                </a:effectLst>
                <a:latin typeface="Press Start 2P" panose="00000500000000000000" pitchFamily="2" charset="0"/>
              </a:rPr>
              <a:t>Bill Doors</a:t>
            </a:r>
            <a:endParaRPr lang="en-US" dirty="0">
              <a:solidFill>
                <a:srgbClr val="AB5130"/>
              </a:solidFill>
            </a:endParaRPr>
          </a:p>
        </p:txBody>
      </p:sp>
    </p:spTree>
    <p:extLst>
      <p:ext uri="{BB962C8B-B14F-4D97-AF65-F5344CB8AC3E}">
        <p14:creationId xmlns:p14="http://schemas.microsoft.com/office/powerpoint/2010/main" val="4047476586"/>
      </p:ext>
    </p:extLst>
  </p:cSld>
  <p:clrMapOvr>
    <a:masterClrMapping/>
  </p:clrMapOvr>
</p:sld>
</file>

<file path=ppt/theme/theme1.xml><?xml version="1.0" encoding="utf-8"?>
<a:theme xmlns:a="http://schemas.openxmlformats.org/drawingml/2006/main" name="Super Pixel Vintage Gaming by Slidesgo">
  <a:themeElements>
    <a:clrScheme name="Simple Light">
      <a:dk1>
        <a:srgbClr val="FFFF00"/>
      </a:dk1>
      <a:lt1>
        <a:srgbClr val="FFFFFF"/>
      </a:lt1>
      <a:dk2>
        <a:srgbClr val="0E2433"/>
      </a:dk2>
      <a:lt2>
        <a:srgbClr val="45B6FE"/>
      </a:lt2>
      <a:accent1>
        <a:srgbClr val="3792CB"/>
      </a:accent1>
      <a:accent2>
        <a:srgbClr val="296D98"/>
      </a:accent2>
      <a:accent3>
        <a:srgbClr val="1C4966"/>
      </a:accent3>
      <a:accent4>
        <a:srgbClr val="000000"/>
      </a:accent4>
      <a:accent5>
        <a:srgbClr val="0E2433"/>
      </a:accent5>
      <a:accent6>
        <a:srgbClr val="45B6FE"/>
      </a:accent6>
      <a:hlink>
        <a:srgbClr val="FFFF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4867</TotalTime>
  <Words>1202</Words>
  <Application>Microsoft Office PowerPoint</Application>
  <PresentationFormat>On-screen Show (16:9)</PresentationFormat>
  <Paragraphs>154</Paragraphs>
  <Slides>17</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Press Start 2P</vt:lpstr>
      <vt:lpstr>Arial</vt:lpstr>
      <vt:lpstr>Maven Pro</vt:lpstr>
      <vt:lpstr>Super Pixel Vintage Gaming by Slidesgo</vt:lpstr>
      <vt:lpstr>PowerPoint Presentation</vt:lpstr>
      <vt:lpstr>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Diego Canepa</dc:creator>
  <cp:lastModifiedBy>Diego Canepa</cp:lastModifiedBy>
  <cp:revision>1017</cp:revision>
  <dcterms:modified xsi:type="dcterms:W3CDTF">2025-11-07T14:13:28Z</dcterms:modified>
</cp:coreProperties>
</file>