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21"/>
  </p:notesMasterIdLst>
  <p:sldIdLst>
    <p:sldId id="330" r:id="rId2"/>
    <p:sldId id="260" r:id="rId3"/>
    <p:sldId id="350" r:id="rId4"/>
    <p:sldId id="351" r:id="rId5"/>
    <p:sldId id="345" r:id="rId6"/>
    <p:sldId id="346" r:id="rId7"/>
    <p:sldId id="349" r:id="rId8"/>
    <p:sldId id="342" r:id="rId9"/>
    <p:sldId id="348" r:id="rId10"/>
    <p:sldId id="331" r:id="rId11"/>
    <p:sldId id="333" r:id="rId12"/>
    <p:sldId id="335" r:id="rId13"/>
    <p:sldId id="337" r:id="rId14"/>
    <p:sldId id="323" r:id="rId15"/>
    <p:sldId id="324" r:id="rId16"/>
    <p:sldId id="326" r:id="rId17"/>
    <p:sldId id="320" r:id="rId18"/>
    <p:sldId id="343" r:id="rId19"/>
    <p:sldId id="321" r:id="rId20"/>
  </p:sldIdLst>
  <p:sldSz cx="9144000" cy="5143500" type="screen16x9"/>
  <p:notesSz cx="6858000" cy="9144000"/>
  <p:embeddedFontLst>
    <p:embeddedFont>
      <p:font typeface="Maven Pro" panose="020B0604020202020204" charset="0"/>
      <p:regular r:id="rId22"/>
      <p:bold r:id="rId23"/>
    </p:embeddedFont>
    <p:embeddedFont>
      <p:font typeface="Press Start 2P" panose="00000500000000000000" pitchFamily="2" charset="0"/>
      <p:regular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D6A62"/>
    <a:srgbClr val="52333F"/>
    <a:srgbClr val="8F4D57"/>
    <a:srgbClr val="AB5130"/>
    <a:srgbClr val="3B7D4F"/>
    <a:srgbClr val="F6CA15"/>
    <a:srgbClr val="800000"/>
    <a:srgbClr val="CCCC00"/>
    <a:srgbClr val="F0B541"/>
    <a:srgbClr val="FF9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438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5BD767A2-DF76-9A6F-EF00-C1384D1B2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5030D183-3FC8-E9F2-C671-87BD79B546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4576BDF4-7607-36D0-1701-C3123593B5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46356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1001038-85F5-AEA0-F926-465401503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FFEAD37-314D-447D-29C9-0AC7FDA245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F7959833-3711-0A8D-C2A7-C09DBEA5F6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25500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362934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700" y="423236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590919" y="423233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700" y="483539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590919" y="483536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1180681" y="483537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848893" y="362932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259244" y="423233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9"/>
          <p:cNvSpPr/>
          <p:nvPr/>
        </p:nvSpPr>
        <p:spPr>
          <a:xfrm>
            <a:off x="8849581" y="4232351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7669025" y="483539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259244" y="483536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849006" y="483537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5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.png"/><Relationship Id="rId5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23.jpeg"/><Relationship Id="rId7" Type="http://schemas.openxmlformats.org/officeDocument/2006/relationships/image" Target="../media/image26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24.jpeg"/><Relationship Id="rId9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diesruption.com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video game with a cartoon character">
            <a:extLst>
              <a:ext uri="{FF2B5EF4-FFF2-40B4-BE49-F238E27FC236}">
                <a16:creationId xmlns:a16="http://schemas.microsoft.com/office/drawing/2014/main" id="{EBDFCDBD-D34F-0E28-C3D8-62AEB2079BE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19200"/>
            <a:ext cx="9144000" cy="3924300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E6460B-88E5-EAAE-B0C1-B69450A87880}"/>
              </a:ext>
            </a:extLst>
          </p:cNvPr>
          <p:cNvSpPr txBox="1"/>
          <p:nvPr/>
        </p:nvSpPr>
        <p:spPr>
          <a:xfrm>
            <a:off x="6776093" y="4679764"/>
            <a:ext cx="2255746" cy="253916"/>
          </a:xfrm>
          <a:prstGeom prst="rect">
            <a:avLst/>
          </a:prstGeom>
          <a:noFill/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txBody>
          <a:bodyPr wrap="none" rtlCol="0">
            <a:spAutoFit/>
          </a:bodyPr>
          <a:lstStyle/>
          <a:p>
            <a:pPr>
              <a:buClr>
                <a:srgbClr val="FFFF00"/>
              </a:buClr>
              <a:buSzPts val="3000"/>
            </a:pPr>
            <a:r>
              <a:rPr lang="en-US" sz="105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Press Start 2P"/>
                <a:sym typeface="Press Start 2P"/>
              </a:rPr>
              <a:t>By</a:t>
            </a:r>
            <a:r>
              <a:rPr lang="en-US" sz="1050" dirty="0">
                <a:solidFill>
                  <a:schemeClr val="bg1">
                    <a:lumMod val="8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Press Start 2P"/>
                <a:sym typeface="Press Start 2P"/>
              </a:rPr>
              <a:t> </a:t>
            </a:r>
            <a:r>
              <a:rPr lang="en-US" sz="10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Press Start 2P"/>
                <a:sym typeface="Press Start 2P"/>
              </a:rPr>
              <a:t>Indiesruption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272494" y="3848240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63721" y="3200400"/>
            <a:ext cx="51711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409076" y="301170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719136" y="857719"/>
            <a:ext cx="5816625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2D pixel-art roguelite adventure where bizarre comedy collides with creepy monsters and absurd challenges.</a:t>
            </a: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trapped in a demon-possessed horror ride where every cart is their only chance to survive. </a:t>
            </a: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procedural cursed attraction packed with secrets and absurd encounters—your ultimate goal: rescue lost celebrities.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3783504" y="4654947"/>
            <a:ext cx="383761" cy="191881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1575" y="3893638"/>
            <a:ext cx="571500" cy="8572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602117" y="4654946"/>
            <a:ext cx="383761" cy="191881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27449" y="3836488"/>
            <a:ext cx="5715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19200"/>
            <a:ext cx="9144000" cy="39243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63301" y="921972"/>
            <a:ext cx="2574388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 horror ride with its own twisted logic, instead of generic dungeons or caves.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CC2BAE9D-D8CF-649C-93AB-CC6274E037CE}"/>
              </a:ext>
            </a:extLst>
          </p:cNvPr>
          <p:cNvSpPr txBox="1">
            <a:spLocks/>
          </p:cNvSpPr>
          <p:nvPr/>
        </p:nvSpPr>
        <p:spPr>
          <a:xfrm>
            <a:off x="3175566" y="921972"/>
            <a:ext cx="2872613" cy="1077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Bizarre comedy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mix of scares, acid humor and absurd laughs rarely seen in the genre.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338456" y="921972"/>
            <a:ext cx="2521989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Combat focuses on items and creativity instead of twitch reflexes, opening to a wider audience.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87230" y="3132113"/>
            <a:ext cx="539354" cy="792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5F14BB6-487B-792E-D17E-E33AD6852B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57637" y="868673"/>
            <a:ext cx="3359530" cy="23314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audience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fans (Spelunky, Binding of Isaac).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Players who enjoy dark humor and absurd comedy (South Park, Adult Swim).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Gamers who like quirky pixel-art indie hits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FA6FDA3-A8F8-EC55-8BAC-B5FAC550795A}"/>
              </a:ext>
            </a:extLst>
          </p:cNvPr>
          <p:cNvSpPr txBox="1">
            <a:spLocks/>
          </p:cNvSpPr>
          <p:nvPr/>
        </p:nvSpPr>
        <p:spPr>
          <a:xfrm>
            <a:off x="4675786" y="868673"/>
            <a:ext cx="4109594" cy="34547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Font typeface="Maven Pro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 fit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are one of the strongest indie genres on PC/console.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Our mix of bizarre humor + accessible combat positions the game as an entry point for both hardcore fans and casual players.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Distinctive identity: procedural yet narrative-driven, grotesque yet funny.</a:t>
            </a:r>
          </a:p>
        </p:txBody>
      </p:sp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Target &amp; Market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660649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 built by an obsessive designer.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its grand opening, twelve celebrities—and the designer himself—entered... and never came back.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What they don’t know is that the ride is now ruled by Mandinga—a frustrated demon who, as a child, dreamed of having his very own horror ride, and isn’t about to give it up.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2024034" y="4629808"/>
            <a:ext cx="383761" cy="191881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39498" y="3811349"/>
            <a:ext cx="571500" cy="914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359406" y="4577239"/>
            <a:ext cx="383761" cy="191881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156203" y="3839924"/>
            <a:ext cx="571500" cy="85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D60F414-D0F2-BDA9-8358-1893CC061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8CDBB24F-3CC3-7E4F-7AE3-DDC51D8FF87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07E93653-10A2-DDDD-8FC0-AD8AB57737D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90754" y="971327"/>
            <a:ext cx="3968820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an evil horror ride filled with ugly creatures, funny characters, traps, puzzles, items and secrets.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stage has a time limit. Defeat Mandinga’s corrupted dolls to collect electricity, power up the exit cart, and ride to the next level.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Atmospheric lighting-darkness itself becomes an obstacle—sometimes only your items can pierce it.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Procedurally generated levels making every run unpredictable.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74A8C62E-6348-5319-0365-F8283626CA1A}"/>
              </a:ext>
            </a:extLst>
          </p:cNvPr>
          <p:cNvSpPr txBox="1">
            <a:spLocks/>
          </p:cNvSpPr>
          <p:nvPr/>
        </p:nvSpPr>
        <p:spPr>
          <a:xfrm>
            <a:off x="4751882" y="971328"/>
            <a:ext cx="390136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Permadeath - each death teaches something new and unlocks items.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 as either Idle twin, each with unique abilities and sometimes exclusive paths.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Rescue twisted parodies of real-world celebrities (Bill Fences, Ronald Dump, Mark </a:t>
            </a:r>
            <a:r>
              <a:rPr lang="en-US" sz="900" dirty="0" err="1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Suckprivacyberg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).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meta-goals: layers of mystery and long-term objectives beyond survival.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DE799209-C9F7-D851-438A-C8B69D9FA5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444EEA13-3259-3069-E678-95EFC812E151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Gameplay</a:t>
            </a:r>
          </a:p>
        </p:txBody>
      </p:sp>
    </p:spTree>
    <p:extLst>
      <p:ext uri="{BB962C8B-B14F-4D97-AF65-F5344CB8AC3E}">
        <p14:creationId xmlns:p14="http://schemas.microsoft.com/office/powerpoint/2010/main" val="5184752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6E0AEF5-FA1E-F10A-35FA-83B2437E557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219393" y="2086623"/>
            <a:ext cx="3325000" cy="8890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Perks &amp; Flaws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Temporary and fixed states that twist your run and force players to adapt on the fly.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For example, overeat fast food and you might end up gassy, pausing mid-fight to clutch your stomach.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104175" y="1014663"/>
            <a:ext cx="310170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gadgets you can equip to whack, poke, or do something questionably useful.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108159" y="2135623"/>
            <a:ext cx="3241564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1104175" y="3242298"/>
            <a:ext cx="2995635" cy="980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170722" y="1022786"/>
            <a:ext cx="3430916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629" y="1096996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542" y="3242298"/>
            <a:ext cx="342648" cy="34264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498" y="2092603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1460" y="1012278"/>
            <a:ext cx="349730" cy="34973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ABA286E8-7F1E-64DD-8808-1CFF6270D9D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24629" y="2022235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A video game screen of a video game">
            <a:extLst>
              <a:ext uri="{FF2B5EF4-FFF2-40B4-BE49-F238E27FC236}">
                <a16:creationId xmlns:a16="http://schemas.microsoft.com/office/drawing/2014/main" id="{0F40D3C1-D3FD-D9FE-CF8F-67C6A5B246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E68F2B-5464-E15A-128C-A410CB603FDD}"/>
              </a:ext>
            </a:extLst>
          </p:cNvPr>
          <p:cNvSpPr txBox="1"/>
          <p:nvPr/>
        </p:nvSpPr>
        <p:spPr>
          <a:xfrm>
            <a:off x="3662377" y="1114182"/>
            <a:ext cx="179568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innerShdw blurRad="63500" dist="50800" dir="5400000">
                    <a:prstClr val="black">
                      <a:alpha val="50000"/>
                    </a:prstClr>
                  </a:innerShdw>
                </a:effectLst>
                <a:latin typeface="Press Start 2P" panose="00000500000000000000" pitchFamily="2" charset="0"/>
              </a:rPr>
              <a:t>Choose</a:t>
            </a:r>
          </a:p>
          <a:p>
            <a:pPr algn="ctr"/>
            <a:r>
              <a:rPr lang="en-US" sz="11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character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A8074A-0EA5-C0F0-87D6-C4519DD2C7EE}"/>
              </a:ext>
            </a:extLst>
          </p:cNvPr>
          <p:cNvSpPr txBox="1"/>
          <p:nvPr/>
        </p:nvSpPr>
        <p:spPr>
          <a:xfrm>
            <a:off x="6066210" y="1129405"/>
            <a:ext cx="15085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Begin ride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3B9801-8A0A-0CC6-FEE7-0E721EA1372B}"/>
              </a:ext>
            </a:extLst>
          </p:cNvPr>
          <p:cNvSpPr txBox="1"/>
          <p:nvPr/>
        </p:nvSpPr>
        <p:spPr>
          <a:xfrm>
            <a:off x="4651506" y="1710374"/>
            <a:ext cx="187536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Complete</a:t>
            </a:r>
          </a:p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62D20E-03EE-53B7-81AD-6ABEE4E53BFC}"/>
              </a:ext>
            </a:extLst>
          </p:cNvPr>
          <p:cNvSpPr txBox="1"/>
          <p:nvPr/>
        </p:nvSpPr>
        <p:spPr>
          <a:xfrm>
            <a:off x="1633992" y="1856526"/>
            <a:ext cx="188942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Unlock new</a:t>
            </a:r>
          </a:p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stuff</a:t>
            </a: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519C639E-FD6E-0639-E043-9475A0AE206F}"/>
              </a:ext>
            </a:extLst>
          </p:cNvPr>
          <p:cNvSpPr/>
          <p:nvPr/>
        </p:nvSpPr>
        <p:spPr>
          <a:xfrm>
            <a:off x="2507982" y="1288583"/>
            <a:ext cx="1217970" cy="415499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BE208F65-1ACD-404F-5122-8FDC916CD14A}"/>
              </a:ext>
            </a:extLst>
          </p:cNvPr>
          <p:cNvSpPr/>
          <p:nvPr/>
        </p:nvSpPr>
        <p:spPr>
          <a:xfrm rot="10800000">
            <a:off x="6255179" y="1589972"/>
            <a:ext cx="623048" cy="404925"/>
          </a:xfrm>
          <a:prstGeom prst="ben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5A091DE-053F-722E-EBE5-6B30D094BEAD}"/>
              </a:ext>
            </a:extLst>
          </p:cNvPr>
          <p:cNvSpPr/>
          <p:nvPr/>
        </p:nvSpPr>
        <p:spPr>
          <a:xfrm rot="16200000">
            <a:off x="3133386" y="2795485"/>
            <a:ext cx="414225" cy="1775928"/>
          </a:xfrm>
          <a:prstGeom prst="ben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Arrow: Bent 23">
            <a:extLst>
              <a:ext uri="{FF2B5EF4-FFF2-40B4-BE49-F238E27FC236}">
                <a16:creationId xmlns:a16="http://schemas.microsoft.com/office/drawing/2014/main" id="{ABF46C45-0C82-49E1-762D-07CB71828AA5}"/>
              </a:ext>
            </a:extLst>
          </p:cNvPr>
          <p:cNvSpPr/>
          <p:nvPr/>
        </p:nvSpPr>
        <p:spPr>
          <a:xfrm>
            <a:off x="3912576" y="1782575"/>
            <a:ext cx="889987" cy="404925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3" name="Picture 1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DF71DDA2-90BF-09BF-0A82-693DF3BBF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7808886" y="3661085"/>
            <a:ext cx="538376" cy="810218"/>
          </a:xfrm>
          <a:prstGeom prst="rect">
            <a:avLst/>
          </a:prstGeom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C9C10463-FF49-09D8-03A6-0D71C02D0DFA}"/>
              </a:ext>
            </a:extLst>
          </p:cNvPr>
          <p:cNvSpPr/>
          <p:nvPr/>
        </p:nvSpPr>
        <p:spPr>
          <a:xfrm>
            <a:off x="5434864" y="1207557"/>
            <a:ext cx="820730" cy="267987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Flowchart: Decision 3">
            <a:extLst>
              <a:ext uri="{FF2B5EF4-FFF2-40B4-BE49-F238E27FC236}">
                <a16:creationId xmlns:a16="http://schemas.microsoft.com/office/drawing/2014/main" id="{B14D1A25-1F5A-74DF-36D5-6CBB3203F698}"/>
              </a:ext>
            </a:extLst>
          </p:cNvPr>
          <p:cNvSpPr/>
          <p:nvPr/>
        </p:nvSpPr>
        <p:spPr>
          <a:xfrm>
            <a:off x="4778403" y="2716516"/>
            <a:ext cx="1602417" cy="667343"/>
          </a:xfrm>
          <a:prstGeom prst="flowChartDecision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>
                    <a:lumMod val="85000"/>
                  </a:schemeClr>
                </a:solidFill>
                <a:latin typeface="Press Start 2P" panose="00000500000000000000" pitchFamily="2" charset="0"/>
              </a:rPr>
              <a:t>Last</a:t>
            </a:r>
          </a:p>
          <a:p>
            <a:pPr algn="ctr"/>
            <a:r>
              <a:rPr lang="en-US" sz="800" dirty="0">
                <a:solidFill>
                  <a:schemeClr val="bg1">
                    <a:lumMod val="85000"/>
                  </a:schemeClr>
                </a:solidFill>
                <a:latin typeface="Press Start 2P" panose="00000500000000000000" pitchFamily="2" charset="0"/>
              </a:rPr>
              <a:t>Stage?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CAC7028F-2236-D250-8B6C-809650446411}"/>
              </a:ext>
            </a:extLst>
          </p:cNvPr>
          <p:cNvSpPr/>
          <p:nvPr/>
        </p:nvSpPr>
        <p:spPr>
          <a:xfrm rot="5400000">
            <a:off x="5369591" y="2288648"/>
            <a:ext cx="439193" cy="215635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Arrow: Bent 11">
            <a:extLst>
              <a:ext uri="{FF2B5EF4-FFF2-40B4-BE49-F238E27FC236}">
                <a16:creationId xmlns:a16="http://schemas.microsoft.com/office/drawing/2014/main" id="{9F485C33-58D3-49D0-DBC1-416A2E94BD7B}"/>
              </a:ext>
            </a:extLst>
          </p:cNvPr>
          <p:cNvSpPr/>
          <p:nvPr/>
        </p:nvSpPr>
        <p:spPr>
          <a:xfrm rot="16200000">
            <a:off x="4076292" y="2491230"/>
            <a:ext cx="404924" cy="855220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B2DA5D3-5942-B776-D702-8B8FC61F2FD1}"/>
              </a:ext>
            </a:extLst>
          </p:cNvPr>
          <p:cNvSpPr txBox="1"/>
          <p:nvPr/>
        </p:nvSpPr>
        <p:spPr>
          <a:xfrm>
            <a:off x="4004846" y="2716378"/>
            <a:ext cx="8171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No</a:t>
            </a: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5A9A217E-F411-A017-3097-C0F86105A3AA}"/>
              </a:ext>
            </a:extLst>
          </p:cNvPr>
          <p:cNvSpPr/>
          <p:nvPr/>
        </p:nvSpPr>
        <p:spPr>
          <a:xfrm rot="10800000">
            <a:off x="5061343" y="3513315"/>
            <a:ext cx="564186" cy="414228"/>
          </a:xfrm>
          <a:prstGeom prst="ben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D6BD1F-2665-08DC-1913-F7D9C6C21342}"/>
              </a:ext>
            </a:extLst>
          </p:cNvPr>
          <p:cNvSpPr txBox="1"/>
          <p:nvPr/>
        </p:nvSpPr>
        <p:spPr>
          <a:xfrm>
            <a:off x="5522728" y="3561432"/>
            <a:ext cx="81712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6A60F9-2D45-BC29-4F1F-1DF1102C0999}"/>
              </a:ext>
            </a:extLst>
          </p:cNvPr>
          <p:cNvSpPr txBox="1"/>
          <p:nvPr/>
        </p:nvSpPr>
        <p:spPr>
          <a:xfrm>
            <a:off x="3523420" y="2224498"/>
            <a:ext cx="88998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Next</a:t>
            </a:r>
          </a:p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00CC0D-DC01-E642-D9A2-4E9650D483AE}"/>
              </a:ext>
            </a:extLst>
          </p:cNvPr>
          <p:cNvSpPr txBox="1"/>
          <p:nvPr/>
        </p:nvSpPr>
        <p:spPr>
          <a:xfrm>
            <a:off x="4231592" y="3618689"/>
            <a:ext cx="85522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Exit ride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6508E62-73E6-54DC-71F0-F6DC954F317D}"/>
              </a:ext>
            </a:extLst>
          </p:cNvPr>
          <p:cNvSpPr/>
          <p:nvPr/>
        </p:nvSpPr>
        <p:spPr>
          <a:xfrm rot="16200000">
            <a:off x="2407083" y="2445736"/>
            <a:ext cx="302512" cy="21161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90A1ECD-9EA6-38D5-C131-B861460F0571}"/>
              </a:ext>
            </a:extLst>
          </p:cNvPr>
          <p:cNvSpPr txBox="1"/>
          <p:nvPr/>
        </p:nvSpPr>
        <p:spPr>
          <a:xfrm>
            <a:off x="1778416" y="2801078"/>
            <a:ext cx="163918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Enter</a:t>
            </a:r>
          </a:p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amusement park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7758279-B670-8728-6A81-D619970BE9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AA79634-EE88-8E2E-B6E8-31A1D981D6B8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788582" y="4335862"/>
            <a:ext cx="383761" cy="191881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5B1F6713-DDA4-AF52-CCA9-B624EC7B75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067" y="3652358"/>
            <a:ext cx="538376" cy="794435"/>
          </a:xfrm>
          <a:prstGeom prst="rect">
            <a:avLst/>
          </a:prstGeom>
        </p:spPr>
      </p:pic>
      <p:sp>
        <p:nvSpPr>
          <p:cNvPr id="30" name="Google Shape;999;p37">
            <a:extLst>
              <a:ext uri="{FF2B5EF4-FFF2-40B4-BE49-F238E27FC236}">
                <a16:creationId xmlns:a16="http://schemas.microsoft.com/office/drawing/2014/main" id="{B319C02D-B117-F07E-114F-A1A24C3DB12C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Core Loop</a:t>
            </a:r>
          </a:p>
        </p:txBody>
      </p:sp>
    </p:spTree>
    <p:extLst>
      <p:ext uri="{BB962C8B-B14F-4D97-AF65-F5344CB8AC3E}">
        <p14:creationId xmlns:p14="http://schemas.microsoft.com/office/powerpoint/2010/main" val="34701258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B0B7F87B-6B8D-1AA6-F307-A244AE3BBD5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89714A4-4C95-1762-D5EF-2993DAB164F0}"/>
              </a:ext>
            </a:extLst>
          </p:cNvPr>
          <p:cNvSpPr txBox="1">
            <a:spLocks/>
          </p:cNvSpPr>
          <p:nvPr/>
        </p:nvSpPr>
        <p:spPr>
          <a:xfrm>
            <a:off x="1172976" y="1437993"/>
            <a:ext cx="6798048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32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Look &amp; Feel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BB01612E-DD31-AB43-30D7-434F8A5A4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8840539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E986D8D-679B-DF16-78D6-36A609285C6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820770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9C3ACD7-63EA-AD11-D4E3-7D8D477A2334}"/>
              </a:ext>
            </a:extLst>
          </p:cNvPr>
          <p:cNvSpPr txBox="1"/>
          <p:nvPr/>
        </p:nvSpPr>
        <p:spPr>
          <a:xfrm>
            <a:off x="6168853" y="104932"/>
            <a:ext cx="28777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8F4D57"/>
                </a:solidFill>
                <a:latin typeface="Press Start 2P" panose="00000500000000000000" pitchFamily="2" charset="0"/>
              </a:rPr>
              <a:t>Lighting system</a:t>
            </a:r>
          </a:p>
        </p:txBody>
      </p:sp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92817C2-921D-0572-BF19-B286028693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0698427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8F103BA-FE0A-AA41-EBEC-DC6531E555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484214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0609FE13-086A-FABE-04FF-6CEC053EBD8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1865278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9A91C42-2962-3159-8631-1D07A723C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6934569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043CC30-6598-3FB3-BEFB-3E4EE54F8CC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610712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6390B03F-F3F2-3959-786F-1FB86E6AA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188591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015A17-98FF-7DD4-996D-009CB294E92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144873" y="1120127"/>
            <a:ext cx="6854253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 complete: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proprietary MonoGame/C# engine, fully optimized and AOT-compatible (already proven on PC &amp; consoles).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gameplay loop working (movement, basic combat, carts, procedural generation, lighting).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grotesque comedy + horror mix.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AC43E8CC-AFD0-67EF-0D7B-776F7B2D6E90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86FFFBA-FE05-76C7-2391-7A8913311D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816816" y="1808752"/>
            <a:ext cx="7722645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dozens of environment objects, unique bosses, hundreds of items, narrative events and secrets.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Animation: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full set of characters, monsters, and environment assets matching our established art style.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complete soundtrack and SFX production.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&amp; Localization: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and professional localization to maximize reach.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promotional material.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36C3F6EB-CBF1-BC90-2148-DB8DAF51A50E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CC0F2286-4A82-FDE3-FB44-1F7DB76159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1000;p37">
            <a:extLst>
              <a:ext uri="{FF2B5EF4-FFF2-40B4-BE49-F238E27FC236}">
                <a16:creationId xmlns:a16="http://schemas.microsoft.com/office/drawing/2014/main" id="{8B4A7F50-5EC1-FD4D-5356-932AC1A2B096}"/>
              </a:ext>
            </a:extLst>
          </p:cNvPr>
          <p:cNvSpPr txBox="1">
            <a:spLocks/>
          </p:cNvSpPr>
          <p:nvPr/>
        </p:nvSpPr>
        <p:spPr>
          <a:xfrm>
            <a:off x="816816" y="919526"/>
            <a:ext cx="7510368" cy="664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AB5130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We are seeking funding to </a:t>
            </a: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produce the complete adventure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, building on top of our already functional core engine and prototype. We need </a:t>
            </a: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and scale: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A76CAA-2D3C-F2D5-A385-576D4CBC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xel art of a building">
            <a:extLst>
              <a:ext uri="{FF2B5EF4-FFF2-40B4-BE49-F238E27FC236}">
                <a16:creationId xmlns:a16="http://schemas.microsoft.com/office/drawing/2014/main" id="{BB90D463-A2DD-841D-1722-FBABDB98C69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AD04312-634D-AFE6-B193-640CD9B1337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534303" y="1085053"/>
            <a:ext cx="6285099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 with 30+ years of combined experience.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 games shipped on PC and major consoles, award-winning for creativity and originality.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All games with the same publisher, proving both trust in our work and our reliability as long-term partners.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reliable, passionate team focused on unique, unforgettable experiences.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9D666095-B9B5-D740-9CA3-FC46A3662514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Who We Are</a:t>
            </a:r>
          </a:p>
        </p:txBody>
      </p:sp>
      <p:pic>
        <p:nvPicPr>
          <p:cNvPr id="5" name="Picture 4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AFDED898-2CD0-5FD6-D6D5-0F23209D7F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4550" y="3792305"/>
            <a:ext cx="800100" cy="1143000"/>
          </a:xfrm>
          <a:prstGeom prst="rect">
            <a:avLst/>
          </a:prstGeom>
        </p:spPr>
      </p:pic>
      <p:pic>
        <p:nvPicPr>
          <p:cNvPr id="7" name="Picture 6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4A9F576-8204-27F2-6587-AB77C5B569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4859352" y="4078055"/>
            <a:ext cx="577374" cy="857250"/>
          </a:xfrm>
          <a:prstGeom prst="rect">
            <a:avLst/>
          </a:prstGeom>
        </p:spPr>
      </p:pic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7BFC70F-DA71-A68A-4A61-35A173CC42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6429181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87425" y="1038096"/>
            <a:ext cx="7969148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ts val="16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Final content scope: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12+ bosses, 30+ creatures, 200+ items, 40+ environment objects, 6-8 biomes → 15–25 hours of gameplay (average run-based replayability).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Designers (2)</a:t>
            </a: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Programmer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Writer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Background Artist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Animator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Composer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FCAD0BFC-A7C6-9B73-8427-C55E32DF295C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5" name="Picture 4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FA8F0FE-F8BC-A2C9-AF49-8ACFCF2DD3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6" name="Picture 5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5F7740B9-4FBA-4BE0-6988-0AA73B6B89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1609" y="3412643"/>
            <a:ext cx="2862470" cy="1113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555" y="1385068"/>
            <a:ext cx="2782856" cy="1504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517" y="3056579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856F3467-6603-8DB2-81CB-15303D58944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17523" y="284058"/>
            <a:ext cx="7708900" cy="33337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rgbClr val="AB5130"/>
                </a:solidFill>
              </a:rPr>
              <a:t>Our Games</a:t>
            </a:r>
            <a:endParaRPr sz="3200" dirty="0">
              <a:solidFill>
                <a:srgbClr val="AB5130"/>
              </a:solidFill>
            </a:endParaRPr>
          </a:p>
        </p:txBody>
      </p:sp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269" y="1379996"/>
            <a:ext cx="2782856" cy="1504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269" y="2977308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0939" y="1379996"/>
            <a:ext cx="2576062" cy="1509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766708" y="2781296"/>
            <a:ext cx="3279517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80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 You</a:t>
            </a:r>
            <a:r>
              <a:rPr lang="en-US" sz="240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!</a:t>
            </a:r>
            <a:endParaRPr lang="en-US" sz="2400" dirty="0">
              <a:solidFill>
                <a:srgbClr val="F6CA15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8879" y="744785"/>
            <a:ext cx="3226242" cy="207836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1732989" y="4543066"/>
            <a:ext cx="5346957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 algn="l">
              <a:buClr>
                <a:srgbClr val="8F4D57"/>
              </a:buClr>
              <a:buSzPts val="1100"/>
            </a:pPr>
            <a:r>
              <a:rPr lang="en-US" sz="11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11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2650</TotalTime>
  <Words>911</Words>
  <Application>Microsoft Office PowerPoint</Application>
  <PresentationFormat>On-screen Show (16:9)</PresentationFormat>
  <Paragraphs>133</Paragraphs>
  <Slides>19</Slides>
  <Notes>12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Press Start 2P</vt:lpstr>
      <vt:lpstr>Maven Pro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Our Games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488</cp:revision>
  <dcterms:modified xsi:type="dcterms:W3CDTF">2025-09-06T23:59:11Z</dcterms:modified>
</cp:coreProperties>
</file>